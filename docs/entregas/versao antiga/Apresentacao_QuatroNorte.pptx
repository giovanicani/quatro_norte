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13A"/>
                </a:solidFill>
                <a:latin typeface="Calibri"/>
              </a:rPr>
              <a:t>MBA · QUATRO NORTE CONSULTING · GRUPO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Custo anual de manutencao por carreta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6F1E7"/>
                </a:solidFill>
                <a:latin typeface="Calibri"/>
              </a:rPr>
              <a:t>Fatores determinantes e modelagem do custo anual (CAD/ano, real) da frota</a:t>
            </a:r>
          </a:p>
          <a:p>
            <a:pPr algn="l"/>
            <a:r>
              <a:rPr sz="1700" b="0">
                <a:solidFill>
                  <a:srgbClr val="F6F1E7"/>
                </a:solidFill>
                <a:latin typeface="Calibri"/>
              </a:rPr>
              <a:t>propria de leasing/rental no Canada — janela 2020–2025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1E7"/>
                </a:solidFill>
                <a:latin typeface="Calibri"/>
              </a:rPr>
              <a:t>Marlon Wenzel · Jeison Lima · Rodrigo Queiroz · Giovani Cani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01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A empresa e a operacao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Empresa de leasing/rental de carretas no Canada (secas e refrigeradas, ate 53').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Manutencao propria: oficinas registram ordens de servico com mao de obra e pecas.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Todos os custos em dolares canadenses (CAD); operacao integralmente no Canada.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Objetivo de negocio: apoiar orcamento anual e priorizacao de manutencao da frota.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Fonte unica do estudo: base consolidada de OS 'fato_wo_ml' (2020–2025).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3736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810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13A"/>
                </a:solidFill>
                <a:latin typeface="Calibri"/>
              </a:rPr>
              <a:t>9859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2677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6E"/>
                </a:solidFill>
                <a:latin typeface="Calibri"/>
              </a:rPr>
              <a:t>Carretas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78892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862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13A"/>
                </a:solidFill>
                <a:latin typeface="Calibri"/>
              </a:rPr>
              <a:t>223.590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3192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6E"/>
                </a:solidFill>
                <a:latin typeface="Calibri"/>
              </a:rPr>
              <a:t>Ordens de servico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840479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91363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13A"/>
                </a:solidFill>
                <a:latin typeface="Calibri"/>
              </a:rPr>
              <a:t>CAD 82.428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37083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6E"/>
                </a:solidFill>
                <a:latin typeface="Calibri"/>
              </a:rPr>
              <a:t>Custo interno (real)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89204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965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13A"/>
                </a:solidFill>
                <a:latin typeface="Calibri"/>
              </a:rPr>
              <a:t>2020–2025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422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6E"/>
                </a:solidFill>
                <a:latin typeface="Calibri"/>
              </a:rPr>
              <a:t>Periodo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02 ·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A pergunta de pesquisa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Quais fatores mais influenciam o CUSTO ANUAL de manutencao por carreta —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 como estima-lo a partir das caracteristicas operacionais, historicas e estruturais da frota?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Variavel de interesse: custo anual de manutencao por carreta (CAD/ano), em valores reais.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Grao de analise: carreta × ano.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Escopo: todo o custo interno absorvido pela empresa (preventiva + corretiva).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Correcao monetaria obrigatoria pela inflacao canadense (CPI) para comparar anos em termos reais.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03 ·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Objetivo geral e especificos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Geral: analisar os fatores que influenciam o custo anual de manutencao por carreta (CAD, corrigido pela inflacao), identificando as variaveis de maior capacidade explicativa e desenvolvendo modelos estatisticos e de ML para estima-lo.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Consolidar a analise a partir da base unica de OS (etapa de preparacao ja realizada).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Definir a variavel resposta anual e corrigi-la pelo CPI do Canada.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Realizar EDA rigorosa (univariada, relacao com Y, ranking) das variaveis candidatas.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Selecionar variaveis de forma fundamentada (associacao, multicolinearidade, dominio).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Desenvolver e avaliar modelos estatisticos e de Machine Learning (split temporal).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04 · HIPOTESES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Hipoteses de trabalho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6008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hipotese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enunciado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Idade da carreta eleva o custo 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Nao suportada (efeito direto fraco)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H2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Maior uso/quilometragem eleva o custo anual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Historico de manutencao preve o custo futuro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H4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Caracteristicas do ativo influenciam o custo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Regiao/operacao influencia o custo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Parcial (efeito fraco)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(fora de escopo)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Contrato (duracao/tipo) influencia o custo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</a:rPr>
                        <a:t>Nao testavel nesta etapa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126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6E"/>
                </a:solidFill>
                <a:latin typeface="Calibri"/>
              </a:rPr>
              <a:t>Hipoteses adaptadas a unidade anual e a fonte unica; hipoteses de contrato ficaram fora de escopo (dados ausentes).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05 · REFERENCIAL TEORICO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O que a literatura 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Katreddi et al. (2023) — ML para custo de manutencao por milha em caminhoes (Super Learner, R²=97%); variaveis operacionais e ensembles capturam relacoes nao lineares.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Katreddi et al. (2023) — Mixed Effects Random Forest: captura diferencas sistematicas entre grupos de ativos; motiva incluir categoricas (subtipo, montadora, reefer).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Sun et al. (2024) — previsao por dados historicos de manutencao; reforca que o historico e insumo suficiente para prever custos futuros.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Adekitan et al. (2018) — ANN com R=0,766; sinal preditivo de variaveis de uso mesmo com dados limitados.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6E"/>
                </a:solidFill>
                <a:latin typeface="Calibri"/>
              </a:rPr>
              <a:t>As referencias favorecem modelos de arvore/ensemble, coerente com os resultados deste estudo.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06 · BASE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Base consolidada unica (Single Source of Truth)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Fonte unica: fato_wo_ml_2020-01-01_to_2025-12-31.csv (1 linha = 1 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Extracao SQL, modelo estrela, joins e feature engineering: ETAPA ANTERIOR de preparacao.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estudo NAO reconstroi a base, nao refaz joins nem o feature engineering.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223.590 OS · 9859 carretas · 2020–2025.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VMRS: codigo padronizado do sistema reparado (PM, freios, pneus, reefer...).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73736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Arquitetura metodologica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Base consolidada (CSV)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Validacao de qualidade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Variavel resposta anual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Correcao CPI Canada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EDA (uni/bivariada)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Correlacao e testes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Multicolinearidade/VIF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Ranking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Selecao de variaveis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Modelagem (estat.+ML)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Avaliacao / discussao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07 · VARIAVEL RESPOSTA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Y = custo anual de manutencao por carreta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Y = soma do custo interno da carreta no ano (CAD), deflacionado pelo CPI Canada (dez/2025)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Grao: carreta × 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Media CAD 1673.72/ano · mediana CAD 812.55/ano · p90 CAD 4221.76.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Assimetria 3.79 (cauda longa), tratada por log1p e modelos robustos.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Apenas 3.23% de carreta-anos com custo zero: o grao anual praticamente elimina a zero-inflacao.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Custo interno total: CAD 77.18 mi nominal / CAD 82.428 mi real (dez/2025).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08 · CORRECAO PELA INFLACAO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Custos reais pelo CPI do Canada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Todos os custos em CAD, corrigidos pelo CPI all-items do Canada (StatCan, vetor v41690973).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Base de comparacao: dezembro de 2025.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Inflacao acumulada no periodo: ~20% (2020→2025).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A correcao isola mudancas REAIS de custo da mera perda do poder de compra.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deflator e canadense (CPI), coerente com custos registrados em CAD.</a:t>
            </a:r>
          </a:p>
        </p:txBody>
      </p:sp>
      <p:pic>
        <p:nvPicPr>
          <p:cNvPr id="7" name="Picture 6" descr="04_nominal_vs_deflacio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400299"/>
            <a:ext cx="54864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VARIAVEIS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Dicionario das variaveis candidatas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6E"/>
                </a:solidFill>
                <a:latin typeface="Calibri"/>
              </a:rPr>
              <a:t>Universo derivavel da fonte unica (~25 variaveis). Variaveis de contrato/mao de obra/pecas exigiriam outras tabelas e ficam fora de escopo.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5394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2987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tipo / papel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id_carreta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temporal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custo_ano_nominal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monetaria (nominal)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operacional/componente de Y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share_pm_ano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operacional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vmrs_predominante_ano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operacional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km_acumulado_fim_ano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exposicao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km_rodado_ano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exposicao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regiao_operacao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geografica (cat.)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provincia_estado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geografica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cod_montadora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descricao_carreta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ano_modelo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828800"/>
          <a:ext cx="5394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34465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tipo / papel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tailgate_flag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(cat.) - REMOVIDA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unit_subtype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tire_size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suspension_type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new_used_indicator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idade_carreta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ativo derivada (quant.)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historico defasado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historico defasado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historico defasado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Estatisticas descritivas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135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media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mediana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desvio_padrao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assimetria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custo_ano_real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1673.724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812.55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2400.748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62230.924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3.786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ano_modelo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49242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2014.545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2015.0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5.887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1982.0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2026.0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-0.434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49157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3.226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48588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52.256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53.0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3.686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28.0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60.0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-5.024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idade_carreta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49242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8.384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5.791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km_acumulado_fim_ano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48976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178122.519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111110.5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199147.442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3479389.0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2.165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km_rodado_ano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39076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23689.68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12698.5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29090.836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249676.0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1.549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12.0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1.086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share_pm_ano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4.536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4.275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59.0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2.411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custo_medio_por_os_ano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339.18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244.318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354.068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19177.732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7.321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39389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4.476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4.267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59.0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2.425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9.684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12.955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131.0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Histogramas e distribuicoes</a:t>
            </a:r>
          </a:p>
        </p:txBody>
      </p:sp>
      <p:pic>
        <p:nvPicPr>
          <p:cNvPr id="6" name="Picture 5" descr="quant_custo_an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8431"/>
            <a:ext cx="5394960" cy="2038096"/>
          </a:xfrm>
          <a:prstGeom prst="rect">
            <a:avLst/>
          </a:prstGeom>
        </p:spPr>
      </p:pic>
      <p:pic>
        <p:nvPicPr>
          <p:cNvPr id="7" name="Picture 6" descr="quant_km_rodado_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78431"/>
            <a:ext cx="5394960" cy="2038096"/>
          </a:xfrm>
          <a:prstGeom prst="rect">
            <a:avLst/>
          </a:prstGeom>
        </p:spPr>
      </p:pic>
      <p:pic>
        <p:nvPicPr>
          <p:cNvPr id="8" name="Picture 7" descr="quant_custo_ano_anteri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47312"/>
            <a:ext cx="5394960" cy="2038096"/>
          </a:xfrm>
          <a:prstGeom prst="rect">
            <a:avLst/>
          </a:prstGeom>
        </p:spPr>
      </p:pic>
      <p:pic>
        <p:nvPicPr>
          <p:cNvPr id="9" name="Picture 8" descr="quant_n_os_ano_anteri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47312"/>
            <a:ext cx="5394960" cy="20380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Boxplots do custo anual por categoria</a:t>
            </a:r>
          </a:p>
        </p:txBody>
      </p:sp>
      <p:pic>
        <p:nvPicPr>
          <p:cNvPr id="6" name="Picture 5" descr="quali_flag_refrige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85" y="1554480"/>
            <a:ext cx="4857750" cy="2286000"/>
          </a:xfrm>
          <a:prstGeom prst="rect">
            <a:avLst/>
          </a:prstGeom>
        </p:spPr>
      </p:pic>
      <p:pic>
        <p:nvPicPr>
          <p:cNvPr id="7" name="Picture 6" descr="quali_unit_sub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1554480"/>
            <a:ext cx="4857750" cy="2286000"/>
          </a:xfrm>
          <a:prstGeom prst="rect">
            <a:avLst/>
          </a:prstGeom>
        </p:spPr>
      </p:pic>
      <p:pic>
        <p:nvPicPr>
          <p:cNvPr id="8" name="Picture 7" descr="quali_cod_montad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" y="4023360"/>
            <a:ext cx="4857750" cy="2286000"/>
          </a:xfrm>
          <a:prstGeom prst="rect">
            <a:avLst/>
          </a:prstGeom>
        </p:spPr>
      </p:pic>
      <p:pic>
        <p:nvPicPr>
          <p:cNvPr id="9" name="Picture 8" descr="quali_vmrs_predominante_an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023360"/>
            <a:ext cx="485775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Relacao individual de cada variavel com 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5486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135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pearson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spearman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papel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custo_medio_por_os_ano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componente de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0.769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componente de Y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km_rodado_ano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0.419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0.548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0.452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km_acumulado_fim_ano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0.182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0.254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share_pm_ano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-0.244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-0.172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-0.232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-0.097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ano_modelo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3736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39901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eta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n_categorias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descricao_carreta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unit_subtype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0.5505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0.4321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vmrs_predominante_ano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0.3423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cod_montadora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0.2383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tire_size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0.1546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suspension_type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provincia_estado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0.1424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new_used_indicator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regiao_operacao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0.0775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Quantitativas: Pearson/Spearman. Categoricas: eta (ANOVA).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Ranking de associacao com o custo anual</a:t>
            </a:r>
          </a:p>
        </p:txBody>
      </p:sp>
      <p:pic>
        <p:nvPicPr>
          <p:cNvPr id="6" name="Picture 5" descr="ranking_associaca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4480"/>
            <a:ext cx="673608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82880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Uso (km) e historico defasado lideram entre as quantitativas.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Refrigerado e subtipo lideram entre as categoricas.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Idade tem efeito direto fraco.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Componentes aritmeticos de Y sao excluidos do ranking de explicadores.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Multicolinearidade — matriz e VIF</a:t>
            </a:r>
          </a:p>
        </p:txBody>
      </p:sp>
      <p:pic>
        <p:nvPicPr>
          <p:cNvPr id="6" name="Picture 5" descr="matriz_spear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554480"/>
            <a:ext cx="5705856" cy="47548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737360"/>
          <a:ext cx="4023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376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idade_carreta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13.51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12.87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ano_modelo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9.36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5.99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custo_ano_anterior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4.84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3.95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3.05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km_rodado_ano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1.57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km_acumulado_fim_ano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share_pm_ano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1.22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SELECAO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Selecao das variaveis do modelo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87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decisao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tailgate_flag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custo_medio_por_os_ano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descricao_carreta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ano_modelo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condicional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idade_carreta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unit_subtype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tire_size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suspension_type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new_used_indicator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cod_montadora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73736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465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decisao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regiao_operacao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provincia_estado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vmrs_predominante_ano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km_rodado_ano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share_pm_ano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km_acumulado_fim_ano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explicativo / inicio_ano no preditivo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Criterios: ranking, VIF, redundancia, vazamento temporal e coerencia de dominio.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09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Tecnicas e desenho 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Estatistica: regressao linear multipla, ridge, regressao polinomial.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Machine Learning: arvore de decisao, Random Forest, Gradient Boosting, KNN.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Alvo transformado por log1p (assimetria); metricas na escala original (CAD/ano).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Split temporal: treino 2020–2024, teste 2025 (evita vazamento entre periodos).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Dois cenarios: explicativo (inclui uso do ano) e preditivo (so historico defasado + atributos).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Metricas: R², RMSE e MAE.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09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Comparacao dos modelos (teste 2025)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6766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cenario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regressao_linear_multipla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-0.2245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2965.6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1212.7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ridge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-0.2415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2986.1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1216.4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arvore_decisao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0.5063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1883.1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956.9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random_forest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0.5712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1754.9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887.6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gradient_boosting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1753.3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894.8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knn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0.5237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1849.6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953.6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regressao_polinomial_grau_2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-0.5328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3318.0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1383.3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regressao_linear_multipla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-0.138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2858.9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1284.7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-0.134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2853.9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1283.4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arvore_decisao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0.4163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2047.5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1097.2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random_forest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0.4286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2025.9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1064.5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gradient_boosting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0.404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2069.0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1103.0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0.4228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2036.0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1084.8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regressao_polinomial_grau_2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0.1386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2487.3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1368.4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82880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Preditivo recomendado: random_forest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R² = 0.4286 · RMSE = 2025.9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MAE = 1064.5 CAD/ano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Explicativo (melhor): R² = 0.572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Arvores/ensembles superam modelos lineares.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09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Variaveis mais importantes (permutacao)</a:t>
            </a:r>
          </a:p>
        </p:txBody>
      </p:sp>
      <p:pic>
        <p:nvPicPr>
          <p:cNvPr id="6" name="Picture 5" descr="05_importancia_permut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4572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1737360"/>
          <a:ext cx="37490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20"/>
              </a:tblGrid>
              <a:tr h="4673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importancia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0.2214792727512291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0.1154128227762423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km_acumulado_inicio_ano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0.0718246054508778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custo_ano_anterior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0.0662965121228389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0.065382059596437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0.0589398045259931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idade_carreta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0.0317756976849476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unit_subtype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0.0312847007573095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DISCUSSAO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Discussao dos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custo anual real por carreta cresceu de forma consistente (2020→2025) mesmo apos deflacao — aumento real, nao inflacionario.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Refrigeracao e o fator estrutural mais forte; subtipo e montadora tambem separam custos.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historico de manutencao (OS e custo de anos anteriores) e o principal preditor sem vazamento.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uso acumulado/quilometragem esta entre os maiores associados ao custo.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Idade isolada tem efeito fraco; opera principalmente via historico e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modelo preditivo (R² ≈ 0.4286) e util para orcamento e priorizacao de frota.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LIMITACOES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Limitacoes metodologicas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Fonte unica: sem dados de contrato, mao de obra detalhada e pecas — reduz o conjunto explicativo.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Sem filtro por tipo de manutencao (MAINT): analisa-se todo o custo interno.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km derivado do odometro nas OS; resets/ruido tratados por regra, com aproximacao.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Provincia parcial (~54%); regiao usada como proxy geografica.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Estornos (custos negativos) excluidos; span ativo assume presenca entre 1ª e ultima 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Trabalhos futuros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Integrar contrato, mao de obra e pecas em etapa futura para ampliar as variaveis explicativas.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Testar modelos de efeitos mistos por grupos de ativos (montadora/subtipo).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Incorporar quilometragem planejada e telemetria (GPS) como exposicao.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10515600" cy="18288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Conclusao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 partir da base consolidada unica, em CAD corrigidos pelo CPI do Canada, avaliaram-se as variaveis candidatas, analisaram-se suas distribuicoes e relacoes com o custo anual por carreta, construiu-se um ranking, selecionaram-se variaveis de forma fundamentada e desenvolveram-se modelos estatisticos e de ML — sendo o custo anual real explicado sobretudo por refrigeracao, historico de manutencao e uso.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