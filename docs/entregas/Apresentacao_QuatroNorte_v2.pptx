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Reis" userId="21520286a72921e2" providerId="LiveId" clId="{BAAFFA0C-8445-4D4A-9C61-BA20ECE9164F}"/>
    <pc:docChg chg="custSel modSld">
      <pc:chgData name="Rodrigo Reis" userId="21520286a72921e2" providerId="LiveId" clId="{BAAFFA0C-8445-4D4A-9C61-BA20ECE9164F}" dt="2026-07-06T23:02:33.087" v="1" actId="27636"/>
      <pc:docMkLst>
        <pc:docMk/>
      </pc:docMkLst>
      <pc:sldChg chg="modSp mod">
        <pc:chgData name="Rodrigo Reis" userId="21520286a72921e2" providerId="LiveId" clId="{BAAFFA0C-8445-4D4A-9C61-BA20ECE9164F}" dt="2026-07-06T23:02:33.087" v="1" actId="27636"/>
        <pc:sldMkLst>
          <pc:docMk/>
          <pc:sldMk cId="0" sldId="280"/>
        </pc:sldMkLst>
        <pc:spChg chg="mod">
          <ac:chgData name="Rodrigo Reis" userId="21520286a72921e2" providerId="LiveId" clId="{BAAFFA0C-8445-4D4A-9C61-BA20ECE9164F}" dt="2026-07-06T23:02:33.087" v="1" actId="27636"/>
          <ac:spMkLst>
            <pc:docMk/>
            <pc:sldMk cId="0" sldId="28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916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 aplicado do MBA em Ciência de Dados. Modelagem preditiva do custo de manutenção interno por km da frota própria de carretas, janela 2020–2025. Quatro Norte Consulting · FGV.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Consultoria de dados que atende uma operação de leasing/rental de carretas no Canadá. Frota própria (cus_id_owner = 4). Carretas secas e refrigeradas (reefer) de até 53 pés, operando em províncias canadenses (ON, QC...). Contratos de leasing e rental com coberturas MAINT / NET / MIX. Manutenção própria: rede de oficinas registra OS com mão de obra e peças. Dor de negócio: parte relevante do custo é absorvida pela empresa (custo interno, charge_flag = 'I') e precisa ser prevista para orçamento e precificação.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1: contexto, pergunta do problema, objetivos, hipóteses e os 4 artigos. Bloco 2: modelo de dados (7 tabelas), variável-alvo, deflação CPI Canadá, features, EDA variável a variável e técnicas de estatística/ML. Bloco 3: síntese do referencial e metodologia em 7 notebooks reprodutíveis.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 1 a 5 da agenda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Foco na frota própria (cus_id_owner = 4), carretas ativas com leituras de km válidas entre 2020-01-01 e 2025-12-31. A empresa executa manutenção preventiva e corretiva; parte do custo é repassada ao cliente e parte absorvida (charge_flag = 'I'). Custos em CAD. Dados extraídos do ERP de manutenção em modelo estrela: cadastro, OS, mão de obra, peças, odômetro, contratos e GPS.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Variável de interesse: custo de manutenção interno por quilômetro (CAD/km), no grão carreta × mês. Custo interno = absorvido pela empresa (charge_flag = 'I'), incluindo preventivas e corretivas.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geral: analisar os dados históricos para identificar os principais fatores do custo interno por km e desenvolver um modelo preditivo. Específicos: coletar e organizar os dados; EDA para padrões e variáveis relevantes; investigar relação contratos × custos; identificar fatores principais; desenvolver e avaliar modelos preditivos.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hipóteses são avaliadas na EDA (correlações e segmentações) e na modelagem (importância de variáveis). O slide final de síntese retoma cada uma com veredicto.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Artigo 1 — Katreddi et al. (2023): prevê custo por milha em caminhões de entrega; compara Random Forest, XGBoost, ANN e ensemble Super Learner com variáveis de quilometragem, combustível, região e uso. Super Learner: R² = 97,28%, MAE = US$ 0,0068/milha — ensembles capturam relações não lineares. Métricas devem ser lidas no contexto da amostra deles. Artigo 2 — Katreddi et al. (2023b): Mixed Effects Random Forest combina RF com efeitos mistos por grupo de veículos; melhor generalização em frotas heterogêneas. Justifica incluir montadora, modelo, classe e tipo de contrato como features; MERF fica como extensão futura.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Artigo 3 — Sun et al. (2024): prevê custos futuros com registros históricos de manutenção e falhas, foco em garantia estendida; engenharia de confiabilidade com Mixed Weibull + estimativa iterativa, sem ML tradicional. Sustenta o uso do histórico de OS como insumo preditivo mesmo sem dados de falha por componente. Artigo 4 — Adekitan et al. (2018): ANN com quilometragem, consumo, frequência de falhas e histórico de uso; correlação R = 0,766 — sinal presente mas desempenho modesto; favorece priorizar métodos de árvore.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 6 e 7 da agenda: base de dados, variável-alvo e feature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palavras simples: são 7 planilhas ligadas pelo número da carreta (id_carreta) — uma com o cadastro e seis com os eventos da vida dela. Detalhe técnico: mão de obra e peças também se ligam pela OS (id_os); contratos, pelo período de vigência. Extração: data/extract_custo_interno_km.sql, 2020–2025, frota própria.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Tecnicamente: linhas de OS com charge_flag = 'I'. Somente OS aprovadas, concluídas e não canceladas. Mão de obra: se terceirizada (sublet_flag='Y') usa total_sublet; senão cost_hours × hourly_cost. Peças: se terceirizada usa total_sublet; senão nvl(item_average_cost, item_cost) × actual_qty. Reconciliação: CAD 79,0 mi nominais (CAD 84,3 mi em valores de dez/2025) em 238.818 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Nome oficial: Vehicle Maintenance Reporting System (ATA). Usamos o nível de sistema — suficiente para saber qual sistema gera o custo, comparável entre todas as carretas. Importante: 'PM' (manutenção preventiva) é apenas UMA das categorias VMRS. A variável-alvo soma o custo interno de TODAS as categorias — o VMRS entra como dimensão de análise, não como filtro do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 · Inspeção geral: estado mecânico e de segurança — chassi, landing gear, pneus e torque, freios, luzes/ABS, portas e vedações. Inspeção de Segurança (MTO): regulatória anual — freios completos, sistema de ar, suspensão, rodas e cubos, chassi e coupling, elétrica; emite o certificado e selo. Reefer Dry Service: limpeza de condensador/evaporador, correias, teste de ciclo, sensores e datalogger. Reefer Wet Service: Dry + trocas de fluidos (óleo, filtros, coolant, correia) e reset do horímetro.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Numerador: mão de obra + peças internas das OS do mês, de todas as categorias VMRS. Denominador: km rodado no mês a partir das leituras de odômetro (resets e saltos tratados); só calculamos quando a carreta rodou ≥ 500 km no mês. Em 67,1% dos meses a carreta nem passou pela oficina (custo zero) — informação legítima para orçamento, meses mantidos. Média CAD 0,091/km; mediana dos meses com custo CAD 0,101/km.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dólar de 2020 comprava mais que 1 de 2025 — convertemos tudo para o dólar de dez/2025. Custos em CAD, então usamos o CPI do Canadá (Statistics Canada), corrigindo a versão anterior que usava IPCA (Brasil). Inflação canadense acumulada 2020→2025 ≈ 20%. Mecânica: cada custo × (índice dez/2025 ÷ índice do mês).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Normalizado (origem): 7 tabelas relacionadas, sem repetição. Desnormalizado (análise): uma tabela larga, 1 linha = uma carreta em um mês. Pipeline: join por id_carreta (e período para contratos) + feature engineering + agregação mensal. Redundância aceita (montadora repete a cada mês) em troca de base pronta para correlação e treino.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Criamos colunas que resumem a vida da carreta até aquele mês — quanto já rodou, quanto já custou, quando foi a última OS. Regra de ouro anti-vazamento: cada linha só usa informação que já existia ANTES do mês previsto. prop_pecas_garantia descartada: apenas 0,03% dos meses têm peça em garantia. Todos os custos deflacionados a valores de dez/2025.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km_rodado_mes: subtração + rateio — leitura atual − anterior; se o intervalo cruza meses, o delta é dividido proporcionalmente aos dias (resets/saltos removidos antes). km_acumulado: última leitura defasada — maior leitura até o fim do MÊS ANTERIOR. km_rodado_acum: soma acumulada dos km_rodado_mes anteriores. km_por_mes: km_acumulado ÷ meses desde a entrada em serviço. idade_carreta: (mês − data_entrada_servico) ÷ 365,25. custo_acum_manutencao: soma acumulada defasada do custo mensal. custo_preventivo_acum: idem, só linhas VMRS PM. n_os_acum: contagem acumulada de 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n_os_preventivas_acum: contagem acumulada de OS preventivas anteriores. custo_medio_movel_3m: média dos custos dos meses −1, −2, −3, janela deslocada (shift) sem incluir o mês previsto. custo_preventivo_medio_movel_3m: mesma fórmula sobre custo preventivo. intervalo_medio_os: média dos dias entre OS consecutivas, só OS anteriores. meses_desde_ultima_os: mês de referência − mês da última OS anterior (anti-vazamento). franquia_km_mensal: campo direto do contrato vigente. duracao_contrato_meses: (fim − início) ÷ 30,44; contratos abertos censurados em 2025-12. idade_contrato_meses_no_mes: (mês − início do contrato) ÷ 30,44.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regiao_operacao: mapeamento + propagação — província/local da OS → região; carrega-se a última região conhecida; na modelagem usa-se a região do mês ANTERIOR (defasada). Excluídas da modelagem: prop_pecas_garantia (0,03% dos meses com peça em garantia), tipo_manutencao (fixada em MAINT como população) e km_acumulado_fim_mes (auditoria).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8: análise exploratória de dados. 352.038 observações carreta × mês com Y válido, protocolo variável a variável.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Quantitativas: histograma + boxplot + estatísticas (N, média, DP, min, quartis, max). Qualitativas: boxplot de Y por categoria + frequência. Complementares: Pearson/Spearman com Y, eta para categóricas, matriz de correlação entre X, VIF, evolução temporal. Leitura em duas partes por causa da zero-inflação: ocorrência (67% zeros) e magnitude condicional. Como ler: boxplot — caixa = Q1–Q3, linha = mediana, pontos = outliers. Spearman robusta a outliers; regra: |ρ| menor que 0,1 fraca, 0,1–0,3 modesta, maior que 0,3 relevante. Eta: 0 = categorias iguais, 1 = categoria determina o custo. Gráficos cortados no p99 só para legibilidade — outliers tratados na modelagem, não ignorados.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352.038 · média 0,091 · DP 0,374 · mediana 0,000 · Q3 0,032 · máx 29,3 · assimetria 14,4. Distribuição fortemente assimétrica à direita e zero-inflada: 67% dos meses sem custo interno. Nos meses com custo, mediana CAD 0,101/km e média CAD 0,277/km — cauda longa puxa a média. Implicação: log1p e modelos robustos; o problema combina ocorrência + magnitude.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2020: CAD 0,074/km → 2025: CAD 0,126/km. Crescimento real de 71% na média, mesmo após remover a inflação. Share de meses com custo zero caiu de 69% para 63% — a frota gera OS com mais frequência. Tendência consistente com envelhecimento/maior utilização, que o modelo deve capturar pelas variáveis operacionais, não por um efeito 'ano'.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352.006 · média 2016,3 · DP 4,7 · mín 1981 · mediana 2017 · máx 2026. Pearson −0,055 · Spearman +0,045. Frota concentrada em modelos 2014–2022, picos nos anos de renovação. Correlação quase nula: saber só o ano do modelo não diz quanto a carreta custa. O efeito envelhecimento existe, mas aparece nas variáveis de histórico acumulado — o ano entra apenas como apoio.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eixos: quase toda a frota tem 2 eixos (média 2,08, DP 0,29); ρ ≈ 0. comprimento: o padrão de 53 pés domina (mediana 53); ρ = −0,07. franquia_km_mensal: a grande maioria dos contratos não tem franquia (mediana 0); ρ ≈ 0. Quando uma variável quase não varia, não consegue separar carretas caras de baratas — mantidas apenas por completude.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223.515 · média 6,2 anos · DP 4,2 · mediana 5,3 · máx 28. Pearson +0,082 · Spearman +0,037. Correlação direta modesta — surpreendente à primeira vista. Explicação: a idade age INDIRETAMENTE, via km acumulado e histórico de OS; essas variáveis absorvem o efeito. H2 tem suporte apenas parcial.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352.038 · média 2.874 · mediana 1.937 · máx 108.359. Pearson −0,081 · Spearman +0,094. Metade roda até ≈ 1.900 km/mês; cauda de alta utilização acima de 10 mil. Cuidado: é o DENOMINADOR do Y — rodar mais dilui o custo por km mecanicamente. A correlação não deve ser lida como efeito causal; H3 foi testada também contra o custo absoluto.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km_acumulado: N = 348.087, mediana 85.563, máx 7,2 mi; ρ = +0,155 — quanto mais rodada, mais cara por km; sinal de desgaste estrutural, sustenta parcialmente H3. km_por_mes: N = 223.132, mediana 923, máx 23.385; ρ = +0,123 — visão estrutural (perfil da carreta) complementando a conjuntural.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duracao_contrato_meses: mediana 60 (padrão de leasing de 5 anos); ρ = +0,019 — H1 NÃO encontra suporte: a duração do contrato, por si só, não explica o custo. idade_contrato_meses_no_mes: distribuição espalhada; ρ = +0,049 — estar no início ou fim do contrato pouco muda o custo por 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custo_acum_manutencao: mediana CAD 1.962, máx 1,93 mi; ρ = +0,197 — 2º preditor mais forte: carreta que já custou tende a continuar custando; evidência central da H4. custo_preventivo_acum: mediana 636, máx 26.240; ρ = +0,165 — quem consumiu mais preventiva também custa mais no total, em parte porque carretas mais usadas fazem mais PMs.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n_os_acum: mediana 9, máx 15.006 (anomalia de cadastro); ρ = +0,220 — o preditor individual MAIS FORTE. A frequência histórica de manutenção é o melhor termômetro isolado — melhor que idade, modelo ou contrato. Núcleo da H4. n_os_preventivas_acum: mediana 5, máx 38 (PMs programados têm teto); ρ = +0,190 — quase tão forte, mas anda junto com n_os_acum; redundância tratada na análise de colinearidade.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custo_medio_movel_3m: mediana 41, máx 39.095; ρ = +0,085 — persistência de curto prazo: trimestre caro tende a ser seguido de custo acima da média. custo_preventivo_medio_movel_3m: dominada por zeros; ρ = −0,021 — no grão mensal, o retorno da preventiva não é imediato.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intervalo_medio_os: OS a cada ≈ 100 dias em média (mediana 81); ρ = −0,193, o 3º sinal mais forte — intervalos curtos = manutenção frequente = custo alto; espelho de n_os_acum. meses_desde_ultima_os: metade a até 2 meses da última OS; ρ = −0,062 — problemas vêm em sequência. Importante: usa apenas OS ANTERIORES ao mês; a versão antiga vazava informação do próprio mês e inflava as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6: UTLTY 44,8% · STGHTN 18,2% · HYUNDAI 10,4% · MANAC 10,3% · WABASH 8,6% · TMOBILE 2,6%. η = 0,068 · 22 categorias. Cada caixa é a distribuição do custo por km por montadora, ordenadas pela mediana. Diferença visível mas caixas se sobrepõem — efeito isolado fraco. No modelo entra via one-hot (raras agrupadas) e contribui em interação.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60,2% · Y 39,8% · η = 0,063. A caixa das refrigeradas está deslocada para cima em toda a distribuição. Faz sentido operacional: a unidade de refrigeração adiciona um sistema inteiro (compressor, gás, filtros) que gera OS próprias. A flag aparece entre os fatores importantes do modelo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tipo_contrato: LEASE 89,6% · RENTAL 9,9%; η = 0,040 — medianas próximas, o tipo desloca pouco o custo (leitura para H5: contrato influencia menos que o histórico operacional). tipo_manutencao: MAINT 94,5% · NET 3,3% · MIX 1,7%; η = 0,046 — populações pequenas com regras de cobrança diferentes; por isso a modelagem é feita SÓ com MAINT, para não confundir regra contratual com comportamento de custo.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SEM_INFORMACAO 98,9%; η = 0,016, o mais fraco entre as categóricas. O programa define QUANDO a preventiva acontece, mas não diferencia QUANTO a carreta custa no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MIS 39,6% · Ontario 33,7% · Alberta 7,6% · Cornwall 5,3% · Calgary 4,7% · Quebec 2,0%. η = 0,084 · 46 categorias — a categórica MAIS FORTE. Clima (inverno rigoroso), qualidade das estradas e custo de oficina local mudam o custo por km. Suporte parcial à H5 pelo lado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HIGHWAY 41,7% · GOODSTORAGE 29,1% · CITY 28,2%. η = 0,056. Classes mais complexas custam mais por km; efeito real porém moderado; correlacionada com montadora e flag reefer (classes agrupam tipos de carreta).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Nenhuma variável isolada é forte (máx ρ = 0,22). O sinal está no HISTÓRICO: n_os_acum, custo_acum e intervalo_medio_os dominam — suporte direto à H4. Idade, contrato e atributos físicos têm efeito fraco isoladamente (H1/H2 sem suporte direto no grão mensal). Implicação: o ganho preditivo depende de interações — favorece árvores/ensembles.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problema: variáveis que dizem a mesma coisa (idade × ano do modelo) disputam o mesmo efeito em modelos lineares e desestabilizam coeficientes. Medição: matriz de Spearman entre X (pares |ρ| acima de 0,7) + VIF (acima de 5 atenção, acima de 10 problemático). VIF top: custo_acum 33,9 · n_os_acum 25,4 · custo_prev_acum 5,8 · idade_contrato 5,7 · duracao_contrato 5,3. Pares redundantes: n_os_acum ↔ n_os_prev_acum, custo_acum ↔ custo_prev_acum, idade ↔ ano_modelo. Decisão: modelo recomendado é de árvore (robusto a colinearidade) — pares mantidos; a restrição vale para os lineares de comparação.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Método: razão máx/p99 (razão alta = pontos isolados suspeitos) + fração acima do limite IQR (fração alta = cauda estrutural, não erro). Y: máx 29,3 vs p99 1,50 (20×) → cap no p99,5; custos negativos (estornos) excluídos. n_os_acum: máx 15.006 vs p99 77 (195×) → anomalia de cadastro, winsorizar/monitorar. custo_acum: máx 1,93 mi vs p99 32 mil (60×) → mesma origem. custo_medio_movel_3m: 26× → trimestres excepcionais reais + anomalias. km: outliers moderados após tratamento de resets — mantidos. Tabela completa: reports/tables/03d_diagnostico_outliers.csv.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Zero-inflação define o problema (67% zeros): ocorrência + magnitude. Cauda pesada: log1p / perda robusta, cap no p99,5. Sinal fraco e distribuído (máx ρ 0,22): ganho vem de interações e ensembles. Histórico é o bloco mais forte — H4 suportada. Colinearidade: pares acumulados totais × preventivos, idade × ano_modelo. Deflação obrigatória (≈ +20%); mesmo real, custo por km cresce ≈ 71%. km_rodado_mes é denominador e feature — interpretação cuidadosa.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9: técnicas estatísticas e de machine learning, aplicadas sobre a população MAINT com split temporal treino/teste.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temporal em palavras simples: o modelo estuda com o passado (2020–2024) e faz a prova com 2025, período que nunca viu — como será usado na vida real. Validação temporal expansiva (3 rodadas), imputação mediana/moda, padronização, one-hot com agrupamento de raras. Métricas: R² (quanto da variação explica), RMSE e MAE (tamanho médio do erro em CAD/km).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completo (R² / RMSE / MAE): random_forest 0,0863/0,2424/0,1317 · gradient_boosting 0,0770/0,2437/0,1331 · hurdle_sgd_gb 0,0706/0,2445/0,1446 · arvore_decisao 0,0418 · ridge_multipla 0,0409 · linear_multipla 0,0409 · polinomial_g2 0,0409 · ridge_log1p 0,0361 · knn 0,0052 · linear_simples −0,0035. R² = 0,086 significa ~9% da variação mês a mês — modesto, mas suficiente para ORDENAR carretas e apoiar orçamento; não crava valor exato de um mês (muito acaso: um pneu fura ou não). Números honestos: versões anteriores pareciam melhores porque colavam com vazamento do futuro, removido.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Permutation importance no teste temporal: km_rodado_mes 0,0211 · custo_acum_manutencao 0,0057 · custo_preventivo_medio_movel_3m 0,0056 · flag_refrigerado 0,0051 · intervalo_medio_os 0,0041 · km_rodado_acum 0,0035 · custo_medio_movel_3m 0,0025 · km_acumulado 0,0015 · custo_preventivo_acum 0,0014 · idade_carreta 0,0011. Método: embaralhamos cada variável e medimos o quanto a previsão piora. Confirma a EDA: histórico operacional e intensidade de uso dominam; atributos fixos pesam menos.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duração de contrato: NÃO SUPORTADA — ρ ≈ 0 (+0,02) no grão mensal. H2 idade: PARCIAL — efeito direto fraco (+0,04); idade opera via histórico acumulado (colinearidade). H3 quilometragem: PARCIAL — km_acumulado +0,16 estrutural; km mensal tem relação mecânica com o denominador. H4 histórico: SUPORTADA — n_os_acum +0,22, custo_acum +0,20, intervalo −0,19, o bloco mais forte. H5 operação e contrato: PARCIAL — região é a categórica mais forte (η 0,084); reefer e montadora deslocam medianas; efeito contratual fraco.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 10 e 11: referencial teórico e metodologia.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Katreddi 2023a: ensembles (Super Learner) sobre variáveis operacionais → prioridade a árvore/ensemble. Katreddi 2023b: MERF captura heterogeneidade entre grupos → montadora, classe e contrato como features; MERF extensão futura. Sun 2024: histórico de manutenção sustenta previsão (confiabilidade/Weibull) → valida features de histórico acumulado, nosso bloco mais forte. Adekitan 2018: ANN R = 0,766 mostra sinal com desempenho modesto → redes neurais não priorizadas.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 Contexto e inventário: documentação do problema, inventário das 7 bases, validação do modelo estrela, riscos. 01 Qualidade: chaves, duplicidades, ausentes, custos negativos, odômetro (resets/saltos), regras. 02 Base analítica mensal: agregação carreta × mês, prorrateio de km, piso 500 km/mês, features defasadas. 03 EDA e hipóteses: protocolo, correlações, eta, VIF, teste das 5 hipóteses. 04 Deflação: CPI all-items StatCan, valores de dez/2025. 05 Modelagem: split temporal, 9 modelos + hurdle, métricas, permutation importance, erro por segmento. 06 Resultados: síntese executiva, hipóteses finais, recomendações e limitações.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Zero-inflação: desempenho pontual modesto; o modelo apoia planejamento, não substitui validação operacional. km_rodado_mes é denominador e feature. Prorrateio de km é aproximação (resets/saltos tratados). Custos negativos excluídos. GPS com cobertura parcial (set–dez/2025) — região derivada da OS. Contratos vigentes censurados em 2025-12. Vazamento temporal removido — métricas menores porém defensáveis. Extensões futuras: MERF/hierárquicos e modelos zero-inflados.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Abrir para perguntas da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gradFill rotWithShape="1">
            <a:gsLst>
              <a:gs pos="0">
                <a:srgbClr val="3FE0CE">
                  <a:alpha val="100000"/>
                </a:srgbClr>
              </a:gs>
              <a:gs pos="34000">
                <a:srgbClr val="3FE0CE">
                  <a:alpha val="100000"/>
                </a:srgbClr>
              </a:gs>
              <a:gs pos="34000">
                <a:srgbClr val="FFB65C">
                  <a:alpha val="100000"/>
                </a:srgbClr>
              </a:gs>
              <a:gs pos="40000">
                <a:srgbClr val="FFB65C">
                  <a:alpha val="100000"/>
                </a:srgbClr>
              </a:gs>
              <a:gs pos="40000">
                <a:srgbClr val="223243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3891260" y="-1714500"/>
            <a:ext cx="6111240" cy="6111240"/>
          </a:xfrm>
          <a:prstGeom prst="ellipse">
            <a:avLst/>
          </a:prstGeom>
          <a:ln w="762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4843760" y="-762000"/>
            <a:ext cx="4206240" cy="4206240"/>
          </a:xfrm>
          <a:prstGeom prst="ellipse">
            <a:avLst/>
          </a:prstGeom>
          <a:ln w="7620">
            <a:solidFill>
              <a:srgbClr val="16242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38250" y="2645569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MBA · PROJETO APLICADO · CIÊNCIA DE DADOS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238250" y="3270409"/>
            <a:ext cx="13735050" cy="2136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1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custos de manutenção de carretas</a:t>
            </a:r>
            <a:endParaRPr lang="en-US" sz="8100" dirty="0"/>
          </a:p>
        </p:txBody>
      </p:sp>
      <p:sp>
        <p:nvSpPr>
          <p:cNvPr id="7" name="Text 5"/>
          <p:cNvSpPr/>
          <p:nvPr/>
        </p:nvSpPr>
        <p:spPr>
          <a:xfrm>
            <a:off x="1238250" y="5749766"/>
            <a:ext cx="1079182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preditiva do custo de manutenção interno por quilômetro da frota própria · janela 2020–2025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238250" y="7359491"/>
            <a:ext cx="332555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Quatro Norte Consulting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4471035" y="7495699"/>
            <a:ext cx="419100" cy="9525"/>
          </a:xfrm>
          <a:prstGeom prst="rect">
            <a:avLst/>
          </a:prstGeom>
          <a:solidFill>
            <a:srgbClr val="2A3B4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99685" y="7359491"/>
            <a:ext cx="47053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FGV</a:t>
            </a:r>
            <a:endParaRPr lang="en-US" sz="17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EMPRESA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675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Norte Consulting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47750" y="2363629"/>
            <a:ext cx="8448405" cy="121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 de dados que atende uma operação de </a:t>
            </a:r>
            <a:r>
              <a:rPr lang="en-US" sz="202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leasing/rental de carretas no Canadá 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carretas secas e refrigeradas de até 53 pés, rodando em ON, QC e outras províncias.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047750" y="3783806"/>
            <a:ext cx="844840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manutenção é própria: uma rede de oficinas registra ordens de serviço com mão de obra e peças, sob contratos com diferentes coberturas </a:t>
            </a: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 / NET / MIX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5264944"/>
            <a:ext cx="8202335" cy="2056448"/>
          </a:xfrm>
          <a:prstGeom prst="roundRect">
            <a:avLst>
              <a:gd name="adj" fmla="val 6484"/>
            </a:avLst>
          </a:prstGeom>
          <a:solidFill>
            <a:srgbClr val="12202B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60170" y="5539264"/>
            <a:ext cx="833524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kern="0" spc="257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 DE NEGÓCIO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360170" y="5925026"/>
            <a:ext cx="7804820" cy="1160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relevante do custo de manutenção é </a:t>
            </a:r>
            <a:r>
              <a:rPr lang="en-US" sz="1950" b="1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absorvida pela empresa </a:t>
            </a:r>
            <a:r>
              <a:rPr lang="en-US" sz="195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 custo interno — e precisa ser prevista para orçamento e precificação de contratos.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783485" y="2363629"/>
            <a:ext cx="3623548" cy="1645920"/>
          </a:xfrm>
          <a:prstGeom prst="roundRect">
            <a:avLst>
              <a:gd name="adj" fmla="val 810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076855" y="2695099"/>
            <a:ext cx="3340489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10.412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076855" y="3403759"/>
            <a:ext cx="334048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carretas na frota própria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616583" y="2363629"/>
            <a:ext cx="3623667" cy="1645920"/>
          </a:xfrm>
          <a:prstGeom prst="roundRect">
            <a:avLst>
              <a:gd name="adj" fmla="val 810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909953" y="2695099"/>
            <a:ext cx="334062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238.818</a:t>
            </a:r>
            <a:endParaRPr lang="en-US" sz="4350" dirty="0"/>
          </a:p>
        </p:txBody>
      </p:sp>
      <p:sp>
        <p:nvSpPr>
          <p:cNvPr id="14" name="Text 12"/>
          <p:cNvSpPr/>
          <p:nvPr/>
        </p:nvSpPr>
        <p:spPr>
          <a:xfrm>
            <a:off x="13909953" y="3403759"/>
            <a:ext cx="33406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ordens de serviço (2020–2025)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783485" y="4219099"/>
            <a:ext cx="3623548" cy="1920240"/>
          </a:xfrm>
          <a:prstGeom prst="roundRect">
            <a:avLst>
              <a:gd name="adj" fmla="val 694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076855" y="4550569"/>
            <a:ext cx="3340489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79 mi</a:t>
            </a:r>
            <a:endParaRPr lang="en-US" sz="4350" dirty="0"/>
          </a:p>
        </p:txBody>
      </p:sp>
      <p:sp>
        <p:nvSpPr>
          <p:cNvPr id="17" name="Text 15"/>
          <p:cNvSpPr/>
          <p:nvPr/>
        </p:nvSpPr>
        <p:spPr>
          <a:xfrm>
            <a:off x="10076855" y="5259229"/>
            <a:ext cx="312791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de manutenção no período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3616583" y="4219099"/>
            <a:ext cx="3623667" cy="1920240"/>
          </a:xfrm>
          <a:prstGeom prst="roundRect">
            <a:avLst>
              <a:gd name="adj" fmla="val 694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3909953" y="4550569"/>
            <a:ext cx="334062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anos</a:t>
            </a:r>
            <a:endParaRPr lang="en-US" sz="4350" dirty="0"/>
          </a:p>
        </p:txBody>
      </p:sp>
      <p:sp>
        <p:nvSpPr>
          <p:cNvPr id="20" name="Text 18"/>
          <p:cNvSpPr/>
          <p:nvPr/>
        </p:nvSpPr>
        <p:spPr>
          <a:xfrm>
            <a:off x="13909953" y="5259229"/>
            <a:ext cx="3128035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histórico: OS, odômetro, contratos, GPS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ROTEIRO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em três blocos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3499485"/>
            <a:ext cx="16192500" cy="1478280"/>
          </a:xfrm>
          <a:prstGeom prst="roundRect">
            <a:avLst>
              <a:gd name="adj" fmla="val 1030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93520" y="3888105"/>
            <a:ext cx="9334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31770" y="3869055"/>
            <a:ext cx="1026284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Contexto, problema, objetivos e hipóteses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731770" y="4311015"/>
            <a:ext cx="1026284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da pesquisa · pergunta do problema · objetivos · 5 hipóteses · 4 artigos científicos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5206365"/>
            <a:ext cx="16192500" cy="1478280"/>
          </a:xfrm>
          <a:prstGeom prst="roundRect">
            <a:avLst>
              <a:gd name="adj" fmla="val 1030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493520" y="5594985"/>
            <a:ext cx="9334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731770" y="5575935"/>
            <a:ext cx="10602837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dados, features, EDA e técnicas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731770" y="6017895"/>
            <a:ext cx="1060283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estrela · variável-alvo · deflação CPI · análise exploratória variável a variável · modelos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6913245"/>
            <a:ext cx="16192500" cy="1478280"/>
          </a:xfrm>
          <a:prstGeom prst="roundRect">
            <a:avLst>
              <a:gd name="adj" fmla="val 1030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493520" y="7301865"/>
            <a:ext cx="9334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2731770" y="7282815"/>
            <a:ext cx="834952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Referencial teórico e metodologia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2731770" y="7724775"/>
            <a:ext cx="83495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do referencial · pipeline em 7 notebooks reprodutíveis · limitações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9423" y="5524500"/>
            <a:ext cx="8857285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123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238250" y="3696653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 · PERGUNTAS 1–5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238250" y="4245293"/>
            <a:ext cx="12263438" cy="1878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Contexto, problema, objetivos e hipóteses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1238250" y="6542723"/>
            <a:ext cx="1143000" cy="47625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1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projeto será realizado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47750" y="2442210"/>
            <a:ext cx="9173420" cy="1285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de leasing/rental de carretas no Canadá, atendida pela Quatro Norte. O recorte é a </a:t>
            </a:r>
            <a:r>
              <a:rPr lang="en-US" sz="21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frota própria </a:t>
            </a: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 carretas ativas e leituras de quilometragem válidas entre </a:t>
            </a:r>
            <a:r>
              <a:rPr lang="en-US" sz="18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2020-01 → 2025-12</a:t>
            </a: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3975735"/>
            <a:ext cx="9173420" cy="1285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empresa faz manutenção preventiva e corretiva; parte do custo é repassada ao cliente e parte é </a:t>
            </a:r>
            <a:r>
              <a:rPr lang="en-US" sz="21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absorvida pela operação </a:t>
            </a: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 custo interno, todo registrado em CAD.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5509260"/>
            <a:ext cx="9173420" cy="1278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dados vêm do ERP de manutenção em modelo estrela: cadastro das carretas, ordens de serviço, mão de obra, peças, odômetro, contratos e telemetria GPS.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87382" y="2442210"/>
            <a:ext cx="6752868" cy="2724150"/>
          </a:xfrm>
          <a:prstGeom prst="roundRect">
            <a:avLst>
              <a:gd name="adj" fmla="val 559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895052" y="2830830"/>
            <a:ext cx="65312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57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DECISÕES QUE O PROJETO APOIA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0895052" y="342519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199852" y="3314700"/>
            <a:ext cx="422112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 anual de manutenção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0895052" y="398907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199852" y="3878580"/>
            <a:ext cx="320493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Precificação de contratos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895052" y="45529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1199852" y="4442460"/>
            <a:ext cx="246601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 de frota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975848"/>
            <a:ext cx="173926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2 · O PROBLEMA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3539728"/>
            <a:ext cx="14716125" cy="2338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49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fatores mais influenciam o </a:t>
            </a:r>
            <a:r>
              <a:rPr lang="en-US" sz="49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manutenção interno </a:t>
            </a:r>
            <a:r>
              <a:rPr lang="en-US" sz="49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carretas — e como prever esse custo por km futuro a partir do histórico?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238250" y="6449973"/>
            <a:ext cx="6591300" cy="861060"/>
          </a:xfrm>
          <a:prstGeom prst="roundRect">
            <a:avLst>
              <a:gd name="adj" fmla="val 1548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588770" y="6724293"/>
            <a:ext cx="608799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Variável de interesse: </a:t>
            </a:r>
            <a:r>
              <a:rPr lang="en-US" sz="172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CAD/km · grão carreta × mês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8058150" y="6449973"/>
            <a:ext cx="7613690" cy="861060"/>
          </a:xfrm>
          <a:prstGeom prst="roundRect">
            <a:avLst>
              <a:gd name="adj" fmla="val 1548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08670" y="6724293"/>
            <a:ext cx="714106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Custo interno = absorvido pela empresa, preventivas </a:t>
            </a: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en-US" sz="1875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corretivas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3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 e específicos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404110"/>
            <a:ext cx="16192500" cy="2029778"/>
          </a:xfrm>
          <a:prstGeom prst="roundRect">
            <a:avLst>
              <a:gd name="adj" fmla="val 7508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512570" y="2792730"/>
            <a:ext cx="1678914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5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 GERAL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512570" y="3181350"/>
            <a:ext cx="15720746" cy="902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os principais fatores que influenciam o </a:t>
            </a:r>
            <a:r>
              <a:rPr lang="en-US" sz="232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por km </a:t>
            </a:r>
            <a:r>
              <a:rPr lang="en-US" sz="2325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desenvolver um modelo preditivo capaz de estimar custos futuros.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1047750" y="4776788"/>
            <a:ext cx="3086100" cy="1993106"/>
          </a:xfrm>
          <a:prstGeom prst="roundRect">
            <a:avLst>
              <a:gd name="adj" fmla="val 669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03020" y="5070157"/>
            <a:ext cx="28331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03020" y="5523548"/>
            <a:ext cx="2652827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Coletar, consolidar e organizar o histórico de manutenção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4324350" y="4776788"/>
            <a:ext cx="3086100" cy="1993106"/>
          </a:xfrm>
          <a:prstGeom prst="roundRect">
            <a:avLst>
              <a:gd name="adj" fmla="val 669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9620" y="5070157"/>
            <a:ext cx="28331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579620" y="5523548"/>
            <a:ext cx="2652827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Explorar padrões, tendências e variáveis relevantes (EDA)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00950" y="4776788"/>
            <a:ext cx="3086100" cy="1993106"/>
          </a:xfrm>
          <a:prstGeom prst="roundRect">
            <a:avLst>
              <a:gd name="adj" fmla="val 669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856220" y="5070157"/>
            <a:ext cx="28331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856220" y="5523548"/>
            <a:ext cx="2652827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Investigar a relação entre contratos de leasing e custos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877550" y="4776788"/>
            <a:ext cx="3086100" cy="1993106"/>
          </a:xfrm>
          <a:prstGeom prst="roundRect">
            <a:avLst>
              <a:gd name="adj" fmla="val 669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1132820" y="5070157"/>
            <a:ext cx="28331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132820" y="5523548"/>
            <a:ext cx="2652827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os principais fatores associados aos custos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4154150" y="4776788"/>
            <a:ext cx="3086100" cy="1993106"/>
          </a:xfrm>
          <a:prstGeom prst="roundRect">
            <a:avLst>
              <a:gd name="adj" fmla="val 669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4409420" y="5070157"/>
            <a:ext cx="28331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4409420" y="5523548"/>
            <a:ext cx="2652827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Desenvolver e avaliar modelos preditivos de custo futuro</a:t>
            </a:r>
            <a:endParaRPr lang="en-US" sz="17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4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hipóteses de trabalho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3185160"/>
            <a:ext cx="16192500" cy="845820"/>
          </a:xfrm>
          <a:prstGeom prst="roundRect">
            <a:avLst>
              <a:gd name="adj" fmla="val 1576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36370" y="345567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446020" y="3440430"/>
            <a:ext cx="909617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leasing mais longos tendem a custar mais em manutenção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047750" y="4202430"/>
            <a:ext cx="16192500" cy="845820"/>
          </a:xfrm>
          <a:prstGeom prst="roundRect">
            <a:avLst>
              <a:gd name="adj" fmla="val 1576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436370" y="447294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446020" y="4457700"/>
            <a:ext cx="839287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Carretas mais velhas demandam maiores gastos com manutenção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047750" y="5219700"/>
            <a:ext cx="16192500" cy="845820"/>
          </a:xfrm>
          <a:prstGeom prst="roundRect">
            <a:avLst>
              <a:gd name="adj" fmla="val 1576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436370" y="549021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446020" y="5474970"/>
            <a:ext cx="75641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quilometragem percorrida está associada a mais custo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47750" y="6236970"/>
            <a:ext cx="16192500" cy="845820"/>
          </a:xfrm>
          <a:prstGeom prst="roundRect">
            <a:avLst>
              <a:gd name="adj" fmla="val 1576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436370" y="650748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446020" y="6492240"/>
            <a:ext cx="755951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histórico de manutenções anteriores prevê custos futuros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47750" y="7254240"/>
            <a:ext cx="16192500" cy="845820"/>
          </a:xfrm>
          <a:prstGeom prst="roundRect">
            <a:avLst>
              <a:gd name="adj" fmla="val 1576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436370" y="752475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446020" y="7509510"/>
            <a:ext cx="928856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operacionais e características contratuais influenciam os custos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047750" y="9166860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Avaliadas na EDA (correlações e segmentações) e na modelagem (importância de variáveis) — síntese ao final.</a:t>
            </a:r>
            <a:endParaRPr lang="en-US" sz="1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5 · ARTIGOS 1–2 DE 4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literatura recente mostra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404110"/>
            <a:ext cx="7943850" cy="7044690"/>
          </a:xfrm>
          <a:prstGeom prst="roundRect">
            <a:avLst>
              <a:gd name="adj" fmla="val 21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74470" y="2792730"/>
            <a:ext cx="779945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KATREDDI ET AL. · 2023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474470" y="3162300"/>
            <a:ext cx="730312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manutenção por milha em caminhões de entrega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74470" y="4133850"/>
            <a:ext cx="730312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Random Forest, XGBoost, ANN e ensemble Super Learner sobre variáveis operacionais (km, combustível, região, uso).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74470" y="7117080"/>
            <a:ext cx="1882854" cy="104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97,3%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3452574" y="7307580"/>
            <a:ext cx="5265675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Learner — ensembles capturam não linearidades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474470" y="8313420"/>
            <a:ext cx="7090410" cy="9525"/>
          </a:xfrm>
          <a:prstGeom prst="rect">
            <a:avLst/>
          </a:prstGeom>
          <a:solidFill>
            <a:srgbClr val="2232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474470" y="8511540"/>
            <a:ext cx="730312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Reforça a escolha de modelos de árvore/ensemble e o uso de variáveis operacionais semelhantes.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296400" y="2404110"/>
            <a:ext cx="7943850" cy="7044690"/>
          </a:xfrm>
          <a:prstGeom prst="roundRect">
            <a:avLst>
              <a:gd name="adj" fmla="val 21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723120" y="2792730"/>
            <a:ext cx="779945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KATREDDI ET AL. · 2023b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723120" y="3162300"/>
            <a:ext cx="77994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Effects Random Forest para veículos pesados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723120" y="3762375"/>
            <a:ext cx="730312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+ efeitos mistos por grupo de veículos: melhor generalização que RF convencional em frotas heterogêneas.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723120" y="7620000"/>
            <a:ext cx="1365480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MERF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1135916" y="7810500"/>
            <a:ext cx="446538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registrado como extensão futura do projeto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723120" y="8313420"/>
            <a:ext cx="7090410" cy="9525"/>
          </a:xfrm>
          <a:prstGeom prst="rect">
            <a:avLst/>
          </a:prstGeom>
          <a:solidFill>
            <a:srgbClr val="2232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723120" y="8511540"/>
            <a:ext cx="730312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Justifica montadora, modelo, classe e tipo de contrato como features de agrupamento.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5 · ARTIGOS 3–4 DE 4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como insumo preditivo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404110"/>
            <a:ext cx="7943850" cy="7044690"/>
          </a:xfrm>
          <a:prstGeom prst="roundRect">
            <a:avLst>
              <a:gd name="adj" fmla="val 21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74470" y="2792730"/>
            <a:ext cx="779945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 ET AL. · 2024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474470" y="3162300"/>
            <a:ext cx="77994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custo com dados de manutenção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74470" y="3762375"/>
            <a:ext cx="730312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confiabilidade (Mixed Weibull + estimativa iterativa) sobre registros históricos de manutenção e falhas, com foco em garantia estendida.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474470" y="8313420"/>
            <a:ext cx="7090410" cy="9525"/>
          </a:xfrm>
          <a:prstGeom prst="rect">
            <a:avLst/>
          </a:prstGeom>
          <a:solidFill>
            <a:srgbClr val="2232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474470" y="8511540"/>
            <a:ext cx="730312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Sustenta o uso do histórico de OS como insumo preditivo, mesmo sem dados estruturados de falha por componente.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296400" y="2404110"/>
            <a:ext cx="7943850" cy="7044690"/>
          </a:xfrm>
          <a:prstGeom prst="roundRect">
            <a:avLst>
              <a:gd name="adj" fmla="val 21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723120" y="2792730"/>
            <a:ext cx="779945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ADEKITAN ET AL. · 2018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723120" y="3162300"/>
            <a:ext cx="77994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de custo com redes neurais (ANN)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723120" y="3762375"/>
            <a:ext cx="730312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com quilometragem, consumo, frequência de falhas e histórico de uso em veículos corporativos.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723120" y="7620000"/>
            <a:ext cx="2103489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0,766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1806833" y="7810500"/>
            <a:ext cx="485815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 preditivo presente, desempenho modesto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723120" y="8313420"/>
            <a:ext cx="7090410" cy="9525"/>
          </a:xfrm>
          <a:prstGeom prst="rect">
            <a:avLst/>
          </a:prstGeom>
          <a:solidFill>
            <a:srgbClr val="2232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723120" y="8511540"/>
            <a:ext cx="730312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Variáveis operacionais carregam sinal, mas favorece métodos de árvore, melhores nos artigos recentes.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9423" y="5524500"/>
            <a:ext cx="8857285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123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238250" y="3696653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 · PERGUNTAS 6–7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238250" y="4245293"/>
            <a:ext cx="12263438" cy="1878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dados, variável-alvo e feature engineering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1238250" y="6542723"/>
            <a:ext cx="1143000" cy="47625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6 · BASE DE DADOS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estrela — 1 dimensão + 6 fatos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33565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41120" y="366712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dim_carretas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6270" y="353377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linha = uma carreta · montadora, modelo, ano, eixos, reefer, classe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248775" y="333565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542145" y="366712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fato_readings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47295" y="353377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leitura de odômetro · km acumulada por data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047750" y="442912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341120" y="476059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fato_wo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46270" y="462724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ordem de serviço · cabeçalho + totais internos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9248775" y="442912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542145" y="476059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fato_wo_labour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647295" y="462724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 de mão de obra · custo interno + sistema VMRS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47750" y="552259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41120" y="585406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fato_wo_parts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46270" y="572071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 de peça · custo interno + flag de garantia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9248775" y="552259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542145" y="585406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fato_contratos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647295" y="572071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carreta-contrato · tipo, franquia de km, vigência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47750" y="6616065"/>
            <a:ext cx="7991475" cy="693420"/>
          </a:xfrm>
          <a:prstGeom prst="roundRect">
            <a:avLst>
              <a:gd name="adj" fmla="val 1648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341120" y="681418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fato_gps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46270" y="6821805"/>
            <a:ext cx="43789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posição por dia · telemetria lat/long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47750" y="8724900"/>
            <a:ext cx="16192500" cy="800100"/>
          </a:xfrm>
          <a:prstGeom prst="roundRect">
            <a:avLst>
              <a:gd name="adj" fmla="val 14286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371600" y="89535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 PALAVRAS SIMPLES </a:t>
            </a: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"planilhas" ligadas pelo número da carreta: uma com o cadastro e seis com os eventos da vida dela.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6 · DEFINIÇÃO DO Y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 no custo interno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358390"/>
            <a:ext cx="9343268" cy="902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7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dinheiro que sai do caixa da empresa para manter a carreta rodando — a parte do conserto que </a:t>
            </a:r>
            <a:r>
              <a:rPr lang="en-US" sz="2175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cobrada do cliente</a:t>
            </a:r>
            <a:r>
              <a:rPr lang="en-US" sz="217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1047750" y="3489008"/>
            <a:ext cx="27515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418153" y="3489008"/>
            <a:ext cx="688502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 de OS marcadas como internas </a:t>
            </a: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charge_flag = 'I'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47750" y="3998595"/>
            <a:ext cx="27515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18153" y="3998595"/>
            <a:ext cx="621656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Somente OS aprovadas, concluídas e não canceladas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047750" y="4508183"/>
            <a:ext cx="27515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418153" y="4508183"/>
            <a:ext cx="896175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de obra e peças: valor terceirizado quando sublet; senão custo × quantidade/horas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047750" y="5374957"/>
            <a:ext cx="275153" cy="402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418153" y="5374957"/>
            <a:ext cx="8366939" cy="402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 preventiva </a:t>
            </a: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corretiva — "interno" não é sinônimo de "preventivo"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576084" y="3793808"/>
            <a:ext cx="6664166" cy="4219575"/>
          </a:xfrm>
          <a:prstGeom prst="roundRect">
            <a:avLst>
              <a:gd name="adj" fmla="val 361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1021854" y="4220528"/>
            <a:ext cx="634988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57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RECONCILIAÇÃO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1021854" y="4647247"/>
            <a:ext cx="6349889" cy="8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79,0 mi</a:t>
            </a:r>
            <a:endParaRPr lang="en-US" sz="5250" dirty="0"/>
          </a:p>
        </p:txBody>
      </p:sp>
      <p:sp>
        <p:nvSpPr>
          <p:cNvPr id="16" name="Text 14"/>
          <p:cNvSpPr/>
          <p:nvPr/>
        </p:nvSpPr>
        <p:spPr>
          <a:xfrm>
            <a:off x="11021854" y="5512118"/>
            <a:ext cx="5945805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nominal 2020–2025 (CAD 84,3 mi a valores de dez/2025)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11021854" y="6361748"/>
            <a:ext cx="5772626" cy="9525"/>
          </a:xfrm>
          <a:prstGeom prst="rect">
            <a:avLst/>
          </a:prstGeom>
          <a:solidFill>
            <a:srgbClr val="2232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1021854" y="6657023"/>
            <a:ext cx="634988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238.818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1021854" y="7304723"/>
            <a:ext cx="634988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ordens de serviço no período</a:t>
            </a:r>
            <a:endParaRPr lang="en-US" sz="17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 TÉCNICO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VMRS — o "CID da oficina"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358390"/>
            <a:ext cx="7664158" cy="1640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vez de descrever o conserto em texto livre, cada reparo recebe um </a:t>
            </a:r>
            <a:r>
              <a:rPr lang="en-US" sz="202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padronizado 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diz qual sistema da carreta foi mexido — permitindo agregar custo por sistema de forma comparável.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047750" y="4208145"/>
            <a:ext cx="7664158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 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(preventiva) é apenas </a:t>
            </a:r>
            <a:r>
              <a:rPr lang="en-US" sz="202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categorias — ao lado de freios, pneus, reefer, elétrica…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047750" y="5260657"/>
            <a:ext cx="7664158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Y soma o custo interno de </a:t>
            </a:r>
            <a:r>
              <a:rPr lang="en-US" sz="202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categorias; o VMRS entra como dimensão de análise, não como filtro.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8983980" y="2358390"/>
            <a:ext cx="8256270" cy="7090410"/>
          </a:xfrm>
          <a:prstGeom prst="roundRect">
            <a:avLst>
              <a:gd name="adj" fmla="val 214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391650" y="2708910"/>
            <a:ext cx="818502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5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EXEMPLOS DE SISTEMAS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391650" y="317373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77450" y="3173730"/>
            <a:ext cx="2532816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Maintenance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64515" y="317373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950315" y="3173730"/>
            <a:ext cx="784027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91650" y="362331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7450" y="3623310"/>
            <a:ext cx="230255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Tires and Accessories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64515" y="362331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950315" y="3623310"/>
            <a:ext cx="75271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Reefer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91650" y="407289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77450" y="4072890"/>
            <a:ext cx="183487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Lights and Wiring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64515" y="407289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950315" y="4072890"/>
            <a:ext cx="14611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Exterior Body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91650" y="452247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77450" y="4522470"/>
            <a:ext cx="142708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Gear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64515" y="452247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950315" y="4522470"/>
            <a:ext cx="153614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Equipment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 TÉCNICO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de manutenção preventiva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463290"/>
            <a:ext cx="7981950" cy="1773555"/>
          </a:xfrm>
          <a:prstGeom prst="roundRect">
            <a:avLst>
              <a:gd name="adj" fmla="val 859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17320" y="3794760"/>
            <a:ext cx="79670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· Inspeção geral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417320" y="4248150"/>
            <a:ext cx="746009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mecânico e de segurança: chassi, landing gear, pneus, freios, luzes/ABS, portas e vedações.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258300" y="3463290"/>
            <a:ext cx="7981950" cy="1773555"/>
          </a:xfrm>
          <a:prstGeom prst="roundRect">
            <a:avLst>
              <a:gd name="adj" fmla="val 859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627870" y="3794760"/>
            <a:ext cx="79670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Inspeção de Segurança (MTO)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627870" y="4248150"/>
            <a:ext cx="746009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Inspeção regulatória anual completa — emite o certificado e o selo de segurança.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047750" y="5465445"/>
            <a:ext cx="7981950" cy="1773555"/>
          </a:xfrm>
          <a:prstGeom prst="roundRect">
            <a:avLst>
              <a:gd name="adj" fmla="val 859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417320" y="5796915"/>
            <a:ext cx="79670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Reefer PM · Dry Service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417320" y="6250305"/>
            <a:ext cx="746009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"seco" da unidade de refrigeração: limpeza, correias, teste de ciclo, sensores.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9258300" y="5465445"/>
            <a:ext cx="7981950" cy="1773555"/>
          </a:xfrm>
          <a:prstGeom prst="roundRect">
            <a:avLst>
              <a:gd name="adj" fmla="val 859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627870" y="5796915"/>
            <a:ext cx="79670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Reefer PM · Wet Service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9627870" y="6250305"/>
            <a:ext cx="796709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Service + trocas de fluidos e filtros da unidade; reset do horímetro.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47750" y="8648700"/>
            <a:ext cx="16192500" cy="800100"/>
          </a:xfrm>
          <a:prstGeom prst="roundRect">
            <a:avLst>
              <a:gd name="adj" fmla="val 14286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71600" y="88773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ATENÇÃO </a:t>
            </a: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Além dos PMs programados, as corretivas não programadas também geram custo interno — e são as que mais variam entre carretas.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VARIÁVEL-ALVO (Y)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custo_manutencao_interno_por_km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1047750" y="2190750"/>
            <a:ext cx="16192500" cy="1661160"/>
          </a:xfrm>
          <a:prstGeom prst="roundRect">
            <a:avLst>
              <a:gd name="adj" fmla="val 9174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459367" y="2800350"/>
            <a:ext cx="330398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56465" y="2807970"/>
            <a:ext cx="27051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5593675" y="3013710"/>
            <a:ext cx="5165884" cy="15240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516187" y="2541270"/>
            <a:ext cx="532086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75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do mês </a:t>
            </a:r>
            <a:r>
              <a:rPr lang="en-US" sz="172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(CAD, deflacionado)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5516187" y="3143250"/>
            <a:ext cx="532086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75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 rodado no mês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1331060" y="2880360"/>
            <a:ext cx="27472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grão: carreta × mês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047750" y="4194810"/>
            <a:ext cx="5245061" cy="1798320"/>
          </a:xfrm>
          <a:prstGeom prst="roundRect">
            <a:avLst>
              <a:gd name="adj" fmla="val 741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379220" y="4507230"/>
            <a:ext cx="504033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352.038</a:t>
            </a:r>
            <a:endParaRPr lang="en-US" sz="3750" dirty="0"/>
          </a:p>
        </p:txBody>
      </p:sp>
      <p:sp>
        <p:nvSpPr>
          <p:cNvPr id="13" name="Text 11"/>
          <p:cNvSpPr/>
          <p:nvPr/>
        </p:nvSpPr>
        <p:spPr>
          <a:xfrm>
            <a:off x="1379220" y="5132070"/>
            <a:ext cx="4719584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 carreta × mês com Y válido (≥ 500 km/mês)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21411" y="4194810"/>
            <a:ext cx="5245179" cy="1798320"/>
          </a:xfrm>
          <a:prstGeom prst="roundRect">
            <a:avLst>
              <a:gd name="adj" fmla="val 741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852881" y="4507230"/>
            <a:ext cx="504046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67,1%</a:t>
            </a:r>
            <a:endParaRPr lang="en-US" sz="3750" dirty="0"/>
          </a:p>
        </p:txBody>
      </p:sp>
      <p:sp>
        <p:nvSpPr>
          <p:cNvPr id="16" name="Text 14"/>
          <p:cNvSpPr/>
          <p:nvPr/>
        </p:nvSpPr>
        <p:spPr>
          <a:xfrm>
            <a:off x="6852881" y="5132070"/>
            <a:ext cx="4719707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meses com custo zero — a carreta nem foi à oficina; mantidos (informação legítima)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1995190" y="4194810"/>
            <a:ext cx="5245061" cy="1798320"/>
          </a:xfrm>
          <a:prstGeom prst="roundRect">
            <a:avLst>
              <a:gd name="adj" fmla="val 741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2326660" y="4507230"/>
            <a:ext cx="504033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0,091</a:t>
            </a:r>
            <a:endParaRPr lang="en-US" sz="3750" dirty="0"/>
          </a:p>
        </p:txBody>
      </p:sp>
      <p:sp>
        <p:nvSpPr>
          <p:cNvPr id="19" name="Text 17"/>
          <p:cNvSpPr/>
          <p:nvPr/>
        </p:nvSpPr>
        <p:spPr>
          <a:xfrm>
            <a:off x="12326660" y="5132070"/>
            <a:ext cx="4719584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CAD/km de média · mediana dos meses com custo: CAD 0,101/km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CORREÇÃO METODOLÓGICA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em CAD ⇒ deflação pelo CPI do Canadá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190750"/>
            <a:ext cx="9476542" cy="733425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238250" y="3331369"/>
            <a:ext cx="9095542" cy="50530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43391" y="3779044"/>
            <a:ext cx="6485764" cy="821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 correção, o modelo confundiria </a:t>
            </a:r>
            <a:r>
              <a:rPr lang="en-US" sz="19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"custos subindo" </a:t>
            </a:r>
            <a:r>
              <a:rPr lang="en-US" sz="19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</a:t>
            </a:r>
            <a:r>
              <a:rPr lang="en-US" sz="19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"dinheiro valendo menos"</a:t>
            </a:r>
            <a:r>
              <a:rPr lang="en-US" sz="19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10943391" y="4790599"/>
            <a:ext cx="6296859" cy="1451610"/>
          </a:xfrm>
          <a:prstGeom prst="roundRect">
            <a:avLst>
              <a:gd name="adj" fmla="val 918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1255812" y="5064919"/>
            <a:ext cx="623922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+20%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11255812" y="5693569"/>
            <a:ext cx="62392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inflação canadense acumulada 2020 → 2025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0943391" y="6470809"/>
            <a:ext cx="6296859" cy="1465898"/>
          </a:xfrm>
          <a:prstGeom prst="roundRect">
            <a:avLst>
              <a:gd name="adj" fmla="val 909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1255811" y="6707029"/>
            <a:ext cx="5860924" cy="103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Todos os custos convertidos ao </a:t>
            </a:r>
            <a:r>
              <a:rPr lang="en-US" sz="172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dólar de dez/2025 </a:t>
            </a:r>
            <a:r>
              <a:rPr lang="en-US" sz="1725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via CPI all-items (StatCan) — corrige a versão anterior, que usava IPCA (Brasil).</a:t>
            </a:r>
            <a:endParaRPr lang="en-US" sz="17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MODELAGEM DE DADOS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modelo estrela à base mensal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4267200"/>
            <a:ext cx="5588318" cy="2263140"/>
          </a:xfrm>
          <a:prstGeom prst="roundRect">
            <a:avLst>
              <a:gd name="adj" fmla="val 673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195816" y="4693920"/>
            <a:ext cx="5292185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tabelas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64204" y="5509260"/>
            <a:ext cx="49554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normalizadas extração · modelo estrela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14017" y="4480560"/>
            <a:ext cx="4459967" cy="1169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por id_carreta + feature engineering + agregação mensal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762464" y="5707380"/>
            <a:ext cx="476307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⟶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1651933" y="4267200"/>
            <a:ext cx="5588318" cy="2263140"/>
          </a:xfrm>
          <a:prstGeom prst="roundRect">
            <a:avLst>
              <a:gd name="adj" fmla="val 6734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799998" y="4693920"/>
            <a:ext cx="5292185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tabela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1968386" y="5509260"/>
            <a:ext cx="49554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desnormalizada 1 linha = carreta × mês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8648700"/>
            <a:ext cx="16192500" cy="800100"/>
          </a:xfrm>
          <a:prstGeom prst="roundRect">
            <a:avLst>
              <a:gd name="adj" fmla="val 14286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71600" y="88773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</a:t>
            </a: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base_mensal_carreta </a:t>
            </a: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749.664 linhas — grade completa carreta × mês 2020–2025, pronta para EDA e ML.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7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— a "vida" da carreta em colunas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54520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22070" y="378142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idade_carreta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22070" y="413194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anos desde a entrada em serviço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6496050" y="354520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770370" y="378142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km_rodado_mes · km_por_mes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770370" y="413194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intensidade de uso mensal e histórica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1944350" y="354520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2218670" y="378142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218670" y="413194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quilometragem até o mês anterior (defasada)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047750" y="477964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322070" y="501586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custo_acum_manutencao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22070" y="536638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acumulado até o mês anterior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6496050" y="477964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770370" y="501586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n_os_acum · n_os_prev_acum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770370" y="536638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de OS acumuladas (totais e preventivas)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1944350" y="477964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218670" y="501586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custo_medio_movel_3m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218670" y="536638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móvel dos 3 meses anteriores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1047750" y="601408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322070" y="625030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intervalo_medio_os · recência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22070" y="660082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entre OS · meses desde a última OS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6496050" y="601408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770370" y="625030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duração · idade do contrato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770370" y="660082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de contrato e tempo decorrido no mês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11944350" y="601408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2218670" y="625030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regiao_operacao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218670" y="660082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região aproximada por província/local da OS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1047750" y="8702040"/>
            <a:ext cx="16192500" cy="822960"/>
          </a:xfrm>
          <a:prstGeom prst="roundRect">
            <a:avLst>
              <a:gd name="adj" fmla="val 13889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379220" y="8938260"/>
            <a:ext cx="170825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 DE OURO · ANTI-VAZAMENTO </a:t>
            </a:r>
            <a:r>
              <a:rPr lang="en-US" sz="1800" dirty="0">
                <a:solidFill>
                  <a:srgbClr val="F5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linha só usa informação que já existia </a:t>
            </a:r>
            <a:r>
              <a:rPr lang="en-US" sz="1800" b="1" dirty="0">
                <a:solidFill>
                  <a:srgbClr val="F5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</a:t>
            </a:r>
            <a:r>
              <a:rPr lang="en-US" sz="1800" dirty="0">
                <a:solidFill>
                  <a:srgbClr val="F5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mês que queremos prever — como na vida real.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PERGUNTAS 6–7 · DICIONÁRIO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numéricas </a:t>
            </a:r>
            <a:r>
              <a:rPr lang="en-US" sz="4200" b="1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87464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41120" y="305371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km_rodado_mes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5417820" y="308800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SUBTRAÇÃO+RATEIO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494270" y="3057525"/>
            <a:ext cx="70719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do odômetro dividido proporcionalmente aos dias de cada mês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362902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41120" y="380809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5417820" y="384238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DEFASADA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494270" y="3811905"/>
            <a:ext cx="65708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leitura até o fim do mês anterior — nunca do mês previsto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438340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41120" y="456247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km_rodado_acum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5417820" y="459676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ACUM.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7494270" y="4566285"/>
            <a:ext cx="612802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km_rodado_mes dos meses anteriores (exclui o corrente)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513778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41120" y="531685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km_por_mes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5417820" y="535114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DIVISÃO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7494270" y="5320665"/>
            <a:ext cx="60123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km_acumulado ÷ nº de meses desde a entrada em serviço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47750" y="589216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341120" y="607123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idade_carreta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5417820" y="610552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SUBTRAÇÃO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7494270" y="6075045"/>
            <a:ext cx="690323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(mês de referência − data de entrada em serviço) ÷ 365,25 → anos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047750" y="664654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341120" y="682561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custo_acum_manutencao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5417820" y="685990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ACUM. DEFASADA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7494270" y="6829425"/>
            <a:ext cx="655315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custo mensal dos meses anteriores (cumsum − mês corrente)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47750" y="740092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41120" y="757999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custo_preventivo_acum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5417820" y="761428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ACUM. DEFASADA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7494270" y="7583805"/>
            <a:ext cx="55211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idem, somando apenas linhas VMRS PM (preventivas)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047750" y="815530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341120" y="833437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n_os_acum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5417820" y="836866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 ACUM.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7494270" y="8338185"/>
            <a:ext cx="444874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nº de OS dos meses anteriores da carreta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PERGUNTAS 6–7 · DICIONÁRIO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numéricas </a:t>
            </a:r>
            <a:r>
              <a:rPr lang="en-US" sz="4200" b="1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87464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41120" y="305371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n_os_preventivas_acum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5798820" y="308800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 ACUM.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875270" y="3057525"/>
            <a:ext cx="45960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nº de OS preventivas dos meses anteriores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362902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41120" y="380809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custo_medio_movel_3m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5798820" y="384238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 MÓVEL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875270" y="3811905"/>
            <a:ext cx="66570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(mês−1 + mês−2 + mês−3) ÷ 3 — deslocada, sem o mês previsto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438340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41120" y="456247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custo_prev_medio_movel_3m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5798820" y="459676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 MÓVEL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7875270" y="4566285"/>
            <a:ext cx="674135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fórmula, sobre o custo preventivo dos 3 meses anteriores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513778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41120" y="531685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intervalo_medio_os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5798820" y="535114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 DE DIFS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7875270" y="5320665"/>
            <a:ext cx="62140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médios entre OS consecutivas, só OS anteriores ao mês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47750" y="589216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341120" y="607123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meses_desde_ultima_os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5798820" y="610552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SUBTRAÇÃO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7875270" y="6075045"/>
            <a:ext cx="664417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recência da última OS anterior — nunca conta OS do próprio mês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047750" y="664654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341120" y="682561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franquia_km_mensal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5798820" y="685990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7875270" y="6829425"/>
            <a:ext cx="57131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direto do contrato vigente — sem transformação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47750" y="740092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41120" y="757999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duracao_contrato_meses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5798820" y="761428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SUBTRAÇÃO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7875270" y="7583805"/>
            <a:ext cx="67672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(fim − início) ÷ 30,44 · contratos abertos censurados em 2025-12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047750" y="815530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341120" y="833437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idade_contrato_meses_no_mes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5798820" y="836866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SUBTRAÇÃO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7875270" y="8338185"/>
            <a:ext cx="70915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(mês de referência − início do contrato) ÷ 30,44 → meses decorridos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PERGUNTAS 6–7 · DICIONÁRIO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categóricas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824163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41120" y="3022283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cod_montadora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5417820" y="3056572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113270" y="3026093"/>
            <a:ext cx="61209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fabricante — one-hot com agrupamento de categorias raras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3616643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41120" y="3814763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cod_modelo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5417820" y="3849053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113270" y="3818572"/>
            <a:ext cx="345325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da carreta (dim_carretas)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4409122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41120" y="4607243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flag_refrigerado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5417820" y="4641533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7113270" y="4611053"/>
            <a:ext cx="277994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refrigerada (reefer) vs seca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5201603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41120" y="5399723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tipo_contrato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5417820" y="5434013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7113270" y="5403532"/>
            <a:ext cx="387811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 vs LEASE do contrato vigente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47750" y="5994082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341120" y="6192203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cod_grupo_manutencao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5417820" y="6226493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7113270" y="6196013"/>
            <a:ext cx="421968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programa/grupo de manutenção do ativo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047750" y="6786563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341120" y="6984682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regiao_operacao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5417820" y="7018973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7113270" y="6988493"/>
            <a:ext cx="710374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província/local da OS → região; propagada e defasada (mês anterior)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47750" y="8410575"/>
            <a:ext cx="16192500" cy="1114425"/>
          </a:xfrm>
          <a:prstGeom prst="roundRect">
            <a:avLst>
              <a:gd name="adj" fmla="val 10256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71600" y="8639175"/>
            <a:ext cx="16011144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EXCLUÍDAS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prop_pecas_garantia (só 0,03% dos meses com peça em garantia) · tipo_manutencao (população fixada em MAINT) · km_acumulado_fim_mes (auditoria)</a:t>
            </a:r>
            <a:endParaRPr lang="en-US" sz="17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9423" y="5524500"/>
            <a:ext cx="8857285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123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238250" y="3806190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 · PERGUNTA 8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238250" y="4354830"/>
            <a:ext cx="13096875" cy="95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exploratória de dados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238250" y="5617845"/>
            <a:ext cx="173926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352.038 observações carreta × mês · protocolo variável a variável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1238250" y="6433185"/>
            <a:ext cx="1143000" cy="47625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8 · PROTOCOLO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cada variável foi analisada — e como ler os gráficos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183130"/>
            <a:ext cx="7962900" cy="7341870"/>
          </a:xfrm>
          <a:prstGeom prst="roundRect">
            <a:avLst>
              <a:gd name="adj" fmla="val 2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17320" y="2514600"/>
            <a:ext cx="79461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PROTOCOLO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417320" y="2941320"/>
            <a:ext cx="79461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Quantitativas: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histograma + boxplot + estatísticas descritivas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3482340"/>
            <a:ext cx="79461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Qualitativas: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boxplot de Y por categoria + frequências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4023360"/>
            <a:ext cx="744047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Complementares: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Pearson/Spearman com Y · eta (η) · matriz de correlação · VIF · evolução temporal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4907280"/>
            <a:ext cx="744047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partes: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ocorrência de custo (67% zeros) e magnitude nos meses com custo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77350" y="2183130"/>
            <a:ext cx="7962900" cy="7341870"/>
          </a:xfrm>
          <a:prstGeom prst="roundRect">
            <a:avLst>
              <a:gd name="adj" fmla="val 2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646920" y="2514600"/>
            <a:ext cx="79461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LER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646920" y="2941320"/>
            <a:ext cx="79461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Boxplot: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= 50% central · linha = mediana · pontos = outliers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46920" y="3482340"/>
            <a:ext cx="79461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 (ρ):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|ρ| &lt; 0,1 fraca · 0,1–0,3 modesta · &gt; 0,3 relevante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46920" y="4023360"/>
            <a:ext cx="79461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 (η):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as categorias separam o Y (0 → 1)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46920" y="4564380"/>
            <a:ext cx="744047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no p99: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mais caro sai do gráfico por legibilidade — mas é tratado na modelagem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835672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VARIÁVEL-ALVO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953090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custo interno por km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15198090" y="723900"/>
            <a:ext cx="235115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assimetria = 14,4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77390"/>
            <a:ext cx="11343561" cy="6261735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3108127"/>
            <a:ext cx="11000661" cy="400014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638961" y="1977390"/>
            <a:ext cx="4696539" cy="6261735"/>
          </a:xfrm>
          <a:prstGeom prst="roundRect">
            <a:avLst>
              <a:gd name="adj" fmla="val 324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2970430" y="3676650"/>
            <a:ext cx="443695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ESTATÍSTICAS · CAD/KM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2970430" y="3983355"/>
            <a:ext cx="19621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163925" y="3983355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352.038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2970430" y="4366260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403956" y="4366260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0,091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2970430" y="4749165"/>
            <a:ext cx="3162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403956" y="4749165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0,374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2970430" y="5132070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403956" y="5132070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0,000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2970430" y="5514975"/>
            <a:ext cx="3162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403956" y="5514975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0,032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2970430" y="5897880"/>
            <a:ext cx="43624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523970" y="5897880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29,3</a:t>
            </a:r>
            <a:endParaRPr lang="en-US" sz="1575" dirty="0"/>
          </a:p>
        </p:txBody>
      </p:sp>
      <p:sp>
        <p:nvSpPr>
          <p:cNvPr id="21" name="Text 18"/>
          <p:cNvSpPr/>
          <p:nvPr/>
        </p:nvSpPr>
        <p:spPr>
          <a:xfrm>
            <a:off x="12970430" y="6280785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</a:t>
            </a:r>
            <a:endParaRPr lang="en-US" sz="1575" dirty="0"/>
          </a:p>
        </p:txBody>
      </p:sp>
      <p:sp>
        <p:nvSpPr>
          <p:cNvPr id="22" name="Text 19"/>
          <p:cNvSpPr/>
          <p:nvPr/>
        </p:nvSpPr>
        <p:spPr>
          <a:xfrm>
            <a:off x="16643985" y="6280785"/>
            <a:ext cx="43624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67%</a:t>
            </a:r>
            <a:endParaRPr lang="en-US" sz="1575" dirty="0"/>
          </a:p>
        </p:txBody>
      </p:sp>
      <p:sp>
        <p:nvSpPr>
          <p:cNvPr id="23" name="Shape 20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Zero-inflada e de cauda longa: 67% dos meses sem custo; nos meses com custo, a média (0,277) fica bem acima da mediana (0,101). Pede log1p, modelos robustos e leitura em duas partes.</a:t>
            </a:r>
            <a:endParaRPr lang="en-US" sz="17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VARIÁVEL-ALVO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anual — valores reais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952500" y="1962150"/>
            <a:ext cx="11828621" cy="6276975"/>
          </a:xfrm>
          <a:prstGeom prst="roundRect">
            <a:avLst>
              <a:gd name="adj" fmla="val 24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3950" y="2229207"/>
            <a:ext cx="11485721" cy="57428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24021" y="2869883"/>
            <a:ext cx="4211479" cy="1710690"/>
          </a:xfrm>
          <a:prstGeom prst="roundRect">
            <a:avLst>
              <a:gd name="adj" fmla="val 779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3436441" y="3144203"/>
            <a:ext cx="3945303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+71%</a:t>
            </a:r>
            <a:endParaRPr lang="en-US" sz="4050" dirty="0"/>
          </a:p>
        </p:txBody>
      </p:sp>
      <p:sp>
        <p:nvSpPr>
          <p:cNvPr id="8" name="Text 5"/>
          <p:cNvSpPr/>
          <p:nvPr/>
        </p:nvSpPr>
        <p:spPr>
          <a:xfrm>
            <a:off x="13436441" y="3788093"/>
            <a:ext cx="369423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real da média — já sem inflação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13124021" y="4771072"/>
            <a:ext cx="4211479" cy="1184910"/>
          </a:xfrm>
          <a:prstGeom prst="roundRect">
            <a:avLst>
              <a:gd name="adj" fmla="val 112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3436441" y="5045393"/>
            <a:ext cx="394530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0,074 → 0,126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3436441" y="5422582"/>
            <a:ext cx="394530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CAD/km · 2020 → 2025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13124021" y="6146482"/>
            <a:ext cx="4211479" cy="1184910"/>
          </a:xfrm>
          <a:prstGeom prst="roundRect">
            <a:avLst>
              <a:gd name="adj" fmla="val 112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3436441" y="6420803"/>
            <a:ext cx="394530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69% → 63%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3436441" y="6797993"/>
            <a:ext cx="394530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de meses com custo zero caindo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Encarecimento real por km, consistente com envelhecimento e maior utilização da frota — o modelo deve capturá-lo pelas variáveis operacionais, não por um efeito "ano".</a:t>
            </a:r>
            <a:endParaRPr lang="en-US" sz="17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309295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309295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ano_modelo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957108" y="723900"/>
            <a:ext cx="261623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Spearman = 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+0,045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311265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3033355"/>
            <a:ext cx="11275695" cy="41001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311265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3843338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ESTATÍSTICAS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150043"/>
            <a:ext cx="19621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163925" y="4150043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352.006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53294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283940" y="4532947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2016,3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4915853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523970" y="4915853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29875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Q1–Q3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5923895" y="5298757"/>
            <a:ext cx="115633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2013–2019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3245465" y="5681663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mín–máx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5923895" y="5681663"/>
            <a:ext cx="115633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1981–2026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245465" y="6064568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Pearson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283940" y="6064568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−0,055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quase nula: o ano do modelo, sozinho, não diz quanto a carreta custa — o efeito de envelhecimento aparece nas variáveis de histórico acumulado.</a:t>
            </a:r>
            <a:endParaRPr lang="en-US" sz="17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quase constantes — sem poder de separação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1939290"/>
            <a:ext cx="5308521" cy="6243638"/>
          </a:xfrm>
          <a:prstGeom prst="roundRect">
            <a:avLst>
              <a:gd name="adj" fmla="val 25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1085850" y="4144447"/>
            <a:ext cx="5041821" cy="18333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" y="8316278"/>
            <a:ext cx="6477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eixos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27546" y="8316278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+0,004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89621" y="1939290"/>
            <a:ext cx="5308640" cy="6243638"/>
          </a:xfrm>
          <a:prstGeom prst="roundRect">
            <a:avLst>
              <a:gd name="adj" fmla="val 25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622971" y="4144447"/>
            <a:ext cx="5041940" cy="18333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89621" y="8316278"/>
            <a:ext cx="13830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comprimento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664785" y="8316278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−0,067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2026860" y="1939290"/>
            <a:ext cx="5308640" cy="6243638"/>
          </a:xfrm>
          <a:prstGeom prst="roundRect">
            <a:avLst>
              <a:gd name="adj" fmla="val 25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12160210" y="4144447"/>
            <a:ext cx="5041940" cy="18333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26860" y="8316278"/>
            <a:ext cx="226314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franquia_km_mensal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6202025" y="8316278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−0,004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eixos, 53 pés e franquia zero dominam a frota: sem variação, não há poder preditivo (ρ ≈ 0). Mantidas apenas por completude.</a:t>
            </a:r>
            <a:endParaRPr lang="en-US" sz="17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392343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392343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idade_carreta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328458" y="723900"/>
            <a:ext cx="330774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Spearman = 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+0,037 </a:t>
            </a: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639878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3197662"/>
            <a:ext cx="11275695" cy="41001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639878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4007644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ESTATÍSTICAS · ANOS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314349"/>
            <a:ext cx="19621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163925" y="4314349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223.515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697254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523970" y="4697254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6,23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5080159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523970" y="5080159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5,33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463064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Q1–Q3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163925" y="5463064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3,1–8,5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3245465" y="5845969"/>
            <a:ext cx="43624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764000" y="5845969"/>
            <a:ext cx="3162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245465" y="6228874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Pearson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283940" y="6228874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+0,082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direto fraco: a idade age indiretamente, via km acumulado e histórico de OS, que absorvem o efeito — H2 com suporte apenas parcial.</a:t>
            </a:r>
            <a:endParaRPr lang="en-US" sz="17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392343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392343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km_rodado_mes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328458" y="723900"/>
            <a:ext cx="330774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Spearman = 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+0,094 </a:t>
            </a: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639878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3197662"/>
            <a:ext cx="11275695" cy="41001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639878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4007644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ESTATÍSTICAS · KM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314349"/>
            <a:ext cx="19621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163925" y="4314349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352.038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697254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403956" y="4697254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2.874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5080159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403956" y="5080159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1.937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463064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Q1–Q3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5923895" y="5463064"/>
            <a:ext cx="115633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994–3.789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3245465" y="5845969"/>
            <a:ext cx="43624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163925" y="5845969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108.359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245465" y="6228874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Pearson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283940" y="6228874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−0,081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CUIDADO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denominador do Y: rodar mais dilui o custo por km mecanicamente — correlação não é efeito causal. H3 testada também contra o custo absoluto.</a:t>
            </a:r>
            <a:endParaRPr lang="en-US" sz="17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567409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567409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Quilometragem estrutural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6247448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639145"/>
            <a:ext cx="7810500" cy="2840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8316278"/>
            <a:ext cx="150876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81625" y="8316278"/>
            <a:ext cx="401288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+0,155 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mediana 85,6 mil km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6247448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639145"/>
            <a:ext cx="7810500" cy="28401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8316278"/>
            <a:ext cx="12192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km_por_mes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258925" y="8316278"/>
            <a:ext cx="338423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+0,123 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mediana 923 km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mais rodada a carreta — no total e no perfil histórico — mais cara por km: sinal de desgaste estrutural que sustenta parcialmente a H3.</a:t>
            </a:r>
            <a:endParaRPr lang="en-US" sz="17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468724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4687241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de contrato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6232207"/>
          </a:xfrm>
          <a:prstGeom prst="roundRect">
            <a:avLst>
              <a:gd name="adj" fmla="val 2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631525"/>
            <a:ext cx="7810500" cy="2840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8301038"/>
            <a:ext cx="276606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duracao_contrato_meses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10325" y="8301038"/>
            <a:ext cx="288131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+0,019 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mediana 60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6232207"/>
          </a:xfrm>
          <a:prstGeom prst="roundRect">
            <a:avLst>
              <a:gd name="adj" fmla="val 2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631525"/>
            <a:ext cx="7810500" cy="28401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8301038"/>
            <a:ext cx="26403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idade_contrato_no_mes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716125" y="8301038"/>
            <a:ext cx="288131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+0,049 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mediana 31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800148"/>
            <a:ext cx="16383000" cy="762952"/>
          </a:xfrm>
          <a:prstGeom prst="roundRect">
            <a:avLst>
              <a:gd name="adj" fmla="val 14981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64920" y="9017318"/>
            <a:ext cx="1733397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ACHADO </a:t>
            </a:r>
            <a:r>
              <a:rPr lang="en-US" sz="1725" dirty="0">
                <a:solidFill>
                  <a:srgbClr val="F5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H1 não encontra suporte: contratos tipicamente de 60 meses, e nem a duração nem a fase do contrato explicam o custo por km (ρ ≈ 0).</a:t>
            </a:r>
            <a:endParaRPr lang="en-US" sz="17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1026009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10260092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acumulado — o passado prevê o futuro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474839"/>
            <a:ext cx="7810500" cy="2840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7987665"/>
            <a:ext cx="26403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custo_acum_manutencao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67425" y="7987665"/>
            <a:ext cx="325850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+0,197 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2º mais forte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474839"/>
            <a:ext cx="7810500" cy="28401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7987665"/>
            <a:ext cx="26403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custo_preventivo_acum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202025" y="7987665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+0,165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 que já custou tende a continuar custando — evidência central da H4. O preventivo acumulado acompanha (carretas mais usadas fazem mais PMs).</a:t>
            </a:r>
            <a:endParaRPr lang="en-US" sz="17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883279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8832795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acumuladas — o preditor mais forte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6247448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639145"/>
            <a:ext cx="7810500" cy="2840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8316278"/>
            <a:ext cx="11049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n_os_acum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38825" y="8316278"/>
            <a:ext cx="350996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+0,220 · nº 1 do ranking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6247448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639145"/>
            <a:ext cx="7810500" cy="28401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8316278"/>
            <a:ext cx="26403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n_os_preventivas_acum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202025" y="8316278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+0,190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frequência histórica de manutenção é o melhor termômetro isolado do custo futuro — melhor que idade, modelo ou contrato. Núcleo da H4.</a:t>
            </a:r>
            <a:endParaRPr lang="en-US" sz="17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Médias móveis de 3 meses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1920240"/>
            <a:ext cx="8077200" cy="5934075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467219"/>
            <a:ext cx="7810500" cy="28401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" y="7987665"/>
            <a:ext cx="25146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custo_medio_movel_3m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96225" y="7987665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+0,085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258300" y="1920240"/>
            <a:ext cx="8077200" cy="5934075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467219"/>
            <a:ext cx="7810500" cy="28401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258300" y="7987665"/>
            <a:ext cx="31432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custo_prev_medio_movel_3m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6202025" y="7987665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−0,021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persistência de curto prazo — um trimestre caro tende a continuar caro. Já a preventiva recente não muda o custo do mês seguinte: no grão mensal, seu retorno não é imediato.</a:t>
            </a:r>
            <a:endParaRPr lang="en-US" sz="17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8246447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8246447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Ritmo de oficina: intervalo e recência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474839"/>
            <a:ext cx="7810500" cy="2840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7987665"/>
            <a:ext cx="226314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intervalo_medio_os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67425" y="7987665"/>
            <a:ext cx="325850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−0,193 · 3º mais forte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474839"/>
            <a:ext cx="7810500" cy="28401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7987665"/>
            <a:ext cx="26403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meses_desde_ultima_os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202025" y="7987665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−0,062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 que volta cedo à oficina é carreta cara (ρ negativo). A recência usa só OS anteriores ao mês — a versão antiga vazava informação e inflava as métricas.</a:t>
            </a:r>
            <a:endParaRPr lang="en-US" sz="17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392343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392343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cod_montadora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202727" y="723900"/>
            <a:ext cx="3446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0,068 </a:t>
            </a: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22 categorias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311265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2777133"/>
            <a:ext cx="11275695" cy="46127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311265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3843338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FREQUÊNCIA · TOP 6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150043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UTLTY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403956" y="4150043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44,8%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532947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STGHTN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403956" y="453294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18,2%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4915853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HYUNDAI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403956" y="4915853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10,4%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29875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MANAC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403956" y="529875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10,3%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3245465" y="5681663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WABASH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523970" y="5681663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8,6%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245465" y="6064568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TMOBILE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523970" y="6064568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2,6%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diferença entre fabricantes, mas as caixas se sobrepõem — efeito isolado fraco. Entra via one-hot (raras agrupadas) e contribui em interação com as demais variáveis.</a:t>
            </a:r>
            <a:endParaRPr lang="en-US" sz="17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482881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482881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flag_refrigerado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214408" y="723900"/>
            <a:ext cx="119729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0,063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2115800" cy="6311265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2675454"/>
            <a:ext cx="11772900" cy="481607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411200" y="3468053"/>
            <a:ext cx="3924300" cy="1390650"/>
          </a:xfrm>
          <a:prstGeom prst="roundRect">
            <a:avLst>
              <a:gd name="adj" fmla="val 958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723620" y="3742372"/>
            <a:ext cx="362940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60,2%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3723620" y="4325303"/>
            <a:ext cx="362940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carretas secas (N)</a:t>
            </a:r>
            <a:endParaRPr lang="en-US" sz="1575" dirty="0"/>
          </a:p>
        </p:txBody>
      </p:sp>
      <p:sp>
        <p:nvSpPr>
          <p:cNvPr id="10" name="Shape 7"/>
          <p:cNvSpPr/>
          <p:nvPr/>
        </p:nvSpPr>
        <p:spPr>
          <a:xfrm>
            <a:off x="13411200" y="5049203"/>
            <a:ext cx="3924300" cy="1649730"/>
          </a:xfrm>
          <a:prstGeom prst="roundRect">
            <a:avLst>
              <a:gd name="adj" fmla="val 8083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3723620" y="5323523"/>
            <a:ext cx="362940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39,8%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3723620" y="5906453"/>
            <a:ext cx="3398444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refrigeradas (reefer) — custo por km mais alto em toda a distribuição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unidade de refrigeração adiciona um sistema inteiro (compressor, gás, filtros) que gera OS próprias — a flag figura entre os fatores importantes do modelo final.</a:t>
            </a:r>
            <a:endParaRPr lang="en-US" sz="17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7642027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7642027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contrato e de manutenção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H5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297317"/>
            <a:ext cx="7810500" cy="3195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7987665"/>
            <a:ext cx="163449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tipo_contrato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10325" y="7987665"/>
            <a:ext cx="288131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0,040 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LEASE 89,6%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297317"/>
            <a:ext cx="7810500" cy="3195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7987665"/>
            <a:ext cx="18859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tipo_manutencao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716125" y="7987665"/>
            <a:ext cx="288131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0,046 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MAINT 94,5%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tipo de contrato desloca pouco o custo. Como MAINT concentra 94,5% da população, a modelagem usa só MAINT — evita confundir regra de cobrança com comportamento de custo.</a:t>
            </a:r>
            <a:endParaRPr lang="en-US" sz="17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603608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603608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cod_grupo_manutencao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202727" y="723900"/>
            <a:ext cx="3446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0,016 </a:t>
            </a: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11 categorias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632257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2937629"/>
            <a:ext cx="11275695" cy="46127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632257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4478179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FREQUÊNCIA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813459"/>
            <a:ext cx="4134422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98,9%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3245465" y="5491639"/>
            <a:ext cx="3871322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observações sem grupo informado — a variável quase não separa custo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952500" y="8807768"/>
            <a:ext cx="16383000" cy="755333"/>
          </a:xfrm>
          <a:prstGeom prst="roundRect">
            <a:avLst>
              <a:gd name="adj" fmla="val 15132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1257300" y="9017318"/>
            <a:ext cx="17350740" cy="374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programa define </a:t>
            </a:r>
            <a:r>
              <a:rPr lang="en-US" sz="1725" b="1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preventiva acontece, mas não diferencia </a:t>
            </a:r>
            <a:r>
              <a:rPr lang="en-US" sz="1725" b="1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carreta custa — η mais fraco entre as categóricas.</a:t>
            </a:r>
            <a:endParaRPr lang="en-US" sz="17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452706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4527066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regiao_operacao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316777" y="723900"/>
            <a:ext cx="552059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0,084 · a categórica mais forte · H5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639878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2941439"/>
            <a:ext cx="11275695" cy="46127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639878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4007644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FREQUÊNCIA · TOP 6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314349"/>
            <a:ext cx="43624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403956" y="4314349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39,6%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697254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Ontario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403956" y="4697254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33,7%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5080159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Alberta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523970" y="5080159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7,6%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463064"/>
            <a:ext cx="103632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Cornwall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523970" y="5463064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5,3%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3245465" y="5845969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Calgary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523970" y="5845969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4,7%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245465" y="6228874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Quebec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523970" y="6228874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2,0%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Clima, estradas e custo de oficina local mudam o custo por km — a região é a categórica mais forte e dá suporte parcial à H5 pelo lado operacional.</a:t>
            </a:r>
            <a:endParaRPr lang="en-US" sz="17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301804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3018044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cod_classe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328458" y="723900"/>
            <a:ext cx="330774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0,056 </a:t>
            </a: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5 categorias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311265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2777133"/>
            <a:ext cx="11275695" cy="46127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311265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4226243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FREQUÊNCIA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532947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HIGHWAY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403956" y="453294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41,7%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915853"/>
            <a:ext cx="145218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GOODSTORAGE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403956" y="4915853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29,1%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5298757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403956" y="529875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28,2%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681663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outros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523970" y="5681663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1,1%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mais complexas custam mais por km — efeito real porém moderado, e correlacionado com montadora e flag reefer (as classes agrupam tipos de carreta).</a:t>
            </a:r>
            <a:endParaRPr lang="en-US" sz="17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SELEÇÃO DE VARIÁVEIS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 de associação de cada X com o 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1920240"/>
            <a:ext cx="11828621" cy="7642860"/>
          </a:xfrm>
          <a:prstGeom prst="roundRect">
            <a:avLst>
              <a:gd name="adj" fmla="val 199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60583" y="2091690"/>
            <a:ext cx="8212455" cy="7299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24021" y="3564255"/>
            <a:ext cx="4211479" cy="1108710"/>
          </a:xfrm>
          <a:prstGeom prst="roundRect">
            <a:avLst>
              <a:gd name="adj" fmla="val 1202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3417391" y="3819525"/>
            <a:ext cx="398721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 ρ = 0,22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417391" y="4158615"/>
            <a:ext cx="398721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variável isolada é forte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13124021" y="4844415"/>
            <a:ext cx="4211479" cy="1581150"/>
          </a:xfrm>
          <a:prstGeom prst="roundRect">
            <a:avLst>
              <a:gd name="adj" fmla="val 8434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3417391" y="5099685"/>
            <a:ext cx="398721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histórico domina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3417391" y="5393055"/>
            <a:ext cx="3733481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n_os_acum · custo_acum · intervalo_medio_os — suporte direto à H4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13124021" y="6597015"/>
            <a:ext cx="4211479" cy="1322070"/>
          </a:xfrm>
          <a:prstGeom prst="roundRect">
            <a:avLst>
              <a:gd name="adj" fmla="val 1008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3417391" y="6852285"/>
            <a:ext cx="398721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interações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3417391" y="7145655"/>
            <a:ext cx="373348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ganho preditivo vem de combinações — favorece árvores/ensembles</a:t>
            </a:r>
            <a:endParaRPr lang="en-US" sz="157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MULTICOLINEARIDADE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variáveis dizem a mesma coisa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1920240"/>
            <a:ext cx="10893505" cy="6318885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64262" y="2091690"/>
            <a:ext cx="7469981" cy="59759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188905" y="1920240"/>
            <a:ext cx="5146596" cy="6318885"/>
          </a:xfrm>
          <a:prstGeom prst="roundRect">
            <a:avLst>
              <a:gd name="adj" fmla="val 296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2501324" y="3711893"/>
            <a:ext cx="497393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VIF · TOP 5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12501324" y="4009072"/>
            <a:ext cx="12192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565881" y="4009072"/>
            <a:ext cx="5334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33,9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501324" y="4374833"/>
            <a:ext cx="11049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n_os_acum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565881" y="4374833"/>
            <a:ext cx="5334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25,4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501324" y="4740593"/>
            <a:ext cx="18859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custo_prev_acum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680181" y="4740593"/>
            <a:ext cx="4191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5,8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501324" y="5106353"/>
            <a:ext cx="176022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idade_contrato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680181" y="5106353"/>
            <a:ext cx="4191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5,7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501324" y="5472113"/>
            <a:ext cx="201168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duracao_contrato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6680181" y="5472113"/>
            <a:ext cx="4191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501324" y="5933123"/>
            <a:ext cx="465740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Regra: VIF &gt; 5 pede atenção · &gt; 10 indica redundância problemática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DECISÃO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modelo recomendado é de árvore (robusto a colinearidade), os pares redundantes foram mantidos — a restrição vale para os modelos lineares de comparação.</a:t>
            </a:r>
            <a:endParaRPr lang="en-US" sz="17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OUTLIERS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e decisões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3083719"/>
            <a:ext cx="16383000" cy="670560"/>
          </a:xfrm>
          <a:prstGeom prst="roundRect">
            <a:avLst>
              <a:gd name="adj" fmla="val 1704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45870" y="3281839"/>
            <a:ext cx="37719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· custo interno/km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922520" y="3293269"/>
            <a:ext cx="26193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 20× o p99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51420" y="3281839"/>
            <a:ext cx="699687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no p99,5 na modelagem · custos negativos (estornos) excluídos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" y="3868579"/>
            <a:ext cx="16383000" cy="670560"/>
          </a:xfrm>
          <a:prstGeom prst="roundRect">
            <a:avLst>
              <a:gd name="adj" fmla="val 1704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245870" y="4066699"/>
            <a:ext cx="37719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n_os_acum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922520" y="4078129"/>
            <a:ext cx="26193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 195× o p99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51420" y="4066699"/>
            <a:ext cx="76009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anomalia de cadastro em pouquíssimas carretas — winsorizar e monitorar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52500" y="4653439"/>
            <a:ext cx="16383000" cy="670560"/>
          </a:xfrm>
          <a:prstGeom prst="roundRect">
            <a:avLst>
              <a:gd name="adj" fmla="val 1704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245870" y="4851559"/>
            <a:ext cx="37719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custo_acum_manutencao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922520" y="4862989"/>
            <a:ext cx="26193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 60× o p99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51420" y="4851559"/>
            <a:ext cx="61370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origem da anomalia acima — winsorizar e monitorar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52500" y="5438299"/>
            <a:ext cx="16383000" cy="944880"/>
          </a:xfrm>
          <a:prstGeom prst="roundRect">
            <a:avLst>
              <a:gd name="adj" fmla="val 1209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245870" y="5636419"/>
            <a:ext cx="353187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km_rodado_mes · km_acumulado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922520" y="5785009"/>
            <a:ext cx="26193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8× · 12× o p99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51420" y="5773579"/>
            <a:ext cx="734577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moderados após tratamento de resets — mantidos (robustez de árvore)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2500" y="6497479"/>
            <a:ext cx="16383000" cy="944880"/>
          </a:xfrm>
          <a:prstGeom prst="roundRect">
            <a:avLst>
              <a:gd name="adj" fmla="val 1209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245870" y="6695599"/>
            <a:ext cx="353187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ano_modelo · eixos · comprimento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922520" y="6844189"/>
            <a:ext cx="26193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relevantes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51420" y="6832759"/>
            <a:ext cx="15202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ação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 GERAL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Caudas longas de custo são a natureza do fenômeno, não erro de dado — mantidas, com cap apenas no alvo.</a:t>
            </a:r>
            <a:endParaRPr lang="en-US" sz="17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SÍNTESE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EDA diz para a modelagem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24040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79220" y="353377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ZERO-INFLAÇÃO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379220" y="3884295"/>
            <a:ext cx="7558202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dos meses sem custo — o problema combina </a:t>
            </a: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ocorrência + magnitude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39250" y="324040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570720" y="353377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CAUDA PESADA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570720" y="3884295"/>
            <a:ext cx="80718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log1p / perda robusta · outliers extremos capados no p99,5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5069205"/>
            <a:ext cx="8001000" cy="1623060"/>
          </a:xfrm>
          <a:prstGeom prst="roundRect">
            <a:avLst>
              <a:gd name="adj" fmla="val 8216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379220" y="536257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HISTÓRICO DOMINA · H4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379220" y="5713095"/>
            <a:ext cx="755820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acumuladas, custo acumulado e intervalo entre OS formam o bloco preditivo mais forte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9250" y="5069205"/>
            <a:ext cx="8001000" cy="1623060"/>
          </a:xfrm>
          <a:prstGeom prst="roundRect">
            <a:avLst>
              <a:gd name="adj" fmla="val 821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570720" y="536257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SINAL DISTRIBUÍDO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570720" y="5713095"/>
            <a:ext cx="755820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X passa de ρ ≈ 0,22 — o ganho vem de interações e ensembles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6882765"/>
            <a:ext cx="8001000" cy="1623060"/>
          </a:xfrm>
          <a:prstGeom prst="roundRect">
            <a:avLst>
              <a:gd name="adj" fmla="val 821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79220" y="717613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DEFLAÇÃO OBRIGATÓRIA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379220" y="7526655"/>
            <a:ext cx="755820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CPI Canadá (≈ +20%); mesmo em valores reais, o custo por km cresce ≈ 71%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39250" y="6882765"/>
            <a:ext cx="8001000" cy="1623060"/>
          </a:xfrm>
          <a:prstGeom prst="roundRect">
            <a:avLst>
              <a:gd name="adj" fmla="val 821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570720" y="717613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CUIDADOS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570720" y="7526655"/>
            <a:ext cx="755820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colinearidade nos pares acumulados · km_rodado_mes é denominador do Y e feature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E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9423" y="5524500"/>
            <a:ext cx="8857285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123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238250" y="3346133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 · PERGUNTA 9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238250" y="3894772"/>
            <a:ext cx="12263438" cy="1878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estatísticas e de machine learning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238250" y="6077903"/>
            <a:ext cx="173926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população MAINT · split temporal treino/teste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1238250" y="6893243"/>
            <a:ext cx="1143000" cy="47625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9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utilizadas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183130"/>
            <a:ext cx="5245061" cy="7341870"/>
          </a:xfrm>
          <a:prstGeom prst="roundRect">
            <a:avLst>
              <a:gd name="adj" fmla="val 290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17320" y="2514600"/>
            <a:ext cx="495651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417320" y="296037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de Pearson e Spearman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417320" y="340995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para categóricas (η)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417320" y="385953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linear simples e múltipla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417320" y="430911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· Ridge com log1p no alvo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417320" y="475869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polinomial (grau 2)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417320" y="520827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multicolinearidade (VIF)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6521411" y="2183130"/>
            <a:ext cx="5245179" cy="7341870"/>
          </a:xfrm>
          <a:prstGeom prst="roundRect">
            <a:avLst>
              <a:gd name="adj" fmla="val 290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90981" y="2514600"/>
            <a:ext cx="495664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 LEARNING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6890981" y="2960370"/>
            <a:ext cx="4956643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Árvore de decisão para regressão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6890981" y="3409950"/>
            <a:ext cx="4956643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◀ recomendado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6890981" y="3859530"/>
            <a:ext cx="4956643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6890981" y="4309110"/>
            <a:ext cx="4956643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(benchmark amostral)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6890981" y="4758690"/>
            <a:ext cx="4641221" cy="95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hurdle em duas partes: </a:t>
            </a: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classificador de ocorrência × regressor de magnitude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1995190" y="2183130"/>
            <a:ext cx="5245061" cy="7341870"/>
          </a:xfrm>
          <a:prstGeom prst="roundRect">
            <a:avLst>
              <a:gd name="adj" fmla="val 2906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364760" y="2514600"/>
            <a:ext cx="495651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AVALIAÇÃO E PREPARO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2364760" y="2960370"/>
            <a:ext cx="4641098" cy="998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temporal: </a:t>
            </a: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 com 2020–2024, prova com 2025 — um período que o modelo nunca viu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2364760" y="4063841"/>
            <a:ext cx="4956512" cy="35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temporal expansiva (3 rodadas)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12364760" y="4524375"/>
            <a:ext cx="4641098" cy="673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Imputação mediana/moda · padronização · one-hot com agrupamento de raras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2364760" y="5302568"/>
            <a:ext cx="4956512" cy="35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Métricas: R² · RMSE · MAE (CAD/km)</a:t>
            </a:r>
            <a:endParaRPr lang="en-US" sz="17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MODELAGEM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163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no teste temporal (2025)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33500" y="3718560"/>
            <a:ext cx="689720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717989" y="3718560"/>
            <a:ext cx="12192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kern="0" spc="127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051489" y="3718560"/>
            <a:ext cx="12192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kern="0" spc="127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0384988" y="3718560"/>
            <a:ext cx="12192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kern="0" spc="127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1047750" y="4027170"/>
            <a:ext cx="10842188" cy="647700"/>
          </a:xfrm>
          <a:prstGeom prst="roundRect">
            <a:avLst>
              <a:gd name="adj" fmla="val 17647"/>
            </a:avLst>
          </a:prstGeom>
          <a:solidFill>
            <a:srgbClr val="0E211E"/>
          </a:solidFill>
          <a:ln w="7620">
            <a:solidFill>
              <a:srgbClr val="3FE0C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41120" y="4206240"/>
            <a:ext cx="6880443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random_forest ◀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710368" y="4232910"/>
            <a:ext cx="1219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0,086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043868" y="4213860"/>
            <a:ext cx="1219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0,242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377369" y="4213860"/>
            <a:ext cx="1219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0,132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47750" y="4770120"/>
            <a:ext cx="10842188" cy="560070"/>
          </a:xfrm>
          <a:prstGeom prst="roundRect">
            <a:avLst>
              <a:gd name="adj" fmla="val 20408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341120" y="4920615"/>
            <a:ext cx="68804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gradient_boosting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7710368" y="492061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0,077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9043868" y="492061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0,244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0377369" y="492061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0,133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1047750" y="5425440"/>
            <a:ext cx="10842188" cy="560070"/>
          </a:xfrm>
          <a:prstGeom prst="roundRect">
            <a:avLst>
              <a:gd name="adj" fmla="val 20408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341120" y="5575935"/>
            <a:ext cx="68804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hurdle_sgd_gb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7710368" y="557593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0,071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9043868" y="557593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0,245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0377369" y="557593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0,145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47750" y="6080760"/>
            <a:ext cx="10842188" cy="560070"/>
          </a:xfrm>
          <a:prstGeom prst="roundRect">
            <a:avLst>
              <a:gd name="adj" fmla="val 20408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341120" y="6231255"/>
            <a:ext cx="68804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arvore_decisao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7710368" y="623125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0,042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9043868" y="623125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0,248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0377369" y="623125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0,133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1047750" y="6736080"/>
            <a:ext cx="10842188" cy="560070"/>
          </a:xfrm>
          <a:prstGeom prst="roundRect">
            <a:avLst>
              <a:gd name="adj" fmla="val 20408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41120" y="6886575"/>
            <a:ext cx="68804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ridge / linear múltipla / polinomial g2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7710368" y="688657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0,041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9043868" y="688657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0,248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10377369" y="688657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0,137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1047750" y="7391400"/>
            <a:ext cx="10842188" cy="560070"/>
          </a:xfrm>
          <a:prstGeom prst="roundRect">
            <a:avLst>
              <a:gd name="adj" fmla="val 20408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1341120" y="7541895"/>
            <a:ext cx="68804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ridge_log1p · knn · linear_simples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7710368" y="754189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0,036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9043868" y="754189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0,249+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10377369" y="754189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0,127+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12270938" y="3827621"/>
            <a:ext cx="4969312" cy="2074069"/>
          </a:xfrm>
          <a:prstGeom prst="roundRect">
            <a:avLst>
              <a:gd name="adj" fmla="val 642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12583359" y="4101941"/>
            <a:ext cx="477891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≈ 9%</a:t>
            </a:r>
            <a:endParaRPr lang="en-US" sz="3900" dirty="0"/>
          </a:p>
        </p:txBody>
      </p:sp>
      <p:sp>
        <p:nvSpPr>
          <p:cNvPr id="40" name="Text 38"/>
          <p:cNvSpPr/>
          <p:nvPr/>
        </p:nvSpPr>
        <p:spPr>
          <a:xfrm>
            <a:off x="12583359" y="4749641"/>
            <a:ext cx="4474806" cy="91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variação mês a mês explicada — modesto, mas suficiente para </a:t>
            </a:r>
            <a:r>
              <a:rPr lang="en-US" sz="1575" b="1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ordenar carretas </a:t>
            </a: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apoiar orçamento</a:t>
            </a:r>
            <a:endParaRPr lang="en-US" sz="1575" dirty="0"/>
          </a:p>
        </p:txBody>
      </p:sp>
      <p:sp>
        <p:nvSpPr>
          <p:cNvPr id="41" name="Shape 39"/>
          <p:cNvSpPr/>
          <p:nvPr/>
        </p:nvSpPr>
        <p:spPr>
          <a:xfrm>
            <a:off x="12270938" y="6092190"/>
            <a:ext cx="4969312" cy="1750219"/>
          </a:xfrm>
          <a:prstGeom prst="roundRect">
            <a:avLst>
              <a:gd name="adj" fmla="val 7619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2583359" y="6366510"/>
            <a:ext cx="477891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NÚMEROS HONESTOS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2583359" y="6697980"/>
            <a:ext cx="4474806" cy="908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F5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versões anteriores pareciam melhores porque "colavam" com informação do futuro — vazamento removido</a:t>
            </a:r>
            <a:endParaRPr lang="en-US" sz="157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MODELAGEM · PERMUTATION IMPORTANCE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163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Fatores mais importantes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309753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km_rodado_mes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372100" y="3072765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372100" y="3072765"/>
            <a:ext cx="10782300" cy="323850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6306800" y="3108960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0,0211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7750" y="3526155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custo_acum_manutencao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372100" y="3501390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372100" y="3501390"/>
            <a:ext cx="2911197" cy="323850"/>
          </a:xfrm>
          <a:prstGeom prst="rect">
            <a:avLst/>
          </a:prstGeom>
          <a:solidFill>
            <a:srgbClr val="2FA89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6306800" y="3537585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0,0057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47750" y="395478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custo_prev_medio_movel_3m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372100" y="3930015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372100" y="3930015"/>
            <a:ext cx="2857262" cy="323850"/>
          </a:xfrm>
          <a:prstGeom prst="rect">
            <a:avLst/>
          </a:prstGeom>
          <a:solidFill>
            <a:srgbClr val="2FA89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6306800" y="3966210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0,0056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47750" y="4383405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flag_refrigerado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372100" y="4358640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372100" y="4358640"/>
            <a:ext cx="2587705" cy="323850"/>
          </a:xfrm>
          <a:prstGeom prst="rect">
            <a:avLst/>
          </a:prstGeom>
          <a:solidFill>
            <a:srgbClr val="FFB6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6306800" y="4394835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0,0051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47750" y="481203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intervalo_medio_os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372100" y="4787265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372100" y="4787265"/>
            <a:ext cx="2102525" cy="323850"/>
          </a:xfrm>
          <a:prstGeom prst="rect">
            <a:avLst/>
          </a:prstGeom>
          <a:solidFill>
            <a:srgbClr val="2FA89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6306800" y="4823460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0,0041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47750" y="5240655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km_rodado_acum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5372100" y="5215890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372100" y="5215890"/>
            <a:ext cx="1789748" cy="323850"/>
          </a:xfrm>
          <a:prstGeom prst="rect">
            <a:avLst/>
          </a:prstGeom>
          <a:solidFill>
            <a:srgbClr val="2FA89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6306800" y="5252085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0,0035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47750" y="566928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custo_medio_movel_3m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5372100" y="5644515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5372100" y="5644515"/>
            <a:ext cx="1272302" cy="323850"/>
          </a:xfrm>
          <a:prstGeom prst="rect">
            <a:avLst/>
          </a:prstGeom>
          <a:solidFill>
            <a:srgbClr val="2FA89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6306800" y="5680710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0,0025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47750" y="6097905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5372100" y="6073140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5372100" y="6073140"/>
            <a:ext cx="765453" cy="323850"/>
          </a:xfrm>
          <a:prstGeom prst="rect">
            <a:avLst/>
          </a:prstGeom>
          <a:solidFill>
            <a:srgbClr val="2252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16306800" y="6109335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0,0015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47750" y="652653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custo_preventivo_acum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5372100" y="6501765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5372100" y="6501765"/>
            <a:ext cx="711518" cy="323850"/>
          </a:xfrm>
          <a:prstGeom prst="rect">
            <a:avLst/>
          </a:prstGeom>
          <a:solidFill>
            <a:srgbClr val="2252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16306800" y="6537960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0,0014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47750" y="6955155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idade_carreta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5372100" y="6930390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5372100" y="6930390"/>
            <a:ext cx="560665" cy="323850"/>
          </a:xfrm>
          <a:prstGeom prst="rect">
            <a:avLst/>
          </a:prstGeom>
          <a:solidFill>
            <a:srgbClr val="2252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6306800" y="6966585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0,0011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047750" y="8486775"/>
            <a:ext cx="161925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1352550" y="8696325"/>
            <a:ext cx="1605038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LER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Embaralhamos cada variável e medimos o quanto a previsão piora. Confirma a EDA: histórico operacional e intensidade de uso dominam; atributos fixos pesam menos.</a:t>
            </a:r>
            <a:endParaRPr lang="en-US" sz="17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Hipóteses × evidências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129915"/>
            <a:ext cx="16192500" cy="876300"/>
          </a:xfrm>
          <a:prstGeom prst="roundRect">
            <a:avLst>
              <a:gd name="adj" fmla="val 1521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79220" y="3427095"/>
            <a:ext cx="685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274570" y="3408045"/>
            <a:ext cx="836942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Duração de contrato ⇒ custo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0168890" y="3366135"/>
            <a:ext cx="2453640" cy="403860"/>
          </a:xfrm>
          <a:prstGeom prst="roundRect">
            <a:avLst>
              <a:gd name="adj" fmla="val 18868"/>
            </a:avLst>
          </a:prstGeom>
          <a:solidFill>
            <a:srgbClr val="2A1512"/>
          </a:solidFill>
          <a:ln w="7620">
            <a:solidFill>
              <a:srgbClr val="4A26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309860" y="3449955"/>
            <a:ext cx="21717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kern="0" spc="142" dirty="0">
                <a:solidFill>
                  <a:srgbClr val="FF8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SUPORTADA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2908281" y="3438525"/>
            <a:ext cx="44005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direta ≈ 0 no grão mensal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047750" y="4158615"/>
            <a:ext cx="16192500" cy="990600"/>
          </a:xfrm>
          <a:prstGeom prst="roundRect">
            <a:avLst>
              <a:gd name="adj" fmla="val 1346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379220" y="4512945"/>
            <a:ext cx="685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274570" y="4493895"/>
            <a:ext cx="836942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Idade ⇒ custo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168890" y="4451985"/>
            <a:ext cx="2453640" cy="403860"/>
          </a:xfrm>
          <a:prstGeom prst="roundRect">
            <a:avLst>
              <a:gd name="adj" fmla="val 18868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309860" y="4535805"/>
            <a:ext cx="21717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PARCIAL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2908281" y="4394835"/>
            <a:ext cx="412051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fraco direto; opera via histórico acumulado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1047750" y="5301615"/>
            <a:ext cx="16192500" cy="990600"/>
          </a:xfrm>
          <a:prstGeom prst="roundRect">
            <a:avLst>
              <a:gd name="adj" fmla="val 1346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79220" y="5655945"/>
            <a:ext cx="685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274570" y="5636895"/>
            <a:ext cx="836942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Quilometragem ⇒ custo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0168890" y="5594985"/>
            <a:ext cx="2453640" cy="403860"/>
          </a:xfrm>
          <a:prstGeom prst="roundRect">
            <a:avLst>
              <a:gd name="adj" fmla="val 18868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0309860" y="5678805"/>
            <a:ext cx="21717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PARCIAL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2908281" y="5537835"/>
            <a:ext cx="412051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km_acumulado ρ = +0,16; km mensal é o denominador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1047750" y="6444615"/>
            <a:ext cx="16192500" cy="990600"/>
          </a:xfrm>
          <a:prstGeom prst="roundRect">
            <a:avLst>
              <a:gd name="adj" fmla="val 13462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379220" y="6798945"/>
            <a:ext cx="685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2274570" y="6802755"/>
            <a:ext cx="836942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prevê custo futuro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168890" y="6737985"/>
            <a:ext cx="2453640" cy="403860"/>
          </a:xfrm>
          <a:prstGeom prst="roundRect">
            <a:avLst>
              <a:gd name="adj" fmla="val 18868"/>
            </a:avLst>
          </a:prstGeom>
          <a:solidFill>
            <a:srgbClr val="0C2B26"/>
          </a:solidFill>
          <a:ln w="7620">
            <a:solidFill>
              <a:srgbClr val="1C4B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0309860" y="6821805"/>
            <a:ext cx="21717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kern="0" spc="142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SUPORTADA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2908281" y="6680835"/>
            <a:ext cx="412051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n_os_acum +0,22 · custo_acum +0,20 · intervalo −0,19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1047750" y="7587615"/>
            <a:ext cx="16192500" cy="990600"/>
          </a:xfrm>
          <a:prstGeom prst="roundRect">
            <a:avLst>
              <a:gd name="adj" fmla="val 1346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79220" y="7941945"/>
            <a:ext cx="685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H5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2274570" y="7926705"/>
            <a:ext cx="836942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e contrato influenciam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0168890" y="7880985"/>
            <a:ext cx="2453640" cy="403860"/>
          </a:xfrm>
          <a:prstGeom prst="roundRect">
            <a:avLst>
              <a:gd name="adj" fmla="val 18868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0309860" y="7964805"/>
            <a:ext cx="21717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PARCIAL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2908281" y="7823835"/>
            <a:ext cx="412051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região η = 0,084 · reefer e montadora deslocam; contrato fraco</a:t>
            </a:r>
            <a:endParaRPr lang="en-US" sz="157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9423" y="5524500"/>
            <a:ext cx="8857285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123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238250" y="3696653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3 · PERGUNTAS 10–11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238250" y="4245293"/>
            <a:ext cx="12263438" cy="1878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Referencial teórico e metodologia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1238250" y="6542723"/>
            <a:ext cx="1143000" cy="47625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10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Referencial teórico — o que levamos de cada artigo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58711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79220" y="388048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KATREDDI 2023a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379220" y="4231005"/>
            <a:ext cx="7558202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ensembles sobre variáveis operacionais → </a:t>
            </a:r>
            <a:r>
              <a:rPr lang="en-US" sz="1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 a árvore/ensemble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39250" y="358711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570720" y="388048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KATREDDI 2023b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570720" y="4231005"/>
            <a:ext cx="7558202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heterogeneidade entre grupos → </a:t>
            </a:r>
            <a:r>
              <a:rPr lang="en-US" sz="1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montadora, classe e contrato como features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MERF futuro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541591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379220" y="570928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 2024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379220" y="6059805"/>
            <a:ext cx="7558202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manutenção sustenta previsão → </a:t>
            </a:r>
            <a:r>
              <a:rPr lang="en-US" sz="1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nosso bloco preditivo mais forte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9250" y="541591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570720" y="570928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ADEKITAN 2018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570720" y="6059805"/>
            <a:ext cx="807186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com sinal, desempenho modesto → </a:t>
            </a:r>
            <a:r>
              <a:rPr lang="en-US" sz="1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neurais não priorizadas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8724900"/>
            <a:ext cx="16192500" cy="800100"/>
          </a:xfrm>
          <a:prstGeom prst="roundRect">
            <a:avLst>
              <a:gd name="adj" fmla="val 14286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71600" y="89535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CONVERGÊNCIA </a:t>
            </a: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operacionais e de histórico &gt; atributos estáticos · métodos de árvore &gt; lineares · heterogeneidade entre grupos importa.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11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em 7 notebooks reprodutíveis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175635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60170" y="3364230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179320" y="3368040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e inventário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084570" y="3368040"/>
            <a:ext cx="566099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problema, 7 bases, validação do modelo estrela, riscos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3958590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60170" y="4147185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2179320" y="4150995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integridade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6084570" y="4150995"/>
            <a:ext cx="618565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chaves, duplicidades, ausentes, custos negativos, odômetro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4741545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60170" y="4930140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179320" y="4933950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analítica mensal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6084570" y="4933950"/>
            <a:ext cx="67509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 × mês, prorrateio de km, piso 500 km, features defasadas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5524500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60170" y="5713095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179320" y="5716905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e hipóteses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6084570" y="5716905"/>
            <a:ext cx="622717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variável a variável, correlações, η, VIF, 5 hipóteses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47750" y="6307455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360170" y="6496050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2179320" y="6499860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Deflação (CPI Canadá)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6084570" y="6499860"/>
            <a:ext cx="51841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CAD a valores de dez/2025 via CPI StatCan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047750" y="7090410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360170" y="7279005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179320" y="7282815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preditiva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6084570" y="7282815"/>
            <a:ext cx="60449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temporal, 9 modelos + hurdle, métricas, importâncias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47750" y="7873365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60170" y="8061960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2179320" y="8065770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6084570" y="8065770"/>
            <a:ext cx="647129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executiva, hipóteses finais, recomendações, limitações</a:t>
            </a:r>
            <a:endParaRPr lang="en-US" sz="16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TRANSPARÊNCIA METODOLÓGICA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e cuidados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87667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60170" y="413194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Zero-inflação: </a:t>
            </a:r>
            <a:r>
              <a:rPr lang="en-US" sz="1800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desempenho pontual modesto — o modelo apoia planejamento, não substitui validação operacional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229725" y="387667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542145" y="413194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km_rodado_mes </a:t>
            </a:r>
            <a:r>
              <a:rPr lang="en-US" sz="1800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é denominador do alvo e feature — interpretação cuidadosa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525208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60170" y="550735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Odômetro: </a:t>
            </a:r>
            <a:r>
              <a:rPr lang="en-US" sz="1800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resets e saltos tratados, mas o prorrateio de km é aproximação · custos negativos excluídos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29725" y="525208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542145" y="550735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parcial </a:t>
            </a:r>
            <a:r>
              <a:rPr lang="en-US" sz="1800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(set–dez/2025) — região derivada da província/local da OS · contratos censurados em 2025-12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662749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60170" y="688276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Vazamento removido: </a:t>
            </a:r>
            <a:r>
              <a:rPr lang="en-US" sz="1800" dirty="0">
                <a:solidFill>
                  <a:srgbClr val="C3CFD8"/>
                </a:solidFill>
                <a:highlight>
                  <a:srgbClr val="0E211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métricas menores, porém defensáveis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29725" y="662749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542145" y="688276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Extensões futuras: </a:t>
            </a:r>
            <a:r>
              <a:rPr lang="en-US" sz="1800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Mixed-Effects RF / hierárquicos · modelos zero-inflados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gradFill rotWithShape="1">
            <a:gsLst>
              <a:gs pos="0">
                <a:srgbClr val="3FE0CE">
                  <a:alpha val="100000"/>
                </a:srgbClr>
              </a:gs>
              <a:gs pos="34000">
                <a:srgbClr val="3FE0CE">
                  <a:alpha val="100000"/>
                </a:srgbClr>
              </a:gs>
              <a:gs pos="34000">
                <a:srgbClr val="FFB65C">
                  <a:alpha val="100000"/>
                </a:srgbClr>
              </a:gs>
              <a:gs pos="40000">
                <a:srgbClr val="FFB65C">
                  <a:alpha val="100000"/>
                </a:srgbClr>
              </a:gs>
              <a:gs pos="40000">
                <a:srgbClr val="223243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334226" y="3534966"/>
            <a:ext cx="161942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OBRIGADO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2276475" y="4121706"/>
            <a:ext cx="13735050" cy="1814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6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custos de manutenção de carretas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142006" y="6470095"/>
            <a:ext cx="332555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Quatro Norte Consulting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9525953" y="6606302"/>
            <a:ext cx="419100" cy="9525"/>
          </a:xfrm>
          <a:prstGeom prst="rect">
            <a:avLst/>
          </a:prstGeom>
          <a:solidFill>
            <a:srgbClr val="2A3B4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062591" y="6470095"/>
            <a:ext cx="202425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MBA FGV · 2026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8951</Words>
  <Application>Microsoft Office PowerPoint</Application>
  <PresentationFormat>Custom</PresentationFormat>
  <Paragraphs>830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Rodrigo Reis</cp:lastModifiedBy>
  <cp:revision>1</cp:revision>
  <dcterms:created xsi:type="dcterms:W3CDTF">2026-07-06T22:35:48Z</dcterms:created>
  <dcterms:modified xsi:type="dcterms:W3CDTF">2026-07-06T23:02:44Z</dcterms:modified>
</cp:coreProperties>
</file>