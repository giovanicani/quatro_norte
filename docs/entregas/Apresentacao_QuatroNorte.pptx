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713A"/>
                </a:solidFill>
                <a:latin typeface="Calibri"/>
              </a:rPr>
              <a:t>MBA · QUATRO NORTE CONSULTING · GRUPO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Custo anual de manutencao por carreta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6F1E7"/>
                </a:solidFill>
                <a:latin typeface="Calibri"/>
              </a:rPr>
              <a:t>Fatores determinantes e modelagem do custo anual (CAD/ano, real) da frota</a:t>
            </a:r>
          </a:p>
          <a:p>
            <a:pPr algn="l"/>
            <a:r>
              <a:rPr sz="1700" b="0">
                <a:solidFill>
                  <a:srgbClr val="F6F1E7"/>
                </a:solidFill>
                <a:latin typeface="Calibri"/>
              </a:rPr>
              <a:t>propria de leasing/rental no Canada — janela 2020–2025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6F1E7"/>
                </a:solidFill>
                <a:latin typeface="Calibri"/>
              </a:rPr>
              <a:t>Marlon Wenzel · Jeison Lima · Rodrigo Queiroz · Giovani Cani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01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A empresa e a operacao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Empresa de leasing/rental de carretas no Canada (secas e refrigeradas, ate 53').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Manutencao propria: oficinas registram ordens de servico com mao de obra e pecas.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Todos os custos em dolares canadenses (CAD); operacao integralmente no Canada.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Objetivo de negocio: apoiar orcamento anual e priorizacao de manutencao da frota.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Fonte unica do estudo: base consolidada de OS 'fato_wo_ml' (2020–2025).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3736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810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713A"/>
                </a:solidFill>
                <a:latin typeface="Calibri"/>
              </a:rPr>
              <a:t>9585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677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Carretas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78892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862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713A"/>
                </a:solidFill>
                <a:latin typeface="Calibri"/>
              </a:rPr>
              <a:t>217.217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3192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Ordens de servico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840479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913631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713A"/>
                </a:solidFill>
                <a:latin typeface="Calibri"/>
              </a:rPr>
              <a:t>CAD 79.645 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370831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Custo interno (real)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489204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9651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713A"/>
                </a:solidFill>
                <a:latin typeface="Calibri"/>
              </a:rPr>
              <a:t>2020–2025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4223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Periodo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02 ·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A pergunta de pesquisa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Quais fatores mais influenciam o CUSTO ANUAL de manutencao por carreta —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e como estima-lo a partir das caracteristicas operacionais, historicas e estruturais da frota?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Variavel de interesse: custo anual de manutencao por carreta (CAD/ano), em valores reais.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Grao de analise: carreta × ano.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Escopo: todo o custo interno absorvido pela empresa (preventiva + corretiva).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Correcao monetaria obrigatoria pela inflacao canadense (CPI) para comparar anos em termos reais.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03 · 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Objetivo geral e especificos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Geral: analisar os fatores que influenciam o custo anual de manutencao por carreta (CAD, corrigido pela inflacao), identificando as variaveis de maior capacidade explicativa e desenvolvendo modelos estatisticos e de ML para estima-lo.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607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Consolidar a analise a partir da base unica de OS (etapa de preparacao ja realizada).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Definir a variavel resposta anual e corrigi-la pelo CPI do Canada.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Realizar EDA rigorosa (univariada, relacao com Y, ranking) das variaveis candidatas.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Selecionar variaveis de forma fundamentada (associacao, multicolinearidade, dominio).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Desenvolver e avaliar modelos estatisticos e de Machine Learning (split temporal).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04 · HIPOTESES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Hipoteses de trabalho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6070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hipotese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enunciado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veredito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Idade da carreta eleva o custo 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Não suportada (efeito direto fraco)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Maior uso/quilometragem eleva o custo anual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Histórico de manutenção prevê o custo futuro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Características do ativo influenciam o custo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Região/operação influencia o custo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Não suportada (fora do modelo desde 2026-09-02)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H6b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Tipo de manutenção contratual (MAINT/NET/MIX) influencia o custo anual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Parcial (efeito fraco)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H7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Tempo de contrato até o reparo influencia o custo 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</a:rPr>
                        <a:t>Parcial (efeito fraco)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H6 (contrato) tornou-se testavel em 2026-08-16, quando os dados de contrato passaram a integrar a fonte unica; desdobrada em H6a (duracao) e H6b (tipo).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05 · REFERENCIAL TEORICO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O que a literatura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Katreddi et al. (2023) — ML para custo de manutencao por milha em caminhoes (Super Learner, R²=97%); variaveis operacionais e ensembles capturam relacoes nao lineares.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Katreddi et al. (2023) — Mixed Effects Random Forest: captura diferencas sistematicas entre grupos de ativos; motiva incluir categoricas (subtipo, montadora, reefer).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Sun et al. (2024) — previsao por dados historicos de manutencao; reforca que o historico e insumo suficiente para prever custos futuros.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Adekitan et al. (2018) — ANN com R=0,766; sinal preditivo de variaveis de uso mesmo com dados limitados.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As referencias favorecem modelos de arvore/ensemble, coerente com os resultados deste estudo.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06 · 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Base consolidada unica (Single Source of Truth)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Fonte unica: fato_wo_ml_2020-01-01_to_2025-12-31.csv (1 linha = 1 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Extracao SQL, modelo estrela, joins e feature engineering: ETAPA ANTERIOR de preparacao.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estudo NAO reconstroi a base, nao refaz joins nem o feature engineering.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217.217 OS · 9585 carretas · 2020–2025.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VMRS: codigo padronizado do sistema reparado (PM, freios, pneus, reefer...).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73736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Arquitetura metodologica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Base consolidada (CSV)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Validacao de qualidade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Variavel resposta anual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Correcao CPI Canada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EDA (uni/bivariada)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Correlacao e testes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Multicolinearidade/VIF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Ranking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Selecao de variaveis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Modelagem (estat.+ML)</a:t>
            </a:r>
          </a:p>
          <a:p>
            <a:pPr algn="l"/>
            <a:r>
              <a:rPr sz="1300" b="1">
                <a:solidFill>
                  <a:srgbClr val="142B45"/>
                </a:solidFill>
                <a:latin typeface="Calibri"/>
              </a:rPr>
              <a:t>↓ Avaliacao / discussao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07 · VARIAVEL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Y = custo anual de manutencao por carreta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515600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Y = soma do custo interno da carreta no ano (CAD), deflacionado pelo CPI Canada (dez/2025)</a:t>
            </a:r>
          </a:p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Grao: carreta × 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10607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Media CAD 1669.18/ano · mediana CAD 812.26/ano · p90 CAD 4208.49.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Assimetria 3.82 (cauda longa), tratada por log1p e modelos robustos.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Apenas 3.13% de carreta-anos com custo zero: o grao anual praticamente elimina a zero-inflacao.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Custo interno total: CAD 74.617 mi nominal / CAD 79.645 mi real (dez/2025).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08 · CORRECAO PELA INFLACAO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Custos reais pelo CPI do Canada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Todos os custos em CAD, corrigidos pelo CPI all-items do Canada (StatCan, vetor v41690973).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Base de comparacao: dezembro de 2025.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Inflacao acumulada no periodo: ~20% (2020→2025).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A correcao isola mudancas REAIS de custo da mera perda do poder de compra.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deflator e canadense (CPI), coerente com custos registrados em CAD.</a:t>
            </a:r>
          </a:p>
        </p:txBody>
      </p:sp>
      <p:pic>
        <p:nvPicPr>
          <p:cNvPr id="7" name="Picture 6" descr="04_nominal_vs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400299"/>
            <a:ext cx="54864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VARIAVEIS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Dicionario das variaveis candidatas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Universo derivavel da fonte unica (29 colunas), ja incluindo contrato. Mao de obra, pecas e tipo_contrato (RENTAL/LEASE) exigiriam outras tabelas.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5394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581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tipo / papel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id_carreta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temporal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custo_ano_nominal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monetaria (nominal)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operacional/componente de Y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operacional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share_pm_ano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operacional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vmrs_predominante_ano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operacional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km_acumulado_fim_ano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exposicao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km_rodado_ano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exposicao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regiao_operacao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geografica (cat.)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provincia_estado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geografica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cod_montadora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descricao_carreta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ano_modelo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eixos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comprimento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3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tailgate_flag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 - 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828800"/>
          <a:ext cx="5394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23581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tipo / papel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unit_subtype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tire_size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suspension_type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new_used_indicator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idade_carreta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ativo derivada (quant.)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historico defasado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historico defasado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historico defasado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tipo_manutencao_ano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(cat.)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share_maint_ano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(quant.)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n_tipos_manutencao_ano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(quant.)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(quant.)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defasado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trocou_contrato_ano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(bin.)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n_clientes_ano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(quant.)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cod_cliente_predominante_ano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(cat.) - DESCRITIVO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35818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populacao_maint_flag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flag de populacao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836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franquia_km_mensal_contrato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contrato - 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Estatisticas descritivas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135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media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mediana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desvio_padrao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max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assimetria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custo_ano_real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1669.184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812.262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2390.597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62230.924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3.819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ano_modelo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47709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2014.769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2016.0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5.79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1982.0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2026.0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-0.471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eixos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3.199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comprimento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47055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52.242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53.0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3.722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28.0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-4.969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idade_carreta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8.181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km_acumulado_fim_ano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47448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176040.697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110322.0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197125.394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3479389.0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2.204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km_rodado_ano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37822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24050.571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13016.5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29246.383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249676.0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2.501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1.548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12.0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1.097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share_pm_ano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0.942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4.549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4.268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2.407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custo_medio_por_os_ano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338.104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242.725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354.465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19177.732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7.452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38130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4.484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4.251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2.424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1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9.668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131.0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2.881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Histogramas e distribuicoes</a:t>
            </a:r>
          </a:p>
        </p:txBody>
      </p:sp>
      <p:pic>
        <p:nvPicPr>
          <p:cNvPr id="6" name="Picture 5" descr="quant_custo_an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8431"/>
            <a:ext cx="5394960" cy="2038096"/>
          </a:xfrm>
          <a:prstGeom prst="rect">
            <a:avLst/>
          </a:prstGeom>
        </p:spPr>
      </p:pic>
      <p:pic>
        <p:nvPicPr>
          <p:cNvPr id="7" name="Picture 6" descr="quant_km_rodado_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78431"/>
            <a:ext cx="5394960" cy="2038096"/>
          </a:xfrm>
          <a:prstGeom prst="rect">
            <a:avLst/>
          </a:prstGeom>
        </p:spPr>
      </p:pic>
      <p:pic>
        <p:nvPicPr>
          <p:cNvPr id="8" name="Picture 7" descr="quant_custo_ano_anteri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47312"/>
            <a:ext cx="5394960" cy="2038096"/>
          </a:xfrm>
          <a:prstGeom prst="rect">
            <a:avLst/>
          </a:prstGeom>
        </p:spPr>
      </p:pic>
      <p:pic>
        <p:nvPicPr>
          <p:cNvPr id="9" name="Picture 8" descr="quant_n_os_ano_anteri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47312"/>
            <a:ext cx="5394960" cy="20380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Boxplots do custo anual por categoria</a:t>
            </a:r>
          </a:p>
        </p:txBody>
      </p:sp>
      <p:pic>
        <p:nvPicPr>
          <p:cNvPr id="6" name="Picture 5" descr="quali_flag_refrig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685" y="1554480"/>
            <a:ext cx="4857750" cy="2286000"/>
          </a:xfrm>
          <a:prstGeom prst="rect">
            <a:avLst/>
          </a:prstGeom>
        </p:spPr>
      </p:pic>
      <p:pic>
        <p:nvPicPr>
          <p:cNvPr id="7" name="Picture 6" descr="quali_unit_sub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1554480"/>
            <a:ext cx="4857750" cy="2286000"/>
          </a:xfrm>
          <a:prstGeom prst="rect">
            <a:avLst/>
          </a:prstGeom>
        </p:spPr>
      </p:pic>
      <p:pic>
        <p:nvPicPr>
          <p:cNvPr id="8" name="Picture 7" descr="quali_cod_montado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85" y="4023360"/>
            <a:ext cx="4857750" cy="2286000"/>
          </a:xfrm>
          <a:prstGeom prst="rect">
            <a:avLst/>
          </a:prstGeom>
        </p:spPr>
      </p:pic>
      <p:pic>
        <p:nvPicPr>
          <p:cNvPr id="9" name="Picture 8" descr="quali_vmrs_predominante_a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525" y="4023360"/>
            <a:ext cx="485775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Relacao individual de cada variavel com 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5486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135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pearson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spearman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papel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custo_medio_por_os_ano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componente de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0.748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0.768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componente de Y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0.589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0.539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custo_ano_anterior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km_rodado_ano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0.418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0.527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0.465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0.457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km_acumulado_fim_ano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0.188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n_clientes_ano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share_maint_ano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0.138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1351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share_pm_ano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-0.243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-0.172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212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eta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n_categorias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descricao_carreta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unit_subtype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0.5438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0.4246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vmrs_predominante_ano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0.3357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cod_montadora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0.2301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tipo_manutencao_ano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0.1828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suspension_type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provincia_estado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0.1399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tire_size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new_used_indicator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0.1146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regiao_operacao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0.0759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4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Quantitativas: Pearson/Spearman. Categoricas: eta (ANOVA).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Ranking de associacao com o custo anual</a:t>
            </a:r>
          </a:p>
        </p:txBody>
      </p:sp>
      <p:pic>
        <p:nvPicPr>
          <p:cNvPr id="6" name="Picture 5" descr="ranking_associacao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54480"/>
            <a:ext cx="673608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82880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Uso (km) e historico defasado lideram entre as quantitativas.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Refrigerado e subtipo lideram entre as categoricas.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Idade tem efeito direto fraco.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Componentes aritmeticos de Y sao excluidos do ranking de explicadores.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Multicolinearidade — matriz e VIF</a:t>
            </a:r>
          </a:p>
        </p:txBody>
      </p:sp>
      <p:pic>
        <p:nvPicPr>
          <p:cNvPr id="6" name="Picture 5" descr="matriz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554480"/>
            <a:ext cx="5705856" cy="47548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737360"/>
          <a:ext cx="4023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37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idade_carreta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12.98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ano_modelo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12.75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9.48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custo_ano_anterior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4.84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4.04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3.97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3.44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3.41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3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km_rodado_ano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1.61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SELECAO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Selecao das variaveis do modelo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248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decisao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tailgate_flag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franquia_km_mensal_contrato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cod_cliente_predominante_ano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populacao_maint_flag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tipo_manutencao_ano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share_maint_ano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n_clientes_ano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trocou_contrato_ano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ALVO Y2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custo_medio_por_os_ano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ALVO Y3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descricao_carreta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unit_subtype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vmrs_predominante_ano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(DUMMY, so explicativo)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248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decisao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vmrs_dist_media_5a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(preditivo)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km_rodado_ano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 (so explicativo)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km_acumulado_fim_ano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explicativo / inicio_ano no preditivo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custo_ano_anterior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idade_carreta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eixos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regiao_operacao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provincia_estado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cod_montadora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suspension_type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new_used_indicator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tire_size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 (PENDENTE)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ano_modelo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Criterios: ranking, VIF, redundancia, vazamento temporal e coerencia de dominio.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09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Tecnicas e desenho experimental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Estatistica: regressao linear multipla, ridge, regressao polinomial.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Machine Learning: arvore de decisao, Random Forest, Gradient Boosting, KNN.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Alvo transformado por log1p (assimetria); metricas na escala original (CAD/ano).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Split temporal: treino 2020–2024, teste 2025 (evita vazamento entre periodos).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Dois cenarios: explicativo (inclui uso do ano) e preditivo (so historico defasado + atributos).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Populacao: frota completa (D7, 2026-09-02) — o recorte MAINT deixou de definir a amostra e virou cenario de comparacao.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Tres configuracoes comparadas: sem contrato, com contrato e restrita a MAINT — separam o efeito das variaveis do efeito da populacao.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Alvo decomposto (D8): alem do modelo direto de Y1, prevemos n de OS e custo medio por OS e reconstituimos Y1 = Y2 x Y3.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C2433"/>
                </a:solidFill>
                <a:latin typeface="Calibri"/>
              </a:rPr>
              <a:t>•  Metricas: R², RMSE e MAE.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09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Comparacao dos modelos (teste 2025)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3312"/>
                <a:gridCol w="1353312"/>
                <a:gridCol w="1353312"/>
                <a:gridCol w="1353312"/>
                <a:gridCol w="1353312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cenario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regressao_linear_multipla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-0.1149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2838.7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1191.9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ridge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-0.1179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2842.6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1193.4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arvore_decisao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0.5099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1882.1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958.0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random_forest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0.5654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1772.5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907.0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gradient_boosting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0.5776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1747.4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912.5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knn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0.5198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1863.1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958.2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regressao_polinomial_grau_2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-9.7209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8802.9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1696.6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regressao_linear_multipla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0.3118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2230.4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1183.1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0.3148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2225.5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1181.9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arvore_decisao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0.3944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2092.2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1128.6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random_forest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0.4359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2019.3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1069.3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gradient_boosting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0.4418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2008.7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1074.3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knn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0.4317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2026.8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1080.4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regressao_polinomial_grau_2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-46170.7899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577691.3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7572.7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82880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Preditivo recomendado: gradient_boosting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R² = 0.4418 · RMSE = 2008.7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MAE = 1074.3 CAD/ano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Explicativo (melhor): R² = 0.5776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Arvores/ensembles superam modelos lineares.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Efeito das variaveis de contrato: +0.0359 de R².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Efeito de restringir a populacao a MAINT: +0.0017 de R² — por isso a base completa foi adotada.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Alvo decomposto (Y2 x Y3): R² = 0.4713 (+0.0295 vs direto).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09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Variaveis mais importantes (permutacao)</a:t>
            </a:r>
          </a:p>
        </p:txBody>
      </p:sp>
      <p:pic>
        <p:nvPicPr>
          <p:cNvPr id="6" name="Picture 5" descr="05_importancia_permut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4572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737360"/>
          <a:ext cx="37490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20"/>
              </a:tblGrid>
              <a:tr h="4673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variavel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importancia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0.2088727843005763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0.100241863506034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n_os_ano_anterior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0.092318332170151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tipo_manutencao_ano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0.0583232741755356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km_acumulado_inicio_ano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0.0559581571074708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idade_carreta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0.0393024070457087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descricao_carreta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0.0388635397835509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</a:rPr>
                        <a:t>0.0338426853863409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DISCUSSAO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Discussao dos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custo anual real por carreta cresceu de forma consistente (2020→2025) mesmo apos deflacao — aumento real, nao inflacionario.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Descricao/subtipo da carreta e refrigeracao sao os fatores estruturais mais fortes (eta 0,59 / 0,54 / 0,42).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historico de manutencao (OS e custo de anos anteriores) e o principal preditor sem vazamento.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uso acumulado/quilometragem esta entre os maiores associados ao custo.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Idade isolada tem efeito fraco; opera principalmente via historico e uso.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Contrato (H6b/H7): efeito fraco. A duracao quase nao ordena o custo (rho 0,12–0,14) e o tipo contratual separa pouco (eta 0,18) — hipotese testada, nao assumida.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Geografia (H5) saiu do modelo na curadoria de 2026-09-02: regiao eta 0,08 e provincia eta 0,14 nao sustentam a hipotese.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O modelo preditivo (R² ≈ 0.4418) e util para orcamento e priorizacao de frota.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LIMITACOES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Limitacoes metodologicas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Fonte unica: contrato ja incorporado; seguem ausentes mao de obra, pecas e tipo_contrato (RENTAL/LEASE).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Y mudou de definicao ao adotar a frota completa (D7): os numeros das entregas anteriores, calculados sobre o recorte MAINT, nao sao comparaveis.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franquia_km_mensal_contrato descartada (99,8% de zeros); NET/MIX somam 2,7% das OS, o que limita conclusoes sobre esses regimes.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cod_cliente nao modelado (597 categorias): risco de o modelo memorizar o cliente em vez de explicar o custo.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km derivado do odometro nas OS; resets/ruido tratados por regra, com aproximacao.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Geografia retirada do modelo (H5 encerrada); permanece disponivel apenas para analise descritiva.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id_carreta como one-hot (9.584 colunas) foi gerado por decisao do Grupo, com ressalva registrada: memoriza o ativo em vez de explicar o custo.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Estornos (custos negativos) excluidos; span ativo assume presenca entre 1ª e ultima 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713A"/>
                </a:solidFill>
                <a:latin typeface="Calibri"/>
              </a:rPr>
              <a:t>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42B45"/>
                </a:solidFill>
                <a:latin typeface="Calibri"/>
              </a:rPr>
              <a:t>Trabalhos futuros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Integrar mao de obra, pecas e tipo_contrato (RENTAL/LEASE) — contrato de manutencao ja foi incorporado.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Testar modelos de efeitos mistos por grupos de ativos (montadora/subtipo).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C2433"/>
                </a:solidFill>
                <a:latin typeface="Calibri"/>
              </a:rPr>
              <a:t>•  Incorporar quilometragem planejada e telemetria (GPS) como exposicao.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Conclusao</a:t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Sobre a base unica reextraida (29 colunas), em CAD corrigidos pelo CPI do Canada e no grao carreta x ano, o custo anual real e explicado sobretudo por refrigeracao, historico de manutencao e uso. As variaveis de contrato, incorporadas nesta fase, foram testadas e mostraram efeito fraco — resultado que decorre de teste, nao de suposicao. A previsao para 2026 usa o caminho decomposto (Y1 = n de OS x custo medio por OS), que superou o modelo direto no teste de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