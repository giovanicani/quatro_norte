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13A"/>
                </a:solidFill>
                <a:latin typeface="Calibri"/>
              </a:rPr>
              <a:t>MBA · QUATRO NORTE CONSULTING · GRUPO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Custo anual de manutencao por carreta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1E7"/>
                </a:solidFill>
                <a:latin typeface="Calibri"/>
              </a:rPr>
              <a:t>Fatores determinantes e modelagem do custo anual (CAD/ano, real) da frota</a:t>
            </a:r>
          </a:p>
          <a:p>
            <a:pPr algn="l"/>
            <a:r>
              <a:rPr sz="1700" b="0">
                <a:solidFill>
                  <a:srgbClr val="F6F1E7"/>
                </a:solidFill>
                <a:latin typeface="Calibri"/>
              </a:rPr>
              <a:t>propria de leasing/rental no Canada — janela 2020–2025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6F1E7"/>
                </a:solidFill>
                <a:latin typeface="Calibri"/>
              </a:rPr>
              <a:t>Marlon Wenzel · Jeison Lima · Rodrigo Queiroz · Giovani Cani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A empresa e a operacao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Empresa de leasing/rental de carretas no Canada (secas e refrigeradas, ate 53').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Manutencao propria: oficinas registram ordens de servico com mao de obra e pecas.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Todos os custos em dolares canadenses (CAD); operacao integralmente no Canada.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Objetivo de negocio: apoiar orcamento anual e priorizacao de manutencao da frota.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Fonte unica do estudo: base consolidada de OS 'fato_wo_ml' (2020–2025).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3736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105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9585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67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Carretas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78892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862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217.217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319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Ordens de servico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840479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91363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CAD 79.645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3708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Custo interno (real)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892040"/>
            <a:ext cx="3657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4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965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13A"/>
                </a:solidFill>
                <a:latin typeface="Calibri"/>
              </a:rPr>
              <a:t>2020–2025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22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36E"/>
                </a:solidFill>
                <a:latin typeface="Calibri"/>
              </a:rPr>
              <a:t>Periodo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02 ·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A pergunta de pesquisa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Quais fatores mais influenciam o CUSTO ANUAL de manutencao por carreta —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 como estima-lo a partir das caracteristicas operacionais, historicas e estruturais da frota?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Variavel de interesse: custo anual de manutencao por carreta (CAD/ano), em valores reais.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Grao de analise: carreta × ano.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Escopo: todo o custo interno absorvido pela empresa (preventiva + corretiva).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Correcao monetaria obrigatoria pela inflacao canadense (CPI) para comparar anos em termos reais.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03 ·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Objetivo geral e especificos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433"/>
                </a:solidFill>
                <a:latin typeface="Calibri"/>
              </a:rPr>
              <a:t>Geral: analisar os fatores que influenciam o custo anual de manutencao por carreta (CAD, corrigido pela inflacao), identificando as variaveis de maior capacidade explicativa e desenvolvendo modelos estatisticos e de ML para estima-lo.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Consolidar a analise a partir da base unica de OS (etapa de preparacao ja realizada).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Definir a variavel resposta anual e corrigi-la pelo CPI do Canada.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Realizar EDA rigorosa (univariada, relacao com Y, ranking) das variaveis candidatas.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Selecionar variaveis de forma fundamentada (associacao, multicolinearidade, dominio).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Desenvolver e avaliar modelos estatisticos e de Machine Learning (split temporal).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04 · HIPOTESES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Hipoteses de trabalho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hipotese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enunciado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Idade da carreta eleva o custo 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Nao suportada (efeito direto fraco)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Maior uso/quilometragem eleva o custo anual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Historico de manutencao preve o custo futuro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Caracteristicas do ativo influenciam o custo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Suportada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Regiao/operacao influencia o custo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H6a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Duracao do contrato influencia o custo anual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H6b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Tipo de manutencao contratual (MAINT/NET/MIX) influencia o custo 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433"/>
                          </a:solidFill>
                        </a:rPr>
                        <a:t>Parcial (efeito fraco)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126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6E"/>
                </a:solidFill>
                <a:latin typeface="Calibri"/>
              </a:rPr>
              <a:t>H6 (contrato) tornou-se testavel em 2026-08-16, quando os dados de contrato passaram a integrar a fonte unica; desdobrada em H6a (duracao) e H6b (tipo).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05 · REFERENCIAL TEORICO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O que a literatura 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Katreddi et al. (2023) — ML para custo de manutencao por milha em caminhoes (Super Learner, R²=97%); variaveis operacionais e ensembles capturam relacoes nao lineares.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Katreddi et al. (2023) — Mixed Effects Random Forest: captura diferencas sistematicas entre grupos de ativos; motiva incluir categoricas (subtipo, montadora, reefer).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Sun et al. (2024) — previsao por dados historicos de manutencao; reforca que o historico e insumo suficiente para prever custos futuros.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Adekitan et al. (2018) — ANN com R=0,766; sinal preditivo de variaveis de uso mesmo com dados limitados.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6E"/>
                </a:solidFill>
                <a:latin typeface="Calibri"/>
              </a:rPr>
              <a:t>As referencias favorecem modelos de arvore/ensemble, coerente com os resultados deste estudo.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06 · 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Base consolidada unica (Single Source of Truth)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Fonte unica: fato_wo_ml_2020-01-01_to_2025-12-31.csv (1 linha = 1 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Extracao SQL, modelo estrela, joins e feature engineering: ETAPA ANTERIOR de preparacao.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estudo NAO reconstroi a base, nao refaz joins nem o feature engineering.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217.217 OS · 9585 carretas · 2020–2025.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VMRS: codigo padronizado do sistema reparado (PM, freios, pneus, reefer...).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Arquitetura metodologica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Base consolidada (CSV)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Validacao de qualidade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Variavel resposta anual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Correcao CPI Canada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EDA (uni/bivariada)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Correlacao e testes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Multicolinearidade/VIF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Ranking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Selecao de variaveis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Modelagem (estat.+ML)</a:t>
            </a:r>
          </a:p>
          <a:p>
            <a:pPr algn="l"/>
            <a:r>
              <a:rPr sz="1300" b="1">
                <a:solidFill>
                  <a:srgbClr val="142B45"/>
                </a:solidFill>
                <a:latin typeface="Calibri"/>
              </a:rPr>
              <a:t>↓ Avaliacao / discussao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07 · VARIAVEL RESPOSTA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Y = custo anual de manutencao por carreta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05156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Y = soma do custo interno da carreta no ano (CAD), deflacionado pelo CPI Canada (dez/2025)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Grao: carreta ×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Media CAD 1669.18/ano · mediana CAD 812.26/ano · p90 CAD 4208.49.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Assimetria 3.82 (cauda longa), tratada por log1p e modelos robustos.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Apenas 3.13% de carreta-anos com custo zero: o grao anual praticamente elimina a zero-inflacao.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Custo interno total: CAD 74.617 mi nominal / CAD 79.645 mi real (dez/2025).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08 · CORRECAO PELA INFLACAO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Custos reais pelo CPI do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Todos os custos em CAD, corrigidos pelo CPI all-items do Canada (StatCan, vetor v41690973).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Base de comparacao: dezembro de 2025.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Inflacao acumulada no periodo: ~20% (2020→2025).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A correcao isola mudancas REAIS de custo da mera perda do poder de compra.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deflator e canadense (CPI), coerente com custos registrados em CAD.</a:t>
            </a:r>
          </a:p>
        </p:txBody>
      </p:sp>
      <p:pic>
        <p:nvPicPr>
          <p:cNvPr id="7" name="Picture 6" descr="04_nominal_vs_deflacio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400299"/>
            <a:ext cx="548640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VARIAVEIS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Dicionario das variaveis candidatas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36E"/>
                </a:solidFill>
                <a:latin typeface="Calibri"/>
              </a:rPr>
              <a:t>Universo derivavel da fonte unica (29 colunas), ja incluindo contrato. Mao de obra, pecas e tipo_contrato (RENTAL/LEASE) exigiriam outras tabelas.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5394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3581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id_carreta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temporal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custo_ano_nominal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monetaria (nominal)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operacional/componente de Y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operacional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vmrs_predominante_ano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operacional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exposicao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exposicao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regiao_operacao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geografica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provincia_estado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geografica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cod_montadora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descricao_carreta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(quant.)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tailgate_flag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 - 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828800"/>
          <a:ext cx="5394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3581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tipo / papel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tire_size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suspension_type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new_used_indicator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(cat.)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ativo derivada (quant.)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historico defasado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historico defasado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historico defasado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tipo_manutencao_ano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(cat.)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share_maint_ano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(quant.)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n_tipos_manutencao_ano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(quant.)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tempo_contrato_meses_fim_ano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(quant.)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tempo_contrato_meses_inicio_ano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defasado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trocou_contrato_ano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(bin.)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n_clientes_ano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(quant.)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cod_cliente_predominante_ano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(cat.) - DESCRITIVO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3581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populacao_maint_flag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flag de populacao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5836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franquia_km_mensal_contrato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contrato - 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Estatisticas descritivas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135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media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mediana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desvio_padrao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assimetria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custo_ano_real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1669.184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812.262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2390.597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62230.924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47709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2014.769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2016.0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5.79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1982.0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2026.0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-0.471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47055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52.242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53.0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3.722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28.0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60.0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-4.969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8.181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47448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176040.697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110322.0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197125.394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3479389.0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2.204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37822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24050.571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13016.5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29246.383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249676.0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2.501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1.548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1.097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4.549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4.268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2.407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custo_medio_por_os_ano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338.104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242.725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354.465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19177.732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7.452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38130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4.484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4.251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59.0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2.424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47715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9.668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131.0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2.881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Histogramas e distribuicoes</a:t>
            </a:r>
          </a:p>
        </p:txBody>
      </p:sp>
      <p:pic>
        <p:nvPicPr>
          <p:cNvPr id="6" name="Picture 5" descr="quant_custo_an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78431"/>
            <a:ext cx="5394960" cy="2038096"/>
          </a:xfrm>
          <a:prstGeom prst="rect">
            <a:avLst/>
          </a:prstGeom>
        </p:spPr>
      </p:pic>
      <p:pic>
        <p:nvPicPr>
          <p:cNvPr id="7" name="Picture 6" descr="quant_km_rodado_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78431"/>
            <a:ext cx="5394960" cy="2038096"/>
          </a:xfrm>
          <a:prstGeom prst="rect">
            <a:avLst/>
          </a:prstGeom>
        </p:spPr>
      </p:pic>
      <p:pic>
        <p:nvPicPr>
          <p:cNvPr id="8" name="Picture 7" descr="quant_custo_ano_an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47312"/>
            <a:ext cx="5394960" cy="2038096"/>
          </a:xfrm>
          <a:prstGeom prst="rect">
            <a:avLst/>
          </a:prstGeom>
        </p:spPr>
      </p:pic>
      <p:pic>
        <p:nvPicPr>
          <p:cNvPr id="9" name="Picture 8" descr="quant_n_os_ano_anteri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47312"/>
            <a:ext cx="5394960" cy="20380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Boxplots do custo anual por categoria</a:t>
            </a:r>
          </a:p>
        </p:txBody>
      </p:sp>
      <p:pic>
        <p:nvPicPr>
          <p:cNvPr id="6" name="Picture 5" descr="quali_flag_refrige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" y="1554480"/>
            <a:ext cx="4857750" cy="2286000"/>
          </a:xfrm>
          <a:prstGeom prst="rect">
            <a:avLst/>
          </a:prstGeom>
        </p:spPr>
      </p:pic>
      <p:pic>
        <p:nvPicPr>
          <p:cNvPr id="7" name="Picture 6" descr="quali_unit_sub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1554480"/>
            <a:ext cx="4857750" cy="2286000"/>
          </a:xfrm>
          <a:prstGeom prst="rect">
            <a:avLst/>
          </a:prstGeom>
        </p:spPr>
      </p:pic>
      <p:pic>
        <p:nvPicPr>
          <p:cNvPr id="8" name="Picture 7" descr="quali_cod_montad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" y="4023360"/>
            <a:ext cx="4857750" cy="2286000"/>
          </a:xfrm>
          <a:prstGeom prst="rect">
            <a:avLst/>
          </a:prstGeom>
        </p:spPr>
      </p:pic>
      <p:pic>
        <p:nvPicPr>
          <p:cNvPr id="9" name="Picture 8" descr="quali_vmrs_predominante_a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023360"/>
            <a:ext cx="485775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Relacao individual de cada variavel com 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135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pearson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spearman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papel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custo_medio_por_os_ano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0.748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0.768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componente de Y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0.589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0.539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0.418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0.527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0.457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0.188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n_clientes_ano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share_maint_ano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0.138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135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-0.172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explicativa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eta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n_categorias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descricao_carreta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0.5438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0.4246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vmrs_predominante_ano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0.3357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cod_montadora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0.2301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tipo_manutencao_ano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0.1828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suspension_type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provincia_estado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0.1399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tire_size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new_used_indicator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0.1146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regiao_operacao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0.0759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433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Quantitativas: Pearson/Spearman. Categoricas: eta (ANOVA).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Ranking de associacao com o custo anual</a:t>
            </a:r>
          </a:p>
        </p:txBody>
      </p:sp>
      <p:pic>
        <p:nvPicPr>
          <p:cNvPr id="6" name="Picture 5" descr="ranking_associacao_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4480"/>
            <a:ext cx="673608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Uso (km) e historico defasado lideram entre as quantitativas.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Refrigerado e subtipo lideram entre as categoricas.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Idade tem efeito direto fraco.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C2433"/>
                </a:solidFill>
                <a:latin typeface="Calibri"/>
              </a:rPr>
              <a:t>•  Componentes aritmeticos de Y sao excluidos do ranking de explicadores.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Multicolinearidade — matriz e VIF</a:t>
            </a:r>
          </a:p>
        </p:txBody>
      </p:sp>
      <p:pic>
        <p:nvPicPr>
          <p:cNvPr id="6" name="Picture 5" descr="matriz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554480"/>
            <a:ext cx="5705856" cy="47548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737360"/>
          <a:ext cx="4023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37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14.13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12.98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9.48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5.99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custo_ano_anterior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4.84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tempo_contrato_meses_fim_ano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4.04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3.97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tempo_contrato_meses_inicio_ano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3.41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1.61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SELECAO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Selecao das variaveis do modelo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489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decisao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tailgate_flag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franquia_km_mensal_contrato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cod_cliente_predominante_ano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tipo_manutencao_ano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removida do modelo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tempo_contrato_meses_inicio_ano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tempo_contrato_meses_fim_ano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share_maint_ano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n_clientes_ano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trocou_contrato_ano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custo_medio_por_os_ano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descricao_carreta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removida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ano_modelo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condicional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idade_carreta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eixos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489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decisao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tire_size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suspension_type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new_used_indicator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cod_montadora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regiao_operacao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provincia_estado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vmrs_predominante_ano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km_rodado_ano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n_sistemas_vmrs_distintos_ano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share_pm_ano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 (so explicativo)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km_acumulado_fim_ano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explicativo / inicio_ano no 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custo_ano_anterior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anos_ativo_ate_ano_anterior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C2433"/>
                          </a:solidFill>
                        </a:rPr>
                        <a:t>mantida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36E"/>
                </a:solidFill>
                <a:latin typeface="Calibri"/>
              </a:rPr>
              <a:t>Criterios: ranking, VIF, redundancia, vazamento temporal e coerencia de dominio.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09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Tecnicas e desenho 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Estatistica: regressao linear multipla, ridge, regressao polinomial.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Machine Learning: arvore de decisao, Random Forest, Gradient Boosting, KNN.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Alvo transformado por log1p (assimetria); metricas na escala original (CAD/ano).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Split temporal: treino 2020–2024, teste 2025 (evita vazamento entre periodos).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Dois cenarios: explicativo (inclui uso do ano) e preditivo (so historico defasado + atributos).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Populacao: contrato com manutencao inclusa (MAINT), aplicada como flag — o cenario sem filtro e mantido como baseline.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Tres configuracoes comparadas para separar o efeito do filtro MAINT do efeito das variaveis de contrato.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C2433"/>
                </a:solidFill>
                <a:latin typeface="Calibri"/>
              </a:rPr>
              <a:t>•  Metricas: R², RMSE e MAE.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09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Comparacao dos modelos (teste 2025)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6766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cenario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2663.4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1165.5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0.0256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2677.2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1166.9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arvore_decisao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1856.5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959.8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random_forest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0.5734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1771.5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915.5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1746.4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907.5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0.5289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1861.6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986.1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explicativo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0.3876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2122.4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1079.1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regressao_linear_multipla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0.2719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2314.2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1202.0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0.2665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2322.8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1202.7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arvore_decisao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0.4124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2079.1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1128.2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random_forest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2013.9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1088.6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gradient_boosting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0.4549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2002.4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1092.7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0.4487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2013.8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1099.0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preditivo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regressao_polinomial_grau_2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0.2723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2313.6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1258.1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Preditivo recomendado: gradient_boosting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R² = 0.4549 · RMSE = 2002.4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MAE = 1092.7 CAD/ano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Explicativo (melhor): R² = 0.5854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Arvores/ensembles superam modelos lineares.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Efeito do filtro MAINT: +0.0193 de R².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C2433"/>
                </a:solidFill>
                <a:latin typeface="Calibri"/>
              </a:rPr>
              <a:t>•  Efeito das variaveis de contrato: +0.0033 de R² — praticamente nulo.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09 ·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Variaveis mais importantes (permutacao)</a:t>
            </a:r>
          </a:p>
        </p:txBody>
      </p:sp>
      <p:pic>
        <p:nvPicPr>
          <p:cNvPr id="6" name="Picture 5" descr="05_importancia_permut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57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737360"/>
          <a:ext cx="37490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467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variavel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importancia</a:t>
                      </a:r>
                    </a:p>
                  </a:txBody>
                  <a:tcPr>
                    <a:solidFill>
                      <a:srgbClr val="142B4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flag_refrigerado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0.1692510524300573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0.0966781125569682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custo_acum_ate_ano_anterior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0.080441886778797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km_acumulado_inicio_ano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0.0790806776968799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unit_subtype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0.0573575093548561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n_os_acum_ate_ano_anterior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0.0400249967014216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comprimento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0.039470122927394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provincia_estado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2433"/>
                          </a:solidFill>
                        </a:rPr>
                        <a:t>0.0366753003826876</a:t>
                      </a:r>
                    </a:p>
                  </a:txBody>
                  <a:tcPr>
                    <a:solidFill>
                      <a:srgbClr val="EEE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DISCUSSAO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Discussao dos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custo anual real por carreta cresceu de forma consistente (2020→2025) mesmo apos deflacao — aumento real, nao inflacionario.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Refrigeracao e o fator estrutural mais forte; subtipo e montadora tambem separam custos.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historico de manutencao (OS e custo de anos anteriores) e o principal preditor sem vazamento.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uso acumulado/quilometragem esta entre os maiores associados ao custo.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Idade isolada tem efeito fraco; opera principalmente via historico 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Contrato (H6): efeito fraco. A duracao de contrato quase nao acrescenta poder preditivo, e o tipo contratual separa pouco os custos — hipotese testada, nao assumida.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O modelo preditivo (R² ≈ 0.4549) e util para orcamento e priorizacao de frota.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LIMITACOES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Limitacoes metodologicas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Fonte unica: contrato ja incorporado; seguem ausentes mao de obra, pecas e tipo_contrato (RENTAL/LEASE).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Populacao restrita a MAINT: o ganho de R² do filtro reflete amostra mais homogenea, nao melhora de previsao.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franquia_km_mensal_contrato descartada (99,8% de zeros); NET/MIX somam 2,7% das OS, o que limita conclusoes sobre esses regimes.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cod_cliente nao modelado (597 categorias): risco de o modelo memorizar o cliente em vez de explicar o custo.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km derivado do odometro nas OS; resets/ruido tratados por regra, com aproximacao.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Provincia parcial (~54%); regiao usada como proxy geografica.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Estornos (custos negativos) excluidos; span ativo assume presenca entre 1ª e ultima 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46304" cy="822960"/>
          </a:xfrm>
          <a:prstGeom prst="rect">
            <a:avLst/>
          </a:prstGeom>
          <a:solidFill>
            <a:srgbClr val="E87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13A"/>
                </a:solidFill>
                <a:latin typeface="Calibri"/>
              </a:rPr>
              <a:t>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2B45"/>
                </a:solidFill>
                <a:latin typeface="Calibri"/>
              </a:rPr>
              <a:t>Trabalhos futuros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Integrar mao de obra, pecas e tipo_contrato (RENTAL/LEASE) — contrato de manutencao ja foi incorporado.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Testar modelos de efeitos mistos por grupos de ativos (montadora/subtipo).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433"/>
                </a:solidFill>
                <a:latin typeface="Calibri"/>
              </a:rPr>
              <a:t>•  Incorporar quilometragem planejada e telemetria (GPS) como exposicao.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10515600" cy="18288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Conclusao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Sobre a base unica reextraida (29 colunas), em CAD corrigidos pelo CPI do Canada e no grao carreta x ano, o custo anual real e explicado sobretudo por refrigeracao, historico de manutencao e uso. As variaveis de contrato, incorporadas nesta fase, foram testadas e mostraram efeito fraco — resultado que decorre de teste, nao de suposicao.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