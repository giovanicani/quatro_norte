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47A3B"/>
                </a:solidFill>
                <a:latin typeface="Calibri"/>
              </a:rPr>
              <a:t>MBA · PROJETO APLICADO · CIÊNCIA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Previsão de Custos de Manutenção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de Carretas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F5F2EC"/>
                </a:solidFill>
                <a:latin typeface="Calibri"/>
              </a:rPr>
              <a:t>Modelagem preditiva do custo de manutenção interno por quilômetro</a:t>
            </a:r>
          </a:p>
          <a:p>
            <a:pPr algn="l">
              <a:lnSpc>
                <a:spcPct val="100000"/>
              </a:lnSpc>
            </a:pPr>
            <a:r>
              <a:rPr sz="1900" b="0">
                <a:solidFill>
                  <a:srgbClr val="F5F2EC"/>
                </a:solidFill>
                <a:latin typeface="Calibri"/>
              </a:rPr>
              <a:t>da frota própria de carretas · janela 2020–2025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29200"/>
            <a:ext cx="2377440" cy="54864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2EC"/>
                </a:solidFill>
                <a:latin typeface="Calibri"/>
              </a:rPr>
              <a:t>Quatro Norte Consulting  ·  FGV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A EMPRESA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Quatro Norte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Consultoria de dados que atende uma operação de leasing/rental de carretas no Canadá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Frota própria (cus_id_owner = 4): ~10,4 mil carretas ativas na janela analisada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Carretas secas e refrigeradas (reefer) de até 53 pés, operando em províncias canadenses (ON, QC, ...)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Contratos de leasing e rental com diferentes coberturas de manutenção (MAINT / NET / MIX)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Manutenção própria: rede de oficinas registra ordens de serviço (OS) com mão de obra e peças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Dor de negócio: parte relevante do custo de manutenção é absorvida pela empresa (custo interno, charge_flag = 'I') e precisa ser prevista para orçamento e precificação de contratos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737360"/>
            <a:ext cx="4754880" cy="4023360"/>
          </a:xfrm>
          <a:prstGeom prst="rect">
            <a:avLst/>
          </a:prstGeom>
          <a:solidFill>
            <a:srgbClr val="F5F2EC"/>
          </a:solidFill>
          <a:ln>
            <a:solidFill>
              <a:srgbClr val="C4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920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A OPERAÇÃO EM NÚMEROS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377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3A5F"/>
                </a:solidFill>
                <a:latin typeface="Calibri"/>
              </a:rPr>
              <a:t>10.411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76148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carretas na frota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246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3A5F"/>
                </a:solidFill>
                <a:latin typeface="Calibri"/>
              </a:rPr>
              <a:t>238.818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301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ordens de serviço (2020–2025)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1148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3A5F"/>
                </a:solidFill>
                <a:latin typeface="Calibri"/>
              </a:rPr>
              <a:t>CAD 77,0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44988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custo interno de manutenção no período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9834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F3A5F"/>
                </a:solidFill>
                <a:latin typeface="Calibri"/>
              </a:rPr>
              <a:t>6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3675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de histórico: OS, odômetro, contratos, GPS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ROTEIRO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Agenda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Bloco 1 — Contexto, problema, objetivos, hipóteses e artigos científicos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Contexto da pesquisa · pergunta do problema · objetivo geral e específicos · hipóteses · 4 artigos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Bloco 2 — Base de dados, feature engineering, EDA e técnicas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Modelo de dados (7 tabelas) · variável-alvo · deflação CPI Canadá · features derivadas · análise exploratória variável a variável · técnicas estatísticas e de machine learning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Bloco 3 — Referencial teórico e metodologia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Síntese do referencial · metodologia passo a passo (pipeline em scripts reprodutíveis)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7A3B"/>
                </a:solidFill>
                <a:latin typeface="Calibri"/>
              </a:rPr>
              <a:t>BLOCO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Contexto, problema, objetivos e hipóteses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Perguntas 1–5 da agenda da disciplina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Onde o projeto será realizado (contexto)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Empresa de leasing/rental de carretas no Canadá, atendida pela Quatro Norte Consulting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Foco na frota própria (cus_id_owner = 4), com carretas ativas e leituras de quilometragem válidas entre 2020-01-01 e 2025-12-31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A empresa executa manutenção preventiva e corretiva; parte do custo é repassada ao cliente e parte é absorvida pela operação (custo interno, charge_flag = 'I')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Todos os custos são registrados em dólares canadenses (CAD)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Dados extraídos do ERP de manutenção em modelo estrela: cadastro das carretas, ordens de serviço, mão de obra, peças, odômetro, contratos e telemetria GPS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Decisões que o projeto apoia: orçamento anual de manutenção, precificação de contratos e priorização de frota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Pergunta do 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9966960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514600"/>
            <a:ext cx="9052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Quais são os fatores que mais influenciam o custo de manutenção</a:t>
            </a:r>
          </a:p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interno das carretas — e como prever esse custo por km futuro</a:t>
            </a:r>
          </a:p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com base nos dados históricos?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Variável de interesse: custo de manutenção interno por quilômetro (CAD/km), no grão carreta × mês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Custo interno = absorvido pela empresa (charge_flag = 'I'), incluindo manutenções preventivas e corretivas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Objetivo geral e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47A3B"/>
                </a:solidFill>
                <a:latin typeface="Calibri"/>
              </a:rPr>
              <a:t>OBJETIVO GERAL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2B2B2B"/>
                </a:solidFill>
                <a:latin typeface="Calibri"/>
              </a:rPr>
              <a:t>Analisar os dados históricos de manutenção das carretas para identificar os principais fatores que influenciam o custo interno por km e desenvolver um modelo preditivo capaz de estimar custos futuros.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63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47A3B"/>
                </a:solidFill>
                <a:latin typeface="Calibri"/>
              </a:rPr>
              <a:t>OBJETIVOS ESPECÍFICOS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11155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Coletar, consolidar e organizar os dados históricos de manutenção das carretas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Realizar análise exploratória dos dados para identificar padrões, tendências e variáveis relevantes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Investigar a relação entre características dos contratos de leasing e os custos de manutenção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Identificar os principais fatores associados aos custos de manutenção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Desenvolver e avaliar modelos preditivos para estimar os custos futuros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Hipóteses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H1 — Contratos de leasing com maior duração tendem a apresentar custos de manutenção mais elevados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H2 — Carretas com maior tempo de utilização (idade) tendem a demandar maiores gastos com manutenção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H3 — O aumento da quilometragem percorrida está associado ao aumento dos custos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H4 — O histórico de manutenções anteriores é relevante para prever custos futuros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H5 — Variáveis operacionais e características dos contratos influenciam significativamente os custos de manutenção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As hipóteses são avaliadas na EDA (correlações e segmentações) e na modelagem (importância de variáveis)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5 · ARTIGO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Katreddi, Thiruvengadam, Thompson, Schmid &amp; Padmanaban (2023)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B6EA5"/>
                </a:solidFill>
                <a:latin typeface="Calibri"/>
              </a:rPr>
              <a:t>Machine learning models for maintenance cost estimation in delivery trucks using diesel and natural gas fuels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Prevê custo de manutenção por milha em caminhões de entrega; custos de manutenção são parcela relevante do TCO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Compara Random Forest, XGBoost, ANN e ensemble Super Learner (variáveis: quilometragem, combustível, região, uso)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Super Learner com melhor desempenho (R² = 97,28%; MAE = US$ 0,0068/milha) — ensembles capturam relações não lineares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Relação com o projeto: variáveis operacionais semelhantes (km acumulado, região, montadora/modelo); reforça a escolha de modelos de árvore/ensemble; métricas devem ser lidas no contexto da nossa amostra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5 · ARTIGO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Katreddi, Thiruvengadam, Thompson &amp; Schmid (2023)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B6EA5"/>
                </a:solidFill>
                <a:latin typeface="Calibri"/>
              </a:rPr>
              <a:t>Mixed Effects Random Forest Model for Maintenance Cost Estimation in Heavy-Duty Vehicles Using Diesel and Alternative Fuels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Estima custos em veículos pesados com múltiplos combustíveis; tipo de veículo, região e operação influenciam custos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Mixed Effects Random Forest: combina Random Forest com efeitos mistos por grupo de veículos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Melhor generalização que Random Forest convencional em frotas heterogêneas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Relação com o projeto: justifica incluir variáveis de agrupamento (montadora, modelo, classe, tipo de contrato) como features; MERF registrado como extensão futura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5 · ARTIGO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Sun, Guo, Sun, Yang &amp; Hao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B6EA5"/>
                </a:solidFill>
                <a:latin typeface="Calibri"/>
              </a:rPr>
              <a:t>Maintenance cost prediction for the vehicle based on maintenance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Prevê custos futuros usando registros históricos de manutenção e falhas, com foco em garantia estendida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Engenharia de confiabilidade: modelo Mixed Weibull + estimativa iterativa de custos (sem ML tradicional)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Histórico de manutenção permite estimar custos futuros de forma consistente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Relação com o projeto: sustenta o uso do histórico de OS como insumo preditivo, mesmo sem dados estruturados de falha por componente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5 · ARTIGO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Adekitan, Adetokun &amp; Okokpujie (2018)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B6EA5"/>
                </a:solidFill>
                <a:latin typeface="Calibri"/>
              </a:rPr>
              <a:t>A data-based investigation of vehicle maintenance cost components using ANN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Investiga fatores de custo de manutenção em veículos corporativos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Rede Neural Artificial com quilometragem, consumo, frequência de falhas e histórico de uso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Correlação R = 0,766 entre previsto e observado — sinal preditivo presente, desempenho modesto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Relação com o projeto: mostra que variáveis operacionais carregam sinal, mas favorece priorizar métodos de árvore, que performaram melhor nos artigos mais recentes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7A3B"/>
                </a:solidFill>
                <a:latin typeface="Calibri"/>
              </a:rPr>
              <a:t>BLOCO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Base de dados, variável-alvo e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Perguntas 6–7 da agenda da disciplina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Base de dados — modelo estrela (1 dimensão + 6 fatos)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TABELA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91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GRÃO (1 LINHA =)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916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PAPEL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dim_carretas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carreta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1031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atributos do ativo: montadora, modelo, ano, eixos, comprimento, reefer, classe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7860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fato_readings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5786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leitura de odômetro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57860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quilometragem acumulada por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054096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fato_wo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05409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ordem de serviço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054096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cabeçalho da OS + totais internos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29584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fato_wo_labour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52958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linha de mão de obra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52958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custo interno de mão de obra + sistema VMRS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00507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fato_wo_parts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0050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linha de peça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005072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custo interno de peças + flag de garantia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805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fato_contratos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480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carreta-contrato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4805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leasing/rental: tipo, franquia de km, vigência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5604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fato_gps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560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uma posição por 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95604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6B"/>
                </a:solidFill>
                <a:latin typeface="Calibri"/>
              </a:rPr>
              <a:t>telemetria: lat/long da carreta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760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Em palavras simples: são 7 "planilhas" ligadas pelo número da carreta (id_carreta) — uma com o cadastro de cada carreta e seis com os eventos da vida dela (leituras de km, ordens de serviço, custos de mão de obra e peças, contratos e posições de GPS).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Detalhe técnico: mão de obra e peças também se ligam pela OS (id_os); contratos, pelo período de vigência. Extração: data/extract_custo_interno_km.sql, 2020–2025, frota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Definição do custo interno (o que entra no 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palavras simples: é o dinheiro que sai do caixa da empresa para manter a carreta rodando — a parte do conserto que NÃO é cobrada do cliente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Tecnicamente: linhas de OS com charge_flag = 'I' (interno)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Somente OS aprovadas, concluídas e não canceladas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Mão de obra: se terceirizada (sublet_flag='Y') usa total_sublet; senão cost_hours × hourly_cost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Peças: se terceirizada usa total_sublet; senão nvl(item_average_cost, item_cost) × actual_qty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Inclui manutenção preventiva E corretiva — 'interno' não é sinônimo de 'preventivo'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663440"/>
            <a:ext cx="11155680" cy="1463040"/>
          </a:xfrm>
          <a:prstGeom prst="rect">
            <a:avLst/>
          </a:prstGeom>
          <a:solidFill>
            <a:srgbClr val="F5F2EC"/>
          </a:solidFill>
          <a:ln>
            <a:solidFill>
              <a:srgbClr val="C4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Reconciliação: CAD 77,0 milhões de custo interno nominal na janela 2020–2025 (CAD 82,3 mi em valores de dez/2025), distribuído em 238.818 ordens de serviço.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CONTEXTO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VMRS — padrão de codificação de manutenção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palavras simples: é o "CID da oficina" — em vez de descrever o conserto em texto livre, cada reparo recebe um código padronizado que diz qual sistema da carreta foi mexido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Nome oficial: Vehicle Maintenance Reporting System (ATA)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Usamos o nível de sistema — suficiente para saber qual sistema gera o custo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Permite agregar custo por sistema de forma comparável entre todas as carretas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Importante: 'PM' (manutenção preventiva) é apenas UMA das categorias VMRS — ao lado de freios, pneus, reefer, elétrica etc.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A variável-alvo do projeto soma o custo interno de TODAS as categorias (preventivas e corretivas) — o VMRS entra como dimensão de análise, não como filtro do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EXEMPLOS DE SISTEMAS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574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0574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Preventive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68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Brakes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880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8803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Tires and Accessories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291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918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Reefer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703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7033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Lights and Wiring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114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Exterior Body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5262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526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Landing Gear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37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9377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Air Equipment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CONTEXTO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Programas de manutenção preventiva da frota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1024128"/>
          </a:xfrm>
          <a:prstGeom prst="rect">
            <a:avLst/>
          </a:prstGeom>
          <a:solidFill>
            <a:srgbClr val="F5F2EC"/>
          </a:solidFill>
          <a:ln>
            <a:solidFill>
              <a:srgbClr val="DDD5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PM · Inspeção geral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810512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Estado mecânico e de segurança: chassi, landing gear, pneus e torque, freios, luzes/ABS, portas e vedações; anotação de defeitos para 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07791"/>
            <a:ext cx="11155680" cy="1024128"/>
          </a:xfrm>
          <a:prstGeom prst="rect">
            <a:avLst/>
          </a:prstGeom>
          <a:solidFill>
            <a:srgbClr val="F5F2EC"/>
          </a:solidFill>
          <a:ln>
            <a:solidFill>
              <a:srgbClr val="DDD5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8094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Inspeção de Segurança (MTO)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980944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Inspeção regulatória anual: freios completos, sistema de ar, suspensão, rodas e cubos, chassi e coupling, elétrica — emite o certificado e selo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078224"/>
            <a:ext cx="11155680" cy="1024128"/>
          </a:xfrm>
          <a:prstGeom prst="rect">
            <a:avLst/>
          </a:prstGeom>
          <a:solidFill>
            <a:srgbClr val="F5F2EC"/>
          </a:solidFill>
          <a:ln>
            <a:solidFill>
              <a:srgbClr val="DDD5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51376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Reefer PM · Dry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151376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Serviço 'seco' da unidade de refrigeração (Thermo King/Carrier): limpeza de condensador/evaporador, correias, teste de ciclo, sensores e datalogger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248656"/>
            <a:ext cx="11155680" cy="1024128"/>
          </a:xfrm>
          <a:prstGeom prst="rect">
            <a:avLst/>
          </a:prstGeom>
          <a:solidFill>
            <a:srgbClr val="F5F2EC"/>
          </a:solidFill>
          <a:ln>
            <a:solidFill>
              <a:srgbClr val="DDD5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321808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Reefer PM · Wet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5321808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Dry Service + trocas de fluidos: óleo e filtros da unidade, filtros de combustível/ar, coolant, correia; reset do horímetro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Além dos PMs programados, manutenções corretivas não programadas (luzes, freios, pneus...) também geram custo interno — e são as que mais variam entre carretas.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VARIÁVEL-ALVO (Y)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custo_manutencao_interno_por_km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11155680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Y = custo interno total do mês (CAD, deflacionado)  ÷  km rodado no mês   ·   grão: carreta × mês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7180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palavras simples: para cada carreta, em cada mês, dividimos o que a empresa gastou com ela pelo quanto ela rodou. O resultado responde: "quanto custa manter esta carreta, por km rodado?"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Numerador: mão de obra + peças internas das OS do mês, de TODAS as categorias VMRS — preventiva (PM) é só uma delas; corretivas (freios, pneus, reefer...) também entram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Denominador: km rodado no mês, calculado a partir das leituras de odômetro (resets e saltos anômalos tratados); só calculamos quando a carreta rodou ≥ 500 km no mês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População com Y válido: 351.956 observações carreta × mês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67.1% dos meses a carreta nem passou pela oficina (custo zero) — e isso é informação legítima para orçamento, então esses meses foram mantidos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Média: CAD 0,091 /km · mediana dos meses com custo: CAD 0,101 /km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CORREÇÃO METODOLÓGICA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Custos em CAD ⇒ deflação pelo CPI do Canadá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palavras simples: 1 dólar de 2020 comprava mais coisas que 1 dólar de 2025. Para comparar custos de anos diferentes de forma justa, convertemos tudo para o "dólar de dez/2025"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Os custos da operação são em dólares canadenses (CAD) — por isso usamos o índice de inflação do Canadá (CPI, Statistics Canada), corrigindo a versão anterior que usava IPCA (Brasil)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A inflação canadense acumulada 2020→2025 foi ≈ 20% — sem a correção, um modelo confundiria "custos subindo" com "dinheiro valendo menos"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Mecânica: cada custo é multiplicado pelo índice de dez/2025 dividido pelo índice do mês em que ocorreu</a:t>
            </a:r>
          </a:p>
        </p:txBody>
      </p:sp>
      <p:pic>
        <p:nvPicPr>
          <p:cNvPr id="7" name="Picture 6" descr="04_nominal_vs_deflacio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286000"/>
            <a:ext cx="57607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MODELAGEM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Do modelo estrela à base de modelagem (carreta × mês)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palavras simples: juntamos as 7 planilhas numa única tabela grande, em que cada linha responde "como estava a carreta X no mês Y?" — o formato que a análise e os modelos conseguem consumir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Normalizado (origem): 7 tabelas relacionadas, sem repetição — formato da extração do ERP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Desnormalizado (análise): uma tabela larga, uma linha = uma carreta em um mês, com todas as variáveis juntas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Pipeline: join por id_carreta (e período, para contratos) + feature engineering + agregação mensal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Resultado: base_mensal_carreta com 749.592 linhas (grade completa carreta × mês 2020–2025)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Redundância aceita (ex.: montadora repete a cada mês) em troca de uma base pronta para correlação e treino de modelos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2011680"/>
            <a:ext cx="4937760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139696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7 tabelas normalizadas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(extração · modelo estrela)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3337560"/>
            <a:ext cx="4937760" cy="960120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3465576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join + feature engineering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+ agregação mensal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4663440"/>
            <a:ext cx="4937760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4791456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 tabela desnormalizada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(base carreta × mês · EDA &amp; ML)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Feature engineering — variáveis derivadas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idade_carreta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8424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anos desde a entrada em serviço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km_rodado_mes / km_por_mes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98424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intensidade de uso mensal (prorrateio do odômetro)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048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km_acumulado (defasado)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7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quilometragem acumulada até o mês anterior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4048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custo_acum_manutencao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7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custo interno acumulado até o mês anterior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1810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n_os_acum / n_os_preventivas_acum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41071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nº de OS acumuladas (totais e preventivas)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11810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custo_medio_movel_3m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41071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média móvel de custo dos 3 meses anteriores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8313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intervalo_medio_os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1239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dias médios entre OS da carreta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8313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meses_desde_ultima_os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1239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recência da última OS (apenas OS anteriores ao mês)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44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duracao_contrato_meses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3717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duração do contrato vigente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544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idade_contrato_meses_no_mes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83717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tempo decorrido de contrato no mês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257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regiao_operacao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5040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região aproximada por província/local da 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257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custos deflacionados (CPI Canadá)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55040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todos os custos a valor de dez/2025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12648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Em palavras simples: criamos colunas novas que resumem a "vida" da carreta até aquele mês — quanto já rodou, quanto já custou, quando foi a última visita à oficina. Regra de ouro (anti-vazamento): cada linha só usa informação que já existia ANTES do mês que queremos prever — como na vida real. prop_pecas_garantia foi descartada: apenas 0,03% dos meses têm peça em garantia.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6–7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Dicionário das variáveis do modelo — numéricas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VARIÁVEL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57276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57276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SIGNIFICADO · COMPOSIÇÃO (QUANDO FE)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0195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km_rodado_mes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90195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0195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SUBTRAÇÃO + RATEIO: leitura atual do odômetro − leitura anterior; se o intervalo cruza meses, o delta é dividido proporcionalmente aos dias de cada mês (resets/saltos removidos antes)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0944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km_acumulado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40944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40944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ÚLTIMA LEITURA DEFASADA: maior leitura de odômetro disponível até o fim do MÊS ANTERIOR (nunca do mês previsto — anti-vazamento)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1693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km_rodado_acum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1693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91693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SOMA ACUMULADA: Σ km_rodado_mes de todos os meses anteriores da carreta (exclui o mês corrente)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424428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km_por_mes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424428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3424428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DIVISÃO: km_acumulado ÷ nº de meses desde data_entrada_servico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3192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idade_carreta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93192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9319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SUBTRAÇÃO: (mês de referência − data_entrada_servico) ÷ 365,25 → idade em anos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3941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custo_acum_manutencao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43941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443941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SOMA ACUMULADA DEFASADA: Σ custo_total_mes dos meses anteriores (cumsum − valor do mês corrente)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4690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custo_preventivo_acum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94690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94690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SOMA ACUMULADA DEFASADA: idem, somando apenas custo_preventivo_total_mes (linhas VMRS PM)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5439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n_os_acum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545439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545439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CONTAGEM ACUMULADA: Σ nº de OS dos meses anteriores da carreta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6–7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Dicionário das variáveis do modelo — numéricas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VARIÁVEL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57276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57276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SIGNIFICADO · COMPOSIÇÃO (QUANDO FE)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0195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n_os_preventivas_acum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90195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0195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CONTAGEM ACUMULADA: Σ nº de OS preventivas dos meses anteriores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0944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custo_medio_movel_3m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40944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40944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MÉDIA MÓVEL: (custo do mês−1 + mês−2 + mês−3) ÷ 3 — janela deslocada 1 mês para trás (shift), sem incluir o mês previsto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1693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custo_preventivo_medio_movel_3m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1693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91693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MÉDIA MÓVEL: mesma fórmula, sobre o custo preventivo dos 3 meses anteriores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424428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intervalo_medio_os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424428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3424428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MÉDIA DE DIFERENÇAS: média dos dias entre OS consecutivas da carreta, usando só OS anteriores ao mês previsto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3192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meses_desde_ultima_os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93192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9319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SUBTRAÇÃO: mês de referência − mês da última OS ANTERIOR (nunca conta OS do próprio mês — anti-vazamento)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3941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franquia_km_mensal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43941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443941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campo direto do contrato vigente (fato_contratos) — sem transformação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4690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duracao_contrato_meses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94690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94690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SUBTRAÇÃO: (data_fim − data_inicio) do contrato ÷ 30,44 → meses (contratos abertos: censurados em 2025-12)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5439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idade_contrato_meses_no_mes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545439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545439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SUBTRAÇÃO: (mês de referência − data_inicio do contrato) ÷ 30,44 → meses decorridos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6–7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Dicionário das variáveis do modelo — categóricas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VARIÁVEL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57276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57276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SIGNIFICADO · COMPOSIÇÃO (QUANDO FE)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0195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cod_montadora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90195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0195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fabricante da carreta (dim_carretas) — one-hot com agrupamento de categorias raras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09444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cod_modelo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40944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40944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modelo da carreta (dim_carretas)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1693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flag_refrigerado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1693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91693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carreta refrigerada (reefer) vs seca (dim_carretas)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424428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tipo_contrato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424428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3424428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RENTAL vs LEASE do contrato vigente (fato_contratos)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3192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cod_grupo_manutencao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93192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B6EA5"/>
                </a:solidFill>
                <a:latin typeface="Calibri"/>
              </a:rPr>
              <a:t>Natural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9319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programa/grupo de manutenção do ativo (dim_carretas)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3941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regiao_operacao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43941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7A3B"/>
                </a:solidFill>
                <a:latin typeface="Calibri"/>
              </a:rPr>
              <a:t>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443941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B2B2B"/>
                </a:solidFill>
                <a:latin typeface="Calibri"/>
              </a:rPr>
              <a:t>MAPEAMENTO + PROPAGAÇÃO: província/local da OS → região; carrega-se a última região conhecida para os meses seguintes; na modelagem usa-se a região do mês ANTERIOR (defasada)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12064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B6B"/>
                </a:solidFill>
                <a:latin typeface="Calibri"/>
              </a:rPr>
              <a:t>Notas: variáveis 'FE' (feature engineering) são derivadas das tabelas-fonte; todas as históricas usam apenas informação disponível até o mês anterior. Excluídas da modelagem: prop_pecas_garantia (apenas 0,03% dos meses com peça em garantia), tipo_manutencao (fixada em MAINT como população) e km_acumulado_fim_mes (auditoria).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7A3B"/>
                </a:solidFill>
                <a:latin typeface="Calibri"/>
              </a:rPr>
              <a:t>BLOCO 2 · PERGUNTA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Análise Exploratória de Dados (EDA)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351.956 observações carreta × mês com Y válido · protocolo variável a variável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Protocolo da 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Para cada variável quantitativa (X e Y):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histograma (distribuição, assimetria) · boxplot (outliers, dispersão) · estatísticas: N, média, DP, min, Q1, mediana, Q3, max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Para cada variável qualitativa: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boxplot de Y segmentado por categoria · tabela de frequência · estatísticas de Y por categoria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Análises complementares: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correlação de Pearson e Spearman de cada X com Y · força de associação (eta) para categóricas · matriz de correlação entre X · multicolinearidade (VIF) · evolução temporal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Leitura em duas partes (zero-inflação):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ocorrência de custo no mês (67% dos meses = zero) e magnitude condicional nos meses com custo &gt; 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Como ler os gráficos desta seção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Histograma — mostra a distribuição: onde os valores se concentram e se há cauda (assimetria). Cauda longa à direita = poucos casos muito caros puxando a média para cima.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Boxplot — resume a distribuição: a caixa vai do 1º ao 3º quartil (50% central dos dados), a linha vermelha é a mediana e os pontos isolados são outliers. Caixa 'achatada' perto do zero = maioria dos valores baixos.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Correlação de Spearman (ρ) — mede se 'quanto mais X, mais Y' (de −1 a +1). Usamos Spearman porque é robusta a outliers; Pearson é reportada como referência. Regra de leitura: |ρ| &lt; 0,1 fraca · 0,1–0,3 modesta · &gt; 0,3 relevante.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Eta (η) para categóricas — mede o quanto as categorias separam o Y (0 = categorias iguais; 1 = categoria determina o custo).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Gráficos cortados no percentil 99 (p99) — 1% dos meses mais caros é omitido DO GRÁFICO para dar legibilidade à massa central; esses outliers são tratados na modelagem, não ignorados.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Em cada slide: figura à esquerda, estatísticas à direita, e a leitura (o que o gráfico diz) na faixa azul inferior.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VARIÁVEL-ALVO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Distribuição do custo interno por km (deflacionado)</a:t>
            </a:r>
          </a:p>
        </p:txBody>
      </p:sp>
      <p:pic>
        <p:nvPicPr>
          <p:cNvPr id="6" name="Picture 5" descr="quant_custo_manutencao_interno_por_km_deflacio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906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7373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 (CAD/km)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10312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N = 351.956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média = 0,091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DP = 0,372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mín = 0,000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Q1 = 0,000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mediana = 0,000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Q3 = 0,032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máx = 29,3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assimetria = 14,4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6692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Distribuição fortemente assimétrica à direita e zero-inflada: 67% dos meses sem custo interno. Nos meses com custo, a mediana é CAD 0,101/km e a média CAD 0,276/km — cauda longa de meses caros puxa a média. Implicação: transformação log1p e modelos robustos; o problema combina ocorrência + magnitude.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VARIÁVEL-ALVO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Evolução anual do custo interno por km (valores reais)</a:t>
            </a:r>
          </a:p>
        </p:txBody>
      </p:sp>
      <p:pic>
        <p:nvPicPr>
          <p:cNvPr id="6" name="Picture 5" descr="evolucao_y_a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86384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73736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2020: CAD 0,074/km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2025: CAD 0,125/km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Crescimento real de 69% na média — mesmo após remover a inflação (CPI Canadá).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Share de meses com custo zero caiu de 69% para 63%: a frota está gerando OS com mais frequência.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607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Leitura: há tendência real de encarecimento por km — consistente com envelhecimento/maior utilização da frota — que o modelo deve capturar pelas variáveis operacionais, não por um simples efeito 'ano'.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ano_modelo</a:t>
            </a:r>
          </a:p>
        </p:txBody>
      </p:sp>
      <p:pic>
        <p:nvPicPr>
          <p:cNvPr id="6" name="Picture 5" descr="quant_ano_mode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351.924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2.016,26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4,70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1.994,00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2.013,00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2.017,00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2.019,00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2.026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-0,050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a frota se concentra em modelos 2014–2022, com picos nos anos de maior renovação. A correlação com o custo por km é quase nula (ρ = +0,04): saber só o ano do modelo não diz quanto a carreta custa. O efeito 'envelhecimento' existe, mas aparece nas variáveis de histórico acumulado — por isso o ano entra no modelo apenas como apoio.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eixos</a:t>
            </a:r>
          </a:p>
        </p:txBody>
      </p:sp>
      <p:pic>
        <p:nvPicPr>
          <p:cNvPr id="6" name="Picture 5" descr="quant_eix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351.526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2,08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0,29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1,00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2,00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2,00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2,00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0,020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quase toda a frota tem 2 eixos — a barra única domina o histograma e o boxplot é uma linha. Quando uma variável quase não varia, ela não consegue separar carretas caras de baratas (ρ ≈ 0). Conclusão: pouco útil para o modelo, mantida apenas por completude.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comprimento</a:t>
            </a:r>
          </a:p>
        </p:txBody>
      </p:sp>
      <p:pic>
        <p:nvPicPr>
          <p:cNvPr id="6" name="Picture 5" descr="quant_compri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347.428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52,04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4,20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28,00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53,00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53,00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53,00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60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-0,022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-0,067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o padrão de 53 pés domina a frota — a distribuição é quase toda um único valor. Com tão pouca variação, a associação com o custo é fraca (ρ = −0,07). Leitura de negócio: o comprimento não diferencia custo porque praticamente todas as carretas são do mesmo porte.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idade_carreta</a:t>
            </a:r>
          </a:p>
        </p:txBody>
      </p:sp>
      <p:pic>
        <p:nvPicPr>
          <p:cNvPr id="6" name="Picture 5" descr="quant_idade_carr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223.460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6,23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4,21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3,08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5,33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8,53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0,082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0,037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idade média de ≈ 6 anos, com cauda de carretas antigas (até 28 anos). A correlação direta com o custo mensal por km é modesta (ρ = +0,04) — surpreendente à primeira vista. Explicação: a idade age INDIRETAMENTE, via km acumulado e histórico de OS (carretas velhas rodaram mais e abriram mais OS); essas variáveis absorvem o efeito. H2 tem suporte apenas parcial.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km_rodado_mes</a:t>
            </a:r>
          </a:p>
        </p:txBody>
      </p:sp>
      <p:pic>
        <p:nvPicPr>
          <p:cNvPr id="6" name="Picture 5" descr="quant_km_rodado_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351.956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2.873,16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2.852,53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500,00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993,81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1.936,51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3.788,44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108.359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-0,082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0,094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metade das carretas roda até ≈ 1.900 km/mês, mas há cauda de alta utilização (&gt; 10 mil km/mês). Cuidado na leitura: esta variável é o DENOMINADOR do Y (custo ÷ km) — rodar mais dilui o custo por km mecanicamente. Por isso a correlação com custo/km não deve ser lida como efeito causal; a hipótese H3 foi testada também contra o custo absoluto.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km_acumulado</a:t>
            </a:r>
          </a:p>
        </p:txBody>
      </p:sp>
      <p:pic>
        <p:nvPicPr>
          <p:cNvPr id="6" name="Picture 5" descr="quant_km_acumu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348.006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128.330,66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133.972,48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36.158,25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85.574,00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179.544,00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6.288.901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0,062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0,155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forte assimetria — metade da frota tem até ≈ 86 mil km acumulados, mas existem carretas com milhões de km. Correlação positiva modesta com o custo (ρ = +0,16): quanto mais rodada a carreta, mais cara por km. É o sinal de desgaste estrutural que sustenta parcialmente a H3.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km_por_mes</a:t>
            </a:r>
          </a:p>
        </p:txBody>
      </p:sp>
      <p:pic>
        <p:nvPicPr>
          <p:cNvPr id="6" name="Picture 5" descr="quant_km_por_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223.078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1.820,24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2.084,59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335,98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922,11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2.846,16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23.385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-0,014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0,124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intensidade média de uso desde a entrada em serviço — mediana de ≈ 900 km/mês, com carretas de uso intenso na cauda. ρ = +0,12: carretas que historicamente rodam mais tendem a custar mais por km. Complementa km_rodado_mes com uma visão estrutural (perfil da carreta) em vez de conjuntural (o mês específico).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franquia_km_mensal</a:t>
            </a:r>
          </a:p>
        </p:txBody>
      </p:sp>
      <p:pic>
        <p:nvPicPr>
          <p:cNvPr id="6" name="Picture 5" descr="quant_franquia_km_men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273.460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0,66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28,71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1.667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0,001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-0,004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a grande maioria dos contratos não tem franquia de km (valor zero) — a distribuição é quase toda um único valor. Sem variação, não há poder preditivo (ρ ≈ 0). Leitura de negócio: a franquia contratual, quando existe, é exceção — não é um driver de custo nesta frota.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duracao_contrato_meses</a:t>
            </a:r>
          </a:p>
        </p:txBody>
      </p:sp>
      <p:pic>
        <p:nvPicPr>
          <p:cNvPr id="6" name="Picture 5" descr="quant_duracao_contrato_me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350.172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63,72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34,17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39,46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60,02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79,67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211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-0,015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contratos tipicamente de 60 meses (5 anos), o padrão do mercado de leasing. A correlação com o custo por km é praticamente nula (ρ = +0,02). Conclusão importante: a H1 (contratos mais longos ⇒ mais custo) NÃO encontra suporte — a duração do contrato, por si só, não explica o custo de manutenção.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idade_contrato_meses_no_mes</a:t>
            </a:r>
          </a:p>
        </p:txBody>
      </p:sp>
      <p:pic>
        <p:nvPicPr>
          <p:cNvPr id="6" name="Picture 5" descr="quant_idade_contrato_meses_no_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350.172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37,93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31,07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13,96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30,95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53,95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209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0,023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0,048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tempo decorrido de contrato no mês da observação — distribuição espalhada, refletindo contratos em fases diferentes. Associação fraca com o custo (ρ = +0,05): estar no início ou no fim do contrato pouco muda o custo por km. Reforça a leitura da H1: o efeito contratual é pequeno.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custo_acum_manutencao</a:t>
            </a:r>
          </a:p>
        </p:txBody>
      </p:sp>
      <p:pic>
        <p:nvPicPr>
          <p:cNvPr id="6" name="Picture 5" descr="quant_custo_acum_manuten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351.956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4.383,01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6.714,96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-309,98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604,83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1.962,93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5.228,59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114.019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0,122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0,197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forte assimetria — metade das carretas acumulou até CAD ≈ 2 mil de custo interno, mas a cauda chega a ~114 mil (a 8441, que inflava para milhões, foi excluída). ρ = +0,20, o 2º preditor mais forte: carreta que já custou tende a continuar custando. É a evidência central da H4 — o passado de manutenção prevê o futuro.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custo_preventivo_acum</a:t>
            </a:r>
          </a:p>
        </p:txBody>
      </p:sp>
      <p:pic>
        <p:nvPicPr>
          <p:cNvPr id="6" name="Picture 5" descr="quant_custo_preventivo_a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351.956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1.347,19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1.920,10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-537,81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214,61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635,81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1.673,26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26.240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0,105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0,165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custo preventivo acumulado com o mesmo padrão de cauda longa. ρ = +0,17: quem consumiu mais preventiva também custa mais por km no total — em parte porque carretas mais usadas fazem mais PMs. Reforça o bloco de histórico (H4).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n_os_acum</a:t>
            </a:r>
          </a:p>
        </p:txBody>
      </p:sp>
      <p:pic>
        <p:nvPicPr>
          <p:cNvPr id="6" name="Picture 5" descr="quant_n_os_a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351.956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13,91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15,38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4,00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9,00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18,00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147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0,116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0,219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metade das carretas acumulou até 9 OS; a cauda chega a ~150 (a carreta-anomalia 8441 foi excluída). ρ = +0,22 — o preditor individual MAIS FORTE do custo por km. Leitura de negócio: a frequência histórica de manutenção é o melhor termômetro isolado de quanto a carreta custará — melhor que idade, modelo ou contrato. Núcleo da H4.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n_os_preventivas_acum</a:t>
            </a:r>
          </a:p>
        </p:txBody>
      </p:sp>
      <p:pic>
        <p:nvPicPr>
          <p:cNvPr id="6" name="Picture 5" descr="quant_n_os_preventivas_a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351.956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6,67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6,12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2,00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5,00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9,00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38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0,098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0,190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OS preventivas acumuladas — mediana de 5, máximo de 38 (os PMs são programados, então o teto é limitado). ρ = +0,19, quase tão forte quanto n_os_acum — mas as duas andam juntas (carreta com mais OS tem mais PMs). Essa redundância é tratada na análise de colinearidade.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custo_medio_movel_3m</a:t>
            </a:r>
          </a:p>
        </p:txBody>
      </p:sp>
      <p:pic>
        <p:nvPicPr>
          <p:cNvPr id="6" name="Picture 5" descr="quant_custo_medio_movel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350.946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159,61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327,27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-1.845,59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40,78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165,91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8.791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0,051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0,085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o custo médio dos 3 meses anteriores é zero ou baixo para a maioria (reflexo dos meses sem OS), com cauda de carretas em 'sequência cara'. ρ = +0,08: há persistência de curto prazo — um trimestre caro tende a ser seguido de custo acima da média. Sinal moderado, mas útil combinado às demais.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custo_preventivo_medio_movel_3m</a:t>
            </a:r>
          </a:p>
        </p:txBody>
      </p:sp>
      <p:pic>
        <p:nvPicPr>
          <p:cNvPr id="6" name="Picture 5" descr="quant_custo_preventivo_medio_movel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350.946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49,26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140,69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-249,25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4,59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34,86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4.093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0,007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-0,021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média móvel preventiva com distribuição semelhante, dominada por zeros. Associação fraca com o custo total (ρ = −0,02): fazer preventiva no trimestre anterior não aumenta nem reduz visivelmente o custo por km do mês seguinte — no grão mensal, o retorno da preventiva não é imediato.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intervalo_medio_os</a:t>
            </a:r>
          </a:p>
        </p:txBody>
      </p:sp>
      <p:pic>
        <p:nvPicPr>
          <p:cNvPr id="6" name="Picture 5" descr="quant_intervalo_medio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319.873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101,37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75,93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0,00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49,99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80,60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138,67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1.644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-0,050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-0,193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em média, as carretas abrem OS a cada ≈ 100 dias (mediana 81). A correlação é NEGATIVA (ρ = −0,19): intervalos curtos = manutenção frequente = custo/km alto. É o espelho de n_os_acum e o 3º sinal mais forte — carreta que volta cedo à oficina é carreta cara.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QUANTITATIVA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meses_desde_ultima_os</a:t>
            </a:r>
          </a:p>
        </p:txBody>
      </p:sp>
      <p:pic>
        <p:nvPicPr>
          <p:cNvPr id="6" name="Picture 5" descr="quant_meses_desde_ultima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47751"/>
            <a:ext cx="7863840" cy="2859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ESTATÍSTICAS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202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 = 341.633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média = 3,37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DP = 3,63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mín = 1,00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Q1 = 1,00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mediana = 2,00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Q3 = 4,00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máx = 60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Pearson c/ Y = -0,006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Spearman c/ Y = -0,061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metade das observações está a até 2 meses da última OS. Correlação fraca e negativa (ρ = −0,06): quem fez OS há pouco tende a custar um pouco mais no mês seguinte (problemas vêm em sequência). Importante: a variável usa apenas OS ANTERIORES ao mês previsto — a versão antiga vazava informação do próprio mês e inflava as métricas.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unit_subtype</a:t>
            </a:r>
          </a:p>
        </p:txBody>
      </p:sp>
      <p:pic>
        <p:nvPicPr>
          <p:cNvPr id="6" name="Picture 5" descr="quali_unit_sub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DC2: 23.8%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DS: 14.1%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DH2: 13.2%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RHS2: 11.5%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RC2: 10.3%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HH2: 7.8%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0,128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o subtipo da unidade é a categórica MAIS FORTE (η = 0,128) — as medianas de custo por km variam bastante entre subtipos de carreta. Leitura de negócio: o tipo construtivo/uso da unidade concentra boa parte da diferença de custo entre ativos. É a variável nova que mais agregou sinal (2º fator na importância do Random Forest).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cod_montadora</a:t>
            </a:r>
          </a:p>
        </p:txBody>
      </p:sp>
      <p:pic>
        <p:nvPicPr>
          <p:cNvPr id="6" name="Picture 5" descr="quali_cod_montad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UTLTY: 44.8%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STGHTN: 18.2%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HYUNDAI: 10.4%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MANAC: 10.3%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WABASH: 8.6%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TMOBILE: 2.6%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0,047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cada caixa é a distribuição do custo por km das carretas de uma montadora, ordenadas da mediana mais alta para a mais baixa. Há diferença visível entre fabricantes, mas as caixas se sobrepõem bastante — o efeito isolado é fraco (η = 0,068). No modelo, a montadora entra via one-hot (categorias raras agrupadas) e contribui em interação com as demais variáveis.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flag_refrigerado</a:t>
            </a:r>
          </a:p>
        </p:txBody>
      </p:sp>
      <p:pic>
        <p:nvPicPr>
          <p:cNvPr id="6" name="Picture 5" descr="quali_flag_refrig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N: 60.2%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Y: 39.8%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0,064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a caixa das refrigeradas (reefer) está deslocada para cima em relação às secas — custam mais por km em toda a distribuição, não só nos extremos. Faz sentido operacional: a unidade de refrigeração adiciona um sistema inteiro (compressor, gás, filtros) que gera OS próprias. η = 0,063; a flag aparece entre os fatores importantes do modelo final.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tipo_contrato</a:t>
            </a:r>
          </a:p>
        </p:txBody>
      </p:sp>
      <p:pic>
        <p:nvPicPr>
          <p:cNvPr id="6" name="Picture 5" descr="quali_tipo_contr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LEASE: 89.6%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RENTAL: 9.9%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SEM_INFORMACAO: 0.5%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0,036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RENTAL e LEASE têm medianas próximas — o tipo de contrato desloca pouco o custo por km (η = 0,040). Leitura para a H5: características contratuais influenciam, mas bem menos do que o histórico operacional da carreta.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tipo_manutencao</a:t>
            </a:r>
          </a:p>
        </p:txBody>
      </p:sp>
      <p:pic>
        <p:nvPicPr>
          <p:cNvPr id="6" name="Picture 5" descr="quali_tipo_manuten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MAINT: 94.5%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NET: 3.3%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MIX: 1.7%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SEM_INFORMACAO: 0.5%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0,043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MAINT (manutenção inclusa no contrato) concentra 94,5% da população modelada — as caixas de NET/MIX refletem populações pequenas e regras de cobrança diferentes. Por isso a modelagem é feita SÓ com MAINT: comparar tipos misturados confundiria regra contratual com comportamento de custo.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cod_grupo_manutencao</a:t>
            </a:r>
          </a:p>
        </p:txBody>
      </p:sp>
      <p:pic>
        <p:nvPicPr>
          <p:cNvPr id="6" name="Picture 5" descr="quali_cod_grupo_manuten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SEM_INFORMACAO: 98.9%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C4: 0.9%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C2: 0.0%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TR1: 0.0%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C1: 0.0%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C3: 0.0%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0,016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os programas de manutenção têm caixas muito parecidas — quase não separam custo por km (η = 0,016, o mais fraco entre as categóricas). O programa define QUANDO a preventiva acontece, mas não diferencia QUANTO a carreta custa no total.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regiao_operacao</a:t>
            </a:r>
          </a:p>
        </p:txBody>
      </p:sp>
      <p:pic>
        <p:nvPicPr>
          <p:cNvPr id="6" name="Picture 5" descr="quali_regiao_op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MIS: 39.6%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Ontario: 33.7%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Alberta: 7.6%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CORNWALL: 5.3%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CALGARY: 4.7%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Quebec: 2.0%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0,084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46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a região é uma das categóricas mais informativas (η = 0,084; atrás de unit_subtype, 0,128) — as medianas variam visivelmente entre províncias/regiões. Leitura de negócio: clima (inverno rigoroso), qualidade das estradas e custo de oficina local mudam o custo por km. Suporte parcial à H5 pelo lado operacional.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QUALITATIVA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cod_classe</a:t>
            </a:r>
          </a:p>
        </p:txBody>
      </p:sp>
      <p:pic>
        <p:nvPicPr>
          <p:cNvPr id="6" name="Picture 5" descr="quali_cod_cla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63040"/>
            <a:ext cx="83820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0" y="155448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FREQUÊNCIA (TOP 6)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HIGHWAY: 41.7%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GOODSTORAGE: 29.1%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CITY: 28.2%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SEM_INFORMACAO: 0.6%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DEADSTORAGE: 0.5%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eta = 0,055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categorias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29200"/>
            <a:ext cx="11430000" cy="160020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O que o gráfico mostra: as classes de ativo têm medianas distintas (η = 0,056) — classes mais complexas custam mais por km. Efeito real porém moderado; correlacionada com a montadora e a flag reefer (as classes agrupam tipos de carreta).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SELEÇÃO DE VARIÁVEIS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Força de associação de cada X com o Y</a:t>
            </a:r>
          </a:p>
        </p:txBody>
      </p:sp>
      <p:pic>
        <p:nvPicPr>
          <p:cNvPr id="6" name="Picture 5" descr="ranking_associacao_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390" y="1463040"/>
            <a:ext cx="445770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Nenhuma variável isolada é forte (máx ρ = 0,22).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O sinal está no HISTÓRICO da carreta: nº de OS acumuladas, custo acumulado e intervalo entre OS dominam o ranking — suporte direto à H4.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Idade, contrato e atributos físicos têm efeito fraco isoladamente (H1/H2 sem suporte direto no grão mensal).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Calibri"/>
              </a:rPr>
              <a:t>Implicação: o ganho preditivo depende de interações — favorece modelos de árvore/ensemble.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MULTICOLINEARIDADE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O que é multicolinearidade e por que verificamos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O problema: duas variáveis que 'dizem a mesma coisa' (ex.: idade da carreta e ano do modelo — uma é quase o espelho da outra)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Por que importa: em modelos lineares, variáveis redundantes disputam o mesmo efeito e os coeficientes ficam instáveis — o modelo pode dizer que idade 'não importa' só porque o ano do modelo já capturou o efeito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Como medimos: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Matriz de correlação de Spearman entre as X — pares com |ρ| &gt; 0,7 são candidatos a redundância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– VIF (Variance Inflation Factor) — mede o quanto cada X é 'explicável' pelas outras: VIF &gt; 5 pede atenção, VIF &gt; 10 indica redundância problemática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O que fazemos quando há redundância: manter apenas uma variável do par (modelos lineares) ou usar modelos de árvore/ensemble, que são robustos a colinearidade — foi o caminho adotado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MULTICOLINEARIDADE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Resultado: quais variáveis se sobrepõem</a:t>
            </a:r>
          </a:p>
        </p:txBody>
      </p:sp>
      <p:pic>
        <p:nvPicPr>
          <p:cNvPr id="6" name="Picture 5" descr="matriz_spear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17320"/>
            <a:ext cx="45720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55448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VIF (TOP 8)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n_os_acum: 11.2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custo_acum_manutencao: 11.1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custo_preventivo_acum: 6.0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n_os_preventivas_acum: 5.7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idade_contrato_meses_no_mes: 5.7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duracao_contrato_meses: 5.3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custo_medio_movel_3m: 2.5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custo_preventivo_medio_movel: 2.2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38928"/>
            <a:ext cx="11430000" cy="1508760"/>
          </a:xfrm>
          <a:prstGeom prst="rect">
            <a:avLst/>
          </a:prstGeom>
          <a:solidFill>
            <a:srgbClr val="F5F2EC"/>
          </a:solidFill>
          <a:ln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48656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1F3A5F"/>
                </a:solidFill>
                <a:latin typeface="Calibri"/>
              </a:rPr>
              <a:t>Como ler: na matriz, laranja = correlação positiva, azul = negativa; quanto mais forte a cor, maior a sobreposição. Pares redundantes encontrados: nº de OS acumuladas ↔ nº de OS preventivas acumuladas, custo acumulado ↔ custo preventivo acumulado, idade ↔ ano do modelo. Decisão: como o modelo recomendado é de árvore (Random Forest), robusto a colinearidade, os pares foram mantidos; a restrição vale para os modelos lineares de comparação.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OUTLIERS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Diagnóstico de outliers por variável e decisões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B6B6B"/>
                </a:solidFill>
                <a:latin typeface="Calibri"/>
              </a:rPr>
              <a:t>Para cada variável: comparamos o valor máximo com o percentil 99 (razão máx/p99) e medimos a fração acima do limite IQR (Q3 + 1,5×IQR). Razão alta = pontos isolados suspeitos; fração alta = cauda longa estrutural (não é erro).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VARIÁVEL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EVIDÊNCIA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1488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DECISÃO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Y (custo interno/km)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5146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máx 29,3 vs p99 1,50 (20×)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514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cap no p99,5 na modelagem; custos negativos (estornos) excluídos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36392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n_os_acum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136392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máx 147 (após excluir a 8441)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13639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a anomalia que inflava para 15.006 era a id_carreta 8441 (trabalhos de pátio), agora excluída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58184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custo_acum_manutencao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758184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máx CAD 1,93 mi vs p99 32 mil (60×)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75818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mesma origem da anomalia acima — winsorizar/monitorar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79976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custo_medio_movel_3m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4379976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máx 39 mil vs p99 1,5 mil (26×)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37997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trimestres excepcionais reais + anomalias — monitorar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0176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km_rodado_mes / km_acumulado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5001768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máx 108 mil km/mês (8×) · 7,2 mi km (12×)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00176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outliers moderados após tratamento de resets — mantidos (robustez de árvore)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23559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3A5F"/>
                </a:solidFill>
                <a:latin typeface="Calibri"/>
              </a:rPr>
              <a:t>ano_modelo, eixos, comprimento, franquia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5623559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sem outliers relevantes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562355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B2B"/>
                </a:solidFill>
                <a:latin typeface="Calibri"/>
              </a:rPr>
              <a:t>nenhuma 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3A5F"/>
                </a:solidFill>
                <a:latin typeface="Calibri"/>
              </a:rPr>
              <a:t>Regra geral: caudas longas de custo são a natureza do fenômeno (não erro de dado) — mantidas, com cap apenas no alvo. Tabela completa: reports/tables/03d_diagnostico_outliers.csv.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EDA · SÍNTESE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O que a EDA diz para a modelagem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Zero-inflação define o problema: 67% dos meses sem custo — prever custo/km combina ocorrência + magnitude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Cauda pesada nos positivos (assimetria alta): usar log1p / perda robusta; outliers extremos capados no p99,5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Sinal fraco e distribuído: nenhuma X isolada passa de ρ ≈ 0,22 — ganho vem de interações e ensembles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O histórico da carreta (OS acumuladas, custo acumulado, intervalo entre OS) é o bloco preditivo mais forte — H4 suportada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Colinearidade a tratar: pares acumulados totais × preventivos; idade × ano_modelo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Deflacionar é obrigatório: custos em CAD corrigidos pelo CPI Canadá (≈ +20% acumulado na janela); mesmo em valores reais o custo por km cresce ≈ 71% (2020→2025)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km_rodado_mes é denominador do Y e feature: interpretação cuidadosa (relação mecânica)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7A3B"/>
                </a:solidFill>
                <a:latin typeface="Calibri"/>
              </a:rPr>
              <a:t>BLOCO 2 · PERGUNTA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Técnicas estatísticas e de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Aplicadas sobre a população MAINT · split temporal treino/teste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Técnicas utilizadas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47A3B"/>
                </a:solidFill>
                <a:latin typeface="Calibri"/>
              </a:rPr>
              <a:t>ESTATÍSTICA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Correlação de Pearson e Spearman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Análise de associação para categóricas (eta)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Regressão linear simples e múltipla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Ridge e Ridge com log1p no alvo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Regressão polinomial (grau 2)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Diagnóstico de multicolinearidade (VIF)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47A3B"/>
                </a:solidFill>
                <a:latin typeface="Calibri"/>
              </a:rP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96596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Árvore de decisão para regressão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Random Forest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Gradient Boosting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KNN (benchmark amostral)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Modelo hurdle em duas partes (classificador de ocorrência × regressor de magnitude)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47A3B"/>
                </a:solidFill>
                <a:latin typeface="Calibri"/>
              </a:rPr>
              <a:t>AVALIAÇÃO E PREPARO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09160"/>
            <a:ext cx="11155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• Split temporal em palavras simples: o modelo estuda com o passado (2020–2024) e faz a prova com 2025, um período que ele nunca viu — exatamente como será usado na vida real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Validação temporal expansiva (3 rodadas) · imputação mediana/moda · padronização · one-hot com agrupamento de categorias raras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• Métricas: R² (quanto da variação o modelo explica), RMSE e MAE (tamanho médio do erro, em CAD/km)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Comparação de modelos no teste temporal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7373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random_forest  ◀ recomendado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21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0,0851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21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0,2426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121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3A5F"/>
                </a:solidFill>
                <a:latin typeface="Calibri"/>
              </a:rPr>
              <a:t>0,1305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gradient_boosting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0545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0,0786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0545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250545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0,1320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hurdle_sgd_gb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889503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0,0715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9503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2889503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0,1384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arvore_decisao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7355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0,0546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7355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327355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0,1295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657599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ridge_multipla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65759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0,0442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65759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65759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0,1344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04164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regressao_linear_multipla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041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0,0441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041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4041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0,1344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425696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regressao_polinomial_grau_2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4256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0,0409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4256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44256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0,1402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809744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ridge_log1p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8097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0,0364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8097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0,2490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48097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0,1250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193792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knn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1937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0,0140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51937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0,2487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51937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0,1249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57784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regressao_linear_simples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5778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-0,0035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5778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0,2541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55778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alibri"/>
              </a:rPr>
              <a:t>0,1266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8064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3A5F"/>
                </a:solidFill>
                <a:latin typeface="Calibri"/>
              </a:rPr>
              <a:t>Em palavras simples: R² = 0,085 significa que o modelo explica ~9% da variação do custo mês a mês. Parece pouco — e é mesmo modesto — mas é o suficiente para ORDENAR as carretas (quais tendem a custar mais) e apoiar orçamento; não serve para cravar o valor exato de um mês específico. O custo mensal tem muito acaso (um pneu fura ou não fura). Esses números são honestos: versões anteriores pareciam melhores porque "colavam" usando informação do futuro (vazamento), que foi removida.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Fatores mais importantes (permutation importance, teste temporal)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3931920" y="1828800"/>
            <a:ext cx="5943600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9222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km_rodado_mes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179222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0.0158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231136"/>
            <a:ext cx="2758717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unit_subtype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6357" y="2194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0.0073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2633472"/>
            <a:ext cx="2173023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9689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custo_preventivo_medio_movel_3m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0663" y="259689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0.0058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3035808"/>
            <a:ext cx="2024139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99923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custo_acum_manutencao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1779" y="2999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3438144"/>
            <a:ext cx="1602341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015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km_rodado_acum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9981" y="340156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0.0043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3840480"/>
            <a:ext cx="1338383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80390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flag_refrigerado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6023" y="380390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0.0036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242816"/>
            <a:ext cx="1244892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2062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intervalo_medio_os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2532" y="4206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0.0033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4645152"/>
            <a:ext cx="1132475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60857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n_os_acum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0115" y="460857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31920" y="5047488"/>
            <a:ext cx="935029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0109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custo_medio_movel_3m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2669" y="50109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31920" y="5449824"/>
            <a:ext cx="665991" cy="292608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132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custo_preventivo_acum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3631" y="541324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0.0018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9436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3A5F"/>
                </a:solidFill>
                <a:latin typeface="Calibri"/>
              </a:rPr>
              <a:t>Como ler (em palavras simples): para medir a importância de cada variável, nós a "embaralhamos" e vemos o quanto a previsão piora — quanto maior a barra, mais o modelo depende dela. Confirma a EDA: o histórico operacional e a intensidade de uso dominam; atributos fixos (ano, eixos) pesam menos.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SÍNTESE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Hipóteses × 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H1 · duração de contrato ⇒ custo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62828"/>
                </a:solidFill>
                <a:latin typeface="Calibri"/>
              </a:rPr>
              <a:t>NÃO SUPORTADA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correlação direta ≈ 0 (ρ = +0,02) no grão mensal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06039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H2 · idade ⇒ custo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606039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39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efeito direto fraco (ρ = +0,04); idade opera via histórico acumulado (colinearidade)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7472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H3 · quilometragem ⇒ custo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474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PARCIAL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474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km_acumulado ρ = +0,16 (estrutural); km mensal tem relação mecânica com o denominador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4340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H4 · histórico prevê custo futuro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3434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Calibri"/>
              </a:rPr>
              <a:t>SUPORTADA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343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n_os_acum ρ = +0,22, custo_acum ρ = +0,20, intervalo_medio_os ρ = −0,19 — bloco mais forte do ranking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21208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H5 · operação e contrato influenciam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212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47A3B"/>
                </a:solidFill>
                <a:latin typeface="Calibri"/>
              </a:rPr>
              <a:t>PARCIAL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2120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alibri"/>
              </a:rPr>
              <a:t>unit_subtype é a categórica mais forte (eta = 0,13); região, reefer e montadora deslocam medianas; efeito contratual fraco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47A3B"/>
                </a:solidFill>
                <a:latin typeface="Calibri"/>
              </a:rPr>
              <a:t>BLOCO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Referencial teórico e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Perguntas 10–11 da agenda da disciplina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Referencial teórico — síntese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Katreddi et al. (2023a) — ensembles (Super Learner) sobre variáveis operacionais alcançam alto desempenho em custo/milha ⇒ prioridade a modelos de árvore/ensemble no projeto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Katreddi et al. (2023b) — Mixed Effects Random Forest captura heterogeneidade entre grupos de veículos ⇒ variáveis de agrupamento (montadora, classe, contrato) entram como features; MERF é extensão futura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Sun et al. (2024) — histórico de manutenção sustenta previsão de custos (via confiabilidade/Weibull) ⇒ valida o uso de features de histórico acumulado (nosso bloco preditivo mais forte)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Adekitan et al. (2018) — ANN com R = 0,766 mostra sinal em variáveis operacionais, com desempenho modesto ⇒ referência histórica; redes neurais não priorizadas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Convergência: variáveis operacionais e de histórico &gt; atributos estáticos; métodos de árvore &gt; lineares; heterogeneidade entre grupos importa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PERGUNTA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Metodologia — pipeline em scripts reprodutíveis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00 · Contexto e inventário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9164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documentação do problema, inventário das 7 bases, validação do modelo estrela, riscos iniciais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5000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01 · Qualidade e integridade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5000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chaves, duplicidades, ausentes, custos negativos, odômetro (resets/saltos), regras de tratamento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08376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02 · Base analítica mensal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008376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agregação carreta × mês, prorrateio de km, piso 500 km/mês, features históricas defasadas (anti-vazamento)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667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03 · EDA e hipóteses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66744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protocolo variável a variável, correlações, associação de categóricas, VIF, teste das 5 hipóteses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32511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04 · Deflação (CPI Canadá)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325112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custos CAD convertidos a valores de dez/2025 via CPI all-items StatCan (correção do IPCA)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83479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05 · Modelagem preditiva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8347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split temporal, 9 modelos + hurdle, métricas R²/RMSE/MAE, permutation importance, erro por segmento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41847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06 · Resultados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641847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Calibri"/>
              </a:rPr>
              <a:t>síntese executiva, hipóteses finais, recomendações de negócio e limitações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7A3B"/>
                </a:solidFill>
                <a:latin typeface="Calibri"/>
              </a:rPr>
              <a:t>TRANSPARÊNCIA METODOLÓGICA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3A5F"/>
                </a:solidFill>
                <a:latin typeface="Calibri"/>
              </a:rPr>
              <a:t>Limitações e cuidados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Zero-inflação: 67% dos meses sem custo — desempenho preditivo pontual é modesto; o modelo apoia planejamento, não substitui validação operacional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km_rodado_mes é denominador do alvo e feature — interpretação cuidadosa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Resets e saltos de odômetro tratados, mas o prorrateio de km é aproximação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Custos negativos (estornos/ajustes contábeis) excluídos da modelagem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GPS com cobertura parcial (set–dez/2025) — região derivada da província/local da 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Contratos vigentes têm duração censurada (referência 2025-12)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• Vazamento temporal removido (meses_desde_ultima_os e km_acumulado defasados): métricas atuais são menores porém defensáveis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• Extensão futura: Mixed-Effects Random Forest / modelos hierárquicos e modelos zero-inflados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Previsão de Custos de Manutenção de Carretas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2EC"/>
                </a:solidFill>
                <a:latin typeface="Calibri"/>
              </a:rPr>
              <a:t>Quatro Norte Consulting · MBA FGV ·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2377440" cy="54864"/>
          </a:xfrm>
          <a:prstGeom prst="rect">
            <a:avLst/>
          </a:prstGeom>
          <a:solidFill>
            <a:srgbClr val="C4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