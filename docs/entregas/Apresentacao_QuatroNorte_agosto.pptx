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93" r:id="rId11"/>
    <p:sldId id="266" r:id="rId12"/>
    <p:sldId id="287" r:id="rId13"/>
    <p:sldId id="267" r:id="rId14"/>
    <p:sldId id="288" r:id="rId15"/>
    <p:sldId id="289" r:id="rId16"/>
    <p:sldId id="290" r:id="rId17"/>
    <p:sldId id="268" r:id="rId18"/>
    <p:sldId id="291" r:id="rId19"/>
    <p:sldId id="292" r:id="rId20"/>
    <p:sldId id="269" r:id="rId21"/>
    <p:sldId id="270" r:id="rId22"/>
    <p:sldId id="271" r:id="rId23"/>
    <p:sldId id="272" r:id="rId24"/>
    <p:sldId id="261" r:id="rId25"/>
    <p:sldId id="281" r:id="rId26"/>
    <p:sldId id="273" r:id="rId27"/>
    <p:sldId id="274" r:id="rId28"/>
    <p:sldId id="275" r:id="rId29"/>
    <p:sldId id="283" r:id="rId30"/>
    <p:sldId id="284" r:id="rId31"/>
    <p:sldId id="285" r:id="rId32"/>
    <p:sldId id="286" r:id="rId33"/>
    <p:sldId id="277" r:id="rId34"/>
    <p:sldId id="29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1"/>
    <p:restoredTop sz="94631"/>
  </p:normalViewPr>
  <p:slideViewPr>
    <p:cSldViewPr snapToGrid="0" snapToObjects="1">
      <p:cViewPr>
        <p:scale>
          <a:sx n="120" d="100"/>
          <a:sy n="120" d="100"/>
        </p:scale>
        <p:origin x="-16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8E2AA-6898-6B48-BD3F-6EBB08F37CD6}" type="datetimeFigureOut">
              <a:rPr lang="en-BR" smtClean="0"/>
              <a:t>03/08/26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769D2-7A0D-5245-9461-C20EEB7ADB5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4678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69D2-7A0D-5245-9461-C20EEB7ADB54}" type="slidenum">
              <a:rPr lang="en-BR" smtClean="0"/>
              <a:t>34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3331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noProof="0" dirty="0">
                <a:solidFill>
                  <a:srgbClr val="E8713A"/>
                </a:solidFill>
                <a:latin typeface="Calibri"/>
              </a:rPr>
              <a:t>QUATRO NORTE CONSULTING · GRUPO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000" b="1" noProof="0" dirty="0">
                <a:solidFill>
                  <a:srgbClr val="FFFFFF"/>
                </a:solidFill>
                <a:latin typeface="Calibri"/>
              </a:rPr>
              <a:t>Custo anual de manutenção por carreta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607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0" noProof="0" dirty="0">
                <a:solidFill>
                  <a:srgbClr val="F6F1E7"/>
                </a:solidFill>
                <a:latin typeface="Calibri"/>
              </a:rPr>
              <a:t>Fatores determinantes e modelagem do custo anual (CAD $/ano, real) da frota</a:t>
            </a:r>
          </a:p>
          <a:p>
            <a:pPr algn="l"/>
            <a:r>
              <a:rPr lang="pt-BR" sz="1700" b="0" noProof="0" dirty="0">
                <a:solidFill>
                  <a:srgbClr val="F6F1E7"/>
                </a:solidFill>
                <a:latin typeface="Calibri"/>
              </a:rPr>
              <a:t>própria de leasing/rental no Canadá — janela 2020–2025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noProof="0" dirty="0">
                <a:solidFill>
                  <a:srgbClr val="F6F1E7"/>
                </a:solidFill>
                <a:latin typeface="Calibri"/>
              </a:rPr>
              <a:t>Marlon Wenzel · Jeison Lima · Rodrigo Queiroz · Giovani Cani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CC271-A2BE-ABDC-8FF5-470BF0371C4C}"/>
              </a:ext>
            </a:extLst>
          </p:cNvPr>
          <p:cNvSpPr txBox="1"/>
          <p:nvPr/>
        </p:nvSpPr>
        <p:spPr>
          <a:xfrm>
            <a:off x="822960" y="3248798"/>
            <a:ext cx="10607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1" noProof="0" dirty="0">
                <a:solidFill>
                  <a:schemeClr val="bg1"/>
                </a:solidFill>
                <a:latin typeface="Calibri"/>
              </a:rPr>
              <a:t>Modelo Preditivo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723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A empresa e 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583680" cy="198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Empresa de leasing/rental de carretas no Canada (secas e refrigeradas, até 53 pés).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Manutenção própria: oficinas registram ordens de serviço com mão de obra e peças.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Todos os custos em dólares canadenses (CAD); operação integralmente no Canadá.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Objetivo de negócio: apoiar orçamento anual e priorização de manutenção da frota.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Fonte inicial do estudo: base consolidada de Ordens de Serviço (2020–2025).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3736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955279" y="1810512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9.859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677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Carretas únicas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8892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955279" y="2862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223.590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1927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Ordens de serviço acumuladas no período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840479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955279" y="3913631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CAD $ 82.428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37083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Custo interno (real) acumulado no período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89204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7955279" y="4965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2020–2025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2239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Período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02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A pergunta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8720" y="2008554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1" noProof="0" dirty="0">
                <a:solidFill>
                  <a:srgbClr val="FFFFFF"/>
                </a:solidFill>
                <a:latin typeface="Calibri"/>
              </a:rPr>
              <a:t>Quais fatores mais influenciam o CUSTO ANUAL INTERNO de manutenção por carreta e como estimá-lo a partir das características operacionais, históricas e estruturais da frota?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600" b="1" noProof="0" dirty="0">
                <a:solidFill>
                  <a:srgbClr val="1C2433"/>
                </a:solidFill>
                <a:latin typeface="Calibri"/>
              </a:rPr>
              <a:t>Variável de interesse: custo anual de manutenção por carreta (CAD $/ano), em valores reais.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Grão de análise: carreta × ano.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Escopo: todo o custo interno absorvido pela empresa (preventiva + corretiva).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Correção monetária obrigatória pela inflação canadense (CPI) para comparar anos em termos reais.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03 ·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Objetivos gerais e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500" b="1" noProof="0" dirty="0">
                <a:solidFill>
                  <a:srgbClr val="1C2433"/>
                </a:solidFill>
                <a:latin typeface="Calibri"/>
              </a:rPr>
              <a:t>Analisar os fatores que influenciam o custo anual de manutenção por carreta (CAD, corrigido pela inflação), identificando as variáveis de maior capacidade explicativa e desenvolvendo modelos estatísticos e de ML para estimá-lo.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07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Consolidar a análise a partir da base única de OS.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Definir a variável resposta anual e corrigi-la pelo CPI (Canadian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Price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 Index) do Canadá.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Realizar EDA rigorosa (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univariada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, relação com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Y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, ranking) das variáveis candidatas.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Selecionar variáveis de forma fundamentada (associação, multicolinearidade, domínio).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Desenvolver e avaliar modelos estatísticos e de Machine Learning (split temporal).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04 · HIPÓTESES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Hipóteses de trabalho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561944"/>
              </p:ext>
            </p:extLst>
          </p:nvPr>
        </p:nvGraphicFramePr>
        <p:xfrm>
          <a:off x="822960" y="173736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FFFFF"/>
                          </a:solidFill>
                        </a:rPr>
                        <a:t>Hipótese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FFFFF"/>
                          </a:solidFill>
                        </a:rPr>
                        <a:t>Veredito Preliminar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Idade da carreta eleva o custo 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Não suportada (efeito direto fraco)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Maior uso/quilometragem eleva o custo anual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Histórico de manutenção prevê o custo futuro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Características do ativo influenciam o custo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Região/operação influencia o custo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Contrato (duração/tipo) influencia o custo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Será avaliado na fase 2 do projeto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05 · 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Base consolidada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4008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Fonte única: fato_wo_ml_2020-01-01_to_2025-12-31.csv (1 linha = 1 OS).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Extração SQL, modelo estrela,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joins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 e feature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engineering</a:t>
            </a:r>
            <a:r>
              <a:rPr lang="pt-BR" sz="1400" dirty="0">
                <a:solidFill>
                  <a:srgbClr val="1C2433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223.590 OS · 9.859 carretas únicas · 2020–2025.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VMRS: código padronizado do sistema reparado (PM, freios, pneus,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reefer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6331" y="1737360"/>
            <a:ext cx="3565108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Arquitetura metodológica</a:t>
            </a:r>
          </a:p>
          <a:p>
            <a:pPr algn="l">
              <a:spcBef>
                <a:spcPts val="600"/>
              </a:spcBef>
            </a:pPr>
            <a:endParaRPr lang="pt-BR" sz="1300" b="1" noProof="0" dirty="0">
              <a:solidFill>
                <a:srgbClr val="142B45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Base consolidada (CSV)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Validação de qualidade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Variável resposta anual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Correção CPI Canadá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EDA (uni/bivariada)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Correlação e testes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Multicolinearidade/VIF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Ranking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Seleção de variáveis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↓ Modelagem (</a:t>
            </a:r>
            <a:r>
              <a:rPr lang="pt-BR" sz="1300" b="1" noProof="0" dirty="0" err="1">
                <a:solidFill>
                  <a:schemeClr val="accent5">
                    <a:lumMod val="75000"/>
                  </a:schemeClr>
                </a:solidFill>
                <a:latin typeface="Calibri"/>
              </a:rPr>
              <a:t>estat.+ML</a:t>
            </a:r>
            <a:r>
              <a:rPr lang="pt-BR" sz="1300" b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)*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↓ Avaliação / discussão*</a:t>
            </a:r>
            <a:endParaRPr lang="pt-BR" sz="1300" b="1" dirty="0">
              <a:solidFill>
                <a:schemeClr val="accent5">
                  <a:lumMod val="75000"/>
                </a:schemeClr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lang="pt-BR" sz="1100" b="1" i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*Fase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06 · VARIÁVEL RESPOSTA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Y</a:t>
            </a:r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 = custo anual de manutenção por carreta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1" noProof="0" dirty="0" err="1">
                <a:solidFill>
                  <a:srgbClr val="FFFFFF"/>
                </a:solidFill>
                <a:latin typeface="Calibri"/>
              </a:rPr>
              <a:t>Y</a:t>
            </a:r>
            <a:r>
              <a:rPr lang="pt-BR" sz="1700" b="1" noProof="0" dirty="0">
                <a:solidFill>
                  <a:srgbClr val="FFFFFF"/>
                </a:solidFill>
                <a:latin typeface="Calibri"/>
              </a:rPr>
              <a:t> = soma do custo interno da carreta no ano (CAD), deflacionado pelo CPI Canada (dez/2025)</a:t>
            </a:r>
          </a:p>
          <a:p>
            <a:pPr algn="l"/>
            <a:r>
              <a:rPr lang="pt-BR" sz="1700" b="1" noProof="0" dirty="0">
                <a:solidFill>
                  <a:srgbClr val="FFFFFF"/>
                </a:solidFill>
                <a:latin typeface="Calibri"/>
              </a:rPr>
              <a:t>Grão: carreta ×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0704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Média CAD $ 1673.72/ano · mediana CAD $ 812.55/ano · p90 CAD $ 4221.76.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Assimetria 3.79 (cauda longa), tratada por log1p e modelos robustos.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Apenas 3.23% de carreta-anos com custo zero: o grão anual praticamente elimina a zero-inflação.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Custo interno total: CAD $ 77.18 mi nominal / CAD $ 82.428 mi real (dez/2025).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07 · CORREÇÃO PELA INFLAÇÃO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Custos reais pelo CPI do Canadá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1206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Todos os custos em CAD, corrigidos pelo CPI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all-items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do Canada (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StatCan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, vetor v41690973).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Base de comparação: dezembro de 2025.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Inflação acumulada no período: ~20% (2020→2025).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A correção isola mudanças REAIS de custo da mera perda do poder de compra.</a:t>
            </a:r>
          </a:p>
        </p:txBody>
      </p:sp>
      <p:pic>
        <p:nvPicPr>
          <p:cNvPr id="7" name="Picture 6" descr="04_nominal_vs_deflacio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08 · VARIÁVEIS</a:t>
            </a:r>
            <a:endParaRPr lang="pt-BR" sz="1200" b="1" noProof="0" dirty="0">
              <a:solidFill>
                <a:srgbClr val="E871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Dicionário das variáveis candidatas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São 25 variáveis explicativas candidatas da fonte inicial. A tabela lista ainda id, ano, o alvo Y e os 2 componentes de Y (n_os_ano, </a:t>
            </a:r>
            <a:r>
              <a:rPr lang="pt-BR" sz="1100" b="0" noProof="0" dirty="0" err="1">
                <a:solidFill>
                  <a:srgbClr val="5B636E"/>
                </a:solidFill>
                <a:latin typeface="Calibri"/>
              </a:rPr>
              <a:t>custo_medio_por_os_ano</a:t>
            </a:r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242547"/>
              </p:ext>
            </p:extLst>
          </p:nvPr>
        </p:nvGraphicFramePr>
        <p:xfrm>
          <a:off x="640080" y="178308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ano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temporal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custo_ano_real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Y (resposta, CAD real)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vmrs_predominante_ano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operacional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exposição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exposição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regiao_operacao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geográfica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geográfica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cod_montadora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descricao_carreta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169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572767"/>
              </p:ext>
            </p:extLst>
          </p:nvPr>
        </p:nvGraphicFramePr>
        <p:xfrm>
          <a:off x="6217920" y="178308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tire_size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suspension_type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new_used_indicator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tailgate_flag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derivada (quant.)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169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4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solidFill>
                            <a:srgbClr val="1C2433"/>
                          </a:solidFill>
                        </a:rPr>
                        <a:t>km_acumulado_inicio_ano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hist. defasado (preditivo)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3115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08 · VARIÁVEIS</a:t>
            </a:r>
            <a:endParaRPr lang="pt-BR" sz="1200" b="1" noProof="0" dirty="0">
              <a:solidFill>
                <a:srgbClr val="E871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Descrição das variáveis candidatas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349240" cy="4526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 err="1">
                <a:solidFill>
                  <a:srgbClr val="142B45"/>
                </a:solidFill>
                <a:latin typeface="Calibri"/>
              </a:rPr>
              <a:t>Atributos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do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ativo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</a:t>
            </a:r>
            <a:endParaRPr lang="pt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cod_montadora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fabricante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da carreta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ano_modelo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geração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tecnológica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ativo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eixos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configuração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estrutural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(nº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eixos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comprimento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porte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físico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pés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flag_refrigerado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refrigerada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(reefer) ×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seca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unit_subtype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subtipo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operacional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unidade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tire_size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dimensão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pneus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suspension_type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tipo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suspensão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new_used_indicator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nova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ou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usada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na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aquisição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descricao_carreta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tipo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/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classe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unidade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(proxy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modelo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endParaRPr lang="pt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>
                <a:solidFill>
                  <a:srgbClr val="142B45"/>
                </a:solidFill>
                <a:latin typeface="Calibri"/>
              </a:rPr>
              <a:t>Geografia e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idade</a:t>
            </a:r>
            <a:endParaRPr sz="1600" b="1" dirty="0">
              <a:solidFill>
                <a:srgbClr val="142B4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idade_carreta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desde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a entrada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em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servi</a:t>
            </a:r>
            <a:r>
              <a:rPr lang="en-BR" sz="1200" dirty="0">
                <a:solidFill>
                  <a:srgbClr val="5B636E"/>
                </a:solidFill>
                <a:latin typeface="Calibri"/>
              </a:rPr>
              <a:t>ç</a:t>
            </a:r>
            <a:r>
              <a:rPr sz="1200" dirty="0">
                <a:solidFill>
                  <a:srgbClr val="5B636E"/>
                </a:solidFill>
                <a:latin typeface="Calibri"/>
              </a:rPr>
              <a:t>o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regiao_operacao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região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predominante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operação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provincia_estado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província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predominante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cobertura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~54%)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532120" cy="4526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>
                <a:solidFill>
                  <a:srgbClr val="142B45"/>
                </a:solidFill>
                <a:latin typeface="Calibri"/>
              </a:rPr>
              <a:t>Uso e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operação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do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ano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</a:t>
            </a:r>
            <a:endParaRPr lang="pt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km_rodado_ano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km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percorridos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km_acumulado_fim_ano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odômetro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fim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n_sistemas_vmrs_distintos_ano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variedade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sistemas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reparados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share_pm_ano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fração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preventivas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(PM)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vmrs_predominante_ano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sistema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VMRS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mais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reparado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lang="en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endParaRPr lang="en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>
                <a:solidFill>
                  <a:srgbClr val="142B45"/>
                </a:solidFill>
                <a:latin typeface="Calibri"/>
              </a:rPr>
              <a:t>Histórico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defasado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cenário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preditivo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custo_ano_anterior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custo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real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n_os_ano_anterior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nº de 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em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custo_acum_ate_ano_anterior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custo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real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acumulado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até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n_os_acum_ate_ano_anterior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acumuladas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até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anos_ativo_ate_ano_anterior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histórico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disponível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km_acumulado_inicio_ano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odômetro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início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sz="1200" dirty="0">
              <a:solidFill>
                <a:srgbClr val="5B63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EDA</a:t>
            </a:r>
            <a:endParaRPr lang="pt-BR" sz="1200" b="1" noProof="0" dirty="0">
              <a:solidFill>
                <a:srgbClr val="E871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Estatísticas descritivas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707834"/>
              </p:ext>
            </p:extLst>
          </p:nvPr>
        </p:nvGraphicFramePr>
        <p:xfrm>
          <a:off x="640080" y="169164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27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32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mediana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assimetria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custo_ano_real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1673.724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812.55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2400.748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62230.924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2014.545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2015.0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5.887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1982.0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2026.0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-0.434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48588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52.256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3.686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28.0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-5.024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8.384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5.791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48976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178122.519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111110.5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199147.442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3479389.0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2.165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39076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23689.68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12698.5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29090.836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249676.0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1.549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1.086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4.536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4.275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2.411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339.18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244.318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354.068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19177.732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7.321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39389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4.476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4.267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2.425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9.684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2.258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1.68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0.17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534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39389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1610.857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765.398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2334.785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62230.924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742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49248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3402.821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1343.059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5992.338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123769.413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4.264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2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Evolução do custo anual real (2020–2025)</a:t>
            </a:r>
          </a:p>
        </p:txBody>
      </p:sp>
      <p:pic>
        <p:nvPicPr>
          <p:cNvPr id="6" name="Picture 5" descr="evolucao_y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874519"/>
            <a:ext cx="7315200" cy="3895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3DC310-81FC-0235-90CE-FF174FACACF5}"/>
              </a:ext>
            </a:extLst>
          </p:cNvPr>
          <p:cNvSpPr txBox="1"/>
          <p:nvPr/>
        </p:nvSpPr>
        <p:spPr>
          <a:xfrm>
            <a:off x="2432303" y="5806100"/>
            <a:ext cx="731519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 err="1"/>
              <a:t>Crescimento</a:t>
            </a:r>
            <a:r>
              <a:rPr lang="en-US" sz="900" dirty="0"/>
              <a:t> </a:t>
            </a:r>
            <a:r>
              <a:rPr lang="en-US" sz="900" dirty="0" err="1"/>
              <a:t>consistente</a:t>
            </a:r>
            <a:r>
              <a:rPr lang="en-US" sz="900" dirty="0"/>
              <a:t> do </a:t>
            </a:r>
            <a:r>
              <a:rPr lang="en-US" sz="900" dirty="0" err="1"/>
              <a:t>custo</a:t>
            </a:r>
            <a:r>
              <a:rPr lang="en-US" sz="900" dirty="0"/>
              <a:t> </a:t>
            </a:r>
            <a:r>
              <a:rPr lang="en-US" sz="900" dirty="0" err="1"/>
              <a:t>anual</a:t>
            </a:r>
            <a:r>
              <a:rPr lang="en-US" sz="900" dirty="0"/>
              <a:t> real de </a:t>
            </a:r>
            <a:r>
              <a:rPr lang="en-US" sz="900" dirty="0" err="1"/>
              <a:t>manutenção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</a:t>
            </a:r>
            <a:r>
              <a:rPr lang="en-US" sz="900" dirty="0" err="1"/>
              <a:t>longo</a:t>
            </a:r>
            <a:r>
              <a:rPr lang="en-US" sz="900" dirty="0"/>
              <a:t> do </a:t>
            </a:r>
            <a:r>
              <a:rPr lang="en-US" sz="900" dirty="0" err="1"/>
              <a:t>período</a:t>
            </a:r>
            <a:r>
              <a:rPr lang="en-US" sz="900" dirty="0"/>
              <a:t> </a:t>
            </a:r>
            <a:r>
              <a:rPr lang="en-US" sz="900" dirty="0" err="1"/>
              <a:t>analisado</a:t>
            </a:r>
            <a:r>
              <a:rPr lang="en-US" sz="900" dirty="0"/>
              <a:t>, </a:t>
            </a:r>
            <a:r>
              <a:rPr lang="en-US" sz="900" dirty="0" err="1"/>
              <a:t>mesmo</a:t>
            </a:r>
            <a:r>
              <a:rPr lang="en-US" sz="900" dirty="0"/>
              <a:t> </a:t>
            </a:r>
            <a:r>
              <a:rPr lang="en-US" sz="900" dirty="0" err="1"/>
              <a:t>após</a:t>
            </a:r>
            <a:r>
              <a:rPr lang="en-US" sz="900" dirty="0"/>
              <a:t> a </a:t>
            </a:r>
            <a:r>
              <a:rPr lang="en-US" sz="900" dirty="0" err="1"/>
              <a:t>correção</a:t>
            </a:r>
            <a:r>
              <a:rPr lang="en-US" sz="900" dirty="0"/>
              <a:t> pela </a:t>
            </a:r>
            <a:r>
              <a:rPr lang="en-US" sz="900" dirty="0" err="1"/>
              <a:t>inflação</a:t>
            </a:r>
            <a:r>
              <a:rPr lang="en-US" sz="900" dirty="0"/>
              <a:t>. </a:t>
            </a:r>
            <a:r>
              <a:rPr lang="en-US" sz="900" dirty="0" err="1"/>
              <a:t>Média</a:t>
            </a:r>
            <a:r>
              <a:rPr lang="en-US" sz="900" dirty="0"/>
              <a:t> e </a:t>
            </a:r>
            <a:r>
              <a:rPr lang="en-US" sz="900" dirty="0" err="1"/>
              <a:t>mediana</a:t>
            </a:r>
            <a:r>
              <a:rPr lang="en-US" sz="900" dirty="0"/>
              <a:t> </a:t>
            </a:r>
            <a:r>
              <a:rPr lang="en-US" sz="900" dirty="0" err="1"/>
              <a:t>apresentam</a:t>
            </a:r>
            <a:r>
              <a:rPr lang="en-US" sz="900" dirty="0"/>
              <a:t> </a:t>
            </a:r>
            <a:r>
              <a:rPr lang="en-US" sz="900" dirty="0" err="1"/>
              <a:t>tendência</a:t>
            </a:r>
            <a:r>
              <a:rPr lang="en-US" sz="900" dirty="0"/>
              <a:t> de </a:t>
            </a:r>
            <a:r>
              <a:rPr lang="en-US" sz="900" dirty="0" err="1"/>
              <a:t>alta</a:t>
            </a:r>
            <a:r>
              <a:rPr lang="en-US" sz="900" dirty="0"/>
              <a:t>, </a:t>
            </a:r>
            <a:r>
              <a:rPr lang="en-US" sz="900" dirty="0" err="1"/>
              <a:t>indicando</a:t>
            </a:r>
            <a:r>
              <a:rPr lang="en-US" sz="900" dirty="0"/>
              <a:t> </a:t>
            </a:r>
            <a:r>
              <a:rPr lang="en-US" sz="900" dirty="0" err="1"/>
              <a:t>que</a:t>
            </a:r>
            <a:r>
              <a:rPr lang="en-US" sz="900" dirty="0"/>
              <a:t> o </a:t>
            </a:r>
            <a:r>
              <a:rPr lang="en-US" sz="900" dirty="0" err="1"/>
              <a:t>aumento</a:t>
            </a:r>
            <a:r>
              <a:rPr lang="en-US" sz="900" dirty="0"/>
              <a:t> dos custos </a:t>
            </a:r>
            <a:r>
              <a:rPr lang="en-US" sz="900" dirty="0" err="1"/>
              <a:t>ocorre</a:t>
            </a:r>
            <a:r>
              <a:rPr lang="en-US" sz="900" dirty="0"/>
              <a:t> de forma </a:t>
            </a:r>
            <a:r>
              <a:rPr lang="en-US" sz="900" dirty="0" err="1"/>
              <a:t>disseminada</a:t>
            </a:r>
            <a:r>
              <a:rPr lang="en-US" sz="900" dirty="0"/>
              <a:t> </a:t>
            </a:r>
            <a:r>
              <a:rPr lang="en-US" sz="900" dirty="0" err="1"/>
              <a:t>na</a:t>
            </a:r>
            <a:r>
              <a:rPr lang="en-US" sz="900" dirty="0"/>
              <a:t> </a:t>
            </a:r>
            <a:r>
              <a:rPr lang="en-US" sz="900" dirty="0" err="1"/>
              <a:t>frota</a:t>
            </a:r>
            <a:r>
              <a:rPr lang="en-US" sz="900" dirty="0"/>
              <a:t>. A </a:t>
            </a:r>
            <a:r>
              <a:rPr lang="en-US" sz="900" dirty="0" err="1"/>
              <a:t>diferença</a:t>
            </a:r>
            <a:r>
              <a:rPr lang="en-US" sz="900" dirty="0"/>
              <a:t> entre </a:t>
            </a:r>
            <a:r>
              <a:rPr lang="en-US" sz="900" dirty="0" err="1"/>
              <a:t>média</a:t>
            </a:r>
            <a:r>
              <a:rPr lang="en-US" sz="900" dirty="0"/>
              <a:t> e </a:t>
            </a:r>
            <a:r>
              <a:rPr lang="en-US" sz="900" dirty="0" err="1"/>
              <a:t>mediana</a:t>
            </a:r>
            <a:r>
              <a:rPr lang="en-US" sz="900" dirty="0"/>
              <a:t> </a:t>
            </a:r>
            <a:r>
              <a:rPr lang="en-US" sz="900" dirty="0" err="1"/>
              <a:t>evidencia</a:t>
            </a:r>
            <a:r>
              <a:rPr lang="en-US" sz="900" dirty="0"/>
              <a:t> a </a:t>
            </a:r>
            <a:r>
              <a:rPr lang="en-US" sz="900" dirty="0" err="1"/>
              <a:t>presença</a:t>
            </a:r>
            <a:r>
              <a:rPr lang="en-US" sz="900" dirty="0"/>
              <a:t> de </a:t>
            </a:r>
            <a:r>
              <a:rPr lang="en-US" sz="900" dirty="0" err="1"/>
              <a:t>ativos</a:t>
            </a:r>
            <a:r>
              <a:rPr lang="en-US" sz="900" dirty="0"/>
              <a:t> com custos </a:t>
            </a:r>
            <a:r>
              <a:rPr lang="en-US" sz="900" dirty="0" err="1"/>
              <a:t>excepcionalmente</a:t>
            </a:r>
            <a:r>
              <a:rPr lang="en-US" sz="900" dirty="0"/>
              <a:t> </a:t>
            </a:r>
            <a:r>
              <a:rPr lang="en-US" sz="900" dirty="0" err="1"/>
              <a:t>elevados</a:t>
            </a:r>
            <a:r>
              <a:rPr lang="en-US" sz="900" dirty="0"/>
              <a:t>, </a:t>
            </a:r>
            <a:r>
              <a:rPr lang="en-US" sz="900" dirty="0" err="1"/>
              <a:t>característicos</a:t>
            </a:r>
            <a:r>
              <a:rPr lang="en-US" sz="900" dirty="0"/>
              <a:t> de </a:t>
            </a:r>
            <a:r>
              <a:rPr lang="en-US" sz="900" dirty="0" err="1"/>
              <a:t>uma</a:t>
            </a:r>
            <a:r>
              <a:rPr lang="en-US" sz="900" dirty="0"/>
              <a:t> </a:t>
            </a:r>
            <a:r>
              <a:rPr lang="en-US" sz="900" dirty="0" err="1"/>
              <a:t>distribuição</a:t>
            </a:r>
            <a:r>
              <a:rPr lang="en-US" sz="900" dirty="0"/>
              <a:t> </a:t>
            </a:r>
            <a:r>
              <a:rPr lang="en-US" sz="900" dirty="0" err="1"/>
              <a:t>assimétrica</a:t>
            </a:r>
            <a:r>
              <a:rPr lang="en-US" sz="9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e distribuições</a:t>
            </a:r>
          </a:p>
        </p:txBody>
      </p:sp>
      <p:pic>
        <p:nvPicPr>
          <p:cNvPr id="6" name="Picture 5" descr="quant_custo_an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8431"/>
            <a:ext cx="5394960" cy="2038096"/>
          </a:xfrm>
          <a:prstGeom prst="rect">
            <a:avLst/>
          </a:prstGeom>
        </p:spPr>
      </p:pic>
      <p:pic>
        <p:nvPicPr>
          <p:cNvPr id="7" name="Picture 6" descr="quant_km_rodado_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78431"/>
            <a:ext cx="5394960" cy="2038096"/>
          </a:xfrm>
          <a:prstGeom prst="rect">
            <a:avLst/>
          </a:prstGeom>
        </p:spPr>
      </p:pic>
      <p:pic>
        <p:nvPicPr>
          <p:cNvPr id="8" name="Picture 7" descr="quant_custo_ano_an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7312"/>
            <a:ext cx="5394960" cy="2038096"/>
          </a:xfrm>
          <a:prstGeom prst="rect">
            <a:avLst/>
          </a:prstGeom>
        </p:spPr>
      </p:pic>
      <p:pic>
        <p:nvPicPr>
          <p:cNvPr id="9" name="Picture 8" descr="quant_n_os_ano_a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47312"/>
            <a:ext cx="5394960" cy="20380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0130D4-3531-5B16-D863-4459F22AA963}"/>
              </a:ext>
            </a:extLst>
          </p:cNvPr>
          <p:cNvSpPr txBox="1"/>
          <p:nvPr/>
        </p:nvSpPr>
        <p:spPr>
          <a:xfrm>
            <a:off x="640080" y="3715398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fortemente </a:t>
            </a:r>
            <a:r>
              <a:rPr lang="en-US" sz="800" dirty="0" err="1"/>
              <a:t>assimétrica</a:t>
            </a:r>
            <a:r>
              <a:rPr lang="en-US" sz="800" dirty="0"/>
              <a:t> à </a:t>
            </a:r>
            <a:r>
              <a:rPr lang="en-US" sz="800" dirty="0" err="1"/>
              <a:t>direita</a:t>
            </a:r>
            <a:r>
              <a:rPr lang="en-US" sz="800" dirty="0"/>
              <a:t> — a </a:t>
            </a:r>
            <a:r>
              <a:rPr lang="en-US" sz="800" dirty="0" err="1"/>
              <a:t>maioria</a:t>
            </a:r>
            <a:r>
              <a:rPr lang="en-US" sz="800" dirty="0"/>
              <a:t> dos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custa</a:t>
            </a:r>
            <a:r>
              <a:rPr lang="en-US" sz="800" dirty="0"/>
              <a:t> </a:t>
            </a:r>
            <a:r>
              <a:rPr lang="en-US" sz="800" dirty="0" err="1"/>
              <a:t>pouco</a:t>
            </a:r>
            <a:r>
              <a:rPr lang="en-US" sz="800" dirty="0"/>
              <a:t> (</a:t>
            </a:r>
            <a:r>
              <a:rPr lang="en-US" sz="800" dirty="0" err="1"/>
              <a:t>mediana</a:t>
            </a:r>
            <a:r>
              <a:rPr lang="en-US" sz="800" dirty="0"/>
              <a:t> ~R$ 1.000) e </a:t>
            </a:r>
            <a:r>
              <a:rPr lang="en-US" sz="800" dirty="0" err="1"/>
              <a:t>uma</a:t>
            </a:r>
            <a:r>
              <a:rPr lang="en-US" sz="800" dirty="0"/>
              <a:t> cauda longa de outliers </a:t>
            </a:r>
            <a:r>
              <a:rPr lang="en-US" sz="800" dirty="0" err="1"/>
              <a:t>chega</a:t>
            </a:r>
            <a:r>
              <a:rPr lang="en-US" sz="800" dirty="0"/>
              <a:t> a R$ 12.000.</a:t>
            </a:r>
            <a:endParaRPr lang="en-B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35E46-A3ED-54C8-812D-18BFD4A11662}"/>
              </a:ext>
            </a:extLst>
          </p:cNvPr>
          <p:cNvSpPr txBox="1"/>
          <p:nvPr/>
        </p:nvSpPr>
        <p:spPr>
          <a:xfrm>
            <a:off x="6217920" y="3716527"/>
            <a:ext cx="53949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Mesmo</a:t>
            </a:r>
            <a:r>
              <a:rPr lang="en-US" sz="800" dirty="0"/>
              <a:t> </a:t>
            </a:r>
            <a:r>
              <a:rPr lang="en-US" sz="800" dirty="0" err="1"/>
              <a:t>padrão</a:t>
            </a:r>
            <a:r>
              <a:rPr lang="en-US" sz="800" dirty="0"/>
              <a:t> </a:t>
            </a:r>
            <a:r>
              <a:rPr lang="en-US" sz="800" dirty="0" err="1"/>
              <a:t>assimétrico</a:t>
            </a:r>
            <a:r>
              <a:rPr lang="en-US" sz="800" dirty="0"/>
              <a:t> —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parte</a:t>
            </a:r>
            <a:r>
              <a:rPr lang="en-US" sz="800" dirty="0"/>
              <a:t> da </a:t>
            </a:r>
            <a:r>
              <a:rPr lang="en-US" sz="800" dirty="0" err="1"/>
              <a:t>frota</a:t>
            </a:r>
            <a:r>
              <a:rPr lang="en-US" sz="800" dirty="0"/>
              <a:t> </a:t>
            </a:r>
            <a:r>
              <a:rPr lang="en-US" sz="800" dirty="0" err="1"/>
              <a:t>roda</a:t>
            </a:r>
            <a:r>
              <a:rPr lang="en-US" sz="800" dirty="0"/>
              <a:t> </a:t>
            </a:r>
            <a:r>
              <a:rPr lang="en-US" sz="800" dirty="0" err="1"/>
              <a:t>menos</a:t>
            </a:r>
            <a:r>
              <a:rPr lang="en-US" sz="800" dirty="0"/>
              <a:t> de 20.000 km/</a:t>
            </a:r>
            <a:r>
              <a:rPr lang="en-US" sz="800" dirty="0" err="1"/>
              <a:t>ano</a:t>
            </a:r>
            <a:r>
              <a:rPr lang="en-US" sz="800" dirty="0"/>
              <a:t>, com outliers </a:t>
            </a:r>
            <a:r>
              <a:rPr lang="en-US" sz="800" dirty="0" err="1"/>
              <a:t>acima</a:t>
            </a:r>
            <a:r>
              <a:rPr lang="en-US" sz="800" dirty="0"/>
              <a:t> de 75.000 km. </a:t>
            </a:r>
            <a:endParaRPr lang="en-BR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800E6-2A9A-1248-CD15-0489E511C6E8}"/>
              </a:ext>
            </a:extLst>
          </p:cNvPr>
          <p:cNvSpPr txBox="1"/>
          <p:nvPr/>
        </p:nvSpPr>
        <p:spPr>
          <a:xfrm>
            <a:off x="640080" y="6183150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quase</a:t>
            </a:r>
            <a:r>
              <a:rPr lang="en-US" sz="800" dirty="0"/>
              <a:t> </a:t>
            </a:r>
            <a:r>
              <a:rPr lang="en-US" sz="800" dirty="0" err="1"/>
              <a:t>idêntica</a:t>
            </a:r>
            <a:r>
              <a:rPr lang="en-US" sz="800" dirty="0"/>
              <a:t> à do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atual</a:t>
            </a:r>
            <a:r>
              <a:rPr lang="en-US" sz="800" dirty="0"/>
              <a:t>, o </a:t>
            </a:r>
            <a:r>
              <a:rPr lang="en-US" sz="800" dirty="0" err="1"/>
              <a:t>que</a:t>
            </a:r>
            <a:r>
              <a:rPr lang="en-US" sz="800" dirty="0"/>
              <a:t> indica forte </a:t>
            </a:r>
            <a:r>
              <a:rPr lang="en-US" sz="800" dirty="0" err="1"/>
              <a:t>potencial</a:t>
            </a:r>
            <a:r>
              <a:rPr lang="en-US" sz="800" dirty="0"/>
              <a:t> </a:t>
            </a:r>
            <a:r>
              <a:rPr lang="en-US" sz="800" dirty="0" err="1"/>
              <a:t>preditivo</a:t>
            </a:r>
            <a:r>
              <a:rPr lang="en-US" sz="800" dirty="0"/>
              <a:t> — </a:t>
            </a:r>
            <a:r>
              <a:rPr lang="en-US" sz="800" dirty="0" err="1"/>
              <a:t>custo</a:t>
            </a:r>
            <a:r>
              <a:rPr lang="en-US" sz="800" dirty="0"/>
              <a:t> passado </a:t>
            </a:r>
            <a:r>
              <a:rPr lang="en-US" sz="800" dirty="0" err="1"/>
              <a:t>tende</a:t>
            </a:r>
            <a:r>
              <a:rPr lang="en-US" sz="800" dirty="0"/>
              <a:t> a ser o </a:t>
            </a:r>
            <a:r>
              <a:rPr lang="en-US" sz="800" dirty="0" err="1"/>
              <a:t>melhor</a:t>
            </a:r>
            <a:r>
              <a:rPr lang="en-US" sz="800" dirty="0"/>
              <a:t> </a:t>
            </a:r>
            <a:r>
              <a:rPr lang="en-US" sz="800" dirty="0" err="1"/>
              <a:t>previsor</a:t>
            </a:r>
            <a:r>
              <a:rPr lang="en-US" sz="800" dirty="0"/>
              <a:t> do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futuro</a:t>
            </a:r>
            <a:r>
              <a:rPr lang="en-US" sz="800" dirty="0"/>
              <a:t>. </a:t>
            </a:r>
            <a:endParaRPr lang="en-BR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17C92-C222-260D-093F-C3902A1D7A89}"/>
              </a:ext>
            </a:extLst>
          </p:cNvPr>
          <p:cNvSpPr txBox="1"/>
          <p:nvPr/>
        </p:nvSpPr>
        <p:spPr>
          <a:xfrm>
            <a:off x="6217920" y="6183150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Variável</a:t>
            </a:r>
            <a:r>
              <a:rPr lang="en-US" sz="800" dirty="0"/>
              <a:t> de </a:t>
            </a:r>
            <a:r>
              <a:rPr lang="en-US" sz="800" dirty="0" err="1"/>
              <a:t>contagem</a:t>
            </a:r>
            <a:r>
              <a:rPr lang="en-US" sz="800" dirty="0"/>
              <a:t> com </a:t>
            </a:r>
            <a:r>
              <a:rPr lang="en-US" sz="800" dirty="0" err="1"/>
              <a:t>moda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1–2 </a:t>
            </a:r>
            <a:r>
              <a:rPr lang="en-US" sz="800" dirty="0" err="1"/>
              <a:t>ordens</a:t>
            </a:r>
            <a:r>
              <a:rPr lang="en-US" sz="800" dirty="0"/>
              <a:t> de </a:t>
            </a:r>
            <a:r>
              <a:rPr lang="en-US" sz="800" dirty="0" err="1"/>
              <a:t>serviço</a:t>
            </a:r>
            <a:r>
              <a:rPr lang="en-US" sz="800" dirty="0"/>
              <a:t> e cauda </a:t>
            </a:r>
            <a:r>
              <a:rPr lang="en-US" sz="800" dirty="0" err="1"/>
              <a:t>até</a:t>
            </a:r>
            <a:r>
              <a:rPr lang="en-US" sz="800" dirty="0"/>
              <a:t> ~20, </a:t>
            </a:r>
            <a:r>
              <a:rPr lang="en-US" sz="800" dirty="0" err="1"/>
              <a:t>padrão</a:t>
            </a:r>
            <a:r>
              <a:rPr lang="en-US" sz="800" dirty="0"/>
              <a:t> </a:t>
            </a:r>
            <a:r>
              <a:rPr lang="en-US" sz="800" dirty="0" err="1"/>
              <a:t>típico</a:t>
            </a:r>
            <a:r>
              <a:rPr lang="en-US" sz="800" dirty="0"/>
              <a:t> Poisson. </a:t>
            </a:r>
            <a:r>
              <a:rPr lang="en-US" sz="800" dirty="0" err="1"/>
              <a:t>Os</a:t>
            </a:r>
            <a:r>
              <a:rPr lang="en-US" sz="800" dirty="0"/>
              <a:t> outliers </a:t>
            </a:r>
            <a:r>
              <a:rPr lang="en-US" sz="800" dirty="0" err="1"/>
              <a:t>acima</a:t>
            </a:r>
            <a:r>
              <a:rPr lang="en-US" sz="800" dirty="0"/>
              <a:t> de 12 OS </a:t>
            </a:r>
            <a:r>
              <a:rPr lang="en-US" sz="800" dirty="0" err="1"/>
              <a:t>indicam</a:t>
            </a:r>
            <a:r>
              <a:rPr lang="en-US" sz="800" dirty="0"/>
              <a:t> </a:t>
            </a:r>
            <a:r>
              <a:rPr lang="en-US" sz="800" dirty="0" err="1"/>
              <a:t>veículos</a:t>
            </a:r>
            <a:r>
              <a:rPr lang="en-US" sz="800" dirty="0"/>
              <a:t> com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recorrente</a:t>
            </a:r>
            <a:r>
              <a:rPr lang="en-US" sz="800" dirty="0"/>
              <a:t>,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merecem</a:t>
            </a:r>
            <a:r>
              <a:rPr lang="en-US" sz="800" dirty="0"/>
              <a:t> </a:t>
            </a:r>
            <a:r>
              <a:rPr lang="en-US" sz="800" dirty="0" err="1"/>
              <a:t>atenção</a:t>
            </a:r>
            <a:r>
              <a:rPr lang="en-US" sz="800" dirty="0"/>
              <a:t> especial.</a:t>
            </a:r>
            <a:endParaRPr lang="en-BR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— atributos do ativo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5394960" cy="203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82496"/>
            <a:ext cx="5394960" cy="203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1376"/>
            <a:ext cx="5394960" cy="20391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51376"/>
            <a:ext cx="5394960" cy="2039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F57A5-F4E3-5A25-6797-4F2BCF6CA802}"/>
              </a:ext>
            </a:extLst>
          </p:cNvPr>
          <p:cNvSpPr txBox="1"/>
          <p:nvPr/>
        </p:nvSpPr>
        <p:spPr>
          <a:xfrm>
            <a:off x="640080" y="3715398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Frota </a:t>
            </a:r>
            <a:r>
              <a:rPr lang="en-US" sz="800" dirty="0" err="1"/>
              <a:t>concentrada</a:t>
            </a:r>
            <a:r>
              <a:rPr lang="en-US" sz="800" dirty="0"/>
              <a:t> entre 2005 e 2024, com </a:t>
            </a:r>
            <a:r>
              <a:rPr lang="en-US" sz="800" dirty="0" err="1"/>
              <a:t>mediana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torno</a:t>
            </a:r>
            <a:r>
              <a:rPr lang="en-US" sz="800" dirty="0"/>
              <a:t> de 2015 e um </a:t>
            </a:r>
            <a:r>
              <a:rPr lang="en-US" sz="800" dirty="0" err="1"/>
              <a:t>pico</a:t>
            </a:r>
            <a:r>
              <a:rPr lang="en-US" sz="800" dirty="0"/>
              <a:t> </a:t>
            </a:r>
            <a:r>
              <a:rPr lang="en-US" sz="800" dirty="0" err="1"/>
              <a:t>expressivo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~2020. </a:t>
            </a:r>
            <a:r>
              <a:rPr lang="en-US" sz="800" dirty="0" err="1"/>
              <a:t>Os</a:t>
            </a:r>
            <a:r>
              <a:rPr lang="en-US" sz="800" dirty="0"/>
              <a:t> outliers </a:t>
            </a:r>
            <a:r>
              <a:rPr lang="en-US" sz="800" dirty="0" err="1"/>
              <a:t>abaixo</a:t>
            </a:r>
            <a:r>
              <a:rPr lang="en-US" sz="800" dirty="0"/>
              <a:t> de 1999 </a:t>
            </a:r>
            <a:r>
              <a:rPr lang="en-US" sz="800" dirty="0" err="1"/>
              <a:t>são</a:t>
            </a:r>
            <a:r>
              <a:rPr lang="en-US" sz="800" dirty="0"/>
              <a:t>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muito</a:t>
            </a:r>
            <a:r>
              <a:rPr lang="en-US" sz="800" dirty="0"/>
              <a:t> </a:t>
            </a:r>
            <a:r>
              <a:rPr lang="en-US" sz="800" dirty="0" err="1"/>
              <a:t>antigos</a:t>
            </a:r>
            <a:r>
              <a:rPr lang="en-US" sz="800" dirty="0"/>
              <a:t>,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merecem</a:t>
            </a:r>
            <a:r>
              <a:rPr lang="en-US" sz="800" dirty="0"/>
              <a:t> </a:t>
            </a:r>
            <a:r>
              <a:rPr lang="en-US" sz="800" dirty="0" err="1"/>
              <a:t>verificação</a:t>
            </a:r>
            <a:r>
              <a:rPr lang="en-US" sz="800" dirty="0"/>
              <a:t> se </a:t>
            </a:r>
            <a:r>
              <a:rPr lang="en-US" sz="800" dirty="0" err="1"/>
              <a:t>ainda</a:t>
            </a:r>
            <a:r>
              <a:rPr lang="en-US" sz="800" dirty="0"/>
              <a:t> </a:t>
            </a:r>
            <a:r>
              <a:rPr lang="en-US" sz="800" dirty="0" err="1"/>
              <a:t>estão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E3C120-95B0-EA6B-176B-CEF04A0C75B0}"/>
              </a:ext>
            </a:extLst>
          </p:cNvPr>
          <p:cNvSpPr txBox="1"/>
          <p:nvPr/>
        </p:nvSpPr>
        <p:spPr>
          <a:xfrm>
            <a:off x="6217920" y="3716527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Variável</a:t>
            </a:r>
            <a:r>
              <a:rPr lang="en-US" sz="800" dirty="0"/>
              <a:t> </a:t>
            </a:r>
            <a:r>
              <a:rPr lang="en-US" sz="800" dirty="0" err="1"/>
              <a:t>quase</a:t>
            </a:r>
            <a:r>
              <a:rPr lang="en-US" sz="800" dirty="0"/>
              <a:t> </a:t>
            </a:r>
            <a:r>
              <a:rPr lang="en-US" sz="800" dirty="0" err="1"/>
              <a:t>constante</a:t>
            </a:r>
            <a:r>
              <a:rPr lang="en-US" sz="800" dirty="0"/>
              <a:t> — a </a:t>
            </a:r>
            <a:r>
              <a:rPr lang="en-US" sz="800" dirty="0" err="1"/>
              <a:t>esmagadora</a:t>
            </a:r>
            <a:r>
              <a:rPr lang="en-US" sz="800" dirty="0"/>
              <a:t> </a:t>
            </a:r>
            <a:r>
              <a:rPr lang="en-US" sz="800" dirty="0" err="1"/>
              <a:t>maioria</a:t>
            </a:r>
            <a:r>
              <a:rPr lang="en-US" sz="800" dirty="0"/>
              <a:t> das carretas </a:t>
            </a:r>
            <a:r>
              <a:rPr lang="en-US" sz="800" dirty="0" err="1"/>
              <a:t>tem</a:t>
            </a:r>
            <a:r>
              <a:rPr lang="en-US" sz="800" dirty="0"/>
              <a:t> 2 </a:t>
            </a:r>
            <a:r>
              <a:rPr lang="en-US" sz="800" dirty="0" err="1"/>
              <a:t>eixos</a:t>
            </a:r>
            <a:r>
              <a:rPr lang="en-US" sz="800" dirty="0"/>
              <a:t>, com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pequena</a:t>
            </a:r>
            <a:r>
              <a:rPr lang="en-US" sz="800" dirty="0"/>
              <a:t> </a:t>
            </a:r>
            <a:r>
              <a:rPr lang="en-US" sz="800" dirty="0" err="1"/>
              <a:t>fração</a:t>
            </a:r>
            <a:r>
              <a:rPr lang="en-US" sz="800" dirty="0"/>
              <a:t> de 3 e </a:t>
            </a:r>
            <a:r>
              <a:rPr lang="en-US" sz="800" dirty="0" err="1"/>
              <a:t>casos</a:t>
            </a:r>
            <a:r>
              <a:rPr lang="en-US" sz="800" dirty="0"/>
              <a:t> </a:t>
            </a:r>
            <a:r>
              <a:rPr lang="en-US" sz="800" dirty="0" err="1"/>
              <a:t>raros</a:t>
            </a:r>
            <a:r>
              <a:rPr lang="en-US" sz="800" dirty="0"/>
              <a:t> de 1 e 4. Com </a:t>
            </a:r>
            <a:r>
              <a:rPr lang="en-US" sz="800" dirty="0" err="1"/>
              <a:t>tão</a:t>
            </a:r>
            <a:r>
              <a:rPr lang="en-US" sz="800" dirty="0"/>
              <a:t> </a:t>
            </a:r>
            <a:r>
              <a:rPr lang="en-US" sz="800" dirty="0" err="1"/>
              <a:t>pouca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, </a:t>
            </a:r>
            <a:r>
              <a:rPr lang="en-US" sz="800" dirty="0" err="1"/>
              <a:t>tende</a:t>
            </a:r>
            <a:r>
              <a:rPr lang="en-US" sz="800" dirty="0"/>
              <a:t> a ter </a:t>
            </a:r>
            <a:r>
              <a:rPr lang="en-US" sz="800" dirty="0" err="1"/>
              <a:t>baixo</a:t>
            </a:r>
            <a:r>
              <a:rPr lang="en-US" sz="800" dirty="0"/>
              <a:t> </a:t>
            </a:r>
            <a:r>
              <a:rPr lang="en-US" sz="800" dirty="0" err="1"/>
              <a:t>poder</a:t>
            </a:r>
            <a:r>
              <a:rPr lang="en-US" sz="800" dirty="0"/>
              <a:t> </a:t>
            </a:r>
            <a:r>
              <a:rPr lang="en-US" sz="800" dirty="0" err="1"/>
              <a:t>preditivo</a:t>
            </a:r>
            <a:r>
              <a:rPr lang="en-US" sz="800" dirty="0"/>
              <a:t> no </a:t>
            </a:r>
            <a:r>
              <a:rPr lang="en-US" sz="800" dirty="0" err="1"/>
              <a:t>modelo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FDE60-4C0E-1B65-C7CB-D094462EAA8F}"/>
              </a:ext>
            </a:extLst>
          </p:cNvPr>
          <p:cNvSpPr txBox="1"/>
          <p:nvPr/>
        </p:nvSpPr>
        <p:spPr>
          <a:xfrm>
            <a:off x="64008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Fortemente </a:t>
            </a:r>
            <a:r>
              <a:rPr lang="en-US" sz="800" dirty="0" err="1"/>
              <a:t>concentrado</a:t>
            </a:r>
            <a:r>
              <a:rPr lang="en-US" sz="800" dirty="0"/>
              <a:t> num </a:t>
            </a:r>
            <a:r>
              <a:rPr lang="en-US" sz="800" dirty="0" err="1"/>
              <a:t>único</a:t>
            </a:r>
            <a:r>
              <a:rPr lang="en-US" sz="800" dirty="0"/>
              <a:t> valor (~53 </a:t>
            </a:r>
            <a:r>
              <a:rPr lang="en-US" sz="800" dirty="0" err="1"/>
              <a:t>pés</a:t>
            </a:r>
            <a:r>
              <a:rPr lang="en-US" sz="800" dirty="0"/>
              <a:t>, o </a:t>
            </a:r>
            <a:r>
              <a:rPr lang="en-US" sz="800" dirty="0" err="1"/>
              <a:t>padrão</a:t>
            </a:r>
            <a:r>
              <a:rPr lang="en-US" sz="800" dirty="0"/>
              <a:t> do mercado), com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demais</a:t>
            </a:r>
            <a:r>
              <a:rPr lang="en-US" sz="800" dirty="0"/>
              <a:t> </a:t>
            </a:r>
            <a:r>
              <a:rPr lang="en-US" sz="800" dirty="0" err="1"/>
              <a:t>comprimentos</a:t>
            </a:r>
            <a:r>
              <a:rPr lang="en-US" sz="800" dirty="0"/>
              <a:t> </a:t>
            </a:r>
            <a:r>
              <a:rPr lang="en-US" sz="800" dirty="0" err="1"/>
              <a:t>aparecendo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outliers no boxplot. Assim </a:t>
            </a:r>
            <a:r>
              <a:rPr lang="en-US" sz="800" dirty="0" err="1"/>
              <a:t>como</a:t>
            </a:r>
            <a:r>
              <a:rPr lang="en-US" sz="800" dirty="0"/>
              <a:t> </a:t>
            </a:r>
            <a:r>
              <a:rPr lang="en-US" sz="800" dirty="0" err="1"/>
              <a:t>eixos</a:t>
            </a:r>
            <a:r>
              <a:rPr lang="en-US" sz="800" dirty="0"/>
              <a:t>, </a:t>
            </a:r>
            <a:r>
              <a:rPr lang="en-US" sz="800" dirty="0" err="1"/>
              <a:t>é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variável</a:t>
            </a:r>
            <a:r>
              <a:rPr lang="en-US" sz="800" dirty="0"/>
              <a:t> de </a:t>
            </a:r>
            <a:r>
              <a:rPr lang="en-US" sz="800" dirty="0" err="1"/>
              <a:t>baixa</a:t>
            </a:r>
            <a:r>
              <a:rPr lang="en-US" sz="800" dirty="0"/>
              <a:t> </a:t>
            </a:r>
            <a:r>
              <a:rPr lang="en-US" sz="800" dirty="0" err="1"/>
              <a:t>variância</a:t>
            </a:r>
            <a:r>
              <a:rPr lang="en-US" sz="800" dirty="0"/>
              <a:t> —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comprimentos</a:t>
            </a:r>
            <a:r>
              <a:rPr lang="en-US" sz="800" dirty="0"/>
              <a:t> </a:t>
            </a:r>
            <a:r>
              <a:rPr lang="en-US" sz="800" dirty="0" err="1"/>
              <a:t>atípicos</a:t>
            </a:r>
            <a:r>
              <a:rPr lang="en-US" sz="800" dirty="0"/>
              <a:t> </a:t>
            </a:r>
            <a:r>
              <a:rPr lang="en-US" sz="800" dirty="0" err="1"/>
              <a:t>podem</a:t>
            </a:r>
            <a:r>
              <a:rPr lang="en-US" sz="800" dirty="0"/>
              <a:t>, </a:t>
            </a:r>
            <a:r>
              <a:rPr lang="en-US" sz="800" dirty="0" err="1"/>
              <a:t>porém</a:t>
            </a:r>
            <a:r>
              <a:rPr lang="en-US" sz="800" dirty="0"/>
              <a:t>, </a:t>
            </a:r>
            <a:r>
              <a:rPr lang="en-US" sz="800" dirty="0" err="1"/>
              <a:t>sinalizar</a:t>
            </a:r>
            <a:r>
              <a:rPr lang="en-US" sz="800" dirty="0"/>
              <a:t> </a:t>
            </a:r>
            <a:r>
              <a:rPr lang="en-US" sz="800" dirty="0" err="1"/>
              <a:t>equipamentos</a:t>
            </a:r>
            <a:r>
              <a:rPr lang="en-US" sz="800" dirty="0"/>
              <a:t> </a:t>
            </a:r>
            <a:r>
              <a:rPr lang="en-US" sz="800" dirty="0" err="1"/>
              <a:t>especiais</a:t>
            </a:r>
            <a:r>
              <a:rPr lang="en-US" sz="800" dirty="0"/>
              <a:t> com </a:t>
            </a:r>
            <a:r>
              <a:rPr lang="en-US" sz="800" dirty="0" err="1"/>
              <a:t>perfil</a:t>
            </a:r>
            <a:r>
              <a:rPr lang="en-US" sz="800" dirty="0"/>
              <a:t> de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diferente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621FB-CE03-D9E0-993C-9BE84B7E63FC}"/>
              </a:ext>
            </a:extLst>
          </p:cNvPr>
          <p:cNvSpPr txBox="1"/>
          <p:nvPr/>
        </p:nvSpPr>
        <p:spPr>
          <a:xfrm>
            <a:off x="6217920" y="6183150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bem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equilibrada</a:t>
            </a:r>
            <a:r>
              <a:rPr lang="en-US" sz="800" dirty="0"/>
              <a:t>, com </a:t>
            </a:r>
            <a:r>
              <a:rPr lang="en-US" sz="800" dirty="0" err="1"/>
              <a:t>platô</a:t>
            </a:r>
            <a:r>
              <a:rPr lang="en-US" sz="800" dirty="0"/>
              <a:t> entre 0 e 8 </a:t>
            </a:r>
            <a:r>
              <a:rPr lang="en-US" sz="800" dirty="0" err="1"/>
              <a:t>anos</a:t>
            </a:r>
            <a:r>
              <a:rPr lang="en-US" sz="800" dirty="0"/>
              <a:t> e </a:t>
            </a:r>
            <a:r>
              <a:rPr lang="en-US" sz="800" dirty="0" err="1"/>
              <a:t>decaimento</a:t>
            </a:r>
            <a:r>
              <a:rPr lang="en-US" sz="800" dirty="0"/>
              <a:t> gradual </a:t>
            </a:r>
            <a:r>
              <a:rPr lang="en-US" sz="800" dirty="0" err="1"/>
              <a:t>até</a:t>
            </a:r>
            <a:r>
              <a:rPr lang="en-US" sz="800" dirty="0"/>
              <a:t> ~23 </a:t>
            </a:r>
            <a:r>
              <a:rPr lang="en-US" sz="800" dirty="0" err="1"/>
              <a:t>anos</a:t>
            </a:r>
            <a:r>
              <a:rPr lang="en-US" sz="800" dirty="0"/>
              <a:t>; </a:t>
            </a:r>
            <a:r>
              <a:rPr lang="en-US" sz="800" dirty="0" err="1"/>
              <a:t>mediana</a:t>
            </a:r>
            <a:r>
              <a:rPr lang="en-US" sz="800" dirty="0"/>
              <a:t> de ~7 </a:t>
            </a:r>
            <a:r>
              <a:rPr lang="en-US" sz="800" dirty="0" err="1"/>
              <a:t>anos</a:t>
            </a:r>
            <a:r>
              <a:rPr lang="en-US" sz="800" dirty="0"/>
              <a:t>. </a:t>
            </a:r>
            <a:r>
              <a:rPr lang="en-US" sz="800" dirty="0" err="1"/>
              <a:t>É</a:t>
            </a:r>
            <a:r>
              <a:rPr lang="en-US" sz="800" dirty="0"/>
              <a:t> a </a:t>
            </a:r>
            <a:r>
              <a:rPr lang="en-US" sz="800" dirty="0" err="1"/>
              <a:t>versão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"</a:t>
            </a:r>
            <a:r>
              <a:rPr lang="en-US" sz="800" dirty="0" err="1"/>
              <a:t>utilizável</a:t>
            </a:r>
            <a:r>
              <a:rPr lang="en-US" sz="800" dirty="0"/>
              <a:t>" de </a:t>
            </a:r>
            <a:r>
              <a:rPr lang="en-US" sz="800" dirty="0" err="1"/>
              <a:t>ano_modelo</a:t>
            </a:r>
            <a:r>
              <a:rPr lang="en-US" sz="800" dirty="0"/>
              <a:t> para o </a:t>
            </a:r>
            <a:r>
              <a:rPr lang="en-US" sz="800" dirty="0" err="1"/>
              <a:t>modelo</a:t>
            </a:r>
            <a:r>
              <a:rPr lang="en-US" sz="800" dirty="0"/>
              <a:t>, com boa </a:t>
            </a:r>
            <a:r>
              <a:rPr lang="en-US" sz="800" dirty="0" err="1"/>
              <a:t>dispersão</a:t>
            </a:r>
            <a:r>
              <a:rPr lang="en-US" sz="800" dirty="0"/>
              <a:t> e </a:t>
            </a:r>
            <a:r>
              <a:rPr lang="en-US" sz="800" dirty="0" err="1"/>
              <a:t>leitura</a:t>
            </a:r>
            <a:r>
              <a:rPr lang="en-US" sz="800" dirty="0"/>
              <a:t> </a:t>
            </a:r>
            <a:r>
              <a:rPr lang="en-US" sz="800" dirty="0" err="1"/>
              <a:t>direta</a:t>
            </a:r>
            <a:endParaRPr lang="en-BR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— uso e operação no ano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5394960" cy="203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82496"/>
            <a:ext cx="5394960" cy="203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1376"/>
            <a:ext cx="5394960" cy="20391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51376"/>
            <a:ext cx="5394960" cy="20391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AC43E0-D2E6-D450-B2DB-EAC8C935CE54}"/>
              </a:ext>
            </a:extLst>
          </p:cNvPr>
          <p:cNvSpPr txBox="1"/>
          <p:nvPr/>
        </p:nvSpPr>
        <p:spPr>
          <a:xfrm>
            <a:off x="640080" y="3715398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Assimetria</a:t>
            </a:r>
            <a:r>
              <a:rPr lang="en-US" sz="800" dirty="0"/>
              <a:t> à </a:t>
            </a:r>
            <a:r>
              <a:rPr lang="en-US" sz="800" dirty="0" err="1"/>
              <a:t>direita</a:t>
            </a:r>
            <a:r>
              <a:rPr lang="en-US" sz="800" dirty="0"/>
              <a:t> </a:t>
            </a:r>
            <a:r>
              <a:rPr lang="en-US" sz="800" dirty="0" err="1"/>
              <a:t>típica</a:t>
            </a:r>
            <a:r>
              <a:rPr lang="en-US" sz="800" dirty="0"/>
              <a:t> de </a:t>
            </a:r>
            <a:r>
              <a:rPr lang="en-US" sz="800" dirty="0" err="1"/>
              <a:t>quilometragem</a:t>
            </a:r>
            <a:r>
              <a:rPr lang="en-US" sz="800" dirty="0"/>
              <a:t> </a:t>
            </a:r>
            <a:r>
              <a:rPr lang="en-US" sz="800" dirty="0" err="1"/>
              <a:t>acumulada</a:t>
            </a:r>
            <a:r>
              <a:rPr lang="en-US" sz="800" dirty="0"/>
              <a:t> — a </a:t>
            </a:r>
            <a:r>
              <a:rPr lang="en-US" sz="800" dirty="0" err="1"/>
              <a:t>maioria</a:t>
            </a:r>
            <a:r>
              <a:rPr lang="en-US" sz="800" dirty="0"/>
              <a:t> dos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tem</a:t>
            </a:r>
            <a:r>
              <a:rPr lang="en-US" sz="800" dirty="0"/>
              <a:t> </a:t>
            </a:r>
            <a:r>
              <a:rPr lang="en-US" sz="800" dirty="0" err="1"/>
              <a:t>menos</a:t>
            </a:r>
            <a:r>
              <a:rPr lang="en-US" sz="800" dirty="0"/>
              <a:t> de 200.000 km, com cauda longa </a:t>
            </a:r>
            <a:r>
              <a:rPr lang="en-US" sz="800" dirty="0" err="1"/>
              <a:t>até</a:t>
            </a:r>
            <a:r>
              <a:rPr lang="en-US" sz="800" dirty="0"/>
              <a:t> ~850.000 km e </a:t>
            </a:r>
            <a:r>
              <a:rPr lang="en-US" sz="800" dirty="0" err="1"/>
              <a:t>muitos</a:t>
            </a:r>
            <a:r>
              <a:rPr lang="en-US" sz="800" dirty="0"/>
              <a:t> outliers </a:t>
            </a:r>
            <a:r>
              <a:rPr lang="en-US" sz="800" dirty="0" err="1"/>
              <a:t>acima</a:t>
            </a:r>
            <a:r>
              <a:rPr lang="en-US" sz="800" dirty="0"/>
              <a:t> de ~530.000 km. A </a:t>
            </a:r>
            <a:r>
              <a:rPr lang="en-US" sz="800" dirty="0" err="1"/>
              <a:t>mediana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torno</a:t>
            </a:r>
            <a:r>
              <a:rPr lang="en-US" sz="800" dirty="0"/>
              <a:t> de 120.000 km </a:t>
            </a:r>
            <a:r>
              <a:rPr lang="en-US" sz="800" dirty="0" err="1"/>
              <a:t>reflete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frota</a:t>
            </a:r>
            <a:r>
              <a:rPr lang="en-US" sz="800" dirty="0"/>
              <a:t> </a:t>
            </a:r>
            <a:r>
              <a:rPr lang="en-US" sz="800" dirty="0" err="1"/>
              <a:t>relativamente</a:t>
            </a:r>
            <a:r>
              <a:rPr lang="en-US" sz="800" dirty="0"/>
              <a:t> </a:t>
            </a:r>
            <a:r>
              <a:rPr lang="en-US" sz="800" dirty="0" err="1"/>
              <a:t>jovem</a:t>
            </a:r>
            <a:r>
              <a:rPr lang="en-US" sz="800" dirty="0"/>
              <a:t>, </a:t>
            </a:r>
            <a:r>
              <a:rPr lang="en-US" sz="800" dirty="0" err="1"/>
              <a:t>coerente</a:t>
            </a:r>
            <a:r>
              <a:rPr lang="en-US" sz="800" dirty="0"/>
              <a:t> com a </a:t>
            </a:r>
            <a:r>
              <a:rPr lang="en-US" sz="800" dirty="0" err="1"/>
              <a:t>idade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de ~7 </a:t>
            </a:r>
            <a:r>
              <a:rPr lang="en-US" sz="800" dirty="0" err="1"/>
              <a:t>anos</a:t>
            </a:r>
            <a:r>
              <a:rPr lang="en-US" sz="800" dirty="0"/>
              <a:t> vista antes.</a:t>
            </a:r>
            <a:endParaRPr lang="en-BR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AD6C0-AD2D-30B7-7892-C60A6D11FFAA}"/>
              </a:ext>
            </a:extLst>
          </p:cNvPr>
          <p:cNvSpPr txBox="1"/>
          <p:nvPr/>
        </p:nvSpPr>
        <p:spPr>
          <a:xfrm>
            <a:off x="6217920" y="3716527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de </a:t>
            </a:r>
            <a:r>
              <a:rPr lang="en-US" sz="800" dirty="0" err="1"/>
              <a:t>contagem</a:t>
            </a:r>
            <a:r>
              <a:rPr lang="en-US" sz="800" dirty="0"/>
              <a:t> com </a:t>
            </a:r>
            <a:r>
              <a:rPr lang="en-US" sz="800" dirty="0" err="1"/>
              <a:t>moda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2 </a:t>
            </a:r>
            <a:r>
              <a:rPr lang="en-US" sz="800" dirty="0" err="1"/>
              <a:t>sistemas</a:t>
            </a:r>
            <a:r>
              <a:rPr lang="en-US" sz="800" dirty="0"/>
              <a:t> </a:t>
            </a:r>
            <a:r>
              <a:rPr lang="en-US" sz="800" dirty="0" err="1"/>
              <a:t>distintos</a:t>
            </a:r>
            <a:r>
              <a:rPr lang="en-US" sz="800" dirty="0"/>
              <a:t> </a:t>
            </a:r>
            <a:r>
              <a:rPr lang="en-US" sz="800" dirty="0" err="1"/>
              <a:t>afetados</a:t>
            </a:r>
            <a:r>
              <a:rPr lang="en-US" sz="800" dirty="0"/>
              <a:t> </a:t>
            </a:r>
            <a:r>
              <a:rPr lang="en-US" sz="800" dirty="0" err="1"/>
              <a:t>por</a:t>
            </a:r>
            <a:r>
              <a:rPr lang="en-US" sz="800" dirty="0"/>
              <a:t> </a:t>
            </a:r>
            <a:r>
              <a:rPr lang="en-US" sz="800" dirty="0" err="1"/>
              <a:t>ano</a:t>
            </a:r>
            <a:r>
              <a:rPr lang="en-US" sz="800" dirty="0"/>
              <a:t> e </a:t>
            </a:r>
            <a:r>
              <a:rPr lang="en-US" sz="800" dirty="0" err="1"/>
              <a:t>decaimento</a:t>
            </a:r>
            <a:r>
              <a:rPr lang="en-US" sz="800" dirty="0"/>
              <a:t> </a:t>
            </a:r>
            <a:r>
              <a:rPr lang="en-US" sz="800" dirty="0" err="1"/>
              <a:t>rápido</a:t>
            </a:r>
            <a:r>
              <a:rPr lang="en-US" sz="800" dirty="0"/>
              <a:t>, com outliers </a:t>
            </a:r>
            <a:r>
              <a:rPr lang="en-US" sz="800" dirty="0" err="1"/>
              <a:t>acima</a:t>
            </a:r>
            <a:r>
              <a:rPr lang="en-US" sz="800" dirty="0"/>
              <a:t> de 6.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acionam</a:t>
            </a:r>
            <a:r>
              <a:rPr lang="en-US" sz="800" dirty="0"/>
              <a:t> </a:t>
            </a:r>
            <a:r>
              <a:rPr lang="en-US" sz="800" dirty="0" err="1"/>
              <a:t>muitos</a:t>
            </a:r>
            <a:r>
              <a:rPr lang="en-US" sz="800" dirty="0"/>
              <a:t> </a:t>
            </a:r>
            <a:r>
              <a:rPr lang="en-US" sz="800" dirty="0" err="1"/>
              <a:t>sistemas</a:t>
            </a:r>
            <a:r>
              <a:rPr lang="en-US" sz="800" dirty="0"/>
              <a:t> </a:t>
            </a:r>
            <a:r>
              <a:rPr lang="en-US" sz="800" dirty="0" err="1"/>
              <a:t>diferentes</a:t>
            </a:r>
            <a:r>
              <a:rPr lang="en-US" sz="800" dirty="0"/>
              <a:t> no </a:t>
            </a:r>
            <a:r>
              <a:rPr lang="en-US" sz="800" dirty="0" err="1"/>
              <a:t>mesmo</a:t>
            </a:r>
            <a:r>
              <a:rPr lang="en-US" sz="800" dirty="0"/>
              <a:t> </a:t>
            </a:r>
            <a:r>
              <a:rPr lang="en-US" sz="800" dirty="0" err="1"/>
              <a:t>ano</a:t>
            </a:r>
            <a:r>
              <a:rPr lang="en-US" sz="800" dirty="0"/>
              <a:t> </a:t>
            </a:r>
            <a:r>
              <a:rPr lang="en-US" sz="800" dirty="0" err="1"/>
              <a:t>são</a:t>
            </a:r>
            <a:r>
              <a:rPr lang="en-US" sz="800" dirty="0"/>
              <a:t> </a:t>
            </a:r>
            <a:r>
              <a:rPr lang="en-US" sz="800" dirty="0" err="1"/>
              <a:t>candidatos</a:t>
            </a:r>
            <a:r>
              <a:rPr lang="en-US" sz="800" dirty="0"/>
              <a:t> a </a:t>
            </a:r>
            <a:r>
              <a:rPr lang="en-US" sz="800" dirty="0" err="1"/>
              <a:t>problema</a:t>
            </a:r>
            <a:r>
              <a:rPr lang="en-US" sz="800" dirty="0"/>
              <a:t> </a:t>
            </a:r>
            <a:r>
              <a:rPr lang="en-US" sz="800" dirty="0" err="1"/>
              <a:t>crônico</a:t>
            </a:r>
            <a:r>
              <a:rPr lang="en-US" sz="800" dirty="0"/>
              <a:t> — e </a:t>
            </a:r>
            <a:r>
              <a:rPr lang="en-US" sz="800" dirty="0" err="1"/>
              <a:t>essa</a:t>
            </a:r>
            <a:r>
              <a:rPr lang="en-US" sz="800" dirty="0"/>
              <a:t> </a:t>
            </a:r>
            <a:r>
              <a:rPr lang="en-US" sz="800" dirty="0" err="1"/>
              <a:t>variável</a:t>
            </a:r>
            <a:r>
              <a:rPr lang="en-US" sz="800" dirty="0"/>
              <a:t> </a:t>
            </a:r>
            <a:r>
              <a:rPr lang="en-US" sz="800" dirty="0" err="1"/>
              <a:t>apareceu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das </a:t>
            </a:r>
            <a:r>
              <a:rPr lang="en-US" sz="800" dirty="0" err="1"/>
              <a:t>explicativas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fortes (Spearman 0.70), o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faz</a:t>
            </a:r>
            <a:r>
              <a:rPr lang="en-US" sz="800" dirty="0"/>
              <a:t> </a:t>
            </a:r>
            <a:r>
              <a:rPr lang="en-US" sz="800" dirty="0" err="1"/>
              <a:t>sentido</a:t>
            </a:r>
            <a:r>
              <a:rPr lang="en-US" sz="800" dirty="0"/>
              <a:t>: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sistemas</a:t>
            </a:r>
            <a:r>
              <a:rPr lang="en-US" sz="800" dirty="0"/>
              <a:t> </a:t>
            </a:r>
            <a:r>
              <a:rPr lang="en-US" sz="800" dirty="0" err="1"/>
              <a:t>afetados</a:t>
            </a:r>
            <a:r>
              <a:rPr lang="en-US" sz="800" dirty="0"/>
              <a:t>,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custo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78145-653E-83A6-0668-2B28CB4722E2}"/>
              </a:ext>
            </a:extLst>
          </p:cNvPr>
          <p:cNvSpPr txBox="1"/>
          <p:nvPr/>
        </p:nvSpPr>
        <p:spPr>
          <a:xfrm>
            <a:off x="64008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peculiar, com </a:t>
            </a:r>
            <a:r>
              <a:rPr lang="en-US" sz="800" dirty="0" err="1"/>
              <a:t>três</a:t>
            </a:r>
            <a:r>
              <a:rPr lang="en-US" sz="800" dirty="0"/>
              <a:t> </a:t>
            </a:r>
            <a:r>
              <a:rPr lang="en-US" sz="800" dirty="0" err="1"/>
              <a:t>picos</a:t>
            </a:r>
            <a:r>
              <a:rPr lang="en-US" sz="800" dirty="0"/>
              <a:t> claros: 0 (</a:t>
            </a:r>
            <a:r>
              <a:rPr lang="en-US" sz="800" dirty="0" err="1"/>
              <a:t>nenhuma</a:t>
            </a:r>
            <a:r>
              <a:rPr lang="en-US" sz="800" dirty="0"/>
              <a:t>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preventiva</a:t>
            </a:r>
            <a:r>
              <a:rPr lang="en-US" sz="800" dirty="0"/>
              <a:t>), ~0.5 e 1.0 (</a:t>
            </a:r>
            <a:r>
              <a:rPr lang="en-US" sz="800" dirty="0" err="1"/>
              <a:t>só</a:t>
            </a:r>
            <a:r>
              <a:rPr lang="en-US" sz="800" dirty="0"/>
              <a:t> </a:t>
            </a:r>
            <a:r>
              <a:rPr lang="en-US" sz="800" dirty="0" err="1"/>
              <a:t>preventiva</a:t>
            </a:r>
            <a:r>
              <a:rPr lang="en-US" sz="800" dirty="0"/>
              <a:t>) — </a:t>
            </a:r>
            <a:r>
              <a:rPr lang="en-US" sz="800" dirty="0" err="1"/>
              <a:t>comportamento</a:t>
            </a:r>
            <a:r>
              <a:rPr lang="en-US" sz="800" dirty="0"/>
              <a:t> </a:t>
            </a:r>
            <a:r>
              <a:rPr lang="en-US" sz="800" dirty="0" err="1"/>
              <a:t>típico</a:t>
            </a:r>
            <a:r>
              <a:rPr lang="en-US" sz="800" dirty="0"/>
              <a:t> de </a:t>
            </a:r>
            <a:r>
              <a:rPr lang="en-US" sz="800" dirty="0" err="1"/>
              <a:t>proporção</a:t>
            </a:r>
            <a:r>
              <a:rPr lang="en-US" sz="800" dirty="0"/>
              <a:t> com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eventos</a:t>
            </a:r>
            <a:r>
              <a:rPr lang="en-US" sz="800" dirty="0"/>
              <a:t> no </a:t>
            </a:r>
            <a:r>
              <a:rPr lang="en-US" sz="800" dirty="0" err="1"/>
              <a:t>denominador</a:t>
            </a:r>
            <a:r>
              <a:rPr lang="en-US" sz="800" dirty="0"/>
              <a:t> (com 2 OS, o share </a:t>
            </a:r>
            <a:r>
              <a:rPr lang="en-US" sz="800" dirty="0" err="1"/>
              <a:t>só</a:t>
            </a:r>
            <a:r>
              <a:rPr lang="en-US" sz="800" dirty="0"/>
              <a:t> </a:t>
            </a:r>
            <a:r>
              <a:rPr lang="en-US" sz="800" dirty="0" err="1"/>
              <a:t>pode</a:t>
            </a:r>
            <a:r>
              <a:rPr lang="en-US" sz="800" dirty="0"/>
              <a:t> ser 0, 0.5 </a:t>
            </a:r>
            <a:r>
              <a:rPr lang="en-US" sz="800" dirty="0" err="1"/>
              <a:t>ou</a:t>
            </a:r>
            <a:r>
              <a:rPr lang="en-US" sz="800" dirty="0"/>
              <a:t> 1). A </a:t>
            </a:r>
            <a:r>
              <a:rPr lang="en-US" sz="800" dirty="0" err="1"/>
              <a:t>correlação</a:t>
            </a:r>
            <a:r>
              <a:rPr lang="en-US" sz="800" dirty="0"/>
              <a:t> </a:t>
            </a:r>
            <a:r>
              <a:rPr lang="en-US" sz="800" dirty="0" err="1"/>
              <a:t>negativa</a:t>
            </a:r>
            <a:r>
              <a:rPr lang="en-US" sz="800" dirty="0"/>
              <a:t> com </a:t>
            </a:r>
            <a:r>
              <a:rPr lang="en-US" sz="800" dirty="0" err="1"/>
              <a:t>custo</a:t>
            </a:r>
            <a:r>
              <a:rPr lang="en-US" sz="800" dirty="0"/>
              <a:t> vista antes </a:t>
            </a:r>
            <a:r>
              <a:rPr lang="en-US" sz="800" dirty="0" err="1"/>
              <a:t>sugere</a:t>
            </a:r>
            <a:r>
              <a:rPr lang="en-US" sz="800" dirty="0"/>
              <a:t>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veículos</a:t>
            </a:r>
            <a:r>
              <a:rPr lang="en-US" sz="800" dirty="0"/>
              <a:t> com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preventiva</a:t>
            </a:r>
            <a:r>
              <a:rPr lang="en-US" sz="800" dirty="0"/>
              <a:t> </a:t>
            </a:r>
            <a:r>
              <a:rPr lang="en-US" sz="800" dirty="0" err="1"/>
              <a:t>custam</a:t>
            </a:r>
            <a:r>
              <a:rPr lang="en-US" sz="800" dirty="0"/>
              <a:t> </a:t>
            </a:r>
            <a:r>
              <a:rPr lang="en-US" sz="800" dirty="0" err="1"/>
              <a:t>menos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9EE58F-334D-BF8D-0FD2-DC9023BF3E9C}"/>
              </a:ext>
            </a:extLst>
          </p:cNvPr>
          <p:cNvSpPr txBox="1"/>
          <p:nvPr/>
        </p:nvSpPr>
        <p:spPr>
          <a:xfrm>
            <a:off x="621792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Contagem</a:t>
            </a:r>
            <a:r>
              <a:rPr lang="en-US" sz="800" dirty="0"/>
              <a:t> com </a:t>
            </a:r>
            <a:r>
              <a:rPr lang="en-US" sz="800" dirty="0" err="1"/>
              <a:t>moda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2 OS/</a:t>
            </a:r>
            <a:r>
              <a:rPr lang="en-US" sz="800" dirty="0" err="1"/>
              <a:t>ano</a:t>
            </a:r>
            <a:r>
              <a:rPr lang="en-US" sz="800" dirty="0"/>
              <a:t>, </a:t>
            </a:r>
            <a:r>
              <a:rPr lang="en-US" sz="800" dirty="0" err="1"/>
              <a:t>mediana</a:t>
            </a:r>
            <a:r>
              <a:rPr lang="en-US" sz="800" dirty="0"/>
              <a:t> de ~3 e cauda </a:t>
            </a:r>
            <a:r>
              <a:rPr lang="en-US" sz="800" dirty="0" err="1"/>
              <a:t>até</a:t>
            </a:r>
            <a:r>
              <a:rPr lang="en-US" sz="800" dirty="0"/>
              <a:t> 20+, com outliers </a:t>
            </a:r>
            <a:r>
              <a:rPr lang="en-US" sz="800" dirty="0" err="1"/>
              <a:t>acima</a:t>
            </a:r>
            <a:r>
              <a:rPr lang="en-US" sz="800" dirty="0"/>
              <a:t> de 12. Como </a:t>
            </a:r>
            <a:r>
              <a:rPr lang="en-US" sz="800" dirty="0" err="1"/>
              <a:t>é</a:t>
            </a:r>
            <a:r>
              <a:rPr lang="en-US" sz="800" dirty="0"/>
              <a:t> </a:t>
            </a:r>
            <a:r>
              <a:rPr lang="en-US" sz="800" dirty="0" err="1"/>
              <a:t>componente</a:t>
            </a:r>
            <a:r>
              <a:rPr lang="en-US" sz="800" dirty="0"/>
              <a:t> </a:t>
            </a:r>
            <a:r>
              <a:rPr lang="en-US" sz="800" dirty="0" err="1"/>
              <a:t>direto</a:t>
            </a:r>
            <a:r>
              <a:rPr lang="en-US" sz="800" dirty="0"/>
              <a:t> do Y (</a:t>
            </a:r>
            <a:r>
              <a:rPr lang="en-US" sz="800" dirty="0" err="1"/>
              <a:t>custo</a:t>
            </a:r>
            <a:r>
              <a:rPr lang="en-US" sz="800" dirty="0"/>
              <a:t> = nº OS ×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médio</a:t>
            </a:r>
            <a:r>
              <a:rPr lang="en-US" sz="800" dirty="0"/>
              <a:t>), serve para </a:t>
            </a:r>
            <a:r>
              <a:rPr lang="en-US" sz="800" dirty="0" err="1"/>
              <a:t>entender</a:t>
            </a:r>
            <a:r>
              <a:rPr lang="en-US" sz="800" dirty="0"/>
              <a:t> o </a:t>
            </a:r>
            <a:r>
              <a:rPr lang="en-US" sz="800" dirty="0" err="1"/>
              <a:t>comportamento</a:t>
            </a:r>
            <a:r>
              <a:rPr lang="en-US" sz="800" dirty="0"/>
              <a:t> da </a:t>
            </a:r>
            <a:r>
              <a:rPr lang="en-US" sz="800" dirty="0" err="1"/>
              <a:t>frota</a:t>
            </a:r>
            <a:r>
              <a:rPr lang="en-US" sz="800" dirty="0"/>
              <a:t>, mas </a:t>
            </a:r>
            <a:r>
              <a:rPr lang="en-US" sz="800" dirty="0" err="1"/>
              <a:t>não</a:t>
            </a:r>
            <a:r>
              <a:rPr lang="en-US" sz="800" dirty="0"/>
              <a:t> </a:t>
            </a:r>
            <a:r>
              <a:rPr lang="en-US" sz="800" dirty="0" err="1"/>
              <a:t>pode</a:t>
            </a:r>
            <a:r>
              <a:rPr lang="en-US" sz="800" dirty="0"/>
              <a:t> </a:t>
            </a:r>
            <a:r>
              <a:rPr lang="en-US" sz="800" dirty="0" err="1"/>
              <a:t>entrar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</a:t>
            </a:r>
            <a:r>
              <a:rPr lang="en-US" sz="800" dirty="0" err="1"/>
              <a:t>preditora</a:t>
            </a:r>
            <a:r>
              <a:rPr lang="en-US" sz="800" dirty="0"/>
              <a:t> no </a:t>
            </a:r>
            <a:r>
              <a:rPr lang="en-US" sz="800" dirty="0" err="1"/>
              <a:t>modelo</a:t>
            </a:r>
            <a:r>
              <a:rPr lang="en-US" sz="800" dirty="0"/>
              <a:t>.</a:t>
            </a:r>
            <a:endParaRPr lang="en-BR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— histórico defasado e custo por 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5394960" cy="203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82496"/>
            <a:ext cx="5394960" cy="203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1376"/>
            <a:ext cx="5394960" cy="20391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51376"/>
            <a:ext cx="5394960" cy="2039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1B7047-5BAA-39F5-6B6D-71B5DD8C7820}"/>
              </a:ext>
            </a:extLst>
          </p:cNvPr>
          <p:cNvSpPr txBox="1"/>
          <p:nvPr/>
        </p:nvSpPr>
        <p:spPr>
          <a:xfrm>
            <a:off x="640080" y="3715398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Forte </a:t>
            </a:r>
            <a:r>
              <a:rPr lang="en-US" sz="800" dirty="0" err="1"/>
              <a:t>assimetria</a:t>
            </a:r>
            <a:r>
              <a:rPr lang="en-US" sz="800" dirty="0"/>
              <a:t> à </a:t>
            </a:r>
            <a:r>
              <a:rPr lang="en-US" sz="800" dirty="0" err="1"/>
              <a:t>direita</a:t>
            </a:r>
            <a:r>
              <a:rPr lang="en-US" sz="800" dirty="0"/>
              <a:t>, com </a:t>
            </a:r>
            <a:r>
              <a:rPr lang="en-US" sz="800" dirty="0" err="1"/>
              <a:t>concentração</a:t>
            </a:r>
            <a:r>
              <a:rPr lang="en-US" sz="800" dirty="0"/>
              <a:t> de carretas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baixos</a:t>
            </a:r>
            <a:r>
              <a:rPr lang="en-US" sz="800" dirty="0"/>
              <a:t> custos </a:t>
            </a:r>
            <a:r>
              <a:rPr lang="en-US" sz="800" dirty="0" err="1"/>
              <a:t>acumulados</a:t>
            </a:r>
            <a:r>
              <a:rPr lang="en-US" sz="800" dirty="0"/>
              <a:t> e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 </a:t>
            </a:r>
            <a:r>
              <a:rPr lang="en-US" sz="800" dirty="0" err="1"/>
              <a:t>concentrando</a:t>
            </a:r>
            <a:r>
              <a:rPr lang="en-US" sz="800" dirty="0"/>
              <a:t> </a:t>
            </a:r>
            <a:r>
              <a:rPr lang="en-US" sz="800" dirty="0" err="1"/>
              <a:t>gastos</a:t>
            </a:r>
            <a:r>
              <a:rPr lang="en-US" sz="800" dirty="0"/>
              <a:t> </a:t>
            </a:r>
            <a:r>
              <a:rPr lang="en-US" sz="800" dirty="0" err="1"/>
              <a:t>muito</a:t>
            </a:r>
            <a:r>
              <a:rPr lang="en-US" sz="800" dirty="0"/>
              <a:t> </a:t>
            </a:r>
            <a:r>
              <a:rPr lang="en-US" sz="800" dirty="0" err="1"/>
              <a:t>elevados</a:t>
            </a:r>
            <a:r>
              <a:rPr lang="en-US" sz="800" dirty="0"/>
              <a:t>. A grande </a:t>
            </a:r>
            <a:r>
              <a:rPr lang="en-US" sz="800" dirty="0" err="1"/>
              <a:t>quantidade</a:t>
            </a:r>
            <a:r>
              <a:rPr lang="en-US" sz="800" dirty="0"/>
              <a:t> de outliers </a:t>
            </a:r>
            <a:r>
              <a:rPr lang="en-US" sz="800" dirty="0" err="1"/>
              <a:t>evidencia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parcela</a:t>
            </a:r>
            <a:r>
              <a:rPr lang="en-US" sz="800" dirty="0"/>
              <a:t> </a:t>
            </a:r>
            <a:r>
              <a:rPr lang="en-US" sz="800" dirty="0" err="1"/>
              <a:t>reduzida</a:t>
            </a:r>
            <a:r>
              <a:rPr lang="en-US" sz="800" dirty="0"/>
              <a:t> da </a:t>
            </a:r>
            <a:r>
              <a:rPr lang="en-US" sz="800" dirty="0" err="1"/>
              <a:t>frota</a:t>
            </a:r>
            <a:r>
              <a:rPr lang="en-US" sz="800" dirty="0"/>
              <a:t> com histórico de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significativamente</a:t>
            </a:r>
            <a:r>
              <a:rPr lang="en-US" sz="800" dirty="0"/>
              <a:t> superior </a:t>
            </a:r>
            <a:r>
              <a:rPr lang="en-US" sz="800" dirty="0" err="1"/>
              <a:t>ao</a:t>
            </a:r>
            <a:r>
              <a:rPr lang="en-US" sz="800" dirty="0"/>
              <a:t> restante.</a:t>
            </a:r>
            <a:endParaRPr lang="en-B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3EA5F-E451-D95F-490C-3BA4D4D2E27B}"/>
              </a:ext>
            </a:extLst>
          </p:cNvPr>
          <p:cNvSpPr txBox="1"/>
          <p:nvPr/>
        </p:nvSpPr>
        <p:spPr>
          <a:xfrm>
            <a:off x="6217920" y="3716527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maioria</a:t>
            </a:r>
            <a:r>
              <a:rPr lang="en-US" sz="800" dirty="0"/>
              <a:t> das carretas </a:t>
            </a:r>
            <a:r>
              <a:rPr lang="en-US" sz="800" dirty="0" err="1"/>
              <a:t>acumula</a:t>
            </a:r>
            <a:r>
              <a:rPr lang="en-US" sz="800" dirty="0"/>
              <a:t> </a:t>
            </a:r>
            <a:r>
              <a:rPr lang="en-US" sz="800" dirty="0" err="1"/>
              <a:t>poucas</a:t>
            </a:r>
            <a:r>
              <a:rPr lang="en-US" sz="800" dirty="0"/>
              <a:t> </a:t>
            </a:r>
            <a:r>
              <a:rPr lang="en-US" sz="800" dirty="0" err="1"/>
              <a:t>ordens</a:t>
            </a:r>
            <a:r>
              <a:rPr lang="en-US" sz="800" dirty="0"/>
              <a:t> de </a:t>
            </a:r>
            <a:r>
              <a:rPr lang="en-US" sz="800" dirty="0" err="1"/>
              <a:t>serviço</a:t>
            </a:r>
            <a:r>
              <a:rPr lang="en-US" sz="800" dirty="0"/>
              <a:t> </a:t>
            </a:r>
            <a:r>
              <a:rPr lang="en-US" sz="800" dirty="0" err="1"/>
              <a:t>ao</a:t>
            </a:r>
            <a:r>
              <a:rPr lang="en-US" sz="800" dirty="0"/>
              <a:t> </a:t>
            </a:r>
            <a:r>
              <a:rPr lang="en-US" sz="800" dirty="0" err="1"/>
              <a:t>longo</a:t>
            </a:r>
            <a:r>
              <a:rPr lang="en-US" sz="800" dirty="0"/>
              <a:t> do histórico, </a:t>
            </a:r>
            <a:r>
              <a:rPr lang="en-US" sz="800" dirty="0" err="1"/>
              <a:t>enquanto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pequena</a:t>
            </a:r>
            <a:r>
              <a:rPr lang="en-US" sz="800" dirty="0"/>
              <a:t> </a:t>
            </a:r>
            <a:r>
              <a:rPr lang="en-US" sz="800" dirty="0" err="1"/>
              <a:t>parcela</a:t>
            </a:r>
            <a:r>
              <a:rPr lang="en-US" sz="800" dirty="0"/>
              <a:t> </a:t>
            </a:r>
            <a:r>
              <a:rPr lang="en-US" sz="800" dirty="0" err="1"/>
              <a:t>apresenta</a:t>
            </a:r>
            <a:r>
              <a:rPr lang="en-US" sz="800" dirty="0"/>
              <a:t> </a:t>
            </a:r>
            <a:r>
              <a:rPr lang="en-US" sz="800" dirty="0" err="1"/>
              <a:t>recorrência</a:t>
            </a:r>
            <a:r>
              <a:rPr lang="en-US" sz="800" dirty="0"/>
              <a:t> </a:t>
            </a:r>
            <a:r>
              <a:rPr lang="en-US" sz="800" dirty="0" err="1"/>
              <a:t>elevada</a:t>
            </a:r>
            <a:r>
              <a:rPr lang="en-US" sz="800" dirty="0"/>
              <a:t> de </a:t>
            </a:r>
            <a:r>
              <a:rPr lang="en-US" sz="800" dirty="0" err="1"/>
              <a:t>intervenções</a:t>
            </a:r>
            <a:r>
              <a:rPr lang="en-US" sz="800" dirty="0"/>
              <a:t>. O </a:t>
            </a:r>
            <a:r>
              <a:rPr lang="en-US" sz="800" dirty="0" err="1"/>
              <a:t>comportamento</a:t>
            </a:r>
            <a:r>
              <a:rPr lang="en-US" sz="800" dirty="0"/>
              <a:t> </a:t>
            </a:r>
            <a:r>
              <a:rPr lang="en-US" sz="800" dirty="0" err="1"/>
              <a:t>reforça</a:t>
            </a:r>
            <a:r>
              <a:rPr lang="en-US" sz="800" dirty="0"/>
              <a:t>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existem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 com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intensidade</a:t>
            </a:r>
            <a:r>
              <a:rPr lang="en-US" sz="800" dirty="0"/>
              <a:t> de </a:t>
            </a:r>
            <a:r>
              <a:rPr lang="en-US" sz="800" dirty="0" err="1"/>
              <a:t>manutenção</a:t>
            </a:r>
            <a:r>
              <a:rPr lang="en-US" sz="800" dirty="0"/>
              <a:t>, </a:t>
            </a:r>
            <a:r>
              <a:rPr lang="en-US" sz="800" dirty="0" err="1"/>
              <a:t>refletindo</a:t>
            </a:r>
            <a:r>
              <a:rPr lang="en-US" sz="800" dirty="0"/>
              <a:t> </a:t>
            </a:r>
            <a:r>
              <a:rPr lang="en-US" sz="800" dirty="0" err="1"/>
              <a:t>diferentes</a:t>
            </a:r>
            <a:r>
              <a:rPr lang="en-US" sz="800" dirty="0"/>
              <a:t> </a:t>
            </a:r>
            <a:r>
              <a:rPr lang="en-US" sz="800" dirty="0" err="1"/>
              <a:t>perfis</a:t>
            </a:r>
            <a:r>
              <a:rPr lang="en-US" sz="800" dirty="0"/>
              <a:t> de </a:t>
            </a:r>
            <a:r>
              <a:rPr lang="en-US" sz="800" dirty="0" err="1"/>
              <a:t>utilização</a:t>
            </a:r>
            <a:r>
              <a:rPr lang="en-US" sz="800" dirty="0"/>
              <a:t> e </a:t>
            </a:r>
            <a:r>
              <a:rPr lang="en-US" sz="800" dirty="0" err="1"/>
              <a:t>desgaste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070E6-B16C-207E-D961-619DFD3CBC66}"/>
              </a:ext>
            </a:extLst>
          </p:cNvPr>
          <p:cNvSpPr txBox="1"/>
          <p:nvPr/>
        </p:nvSpPr>
        <p:spPr>
          <a:xfrm>
            <a:off x="64008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é</a:t>
            </a:r>
            <a:r>
              <a:rPr lang="en-US" sz="800" dirty="0"/>
              <a:t> </a:t>
            </a:r>
            <a:r>
              <a:rPr lang="en-US" sz="800" dirty="0" err="1"/>
              <a:t>relativamente</a:t>
            </a:r>
            <a:r>
              <a:rPr lang="en-US" sz="800" dirty="0"/>
              <a:t> </a:t>
            </a:r>
            <a:r>
              <a:rPr lang="en-US" sz="800" dirty="0" err="1"/>
              <a:t>equilibrada</a:t>
            </a:r>
            <a:r>
              <a:rPr lang="en-US" sz="800" dirty="0"/>
              <a:t> entre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anos</a:t>
            </a:r>
            <a:r>
              <a:rPr lang="en-US" sz="800" dirty="0"/>
              <a:t> </a:t>
            </a:r>
            <a:r>
              <a:rPr lang="en-US" sz="800" dirty="0" err="1"/>
              <a:t>disponíveis</a:t>
            </a:r>
            <a:r>
              <a:rPr lang="en-US" sz="800" dirty="0"/>
              <a:t> de histórico, </a:t>
            </a:r>
            <a:r>
              <a:rPr lang="en-US" sz="800" dirty="0" err="1"/>
              <a:t>sem</a:t>
            </a:r>
            <a:r>
              <a:rPr lang="en-US" sz="800" dirty="0"/>
              <a:t> </a:t>
            </a:r>
            <a:r>
              <a:rPr lang="en-US" sz="800" dirty="0" err="1"/>
              <a:t>concentração</a:t>
            </a:r>
            <a:r>
              <a:rPr lang="en-US" sz="800" dirty="0"/>
              <a:t> </a:t>
            </a:r>
            <a:r>
              <a:rPr lang="en-US" sz="800" dirty="0" err="1"/>
              <a:t>relevante</a:t>
            </a:r>
            <a:r>
              <a:rPr lang="en-US" sz="800" dirty="0"/>
              <a:t> de outliers. O histórico </a:t>
            </a:r>
            <a:r>
              <a:rPr lang="en-US" sz="800" dirty="0" err="1"/>
              <a:t>contempla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diferentes</a:t>
            </a:r>
            <a:r>
              <a:rPr lang="en-US" sz="800" dirty="0"/>
              <a:t> </a:t>
            </a:r>
            <a:r>
              <a:rPr lang="en-US" sz="800" dirty="0" err="1"/>
              <a:t>estágios</a:t>
            </a:r>
            <a:r>
              <a:rPr lang="en-US" sz="800" dirty="0"/>
              <a:t> de </a:t>
            </a:r>
            <a:r>
              <a:rPr lang="en-US" sz="800" dirty="0" err="1"/>
              <a:t>acompanhamento</a:t>
            </a:r>
            <a:r>
              <a:rPr lang="en-US" sz="800" dirty="0"/>
              <a:t>, </a:t>
            </a:r>
            <a:r>
              <a:rPr lang="en-US" sz="800" dirty="0" err="1"/>
              <a:t>permitindo</a:t>
            </a:r>
            <a:r>
              <a:rPr lang="en-US" sz="800" dirty="0"/>
              <a:t> </a:t>
            </a:r>
            <a:r>
              <a:rPr lang="en-US" sz="800" dirty="0" err="1"/>
              <a:t>avaliar</a:t>
            </a:r>
            <a:r>
              <a:rPr lang="en-US" sz="800" dirty="0"/>
              <a:t> a </a:t>
            </a:r>
            <a:r>
              <a:rPr lang="en-US" sz="800" dirty="0" err="1"/>
              <a:t>influência</a:t>
            </a:r>
            <a:r>
              <a:rPr lang="en-US" sz="800" dirty="0"/>
              <a:t> da </a:t>
            </a:r>
            <a:r>
              <a:rPr lang="en-US" sz="800" dirty="0" err="1"/>
              <a:t>experiência</a:t>
            </a:r>
            <a:r>
              <a:rPr lang="en-US" sz="800" dirty="0"/>
              <a:t> </a:t>
            </a:r>
            <a:r>
              <a:rPr lang="en-US" sz="800" dirty="0" err="1"/>
              <a:t>operacional</a:t>
            </a:r>
            <a:r>
              <a:rPr lang="en-US" sz="800" dirty="0"/>
              <a:t> </a:t>
            </a:r>
            <a:r>
              <a:rPr lang="en-US" sz="800" dirty="0" err="1"/>
              <a:t>ao</a:t>
            </a:r>
            <a:r>
              <a:rPr lang="en-US" sz="800" dirty="0"/>
              <a:t> </a:t>
            </a:r>
            <a:r>
              <a:rPr lang="en-US" sz="800" dirty="0" err="1"/>
              <a:t>longo</a:t>
            </a:r>
            <a:r>
              <a:rPr lang="en-US" sz="800" dirty="0"/>
              <a:t> do tempo.</a:t>
            </a:r>
            <a:endParaRPr lang="en-BR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25854-17E9-D5D5-9B08-754A6C064617}"/>
              </a:ext>
            </a:extLst>
          </p:cNvPr>
          <p:cNvSpPr txBox="1"/>
          <p:nvPr/>
        </p:nvSpPr>
        <p:spPr>
          <a:xfrm>
            <a:off x="621792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assimétrica</a:t>
            </a:r>
            <a:r>
              <a:rPr lang="en-US" sz="800" dirty="0"/>
              <a:t>, </a:t>
            </a:r>
            <a:r>
              <a:rPr lang="en-US" sz="800" dirty="0" err="1"/>
              <a:t>concentrando</a:t>
            </a:r>
            <a:r>
              <a:rPr lang="en-US" sz="800" dirty="0"/>
              <a:t> </a:t>
            </a:r>
            <a:r>
              <a:rPr lang="en-US" sz="800" dirty="0" err="1"/>
              <a:t>ordens</a:t>
            </a:r>
            <a:r>
              <a:rPr lang="en-US" sz="800" dirty="0"/>
              <a:t> de </a:t>
            </a:r>
            <a:r>
              <a:rPr lang="en-US" sz="800" dirty="0" err="1"/>
              <a:t>serviço</a:t>
            </a:r>
            <a:r>
              <a:rPr lang="en-US" sz="800" dirty="0"/>
              <a:t> de </a:t>
            </a:r>
            <a:r>
              <a:rPr lang="en-US" sz="800" dirty="0" err="1"/>
              <a:t>menor</a:t>
            </a:r>
            <a:r>
              <a:rPr lang="en-US" sz="800" dirty="0"/>
              <a:t> </a:t>
            </a:r>
            <a:r>
              <a:rPr lang="en-US" sz="800" dirty="0" err="1"/>
              <a:t>custo</a:t>
            </a:r>
            <a:r>
              <a:rPr lang="en-US" sz="800" dirty="0"/>
              <a:t> e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reparos</a:t>
            </a:r>
            <a:r>
              <a:rPr lang="en-US" sz="800" dirty="0"/>
              <a:t> com </a:t>
            </a:r>
            <a:r>
              <a:rPr lang="en-US" sz="800" dirty="0" err="1"/>
              <a:t>valores</a:t>
            </a:r>
            <a:r>
              <a:rPr lang="en-US" sz="800" dirty="0"/>
              <a:t> </a:t>
            </a:r>
            <a:r>
              <a:rPr lang="en-US" sz="800" dirty="0" err="1"/>
              <a:t>significativamente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elevados</a:t>
            </a:r>
            <a:r>
              <a:rPr lang="en-US" sz="800" dirty="0"/>
              <a:t>. A </a:t>
            </a:r>
            <a:r>
              <a:rPr lang="en-US" sz="800" dirty="0" err="1"/>
              <a:t>presença</a:t>
            </a:r>
            <a:r>
              <a:rPr lang="en-US" sz="800" dirty="0"/>
              <a:t> de </a:t>
            </a:r>
            <a:r>
              <a:rPr lang="en-US" sz="800" dirty="0" err="1"/>
              <a:t>diversos</a:t>
            </a:r>
            <a:r>
              <a:rPr lang="en-US" sz="800" dirty="0"/>
              <a:t> outliers indica </a:t>
            </a:r>
            <a:r>
              <a:rPr lang="en-US" sz="800" dirty="0" err="1"/>
              <a:t>eventos</a:t>
            </a:r>
            <a:r>
              <a:rPr lang="en-US" sz="800" dirty="0"/>
              <a:t> de </a:t>
            </a:r>
            <a:r>
              <a:rPr lang="en-US" sz="800" dirty="0" err="1"/>
              <a:t>manutenção</a:t>
            </a:r>
            <a:r>
              <a:rPr lang="en-US" sz="800" dirty="0"/>
              <a:t> de alto </a:t>
            </a:r>
            <a:r>
              <a:rPr lang="en-US" sz="800" dirty="0" err="1"/>
              <a:t>impacto</a:t>
            </a:r>
            <a:r>
              <a:rPr lang="en-US" sz="800" dirty="0"/>
              <a:t> </a:t>
            </a:r>
            <a:r>
              <a:rPr lang="en-US" sz="800" dirty="0" err="1"/>
              <a:t>financeiro</a:t>
            </a:r>
            <a:r>
              <a:rPr lang="en-US" sz="800" dirty="0"/>
              <a:t>, </a:t>
            </a:r>
            <a:r>
              <a:rPr lang="en-US" sz="800" dirty="0" err="1"/>
              <a:t>característicos</a:t>
            </a:r>
            <a:r>
              <a:rPr lang="en-US" sz="800" dirty="0"/>
              <a:t> de </a:t>
            </a:r>
            <a:r>
              <a:rPr lang="en-US" sz="800" dirty="0" err="1"/>
              <a:t>operações</a:t>
            </a:r>
            <a:r>
              <a:rPr lang="en-US" sz="800" dirty="0"/>
              <a:t> de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pesada</a:t>
            </a:r>
            <a:r>
              <a:rPr lang="en-US" sz="800" dirty="0"/>
              <a:t>.</a:t>
            </a:r>
            <a:endParaRPr lang="en-BR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Boxplots</a:t>
            </a:r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 do custo anual por categoria</a:t>
            </a:r>
          </a:p>
        </p:txBody>
      </p:sp>
      <p:pic>
        <p:nvPicPr>
          <p:cNvPr id="6" name="Picture 5" descr="quali_flag_refrig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" y="1490682"/>
            <a:ext cx="4857750" cy="2286000"/>
          </a:xfrm>
          <a:prstGeom prst="rect">
            <a:avLst/>
          </a:prstGeom>
        </p:spPr>
      </p:pic>
      <p:pic>
        <p:nvPicPr>
          <p:cNvPr id="7" name="Picture 6" descr="quali_unit_sub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490682"/>
            <a:ext cx="4857750" cy="2286000"/>
          </a:xfrm>
          <a:prstGeom prst="rect">
            <a:avLst/>
          </a:prstGeom>
        </p:spPr>
      </p:pic>
      <p:pic>
        <p:nvPicPr>
          <p:cNvPr id="8" name="Picture 7" descr="quali_cod_montad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" y="4129690"/>
            <a:ext cx="4857750" cy="2286000"/>
          </a:xfrm>
          <a:prstGeom prst="rect">
            <a:avLst/>
          </a:prstGeom>
        </p:spPr>
      </p:pic>
      <p:pic>
        <p:nvPicPr>
          <p:cNvPr id="9" name="Picture 8" descr="quali_vmrs_predominante_a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129690"/>
            <a:ext cx="485775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E9EC61-56A5-1744-7FEF-90001A338135}"/>
              </a:ext>
            </a:extLst>
          </p:cNvPr>
          <p:cNvSpPr txBox="1"/>
          <p:nvPr/>
        </p:nvSpPr>
        <p:spPr>
          <a:xfrm>
            <a:off x="908685" y="3776682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carretas </a:t>
            </a:r>
            <a:r>
              <a:rPr lang="en-US" sz="800" dirty="0" err="1"/>
              <a:t>refrigeradas</a:t>
            </a:r>
            <a:r>
              <a:rPr lang="en-US" sz="800" dirty="0"/>
              <a:t>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de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alta</a:t>
            </a:r>
            <a:r>
              <a:rPr lang="en-US" sz="800" dirty="0"/>
              <a:t> e </a:t>
            </a:r>
            <a:r>
              <a:rPr lang="en-US" sz="800" dirty="0" err="1"/>
              <a:t>dispersão</a:t>
            </a:r>
            <a:r>
              <a:rPr lang="en-US" sz="800" dirty="0"/>
              <a:t> </a:t>
            </a:r>
            <a:r>
              <a:rPr lang="en-US" sz="800" dirty="0" err="1"/>
              <a:t>muito</a:t>
            </a:r>
            <a:r>
              <a:rPr lang="en-US" sz="800" dirty="0"/>
              <a:t> </a:t>
            </a:r>
            <a:r>
              <a:rPr lang="en-US" sz="800" dirty="0" err="1"/>
              <a:t>maior</a:t>
            </a:r>
            <a:r>
              <a:rPr lang="en-US" sz="800" dirty="0"/>
              <a:t> do </a:t>
            </a:r>
            <a:r>
              <a:rPr lang="en-US" sz="800" dirty="0" err="1"/>
              <a:t>que</a:t>
            </a:r>
            <a:r>
              <a:rPr lang="en-US" sz="800" dirty="0"/>
              <a:t> as </a:t>
            </a:r>
            <a:r>
              <a:rPr lang="en-US" sz="800" dirty="0" err="1"/>
              <a:t>não</a:t>
            </a:r>
            <a:r>
              <a:rPr lang="en-US" sz="800" dirty="0"/>
              <a:t> </a:t>
            </a:r>
            <a:r>
              <a:rPr lang="en-US" sz="800" dirty="0" err="1"/>
              <a:t>refrigeradas</a:t>
            </a:r>
            <a:r>
              <a:rPr lang="en-US" sz="800" dirty="0"/>
              <a:t>.</a:t>
            </a:r>
            <a:endParaRPr lang="en-BR" sz="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D79CD-2954-ACA9-F3D3-E14FC7D03C9B}"/>
              </a:ext>
            </a:extLst>
          </p:cNvPr>
          <p:cNvSpPr txBox="1"/>
          <p:nvPr/>
        </p:nvSpPr>
        <p:spPr>
          <a:xfrm>
            <a:off x="6486525" y="3791136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RC2, RHM2 e HC3 </a:t>
            </a:r>
            <a:r>
              <a:rPr lang="en-US" sz="800" dirty="0" err="1"/>
              <a:t>concentram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maiores</a:t>
            </a:r>
            <a:r>
              <a:rPr lang="en-US" sz="800" dirty="0"/>
              <a:t> custos </a:t>
            </a:r>
            <a:r>
              <a:rPr lang="en-US" sz="800" dirty="0" err="1"/>
              <a:t>medianos</a:t>
            </a:r>
            <a:r>
              <a:rPr lang="en-US" sz="800" dirty="0"/>
              <a:t> e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;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demais</a:t>
            </a:r>
            <a:r>
              <a:rPr lang="en-US" sz="800" dirty="0"/>
              <a:t> </a:t>
            </a:r>
            <a:r>
              <a:rPr lang="en-US" sz="800" dirty="0" err="1"/>
              <a:t>subtipos</a:t>
            </a:r>
            <a:r>
              <a:rPr lang="en-US" sz="800" dirty="0"/>
              <a:t> </a:t>
            </a:r>
            <a:r>
              <a:rPr lang="en-US" sz="800" dirty="0" err="1"/>
              <a:t>ficam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níveis</a:t>
            </a:r>
            <a:r>
              <a:rPr lang="en-US" sz="800" dirty="0"/>
              <a:t> </a:t>
            </a:r>
            <a:r>
              <a:rPr lang="en-US" sz="800" dirty="0" err="1"/>
              <a:t>inferiores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00BFC-8E51-4C39-1BEE-25EA7B3A8657}"/>
              </a:ext>
            </a:extLst>
          </p:cNvPr>
          <p:cNvSpPr txBox="1"/>
          <p:nvPr/>
        </p:nvSpPr>
        <p:spPr>
          <a:xfrm>
            <a:off x="908685" y="6413981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</a:t>
            </a:r>
            <a:r>
              <a:rPr lang="en-US" sz="800" dirty="0" err="1"/>
              <a:t>medianas</a:t>
            </a:r>
            <a:r>
              <a:rPr lang="en-US" sz="800" dirty="0"/>
              <a:t> </a:t>
            </a:r>
            <a:r>
              <a:rPr lang="en-US" sz="800" dirty="0" err="1"/>
              <a:t>são</a:t>
            </a:r>
            <a:r>
              <a:rPr lang="en-US" sz="800" dirty="0"/>
              <a:t> </a:t>
            </a:r>
            <a:r>
              <a:rPr lang="en-US" sz="800" dirty="0" err="1"/>
              <a:t>relativamente</a:t>
            </a:r>
            <a:r>
              <a:rPr lang="en-US" sz="800" dirty="0"/>
              <a:t> </a:t>
            </a:r>
            <a:r>
              <a:rPr lang="en-US" sz="800" dirty="0" err="1"/>
              <a:t>próximas</a:t>
            </a:r>
            <a:r>
              <a:rPr lang="en-US" sz="800" dirty="0"/>
              <a:t>, mas Utility </a:t>
            </a:r>
            <a:r>
              <a:rPr lang="en-US" sz="800" dirty="0" err="1"/>
              <a:t>apresenta</a:t>
            </a:r>
            <a:r>
              <a:rPr lang="en-US" sz="800" dirty="0"/>
              <a:t>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; Mond </a:t>
            </a:r>
            <a:r>
              <a:rPr lang="en-US" sz="800" dirty="0" err="1"/>
              <a:t>concentra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menores</a:t>
            </a:r>
            <a:r>
              <a:rPr lang="en-US" sz="800" dirty="0"/>
              <a:t> custos.</a:t>
            </a:r>
            <a:r>
              <a:rPr lang="en-BR" sz="8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9A106-4ECD-979B-6181-B85929E92D70}"/>
              </a:ext>
            </a:extLst>
          </p:cNvPr>
          <p:cNvSpPr txBox="1"/>
          <p:nvPr/>
        </p:nvSpPr>
        <p:spPr>
          <a:xfrm>
            <a:off x="6486525" y="6413981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categoria</a:t>
            </a:r>
            <a:r>
              <a:rPr lang="en-US" sz="800" dirty="0"/>
              <a:t> 10 </a:t>
            </a:r>
            <a:r>
              <a:rPr lang="en-US" sz="800" dirty="0" err="1"/>
              <a:t>possui</a:t>
            </a:r>
            <a:r>
              <a:rPr lang="en-US" sz="800" dirty="0"/>
              <a:t>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e a </a:t>
            </a:r>
            <a:r>
              <a:rPr lang="en-US" sz="800" dirty="0" err="1"/>
              <a:t>maior</a:t>
            </a:r>
            <a:r>
              <a:rPr lang="en-US" sz="800" dirty="0"/>
              <a:t> amplitude de custos; a </a:t>
            </a:r>
            <a:r>
              <a:rPr lang="en-US" sz="800" dirty="0" err="1"/>
              <a:t>categoria</a:t>
            </a:r>
            <a:r>
              <a:rPr lang="en-US" sz="800" dirty="0"/>
              <a:t> SEM_OS </a:t>
            </a:r>
            <a:r>
              <a:rPr lang="en-US" sz="800" dirty="0" err="1"/>
              <a:t>permanece</a:t>
            </a:r>
            <a:r>
              <a:rPr lang="en-US" sz="800" dirty="0"/>
              <a:t> </a:t>
            </a:r>
            <a:r>
              <a:rPr lang="en-US" sz="800" dirty="0" err="1"/>
              <a:t>próxima</a:t>
            </a:r>
            <a:r>
              <a:rPr lang="en-US" sz="800" dirty="0"/>
              <a:t> de zero.</a:t>
            </a:r>
            <a:r>
              <a:rPr lang="en-BR" sz="8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Boxplots por categoria — configuração e tipo do ativo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501315"/>
            <a:ext cx="4855464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01315"/>
            <a:ext cx="4855464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08424"/>
            <a:ext cx="4855464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08424"/>
            <a:ext cx="4855464" cy="228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2BFE8-675D-17C0-D8F0-0592C1402E53}"/>
              </a:ext>
            </a:extLst>
          </p:cNvPr>
          <p:cNvSpPr txBox="1"/>
          <p:nvPr/>
        </p:nvSpPr>
        <p:spPr>
          <a:xfrm>
            <a:off x="908685" y="3776682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</a:t>
            </a:r>
            <a:r>
              <a:rPr lang="en-US" sz="800" dirty="0" err="1"/>
              <a:t>configurações</a:t>
            </a:r>
            <a:r>
              <a:rPr lang="en-US" sz="800" dirty="0"/>
              <a:t> 53' T/A Reefer e 53' Tridem HEA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maiores</a:t>
            </a:r>
            <a:r>
              <a:rPr lang="en-US" sz="800" dirty="0"/>
              <a:t> custos </a:t>
            </a:r>
            <a:r>
              <a:rPr lang="en-US" sz="800" dirty="0" err="1"/>
              <a:t>medianos</a:t>
            </a:r>
            <a:r>
              <a:rPr lang="en-US" sz="800" dirty="0"/>
              <a:t> e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56B43-EDF4-7834-EB34-8EBB08524189}"/>
              </a:ext>
            </a:extLst>
          </p:cNvPr>
          <p:cNvSpPr txBox="1"/>
          <p:nvPr/>
        </p:nvSpPr>
        <p:spPr>
          <a:xfrm>
            <a:off x="6486525" y="3791136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medida</a:t>
            </a:r>
            <a:r>
              <a:rPr lang="en-US" sz="800" dirty="0"/>
              <a:t> 275/80R22.5 se </a:t>
            </a:r>
            <a:r>
              <a:rPr lang="en-US" sz="800" dirty="0" err="1"/>
              <a:t>destaca</a:t>
            </a:r>
            <a:r>
              <a:rPr lang="en-US" sz="800" dirty="0"/>
              <a:t> pela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e </a:t>
            </a:r>
            <a:r>
              <a:rPr lang="en-US" sz="800" dirty="0" err="1"/>
              <a:t>dispersão</a:t>
            </a:r>
            <a:r>
              <a:rPr lang="en-US" sz="800" dirty="0"/>
              <a:t>; as </a:t>
            </a:r>
            <a:r>
              <a:rPr lang="en-US" sz="800" dirty="0" err="1"/>
              <a:t>demais</a:t>
            </a:r>
            <a:r>
              <a:rPr lang="en-US" sz="800" dirty="0"/>
              <a:t> </a:t>
            </a:r>
            <a:r>
              <a:rPr lang="en-US" sz="800" dirty="0" err="1"/>
              <a:t>medidas</a:t>
            </a:r>
            <a:r>
              <a:rPr lang="en-US" sz="800" dirty="0"/>
              <a:t>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distribuições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próximas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310E0-6015-AF66-6B25-C28EC91589EE}"/>
              </a:ext>
            </a:extLst>
          </p:cNvPr>
          <p:cNvSpPr txBox="1"/>
          <p:nvPr/>
        </p:nvSpPr>
        <p:spPr>
          <a:xfrm>
            <a:off x="908685" y="6413981"/>
            <a:ext cx="4857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Hendrickson </a:t>
            </a:r>
            <a:r>
              <a:rPr lang="en-US" sz="800" dirty="0" err="1"/>
              <a:t>apresenta</a:t>
            </a:r>
            <a:r>
              <a:rPr lang="en-US" sz="800" dirty="0"/>
              <a:t>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e </a:t>
            </a:r>
            <a:r>
              <a:rPr lang="en-US" sz="800" dirty="0" err="1"/>
              <a:t>ampla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, </a:t>
            </a:r>
            <a:r>
              <a:rPr lang="en-US" sz="800" dirty="0" err="1"/>
              <a:t>enquanto</a:t>
            </a:r>
            <a:r>
              <a:rPr lang="en-US" sz="800" dirty="0"/>
              <a:t> Chalmers </a:t>
            </a:r>
            <a:r>
              <a:rPr lang="en-US" sz="800" dirty="0" err="1"/>
              <a:t>concentra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menores</a:t>
            </a:r>
            <a:r>
              <a:rPr lang="en-US" sz="800" dirty="0"/>
              <a:t> custos.</a:t>
            </a:r>
            <a:r>
              <a:rPr lang="en-BR" sz="8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0EDB1-8955-4B6D-7946-5F2B9EE0E6C0}"/>
              </a:ext>
            </a:extLst>
          </p:cNvPr>
          <p:cNvSpPr txBox="1"/>
          <p:nvPr/>
        </p:nvSpPr>
        <p:spPr>
          <a:xfrm>
            <a:off x="6486525" y="6413981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</a:t>
            </a:r>
            <a:r>
              <a:rPr lang="en-US" sz="800" dirty="0" err="1"/>
              <a:t>unidades</a:t>
            </a:r>
            <a:r>
              <a:rPr lang="en-US" sz="800" dirty="0"/>
              <a:t> </a:t>
            </a:r>
            <a:r>
              <a:rPr lang="en-US" sz="800" dirty="0" err="1"/>
              <a:t>novas</a:t>
            </a:r>
            <a:r>
              <a:rPr lang="en-US" sz="800" dirty="0"/>
              <a:t> </a:t>
            </a:r>
            <a:r>
              <a:rPr lang="en-US" sz="800" dirty="0" err="1"/>
              <a:t>têm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</a:t>
            </a:r>
            <a:r>
              <a:rPr lang="en-US" sz="800" dirty="0" err="1"/>
              <a:t>ligeiramente</a:t>
            </a:r>
            <a:r>
              <a:rPr lang="en-US" sz="800" dirty="0"/>
              <a:t> superior e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, </a:t>
            </a:r>
            <a:r>
              <a:rPr lang="en-US" sz="800" dirty="0" err="1"/>
              <a:t>embora</a:t>
            </a:r>
            <a:r>
              <a:rPr lang="en-US" sz="800" dirty="0"/>
              <a:t> </a:t>
            </a:r>
            <a:r>
              <a:rPr lang="en-US" sz="800" dirty="0" err="1"/>
              <a:t>exista</a:t>
            </a:r>
            <a:r>
              <a:rPr lang="en-US" sz="800" dirty="0"/>
              <a:t> forte </a:t>
            </a:r>
            <a:r>
              <a:rPr lang="en-US" sz="800" dirty="0" err="1"/>
              <a:t>sobreposição</a:t>
            </a:r>
            <a:r>
              <a:rPr lang="en-US" sz="800" dirty="0"/>
              <a:t> com as </a:t>
            </a:r>
            <a:r>
              <a:rPr lang="en-US" sz="800" dirty="0" err="1"/>
              <a:t>usadas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Boxplots por categoria — geografia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501315"/>
            <a:ext cx="4855464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01315"/>
            <a:ext cx="4855464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3E5327-2480-856F-A454-E90DD5C76E37}"/>
              </a:ext>
            </a:extLst>
          </p:cNvPr>
          <p:cNvSpPr txBox="1"/>
          <p:nvPr/>
        </p:nvSpPr>
        <p:spPr>
          <a:xfrm>
            <a:off x="908685" y="3776682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Balzac e Langley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maiores</a:t>
            </a:r>
            <a:r>
              <a:rPr lang="en-US" sz="800" dirty="0"/>
              <a:t> custos </a:t>
            </a:r>
            <a:r>
              <a:rPr lang="en-US" sz="800" dirty="0" err="1"/>
              <a:t>medianos</a:t>
            </a:r>
            <a:r>
              <a:rPr lang="en-US" sz="800" dirty="0"/>
              <a:t> e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; Winnipeg01 </a:t>
            </a:r>
            <a:r>
              <a:rPr lang="en-US" sz="800" dirty="0" err="1"/>
              <a:t>permanece</a:t>
            </a:r>
            <a:r>
              <a:rPr lang="en-US" sz="800" dirty="0"/>
              <a:t> </a:t>
            </a:r>
            <a:r>
              <a:rPr lang="en-US" sz="800" dirty="0" err="1"/>
              <a:t>concentrada</a:t>
            </a:r>
            <a:r>
              <a:rPr lang="en-US" sz="800" dirty="0"/>
              <a:t> </a:t>
            </a:r>
            <a:r>
              <a:rPr lang="en-US" sz="800" dirty="0" err="1"/>
              <a:t>próxima</a:t>
            </a:r>
            <a:r>
              <a:rPr lang="en-US" sz="800" dirty="0"/>
              <a:t> de zero.</a:t>
            </a:r>
            <a:r>
              <a:rPr lang="en-BR" sz="8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9AC5B-770F-D298-7B59-06836D6EDC43}"/>
              </a:ext>
            </a:extLst>
          </p:cNvPr>
          <p:cNvSpPr txBox="1"/>
          <p:nvPr/>
        </p:nvSpPr>
        <p:spPr>
          <a:xfrm>
            <a:off x="6486525" y="3791136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New Brunswick, Manitoba e Saskatchewan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medianas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elevadas</a:t>
            </a:r>
            <a:r>
              <a:rPr lang="en-US" sz="800" dirty="0"/>
              <a:t>; New Brunswick e Manitoba </a:t>
            </a:r>
            <a:r>
              <a:rPr lang="en-US" sz="800" dirty="0" err="1"/>
              <a:t>também</a:t>
            </a:r>
            <a:r>
              <a:rPr lang="en-US" sz="800" dirty="0"/>
              <a:t> </a:t>
            </a:r>
            <a:r>
              <a:rPr lang="en-US" sz="800" dirty="0" err="1"/>
              <a:t>exibem</a:t>
            </a:r>
            <a:r>
              <a:rPr lang="en-US" sz="800" dirty="0"/>
              <a:t>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Relação individual de cada variável com </a:t>
            </a:r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Y</a:t>
            </a:r>
            <a:endParaRPr lang="pt-BR" sz="2700" b="1" noProof="0" dirty="0">
              <a:solidFill>
                <a:srgbClr val="142B45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416552"/>
              </p:ext>
            </p:extLst>
          </p:nvPr>
        </p:nvGraphicFramePr>
        <p:xfrm>
          <a:off x="944878" y="1737360"/>
          <a:ext cx="4319752" cy="4461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30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 err="1">
                          <a:solidFill>
                            <a:srgbClr val="FFFFFF"/>
                          </a:solidFill>
                        </a:rPr>
                        <a:t>spearman</a:t>
                      </a:r>
                      <a:endParaRPr lang="pt-BR" sz="9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papel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componente de 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Y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0.769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componente de 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Y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0.704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0.452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0.254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-0.172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-0.097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3516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76622"/>
              </p:ext>
            </p:extLst>
          </p:nvPr>
        </p:nvGraphicFramePr>
        <p:xfrm>
          <a:off x="6166340" y="1737360"/>
          <a:ext cx="5212080" cy="4365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219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 err="1">
                          <a:solidFill>
                            <a:srgbClr val="FFFFFF"/>
                          </a:solidFill>
                        </a:rPr>
                        <a:t>eta</a:t>
                      </a:r>
                      <a:endParaRPr lang="pt-BR" sz="9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 err="1">
                          <a:solidFill>
                            <a:srgbClr val="FFFFFF"/>
                          </a:solidFill>
                        </a:rPr>
                        <a:t>n_categorias</a:t>
                      </a:r>
                      <a:endParaRPr lang="pt-BR" sz="9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descricao_carreta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0.5947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0.5505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0.4321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vmrs_predominante_ano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0.3423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cod_montadora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0.2383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tire_size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0.1546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suspension_type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0.1473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0.1424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new_used_indicator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regiao_operacao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0.0775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723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Ranking de associação com o custo anual</a:t>
            </a:r>
          </a:p>
        </p:txBody>
      </p:sp>
      <p:pic>
        <p:nvPicPr>
          <p:cNvPr id="6" name="Picture 5" descr="ranking_associaca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4480"/>
            <a:ext cx="673608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828800"/>
            <a:ext cx="384048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Uso (km) e histórico defasado lideram entre as quantitativas.</a:t>
            </a:r>
          </a:p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Refrigerado e subtipo lideram entre as categóricas.</a:t>
            </a:r>
          </a:p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Idade tem efeito direto fraco.</a:t>
            </a:r>
          </a:p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Componentes aritméticos de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Y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 são excluídos do ranking de explicadores.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Multicolinearidade — matriz e VIF</a:t>
            </a:r>
          </a:p>
        </p:txBody>
      </p:sp>
      <p:pic>
        <p:nvPicPr>
          <p:cNvPr id="6" name="Picture 5" descr="matriz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1" y="1518668"/>
            <a:ext cx="6248702" cy="520725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114363"/>
              </p:ext>
            </p:extLst>
          </p:nvPr>
        </p:nvGraphicFramePr>
        <p:xfrm>
          <a:off x="7498079" y="1530440"/>
          <a:ext cx="4023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12.87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9.36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4.84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3.05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1.57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632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1.22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10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SELEÇÃO DAS VARIÁVEIS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Seleção inicial das variáveis do modelo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520766"/>
              </p:ext>
            </p:extLst>
          </p:nvPr>
        </p:nvGraphicFramePr>
        <p:xfrm>
          <a:off x="64008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sugestão inicial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tailgate_flag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descricao_carreta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tire_size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suspension_type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new_used_indicator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cod_montadora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46367"/>
              </p:ext>
            </p:extLst>
          </p:nvPr>
        </p:nvGraphicFramePr>
        <p:xfrm>
          <a:off x="630936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sugestão inicial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regiao_operacao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vmrs_predominante_ano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 (só explicativo)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 (só explicativo)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 (só explicativo)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 (só explicativo)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explicativo / 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inicio_ano</a:t>
                      </a:r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 no 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66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manter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6364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noProof="0" dirty="0">
                <a:solidFill>
                  <a:srgbClr val="5B636E"/>
                </a:solidFill>
                <a:latin typeface="Calibri"/>
              </a:rPr>
              <a:t>Critérios: ranking, VIF, redundância, vazamento temporal e coerência de domínio.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REFERENCIAL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Estudos selecionados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Katreddi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et al. (2023) — ML para custo de manutenção por milha em caminhões (Super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Learner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, R²=97%); variáveis operacionais e ensembles capturam relações não lineares.</a:t>
            </a:r>
          </a:p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Katreddi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et al. (2023) —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Mixed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Effects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Random Forest: captura diferenças sistemáticas entre grupos de ativos; motiva incluir categóricas (subtipo, montadora,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reefer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).</a:t>
            </a:r>
          </a:p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Sun et al. (2024) — previsão por dados históricos de manutenção; reforça que o histórico e insumo suficiente para prever custos futuros.</a:t>
            </a:r>
          </a:p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Adekitan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et al. (2018) — ANN com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R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=0,766; sinal preditivo de variáveis de uso mesmo com dados limitados.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As referencias favorecem modelos de arvore/ensemble, coerente com os resultados deste estudo.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9089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11 · REFERENCIAL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700" b="1" dirty="0">
                <a:solidFill>
                  <a:srgbClr val="142B45"/>
                </a:solidFill>
              </a:rPr>
              <a:t>Estudos selecionados e </a:t>
            </a:r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trabalhos-base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540133"/>
              </p:ext>
            </p:extLst>
          </p:nvPr>
        </p:nvGraphicFramePr>
        <p:xfrm>
          <a:off x="822960" y="17830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Autor (ano)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Tema do estudo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Método / achado principal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Contribuição para o projeto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Katreddi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Thiruvengadam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Thompson, Schmid 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Padmanaban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(2023)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Custo de manutenção de caminhões de entrega (diesel/GNV)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RF,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XGBoost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ANN e Super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Learner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; Super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Learner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o melhor (R²=97,28%)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Fundamenta o uso de árvores e ensembles para capturar a relação não linear entre operação e custo.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Katreddi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Thiruvengadam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Thompson e Schmid (2023)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Custo em veículos pesados; frotas heterogêneas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Mixed-Effects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Random Forest (MERF)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Apoia o uso de variáveis categóricas de agrupamento (montadora, subtipo, refrigeração) como preditoras.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Sun,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Guo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Sun,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Yang e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Hao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(2024)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Previsão de custo a partir de dados de manutenção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Mixed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Weibull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+ estimativa iterativa sobre o histórico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Mostra que o próprio histórico de manutenção já prevê o custo futuro — base para as variáveis históricas defasadas.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Adekitan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Adetokun</a:t>
                      </a:r>
                      <a:endParaRPr lang="pt-BR" sz="1050" b="1" i="0" noProof="0" dirty="0">
                        <a:solidFill>
                          <a:srgbClr val="1C2433"/>
                        </a:solidFill>
                        <a:latin typeface="Calibri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e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Okokpujie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(2018)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Componentes de custo de manutenção veicular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Rede neural artificial (ANN);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R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=0,766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Confirma sinal preditivo em uso e histórico, mas indica que redes neurais não superam os métodos de árvore.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A5679B-CE47-00CB-FF3B-1A40ADD7068F}"/>
              </a:ext>
            </a:extLst>
          </p:cNvPr>
          <p:cNvSpPr txBox="1"/>
          <p:nvPr/>
        </p:nvSpPr>
        <p:spPr>
          <a:xfrm>
            <a:off x="822960" y="6126480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As referências favorecem modelos de árvore/ensemble, coerente com os resultados destes estudos.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Técnicas e desenho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Estatística: regressão linear múltipla, </a:t>
            </a:r>
            <a:r>
              <a:rPr lang="pt-BR" sz="1600" noProof="0" dirty="0" err="1">
                <a:solidFill>
                  <a:srgbClr val="1C2433"/>
                </a:solidFill>
                <a:latin typeface="Calibri"/>
              </a:rPr>
              <a:t>ridge</a:t>
            </a: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, regressão polinomial.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Machine Learning: árvore de decisão, Random Forest, </a:t>
            </a:r>
            <a:r>
              <a:rPr lang="pt-BR" sz="1600" noProof="0" dirty="0" err="1">
                <a:solidFill>
                  <a:srgbClr val="1C2433"/>
                </a:solidFill>
                <a:latin typeface="Calibri"/>
              </a:rPr>
              <a:t>Gradient</a:t>
            </a: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 </a:t>
            </a:r>
            <a:r>
              <a:rPr lang="pt-BR" sz="1600" noProof="0" dirty="0" err="1">
                <a:solidFill>
                  <a:srgbClr val="1C2433"/>
                </a:solidFill>
                <a:latin typeface="Calibri"/>
              </a:rPr>
              <a:t>Boosting</a:t>
            </a: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Alvo transformado por log1p (assimetria); métricas na escala original (CAD/ano).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Split temporal: treino 2020–2024, teste 2025 (evita vazamento entre períodos).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Dois cenários: explicativo (inclui uso do ano) e preditivo (histórico defasado + atributos).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Métricas: R², RMSE e MAE.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Comparação inicial dos modelos (teste 2025)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42414"/>
              </p:ext>
            </p:extLst>
          </p:nvPr>
        </p:nvGraphicFramePr>
        <p:xfrm>
          <a:off x="640080" y="1645920"/>
          <a:ext cx="6766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cenário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-0.2245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2965.6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1212.7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ridge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-0.2415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2986.1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1216.4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arvore_decisao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1883.1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956.9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random_forest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0.5712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1754.9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887.6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gradient_boosting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1753.3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894.8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knn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0.5237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1849.6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953.6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-0.5328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3318.0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1383.3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-0.138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2858.9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1284.7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ridge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2853.9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1283.4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arvore_decisao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0.4163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2047.5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1097.2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random_forest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0.4286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2025.9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1064.5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gradient_boosting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0.404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2069.0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1103.0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knn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2036.0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1084.8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0.1386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2487.3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1368.4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828800"/>
            <a:ext cx="3840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Preditivo recomendado: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random_forest</a:t>
            </a:r>
            <a:endParaRPr lang="pt-BR" sz="1400" noProof="0" dirty="0">
              <a:solidFill>
                <a:srgbClr val="1C24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R² = 0.4286 · RMSE = 2025.9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MAE = 1064.5 CAD/ano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Explicativo (melhor): R² = 0.572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Árvores/ensembles superam modelos lineares.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Variáveis mais importantes (permutação)</a:t>
            </a:r>
          </a:p>
        </p:txBody>
      </p:sp>
      <p:pic>
        <p:nvPicPr>
          <p:cNvPr id="6" name="Picture 5" descr="05_importancia_permu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57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87814"/>
              </p:ext>
            </p:extLst>
          </p:nvPr>
        </p:nvGraphicFramePr>
        <p:xfrm>
          <a:off x="7802881" y="1645920"/>
          <a:ext cx="37490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importância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0.115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km_acumulado_inicio_ano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0.066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0.059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0.031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9089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13 · REFERENCIAL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O que </a:t>
            </a:r>
            <a:r>
              <a:rPr lang="pt-BR" sz="2700" b="1" dirty="0">
                <a:solidFill>
                  <a:srgbClr val="142B45"/>
                </a:solidFill>
                <a:latin typeface="Calibri"/>
              </a:rPr>
              <a:t>dizem os dados</a:t>
            </a:r>
            <a:endParaRPr lang="pt-BR" sz="2700" b="1" i="0" noProof="0" dirty="0">
              <a:solidFill>
                <a:srgbClr val="142B45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Modelos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Árvores/ensembles: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R² 0,43 (preditivo) a 0,57 (explicativo) no teste 2025; regressões lineares ficam com R²&lt;0.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custo × operação é não linear, como no Super </a:t>
            </a:r>
            <a:r>
              <a:rPr lang="pt-BR" sz="1200" b="0" i="0" noProof="0" dirty="0" err="1">
                <a:solidFill>
                  <a:srgbClr val="2E7D4F"/>
                </a:solidFill>
                <a:latin typeface="Calibri"/>
              </a:rPr>
              <a:t>Learner</a:t>
            </a: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 de </a:t>
            </a:r>
            <a:r>
              <a:rPr lang="pt-BR" sz="1200" b="0" i="0" noProof="0" dirty="0" err="1">
                <a:solidFill>
                  <a:srgbClr val="2E7D4F"/>
                </a:solidFill>
                <a:latin typeface="Calibri"/>
              </a:rPr>
              <a:t>Katreddi</a:t>
            </a: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 (R²≈97%).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Variáveis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Histórico e uso lideram: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OS e custo do ano anterior ρ≈0,54; km rodado </a:t>
            </a:r>
            <a:r>
              <a:rPr lang="pt-BR" sz="1200" b="0" i="0" noProof="0" dirty="0" err="1">
                <a:solidFill>
                  <a:srgbClr val="1C2433"/>
                </a:solidFill>
                <a:latin typeface="Calibri"/>
              </a:rPr>
              <a:t>ρ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=0,53; idade isolada </a:t>
            </a:r>
            <a:r>
              <a:rPr lang="pt-BR" sz="1200" b="0" i="0" noProof="0" dirty="0" err="1">
                <a:solidFill>
                  <a:srgbClr val="1C2433"/>
                </a:solidFill>
                <a:latin typeface="Calibri"/>
              </a:rPr>
              <a:t>ρ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=0,02.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confirma Sun (histórico prevê custo); a idade sozinha não manda.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22191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Grupos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Refrigeração é o que mais pesa: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carretas refrigeradas custam mais e são a variável nº 1 do modelo (removê-la derruba o R² em 0,22).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tratar a frota por grupos (refrigerada × seca), como no MERF, melhora a previsão.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822191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Avaliação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Sem vazamento: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ao remover variáveis do próprio ano e testar em 2025, o R² cai de 0,57 → 0,43.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número honesto; avaliação temporal como defende a literatura.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4426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pt-BR" sz="1200" b="1" i="0" dirty="0">
                <a:solidFill>
                  <a:srgbClr val="E8713A"/>
                </a:solidFill>
                <a:latin typeface="Calibri"/>
              </a:rPr>
              <a:t>14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700" b="1" i="0" dirty="0">
                <a:solidFill>
                  <a:srgbClr val="142B45"/>
                </a:solidFill>
                <a:latin typeface="Calibri"/>
              </a:rPr>
              <a:t>Procedimento passo a passo</a:t>
            </a:r>
          </a:p>
        </p:txBody>
      </p:sp>
      <p:sp>
        <p:nvSpPr>
          <p:cNvPr id="6" name="Connector"/>
          <p:cNvSpPr/>
          <p:nvPr/>
        </p:nvSpPr>
        <p:spPr>
          <a:xfrm>
            <a:off x="1133856" y="1895000"/>
            <a:ext cx="36576" cy="445000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Oval 0"/>
          <p:cNvSpPr/>
          <p:nvPr/>
        </p:nvSpPr>
        <p:spPr>
          <a:xfrm>
            <a:off x="977144" y="172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Step 0"/>
          <p:cNvSpPr txBox="1"/>
          <p:nvPr/>
        </p:nvSpPr>
        <p:spPr>
          <a:xfrm>
            <a:off x="1600200" y="153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Mapeamento e extração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identifica tabelas-chave, cria scripts SQL para exportar CSVs e desnormaliza as fontes em uma base consolidada.</a:t>
            </a:r>
          </a:p>
        </p:txBody>
      </p:sp>
      <p:sp>
        <p:nvSpPr>
          <p:cNvPr id="9" name="Oval 1"/>
          <p:cNvSpPr/>
          <p:nvPr/>
        </p:nvSpPr>
        <p:spPr>
          <a:xfrm>
            <a:off x="977144" y="216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Step 1"/>
          <p:cNvSpPr txBox="1"/>
          <p:nvPr/>
        </p:nvSpPr>
        <p:spPr>
          <a:xfrm>
            <a:off x="1600200" y="198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Fonte única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CSV consolidado fato_wo_ml (223.590 OS · 9.859 carretas únicas).</a:t>
            </a:r>
          </a:p>
        </p:txBody>
      </p:sp>
      <p:sp>
        <p:nvSpPr>
          <p:cNvPr id="11" name="Oval 2"/>
          <p:cNvSpPr/>
          <p:nvPr/>
        </p:nvSpPr>
        <p:spPr>
          <a:xfrm>
            <a:off x="977144" y="261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Step 2"/>
          <p:cNvSpPr txBox="1"/>
          <p:nvPr/>
        </p:nvSpPr>
        <p:spPr>
          <a:xfrm>
            <a:off x="1600200" y="242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Qualidade e integridade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consistência dos registros e exclusão de estornos (custos negativos).</a:t>
            </a:r>
          </a:p>
        </p:txBody>
      </p:sp>
      <p:sp>
        <p:nvSpPr>
          <p:cNvPr id="13" name="Oval 3"/>
          <p:cNvSpPr/>
          <p:nvPr/>
        </p:nvSpPr>
        <p:spPr>
          <a:xfrm>
            <a:off x="977144" y="305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Step 3"/>
          <p:cNvSpPr txBox="1"/>
          <p:nvPr/>
        </p:nvSpPr>
        <p:spPr>
          <a:xfrm>
            <a:off x="1600200" y="287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Base carreta × ano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define o alvo Y = custo anual de manutenção por carreta (47.666 linhas).</a:t>
            </a:r>
          </a:p>
        </p:txBody>
      </p:sp>
      <p:sp>
        <p:nvSpPr>
          <p:cNvPr id="15" name="Oval 4"/>
          <p:cNvSpPr/>
          <p:nvPr/>
        </p:nvSpPr>
        <p:spPr>
          <a:xfrm>
            <a:off x="977144" y="350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Step 4"/>
          <p:cNvSpPr txBox="1"/>
          <p:nvPr/>
        </p:nvSpPr>
        <p:spPr>
          <a:xfrm>
            <a:off x="1600200" y="331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Deflação — CPI Canadá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custos trazidos a CAD reais de dez/2025, comparáveis no tempo.</a:t>
            </a:r>
          </a:p>
        </p:txBody>
      </p:sp>
      <p:sp>
        <p:nvSpPr>
          <p:cNvPr id="17" name="Oval 5"/>
          <p:cNvSpPr/>
          <p:nvPr/>
        </p:nvSpPr>
        <p:spPr>
          <a:xfrm>
            <a:off x="977144" y="394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Step 5"/>
          <p:cNvSpPr txBox="1"/>
          <p:nvPr/>
        </p:nvSpPr>
        <p:spPr>
          <a:xfrm>
            <a:off x="1600200" y="376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EDA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descritivas, distribuições e relação de cada variável com o custo.</a:t>
            </a:r>
          </a:p>
        </p:txBody>
      </p:sp>
      <p:sp>
        <p:nvSpPr>
          <p:cNvPr id="19" name="Oval 6"/>
          <p:cNvSpPr/>
          <p:nvPr/>
        </p:nvSpPr>
        <p:spPr>
          <a:xfrm>
            <a:off x="977144" y="439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Step 6"/>
          <p:cNvSpPr txBox="1"/>
          <p:nvPr/>
        </p:nvSpPr>
        <p:spPr>
          <a:xfrm>
            <a:off x="1600200" y="420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Seleção anti-vazamento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remove componentes do próprio Y e usa histórico só do ano anterior.</a:t>
            </a:r>
          </a:p>
        </p:txBody>
      </p:sp>
      <p:sp>
        <p:nvSpPr>
          <p:cNvPr id="21" name="Oval 7"/>
          <p:cNvSpPr/>
          <p:nvPr/>
        </p:nvSpPr>
        <p:spPr>
          <a:xfrm>
            <a:off x="977144" y="483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Step 7"/>
          <p:cNvSpPr txBox="1"/>
          <p:nvPr/>
        </p:nvSpPr>
        <p:spPr>
          <a:xfrm>
            <a:off x="1600200" y="465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Modelagem — split temporal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treino 2020–2024 / teste 2025; lineares, árvores e ensembles.</a:t>
            </a:r>
          </a:p>
        </p:txBody>
      </p:sp>
      <p:sp>
        <p:nvSpPr>
          <p:cNvPr id="23" name="Oval 8"/>
          <p:cNvSpPr/>
          <p:nvPr/>
        </p:nvSpPr>
        <p:spPr>
          <a:xfrm>
            <a:off x="977144" y="528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4" name="Step 8"/>
          <p:cNvSpPr txBox="1"/>
          <p:nvPr/>
        </p:nvSpPr>
        <p:spPr>
          <a:xfrm>
            <a:off x="1600200" y="509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Avaliação e conclusões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R² / RMSE / MAE, importância das variáveis e recomendações.</a:t>
            </a:r>
          </a:p>
        </p:txBody>
      </p:sp>
      <p:sp>
        <p:nvSpPr>
          <p:cNvPr id="25" name="Oval 9"/>
          <p:cNvSpPr/>
          <p:nvPr/>
        </p:nvSpPr>
        <p:spPr>
          <a:xfrm>
            <a:off x="977144" y="572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6" name="Step 9"/>
          <p:cNvSpPr txBox="1"/>
          <p:nvPr/>
        </p:nvSpPr>
        <p:spPr>
          <a:xfrm>
            <a:off x="1600200" y="554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Aplicação ao planejamento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apoia o controle dos custos internos e a elaboração de orçamentos mais aderentes à idade, às especificações e à aplicação de cada equipamento da frota.</a:t>
            </a:r>
          </a:p>
        </p:txBody>
      </p:sp>
      <p:sp>
        <p:nvSpPr>
          <p:cNvPr id="27" name="Oval 10"/>
          <p:cNvSpPr/>
          <p:nvPr/>
        </p:nvSpPr>
        <p:spPr>
          <a:xfrm>
            <a:off x="977144" y="617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050" b="1" i="0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8" name="Step 10"/>
          <p:cNvSpPr txBox="1"/>
          <p:nvPr/>
        </p:nvSpPr>
        <p:spPr>
          <a:xfrm>
            <a:off x="1600200" y="598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Deployment e atualização contínua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disponibiliza os scripts de ML para integração com APIs que alimentem o pipeline trimestralmente, permitindo revalidar e atualizar os resultados do modelo.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4426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Desenho do estudo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500">
                <a:solidFill>
                  <a:srgbClr val="1C2433"/>
                </a:solidFill>
                <a:latin typeface="Calibri"/>
              </a:defRPr>
            </a:lvl1pPr>
          </a:lstStyle>
          <a:p>
            <a:r>
              <a:rPr lang="pt-BR" noProof="0" dirty="0"/>
              <a:t>•  Unidade de análise: grão carreta × ano.</a:t>
            </a:r>
          </a:p>
          <a:p>
            <a:r>
              <a:rPr lang="pt-BR" noProof="0" dirty="0"/>
              <a:t>•  Fonte inicial: CSV fato_wo_ml; extração SQL, </a:t>
            </a:r>
            <a:r>
              <a:rPr lang="pt-BR" noProof="0" dirty="0" err="1"/>
              <a:t>joins</a:t>
            </a:r>
            <a:r>
              <a:rPr lang="pt-BR" noProof="0" dirty="0"/>
              <a:t> e feature </a:t>
            </a:r>
            <a:r>
              <a:rPr lang="pt-BR" noProof="0" dirty="0" err="1"/>
              <a:t>engineering</a:t>
            </a:r>
            <a:r>
              <a:rPr lang="pt-BR" noProof="0" dirty="0"/>
              <a:t> são etapa anterior de preparação.</a:t>
            </a:r>
          </a:p>
          <a:p>
            <a:r>
              <a:rPr lang="pt-BR" noProof="0" dirty="0"/>
              <a:t>•  Variável resposta: custo anual de manutenção por carreta, em CAD (deflacionado pelo CPI do Canadá, base dez/2025).</a:t>
            </a:r>
          </a:p>
          <a:p>
            <a:r>
              <a:rPr lang="pt-BR" noProof="0" dirty="0"/>
              <a:t>•  População: todo o custo interno; sem filtro MAINT, pois o dado de contrato não existe na fonte única.</a:t>
            </a:r>
          </a:p>
          <a:p>
            <a:r>
              <a:rPr lang="pt-BR" noProof="0" dirty="0"/>
              <a:t>•  Universo de variáveis: 25 candidatas da fonte — atributos do ativo, uso/quilometragem, geografia e histórico defasado.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4426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Desenho de avaliação e </a:t>
            </a:r>
            <a:r>
              <a:rPr lang="pt-BR" sz="2700" b="1" i="0" noProof="0" dirty="0" err="1">
                <a:solidFill>
                  <a:srgbClr val="142B45"/>
                </a:solidFill>
                <a:latin typeface="Calibri"/>
              </a:rPr>
              <a:t>anti-vazamento</a:t>
            </a:r>
            <a:endParaRPr lang="pt-BR" sz="2700" b="1" i="0" noProof="0" dirty="0">
              <a:solidFill>
                <a:srgbClr val="142B4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500">
                <a:solidFill>
                  <a:srgbClr val="1C2433"/>
                </a:solidFill>
                <a:latin typeface="Calibri"/>
              </a:defRPr>
            </a:lvl1pPr>
          </a:lstStyle>
          <a:p>
            <a:pPr algn="just"/>
            <a:r>
              <a:rPr lang="pt-BR" sz="1400" noProof="0" dirty="0"/>
              <a:t>• Dois cenários de modelagem: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400" noProof="0" dirty="0"/>
              <a:t>Explicativo: inclui variáveis do próprio ano; mede a associação máxima com o custo;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400" noProof="0" dirty="0"/>
              <a:t>Preditivo: só atributos + histórico do ano anterior; reproduz o uso real de previsão.</a:t>
            </a:r>
          </a:p>
          <a:p>
            <a:pPr algn="just">
              <a:lnSpc>
                <a:spcPct val="150000"/>
              </a:lnSpc>
            </a:pPr>
            <a:r>
              <a:rPr lang="pt-BR" sz="1400" noProof="0" dirty="0"/>
              <a:t>• Antivazamento: exclui os componentes aritméticos de </a:t>
            </a:r>
            <a:r>
              <a:rPr lang="pt-BR" sz="1400" noProof="0" dirty="0" err="1"/>
              <a:t>Y</a:t>
            </a:r>
            <a:r>
              <a:rPr lang="pt-BR" sz="1400" noProof="0" dirty="0"/>
              <a:t> e proíbe informação do próprio ano no cenário preditivo.</a:t>
            </a:r>
          </a:p>
          <a:p>
            <a:pPr algn="just"/>
            <a:r>
              <a:rPr lang="pt-BR" sz="1400" noProof="0" dirty="0"/>
              <a:t>• Split temporal: treino 2020–2024 / teste 2025 — o modelo nunca é testado no passado.</a:t>
            </a:r>
          </a:p>
          <a:p>
            <a:pPr algn="just"/>
            <a:r>
              <a:rPr lang="pt-BR" sz="1400" noProof="0" dirty="0"/>
              <a:t>• Modelos e métricas: lineares/</a:t>
            </a:r>
            <a:r>
              <a:rPr lang="pt-BR" sz="1400" noProof="0" dirty="0" err="1"/>
              <a:t>ridge</a:t>
            </a:r>
            <a:r>
              <a:rPr lang="pt-BR" sz="1400" noProof="0" dirty="0"/>
              <a:t>, árvore, Random Forest, </a:t>
            </a:r>
            <a:r>
              <a:rPr lang="pt-BR" sz="1400" noProof="0" dirty="0" err="1"/>
              <a:t>Gradient</a:t>
            </a:r>
            <a:r>
              <a:rPr lang="pt-BR" sz="1400" noProof="0" dirty="0"/>
              <a:t> </a:t>
            </a:r>
            <a:r>
              <a:rPr lang="pt-BR" sz="1400" noProof="0" dirty="0" err="1"/>
              <a:t>Boosting</a:t>
            </a:r>
            <a:r>
              <a:rPr lang="pt-BR" sz="1400" noProof="0" dirty="0"/>
              <a:t> e KNN; avaliados por R², RMSE, e MAE, com importância por permutação.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050" b="0" i="1" noProof="0" dirty="0">
                <a:solidFill>
                  <a:srgbClr val="5B636E"/>
                </a:solidFill>
                <a:latin typeface="Calibri"/>
              </a:rPr>
              <a:t>Rigor metodológico: separa 'explicar' de 'prever' e evita o vazamento temporal.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14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Limitações metodológicas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Fonte inicial: sem dados de contrato, mão de obra detalhada e peças — reduz o conjunto explicativo.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Sem filtro por tipo de manutenção: analisa-se todo o custo interno.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km derivado do odômetro nas OS; resets/ruído tratados por regra, com aproximação.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Província parcial (~54%); região usada como proxy geográfica.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Estornos (custos negativos) excluídos;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span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ativo assume presença entre 1ª e ultima 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129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pt-BR" sz="1200" b="1" i="0" dirty="0">
                <a:solidFill>
                  <a:srgbClr val="E8713A"/>
                </a:solidFill>
                <a:latin typeface="Calibri"/>
              </a:rPr>
              <a:t>15 · ENTREGAS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700" b="1" i="0" dirty="0">
                <a:solidFill>
                  <a:srgbClr val="142B45"/>
                </a:solidFill>
                <a:latin typeface="Calibri"/>
              </a:rPr>
              <a:t>Entregas do Projeto</a:t>
            </a:r>
          </a:p>
        </p:txBody>
      </p:sp>
      <p:sp>
        <p:nvSpPr>
          <p:cNvPr id="6" name="Card 6"/>
          <p:cNvSpPr/>
          <p:nvPr/>
        </p:nvSpPr>
        <p:spPr>
          <a:xfrm>
            <a:off x="548640" y="218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Pill 7"/>
          <p:cNvSpPr/>
          <p:nvPr/>
        </p:nvSpPr>
        <p:spPr>
          <a:xfrm>
            <a:off x="5079536" y="2285386"/>
            <a:ext cx="733000" cy="2360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8" name="Title 8"/>
          <p:cNvSpPr txBox="1"/>
          <p:nvPr/>
        </p:nvSpPr>
        <p:spPr>
          <a:xfrm>
            <a:off x="694944" y="2281386"/>
            <a:ext cx="429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1 - Dados e qualidade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694944" y="2619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Inventário das bases: carretas, OS, mão de obra, peças, contratos, odômetro e GPS.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Validação de chaves, datas, custos negativos/zerados, leituras de odômetro e ausentes.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Documentação das regras de tratamento e dos riscos metodológicos.</a:t>
            </a:r>
          </a:p>
        </p:txBody>
      </p:sp>
      <p:sp>
        <p:nvSpPr>
          <p:cNvPr id="10" name="Card 10"/>
          <p:cNvSpPr/>
          <p:nvPr/>
        </p:nvSpPr>
        <p:spPr>
          <a:xfrm>
            <a:off x="6233160" y="218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Pill 11"/>
          <p:cNvSpPr/>
          <p:nvPr/>
        </p:nvSpPr>
        <p:spPr>
          <a:xfrm>
            <a:off x="10764056" y="2285386"/>
            <a:ext cx="733000" cy="2360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12" name="Title 12"/>
          <p:cNvSpPr txBox="1"/>
          <p:nvPr/>
        </p:nvSpPr>
        <p:spPr>
          <a:xfrm>
            <a:off x="6379464" y="2281386"/>
            <a:ext cx="429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2 - Base analítica</a:t>
            </a:r>
          </a:p>
        </p:txBody>
      </p:sp>
      <p:sp>
        <p:nvSpPr>
          <p:cNvPr id="13" name="Bullets 13"/>
          <p:cNvSpPr txBox="1"/>
          <p:nvPr/>
        </p:nvSpPr>
        <p:spPr>
          <a:xfrm>
            <a:off x="6379464" y="2619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Construção da base carreta x ano para custo anual real de manutenção.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Criação de variáveis defasadas para evitar vazamento temporal.</a:t>
            </a:r>
          </a:p>
        </p:txBody>
      </p:sp>
      <p:sp>
        <p:nvSpPr>
          <p:cNvPr id="14" name="Card 14"/>
          <p:cNvSpPr/>
          <p:nvPr/>
        </p:nvSpPr>
        <p:spPr>
          <a:xfrm>
            <a:off x="548640" y="3464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Pill 15"/>
          <p:cNvSpPr/>
          <p:nvPr/>
        </p:nvSpPr>
        <p:spPr>
          <a:xfrm>
            <a:off x="5079536" y="3560386"/>
            <a:ext cx="733000" cy="2360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16" name="Title 16"/>
          <p:cNvSpPr txBox="1"/>
          <p:nvPr/>
        </p:nvSpPr>
        <p:spPr>
          <a:xfrm>
            <a:off x="694944" y="3556386"/>
            <a:ext cx="429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3 - EDA e hipóteses</a:t>
            </a:r>
          </a:p>
        </p:txBody>
      </p:sp>
      <p:sp>
        <p:nvSpPr>
          <p:cNvPr id="17" name="Bullets 17"/>
          <p:cNvSpPr txBox="1"/>
          <p:nvPr/>
        </p:nvSpPr>
        <p:spPr>
          <a:xfrm>
            <a:off x="694944" y="3894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Distribuições, outliers, assimetria, correlações, VIF e segmentações.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Custos e OS têm distribuição assimétrica, com poucos casos extremos.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Indícios de efeito de idade, histórico, sistemas VMRS e perfil operacional.</a:t>
            </a:r>
          </a:p>
        </p:txBody>
      </p:sp>
      <p:sp>
        <p:nvSpPr>
          <p:cNvPr id="18" name="Card 18"/>
          <p:cNvSpPr/>
          <p:nvPr/>
        </p:nvSpPr>
        <p:spPr>
          <a:xfrm>
            <a:off x="6233160" y="3464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rd 22"/>
          <p:cNvSpPr/>
          <p:nvPr/>
        </p:nvSpPr>
        <p:spPr>
          <a:xfrm>
            <a:off x="548640" y="473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itle 24"/>
          <p:cNvSpPr txBox="1"/>
          <p:nvPr/>
        </p:nvSpPr>
        <p:spPr>
          <a:xfrm>
            <a:off x="6379464" y="3529924"/>
            <a:ext cx="3426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4 - Modelo anual de custo</a:t>
            </a:r>
          </a:p>
        </p:txBody>
      </p:sp>
      <p:sp>
        <p:nvSpPr>
          <p:cNvPr id="25" name="Bullets 25"/>
          <p:cNvSpPr txBox="1"/>
          <p:nvPr/>
        </p:nvSpPr>
        <p:spPr>
          <a:xfrm>
            <a:off x="6379464" y="3867924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Modelo em grão carreta x ano, com custo anual real deflacionado.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Resultados promissores, superiores aos modelos lineares no teste temporal.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Fatores: nº de OS, VMRS, custo acumulado, subtipo, km e região.</a:t>
            </a:r>
          </a:p>
        </p:txBody>
      </p:sp>
      <p:sp>
        <p:nvSpPr>
          <p:cNvPr id="26" name="Card 26"/>
          <p:cNvSpPr/>
          <p:nvPr/>
        </p:nvSpPr>
        <p:spPr>
          <a:xfrm>
            <a:off x="6233160" y="473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Pill 27"/>
          <p:cNvSpPr/>
          <p:nvPr/>
        </p:nvSpPr>
        <p:spPr>
          <a:xfrm>
            <a:off x="10392056" y="4835386"/>
            <a:ext cx="1105000" cy="236000"/>
          </a:xfrm>
          <a:prstGeom prst="roundRect">
            <a:avLst>
              <a:gd name="adj" fmla="val 50000"/>
            </a:avLst>
          </a:prstGeom>
          <a:solidFill>
            <a:srgbClr val="142B45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28" name="Title 28"/>
          <p:cNvSpPr txBox="1"/>
          <p:nvPr/>
        </p:nvSpPr>
        <p:spPr>
          <a:xfrm>
            <a:off x="6379464" y="4831386"/>
            <a:ext cx="3922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6 - Interpretação de negócio</a:t>
            </a:r>
          </a:p>
        </p:txBody>
      </p:sp>
      <p:sp>
        <p:nvSpPr>
          <p:cNvPr id="29" name="Bullets 29"/>
          <p:cNvSpPr txBox="1"/>
          <p:nvPr/>
        </p:nvSpPr>
        <p:spPr>
          <a:xfrm>
            <a:off x="6379464" y="5169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Traduzir resultados em recomendações para orçamento, preventiva e gestão da frota.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Separar fatores de risco operacional das limitações de dados e ruído de medição.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Reforçar que os achados são preditivos e exploratórios, sem inferência causal.</a:t>
            </a:r>
          </a:p>
        </p:txBody>
      </p:sp>
      <p:sp>
        <p:nvSpPr>
          <p:cNvPr id="32" name="Title 32"/>
          <p:cNvSpPr txBox="1"/>
          <p:nvPr/>
        </p:nvSpPr>
        <p:spPr>
          <a:xfrm>
            <a:off x="694944" y="4810294"/>
            <a:ext cx="438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5 - Validação e robustez</a:t>
            </a:r>
          </a:p>
        </p:txBody>
      </p:sp>
      <p:sp>
        <p:nvSpPr>
          <p:cNvPr id="33" name="Bullets 33"/>
          <p:cNvSpPr txBox="1"/>
          <p:nvPr/>
        </p:nvSpPr>
        <p:spPr>
          <a:xfrm>
            <a:off x="694944" y="5148294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Verificar estabilidade por ano de teste, região, tipo de carreta e perfil de manutenção.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Testar sensibilidade a outliers, seleção de variáveis e hiperparâmetros.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Avaliar extensões: MERF, modelos hierárquicos e abordagens zero-infladas.</a:t>
            </a:r>
          </a:p>
        </p:txBody>
      </p:sp>
      <p:sp>
        <p:nvSpPr>
          <p:cNvPr id="34" name="Pill 31">
            <a:extLst>
              <a:ext uri="{FF2B5EF4-FFF2-40B4-BE49-F238E27FC236}">
                <a16:creationId xmlns:a16="http://schemas.microsoft.com/office/drawing/2014/main" id="{77E2D64C-3F49-8585-ED27-0C95DF03067E}"/>
              </a:ext>
            </a:extLst>
          </p:cNvPr>
          <p:cNvSpPr/>
          <p:nvPr/>
        </p:nvSpPr>
        <p:spPr>
          <a:xfrm>
            <a:off x="4740992" y="4833263"/>
            <a:ext cx="1105000" cy="236000"/>
          </a:xfrm>
          <a:prstGeom prst="roundRect">
            <a:avLst>
              <a:gd name="adj" fmla="val 50000"/>
            </a:avLst>
          </a:prstGeom>
          <a:solidFill>
            <a:srgbClr val="142B45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19" name="Pill 27">
            <a:extLst>
              <a:ext uri="{FF2B5EF4-FFF2-40B4-BE49-F238E27FC236}">
                <a16:creationId xmlns:a16="http://schemas.microsoft.com/office/drawing/2014/main" id="{E5060CC7-28F8-C289-7594-CC4F464401B5}"/>
              </a:ext>
            </a:extLst>
          </p:cNvPr>
          <p:cNvSpPr/>
          <p:nvPr/>
        </p:nvSpPr>
        <p:spPr>
          <a:xfrm>
            <a:off x="10392056" y="3548155"/>
            <a:ext cx="1105000" cy="236000"/>
          </a:xfrm>
          <a:prstGeom prst="roundRect">
            <a:avLst>
              <a:gd name="adj" fmla="val 50000"/>
            </a:avLst>
          </a:prstGeom>
          <a:solidFill>
            <a:srgbClr val="142B45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4881</Words>
  <Application>Microsoft Macintosh PowerPoint</Application>
  <PresentationFormat>Widescreen</PresentationFormat>
  <Paragraphs>781</Paragraphs>
  <Slides>34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Jeison Lima</cp:lastModifiedBy>
  <cp:revision>11</cp:revision>
  <dcterms:created xsi:type="dcterms:W3CDTF">2013-01-27T09:14:16Z</dcterms:created>
  <dcterms:modified xsi:type="dcterms:W3CDTF">2026-08-05T00:49:59Z</dcterms:modified>
  <cp:category/>
</cp:coreProperties>
</file>