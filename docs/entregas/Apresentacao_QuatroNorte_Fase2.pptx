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93" r:id="rId11"/>
    <p:sldId id="266" r:id="rId12"/>
    <p:sldId id="287" r:id="rId13"/>
    <p:sldId id="267" r:id="rId14"/>
    <p:sldId id="288" r:id="rId15"/>
    <p:sldId id="289" r:id="rId16"/>
    <p:sldId id="290" r:id="rId17"/>
    <p:sldId id="268" r:id="rId18"/>
    <p:sldId id="291" r:id="rId19"/>
    <p:sldId id="292" r:id="rId20"/>
    <p:sldId id="269" r:id="rId21"/>
    <p:sldId id="270" r:id="rId22"/>
    <p:sldId id="271" r:id="rId23"/>
    <p:sldId id="272" r:id="rId24"/>
    <p:sldId id="261" r:id="rId25"/>
    <p:sldId id="281" r:id="rId26"/>
    <p:sldId id="273" r:id="rId27"/>
    <p:sldId id="274" r:id="rId28"/>
    <p:sldId id="275" r:id="rId29"/>
    <p:sldId id="283" r:id="rId30"/>
    <p:sldId id="284" r:id="rId31"/>
    <p:sldId id="285" r:id="rId32"/>
    <p:sldId id="286" r:id="rId33"/>
    <p:sldId id="277" r:id="rId34"/>
    <p:sldId id="296" r:id="rId35"/>
    <p:sldId id="303" r:id="rId47"/>
    <p:sldId id="297" r:id="rId41"/>
    <p:sldId id="298" r:id="rId42"/>
    <p:sldId id="299" r:id="rId43"/>
    <p:sldId id="300" r:id="rId44"/>
    <p:sldId id="304" r:id="rId48"/>
    <p:sldId id="305" r:id="rId49"/>
    <p:sldId id="306" r:id="rId50"/>
    <p:sldId id="301" r:id="rId45"/>
    <p:sldId id="307" r:id="rId51"/>
    <p:sldId id="308" r:id="rId52"/>
    <p:sldId id="30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A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1"/>
    <p:restoredTop sz="94631"/>
  </p:normalViewPr>
  <p:slideViewPr>
    <p:cSldViewPr snapToGrid="0" snapToObjects="1">
      <p:cViewPr>
        <p:scale>
          <a:sx n="120" d="100"/>
          <a:sy n="120" d="100"/>
        </p:scale>
        <p:origin x="-168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8E2AA-6898-6B48-BD3F-6EBB08F37CD6}" type="datetimeFigureOut">
              <a:rPr lang="en-BR" smtClean="0"/>
              <a:t>03/08/26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769D2-7A0D-5245-9461-C20EEB7ADB5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4678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769D2-7A0D-5245-9461-C20EEB7ADB54}" type="slidenum">
              <a:rPr lang="en-BR" smtClean="0"/>
              <a:t>34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333172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noProof="0" dirty="0">
                <a:solidFill>
                  <a:srgbClr val="E8713A"/>
                </a:solidFill>
                <a:latin typeface="Calibri"/>
              </a:rPr>
              <a:t>QUATRO NORTE CONSULTING · GRUPO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4000" b="1" noProof="0" dirty="0">
                <a:solidFill>
                  <a:srgbClr val="FFFFFF"/>
                </a:solidFill>
                <a:latin typeface="Calibri"/>
              </a:rPr>
              <a:t>Custo anual de manutenção por carreta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6070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700" b="0" noProof="0" dirty="0">
                <a:solidFill>
                  <a:srgbClr val="F6F1E7"/>
                </a:solidFill>
                <a:latin typeface="Calibri"/>
              </a:rPr>
              <a:t>Fatores determinantes e modelagem do custo anual (CAD $/ano, real) da frota</a:t>
            </a:r>
          </a:p>
          <a:p>
            <a:pPr algn="l"/>
            <a:r>
              <a:rPr lang="pt-BR" sz="1700" b="0" noProof="0" dirty="0">
                <a:solidFill>
                  <a:srgbClr val="F6F1E7"/>
                </a:solidFill>
                <a:latin typeface="Calibri"/>
              </a:rPr>
              <a:t>própria de leasing/rental no Canadá — janela 2020–2025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607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0" noProof="0" dirty="0">
                <a:solidFill>
                  <a:srgbClr val="F6F1E7"/>
                </a:solidFill>
                <a:latin typeface="Calibri"/>
              </a:rPr>
              <a:t>Marlon Wenzel · Jeison Lima · Rodrigo Queiroz · Giovani Cani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9CC271-A2BE-ABDC-8FF5-470BF0371C4C}"/>
              </a:ext>
            </a:extLst>
          </p:cNvPr>
          <p:cNvSpPr txBox="1"/>
          <p:nvPr/>
        </p:nvSpPr>
        <p:spPr>
          <a:xfrm>
            <a:off x="822960" y="3248798"/>
            <a:ext cx="106070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700" b="1" noProof="0" dirty="0">
                <a:solidFill>
                  <a:schemeClr val="bg1"/>
                </a:solidFill>
                <a:latin typeface="Calibri"/>
              </a:rPr>
              <a:t>Modelo Preditivo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723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01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A empresa e a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6583680" cy="198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Empresa de leasing/rental de carretas no Canada (secas e refrigeradas, até 53 pés).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Manutenção própria: oficinas registram ordens de serviço com mão de obra e peças.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Todos os custos em dólares canadenses (CAD); operação integralmente no Canadá.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Objetivo de negócio: apoiar orçamento anual e priorização de manutenção da frota.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Fonte única do estudo: base consolidada de Ordens de Serviço (2020–2025).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3736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955279" y="1810512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b="1" noProof="0" dirty="0">
                <a:solidFill>
                  <a:srgbClr val="E8713A"/>
                </a:solidFill>
                <a:latin typeface="Calibri"/>
              </a:rPr>
              <a:t>9.585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26771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noProof="0" dirty="0">
                <a:solidFill>
                  <a:srgbClr val="5B636E"/>
                </a:solidFill>
                <a:latin typeface="Calibri"/>
              </a:rPr>
              <a:t>Carretas únicas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78892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955279" y="2862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b="1" noProof="0" dirty="0">
                <a:solidFill>
                  <a:srgbClr val="E8713A"/>
                </a:solidFill>
                <a:latin typeface="Calibri"/>
              </a:rPr>
              <a:t>217.217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31927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noProof="0" dirty="0">
                <a:solidFill>
                  <a:srgbClr val="5B636E"/>
                </a:solidFill>
                <a:latin typeface="Calibri"/>
              </a:rPr>
              <a:t>Ordens de serviço acumuladas no período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840479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955279" y="3913631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b="1" noProof="0" dirty="0">
                <a:solidFill>
                  <a:srgbClr val="E8713A"/>
                </a:solidFill>
                <a:latin typeface="Calibri"/>
              </a:rPr>
              <a:t>CAD $ 79.645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370831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noProof="0" dirty="0">
                <a:solidFill>
                  <a:srgbClr val="5B636E"/>
                </a:solidFill>
                <a:latin typeface="Calibri"/>
              </a:rPr>
              <a:t>Custo interno (real) acumulado no período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89204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7955279" y="4965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b="1" noProof="0" dirty="0">
                <a:solidFill>
                  <a:srgbClr val="E8713A"/>
                </a:solidFill>
                <a:latin typeface="Calibri"/>
              </a:rPr>
              <a:t>2020–2025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42239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noProof="0" dirty="0">
                <a:solidFill>
                  <a:srgbClr val="5B636E"/>
                </a:solidFill>
                <a:latin typeface="Calibri"/>
              </a:rPr>
              <a:t>Período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02 ·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A pergunta de pesquisa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8720" y="2008554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1" noProof="0" dirty="0">
                <a:solidFill>
                  <a:srgbClr val="FFFFFF"/>
                </a:solidFill>
                <a:latin typeface="Calibri"/>
              </a:rPr>
              <a:t>Quais fatores mais influenciam o CUSTO ANUAL INTERNO de manutenção por carreta e como estimá-lo a partir das características operacionais, históricas e estruturais da frota?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</a:t>
            </a:r>
            <a:r>
              <a:rPr lang="pt-BR" sz="1600" b="1" noProof="0" dirty="0">
                <a:solidFill>
                  <a:srgbClr val="1C2433"/>
                </a:solidFill>
                <a:latin typeface="Calibri"/>
              </a:rPr>
              <a:t>Variável de interesse: custo anual de manutenção por carreta (CAD $/ano), em valores reais.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Grão de análise: carreta × ano.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Escopo do custo: todo o custo interno absorvido pela empresa (preventiva + corretiva). População de modelagem: as carretas sob contrato com manutenção inclusa (MAINT) — 41.739 dos 47.715 carreta-anos.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Correção monetária obrigatória pela inflação canadense (CPI) para comparar anos em termos reais.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03 ·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Objetivos gerais e específicos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500" b="1" noProof="0" dirty="0">
                <a:solidFill>
                  <a:srgbClr val="1C2433"/>
                </a:solidFill>
                <a:latin typeface="Calibri"/>
              </a:rPr>
              <a:t>Analisar os fatores que influenciam o custo anual de manutenção por carreta (CAD, corrigido pela inflação), identificando as variáveis de maior capacidade explicativa e desenvolvendo modelos estatísticos e de ML para estimá-lo.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607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Consolidar a análise a partir da base única de OS.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Definir a variável resposta anual e corrigi-la pelo CPI (Canadian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Price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 Index) do Canadá.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Realizar EDA rigorosa (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univariada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, relação com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Y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, ranking) das variáveis candidatas.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Selecionar variáveis de forma fundamentada (associação, multicolinearidade, domínio).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Desenvolver e avaliar modelos estatísticos e de Machine Learning (split temporal).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04 · HIPÓTESES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Hipóteses de trabalho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561944"/>
              </p:ext>
            </p:extLst>
          </p:nvPr>
        </p:nvGraphicFramePr>
        <p:xfrm>
          <a:off x="822960" y="173736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b="1" noProof="0" dirty="0">
                          <a:solidFill>
                            <a:srgbClr val="FFFFFF"/>
                          </a:solidFill>
                        </a:rPr>
                        <a:t>Hipótese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noProof="0" dirty="0">
                          <a:solidFill>
                            <a:srgbClr val="FFFFFF"/>
                          </a:solidFill>
                        </a:rPr>
                        <a:t>Descrição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noProof="0" dirty="0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Idade da carreta eleva o custo 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Não suportada (efeito direto fraco)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Maior uso/quilometragem eleva o custo anual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Histórico de manutenção prevê o custo futuro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Características do ativo influenciam o custo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Região/operação influencia o custo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Parcial (efeito fraco)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H6a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Duração do contrato influencia o custo anual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Parcial (efeito fraco)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H6b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Tipo de manutenção contratual (MAINT/NET/MIX) influencia o custo 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1C2433"/>
                          </a:solidFill>
                        </a:rPr>
                        <a:t>Parcial (efeito fraco)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05 · BASE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Base consolidada única (29 colunas)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64008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Fonte única: fato_wo_ml_2020-01-01_to_2025-12-31.csv (1 linha = 1 OS).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Extração SQL, modelo estrela,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joins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 e feature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engineering</a:t>
            </a:r>
            <a:r>
              <a:rPr lang="pt-BR" sz="1400" dirty="0">
                <a:solidFill>
                  <a:srgbClr val="1C2433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217.217 OS · 9.585 carretas únicas · 2020–2025.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VMRS: código padronizado do sistema reparado (PM, freios, pneus,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reefer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...).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6331" y="1737360"/>
            <a:ext cx="3565108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Arquitetura metodológica</a:t>
            </a:r>
          </a:p>
          <a:p>
            <a:pPr algn="l">
              <a:spcBef>
                <a:spcPts val="600"/>
              </a:spcBef>
            </a:pPr>
            <a:endParaRPr lang="pt-BR" sz="1300" b="1" noProof="0" dirty="0">
              <a:solidFill>
                <a:srgbClr val="142B45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Base consolidada (CSV)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Validação de qualidade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Variável resposta anual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Correção CPI Canadá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EDA (uni/bivariada)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Correlação e testes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Multicolinearidade/VIF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Ranking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rgbClr val="142B45"/>
                </a:solidFill>
                <a:latin typeface="Calibri"/>
              </a:rPr>
              <a:t>↓ Seleção de variáveis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↓ Modelagem (</a:t>
            </a:r>
            <a:r>
              <a:rPr lang="pt-BR" sz="1300" b="1" noProof="0" dirty="0" err="1">
                <a:solidFill>
                  <a:schemeClr val="accent5">
                    <a:lumMod val="75000"/>
                  </a:schemeClr>
                </a:solidFill>
                <a:latin typeface="Calibri"/>
              </a:rPr>
              <a:t>estat.+ML</a:t>
            </a:r>
            <a:r>
              <a:rPr lang="pt-BR" sz="1300" b="1" noProof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)*</a:t>
            </a:r>
          </a:p>
          <a:p>
            <a:pPr algn="l">
              <a:spcBef>
                <a:spcPts val="600"/>
              </a:spcBef>
            </a:pPr>
            <a:r>
              <a:rPr lang="pt-BR" sz="1300" b="1" noProof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↓ Avaliação / discussão*</a:t>
            </a:r>
            <a:endParaRPr lang="pt-BR" sz="1300" b="1" dirty="0">
              <a:solidFill>
                <a:schemeClr val="accent5">
                  <a:lumMod val="75000"/>
                </a:schemeClr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lang="pt-BR" sz="1100" b="1" i="1" noProof="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✓ concluído na Fase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06 · VARIÁVEL RESPOSTA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 err="1">
                <a:solidFill>
                  <a:srgbClr val="142B45"/>
                </a:solidFill>
                <a:latin typeface="Calibri"/>
              </a:rPr>
              <a:t>Y</a:t>
            </a:r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 = custo anual de manutenção por carreta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700" b="1" noProof="0" dirty="0" err="1">
                <a:solidFill>
                  <a:srgbClr val="FFFFFF"/>
                </a:solidFill>
                <a:latin typeface="Calibri"/>
              </a:rPr>
              <a:t>Y</a:t>
            </a:r>
            <a:r>
              <a:rPr lang="pt-BR" sz="1700" b="1" noProof="0" dirty="0">
                <a:solidFill>
                  <a:srgbClr val="FFFFFF"/>
                </a:solidFill>
                <a:latin typeface="Calibri"/>
              </a:rPr>
              <a:t> = soma do custo interno da carreta no ano (CAD), deflacionado pelo CPI Canada (dez/2025)</a:t>
            </a:r>
          </a:p>
          <a:p>
            <a:pPr algn="l"/>
            <a:r>
              <a:rPr lang="pt-BR" sz="1700" b="1" noProof="0" dirty="0">
                <a:solidFill>
                  <a:srgbClr val="FFFFFF"/>
                </a:solidFill>
                <a:latin typeface="Calibri"/>
              </a:rPr>
              <a:t>Grão: carreta × 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0704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Média CAD $ 1669.18/ano · mediana CAD $ 812.26/ano · p90 CAD $ 4208.49.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Assimetria 3.82 (cauda longa), tratada por log1p e modelos robustos.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Apenas 3.13% de carreta-anos com custo zero: o grão anual praticamente elimina a zero-inflação.</a:t>
            </a:r>
          </a:p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Custo interno total: CAD $ 74.617 mi nominal / CAD $ 79.645 mi real (dez/2025).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07 · CORREÇÃO PELA INFLAÇÃO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Custos reais pelo CPI do Canadá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1206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Todos os custos em CAD, corrigidos pelo CPI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all-items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do Canada (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StatCan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, vetor v41690973).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Base de comparação: dezembro de 2025.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Inflação acumulada no período: ~20% (2020→2025).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A correção isola mudanças REAIS de custo da mera perda do poder de compra.</a:t>
            </a:r>
          </a:p>
        </p:txBody>
      </p:sp>
      <p:pic>
        <p:nvPicPr>
          <p:cNvPr id="7" name="Picture 6" descr="04_nominal_vs_deflacio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4864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08 · VARIÁVEIS</a:t>
            </a:r>
            <a:endParaRPr lang="pt-BR" sz="1200" b="1" noProof="0" dirty="0">
              <a:solidFill>
                <a:srgbClr val="E871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Dicionário das variáveis candidatas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07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 noProof="0" dirty="0">
                <a:solidFill>
                  <a:srgbClr val="5B636E"/>
                </a:solidFill>
                <a:latin typeface="Calibri"/>
              </a:rPr>
              <a:t>São 29 colunas na fonte única, já incluindo o bloco de contrato. A tabela lista ainda id, ano, o alvo Y e os 2 componentes de Y (n_os_ano, </a:t>
            </a:r>
            <a:r>
              <a:rPr lang="pt-BR" sz="1100" b="0" noProof="0" dirty="0" err="1">
                <a:solidFill>
                  <a:srgbClr val="5B636E"/>
                </a:solidFill>
                <a:latin typeface="Calibri"/>
              </a:rPr>
              <a:t>custo_medio_por_os_ano</a:t>
            </a:r>
            <a:r>
              <a:rPr lang="pt-BR" sz="1100" b="0" noProof="0" dirty="0">
                <a:solidFill>
                  <a:srgbClr val="5B636E"/>
                </a:solidFill>
                <a:latin typeface="Calibri"/>
              </a:rPr>
              <a:t>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242547"/>
              </p:ext>
            </p:extLst>
          </p:nvPr>
        </p:nvGraphicFramePr>
        <p:xfrm>
          <a:off x="640080" y="1783080"/>
          <a:ext cx="5394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tipo / papel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id_carreta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ano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temporal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custo_ano_real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Y (resposta, CAD real)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componente de Y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custo_medio_por_os_ano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componente de 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operacional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share_pm_ano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operacional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vmrs_predominante_ano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operacional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km_acumulado_fim_ano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exposição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km_rodado_ano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exposição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regiao_operacao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geográfica (cat.)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provincia_estado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geográfica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cod_montadora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descricao_carreta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ano_modelo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5169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572767"/>
              </p:ext>
            </p:extLst>
          </p:nvPr>
        </p:nvGraphicFramePr>
        <p:xfrm>
          <a:off x="6217920" y="1783080"/>
          <a:ext cx="5394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tipo / papel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unit_subtype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tire_size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suspension_type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new_used_indicator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tailgate_flag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idade_carreta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ativo derivada (quant.)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histórico defasado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histórico defasado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histórico defasado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histórico defasado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169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histórico defasado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4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>
                          <a:solidFill>
                            <a:srgbClr val="1C2433"/>
                          </a:solidFill>
                        </a:rPr>
                        <a:t>km_acumulado_inicio_ano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hist. defasado (preditivo)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3115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08 · VARIÁVEIS</a:t>
            </a:r>
            <a:endParaRPr lang="pt-BR" sz="1200" b="1" noProof="0" dirty="0">
              <a:solidFill>
                <a:srgbClr val="E871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Descrição das variáveis candidatas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349240" cy="4526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dirty="0" err="1">
                <a:solidFill>
                  <a:srgbClr val="142B45"/>
                </a:solidFill>
                <a:latin typeface="Calibri"/>
              </a:rPr>
              <a:t>Atributos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do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ativo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</a:t>
            </a:r>
            <a:endParaRPr lang="pt-BR" sz="1600" b="1" dirty="0">
              <a:solidFill>
                <a:srgbClr val="142B45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cod_montadora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fabricante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da carreta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ano_modelo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geração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tecnológica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ativo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eixos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configuração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estrutural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(nº de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eixos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comprimento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porte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físico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pés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flag_refrigerado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refrigerada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(reefer) ×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seca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unit_subtype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subtipo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operacional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da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unidade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tire_size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dimensão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dos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pneus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suspension_type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tipo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suspensão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new_used_indicator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nova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ou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usada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na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aquisição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descricao_carreta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tipo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/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classe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da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unidade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(proxy de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modelo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endParaRPr lang="pt-BR" sz="1600" b="1" dirty="0">
              <a:solidFill>
                <a:srgbClr val="142B45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dirty="0">
                <a:solidFill>
                  <a:srgbClr val="142B45"/>
                </a:solidFill>
                <a:latin typeface="Calibri"/>
              </a:rPr>
              <a:t>Geografia e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idade</a:t>
            </a:r>
            <a:endParaRPr sz="1600" b="1" dirty="0">
              <a:solidFill>
                <a:srgbClr val="142B45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idade_carreta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desde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a entrada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em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servi</a:t>
            </a:r>
            <a:r>
              <a:rPr lang="en-BR" sz="1200" dirty="0">
                <a:solidFill>
                  <a:srgbClr val="5B636E"/>
                </a:solidFill>
                <a:latin typeface="Calibri"/>
              </a:rPr>
              <a:t>ç</a:t>
            </a:r>
            <a:r>
              <a:rPr sz="1200" dirty="0">
                <a:solidFill>
                  <a:srgbClr val="5B636E"/>
                </a:solidFill>
                <a:latin typeface="Calibri"/>
              </a:rPr>
              <a:t>o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regiao_operacao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região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predominante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operação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provincia_estado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província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predominante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cobertura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~54%)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532120" cy="4526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dirty="0">
                <a:solidFill>
                  <a:srgbClr val="142B45"/>
                </a:solidFill>
                <a:latin typeface="Calibri"/>
              </a:rPr>
              <a:t>Uso e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operação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do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ano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</a:t>
            </a:r>
            <a:endParaRPr lang="pt-BR" sz="1600" b="1" dirty="0">
              <a:solidFill>
                <a:srgbClr val="142B45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km_rodado_ano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km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percorridos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km_acumulado_fim_ano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odômetro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fim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n_sistemas_vmrs_distintos_ano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variedade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sistemas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reparados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share_pm_ano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fração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de OS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preventivas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(PM)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vmrs_predominante_ano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sistema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VMRS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mais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reparado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</a:t>
            </a:r>
            <a:endParaRPr lang="en-BR" sz="1600" b="1" dirty="0">
              <a:solidFill>
                <a:srgbClr val="142B45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endParaRPr lang="en-BR" sz="1600" b="1" dirty="0">
              <a:solidFill>
                <a:srgbClr val="142B45"/>
              </a:solidFill>
              <a:latin typeface="Calibri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00" b="1" dirty="0">
                <a:solidFill>
                  <a:srgbClr val="142B45"/>
                </a:solidFill>
                <a:latin typeface="Calibri"/>
              </a:rPr>
              <a:t>Histórico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defasado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cenário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42B45"/>
                </a:solidFill>
                <a:latin typeface="Calibri"/>
              </a:rPr>
              <a:t>preditivo</a:t>
            </a:r>
            <a:r>
              <a:rPr sz="1600" b="1" dirty="0">
                <a:solidFill>
                  <a:srgbClr val="142B45"/>
                </a:solidFill>
                <a:latin typeface="Calibri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custo_ano_anterior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custo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real do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t−1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n_os_ano_anterior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nº de OS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em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t−1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custo_acum_ate_ano_anterior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custo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real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acumulado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até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t−1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n_os_acum_ate_ano_anterior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OS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acumuladas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até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t−1</a:t>
            </a: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anos_ativo_ate_ano_anterior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anos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de histórico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disponível</a:t>
            </a:r>
            <a:endParaRPr sz="1200" dirty="0">
              <a:solidFill>
                <a:srgbClr val="5B636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200" b="1" dirty="0" err="1">
                <a:solidFill>
                  <a:srgbClr val="142B45"/>
                </a:solidFill>
                <a:latin typeface="Calibri"/>
              </a:rPr>
              <a:t>km_acumulado_inicio_ano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odômetro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início</a:t>
            </a:r>
            <a:r>
              <a:rPr sz="1200" dirty="0">
                <a:solidFill>
                  <a:srgbClr val="5B636E"/>
                </a:solidFill>
                <a:latin typeface="Calibri"/>
              </a:rPr>
              <a:t> do </a:t>
            </a:r>
            <a:r>
              <a:rPr sz="1200" dirty="0" err="1">
                <a:solidFill>
                  <a:srgbClr val="5B636E"/>
                </a:solidFill>
                <a:latin typeface="Calibri"/>
              </a:rPr>
              <a:t>ano</a:t>
            </a:r>
            <a:endParaRPr sz="1200" dirty="0">
              <a:solidFill>
                <a:srgbClr val="5B63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EDA</a:t>
            </a:r>
            <a:endParaRPr lang="pt-BR" sz="1200" b="1" noProof="0" dirty="0">
              <a:solidFill>
                <a:srgbClr val="E871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Estatísticas descritivas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707834"/>
              </p:ext>
            </p:extLst>
          </p:nvPr>
        </p:nvGraphicFramePr>
        <p:xfrm>
          <a:off x="640080" y="1691640"/>
          <a:ext cx="109728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27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32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media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mediana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desvio padrão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 err="1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pt-BR" sz="10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assimetria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custo_ano_real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1669.184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812.262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2390.597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62230.924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3.819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ano_modelo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47709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2014.769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2016.0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5.79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1982.0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2026.0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-0.471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47624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0.277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47055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52.242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53.0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3.722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28.0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60.0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-4.969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idade_carreta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47709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8.181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km_acumulado_fim_ano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47448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176040.697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110322.0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197125.394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3479389.0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2.204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km_rodado_ano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37822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24050.571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13016.5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29246.383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249676.0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2.339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2.501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1.548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1.097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share_pm_ano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0.322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0.332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0.942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4.549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4.268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59.0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2.407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custo_medio_por_os_ano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338.104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242.725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354.465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19177.732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7.452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38130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4.484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4.251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59.0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2.424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9.668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131.0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2.881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2.254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1.68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0.173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75344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38130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1602.186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764.094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2317.646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62230.924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3.917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4742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3368.169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1328.33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5923.511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123769.413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4.292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2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Evolução do custo anual real (2020–2025)</a:t>
            </a:r>
          </a:p>
        </p:txBody>
      </p:sp>
      <p:pic>
        <p:nvPicPr>
          <p:cNvPr id="6" name="Picture 5" descr="evolucao_y_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04" y="1874519"/>
            <a:ext cx="7315200" cy="3895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3DC310-81FC-0235-90CE-FF174FACACF5}"/>
              </a:ext>
            </a:extLst>
          </p:cNvPr>
          <p:cNvSpPr txBox="1"/>
          <p:nvPr/>
        </p:nvSpPr>
        <p:spPr>
          <a:xfrm>
            <a:off x="2432303" y="5806100"/>
            <a:ext cx="731519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dirty="0" err="1"/>
              <a:t>Crescimento</a:t>
            </a:r>
            <a:r>
              <a:rPr lang="en-US" sz="900" dirty="0"/>
              <a:t> </a:t>
            </a:r>
            <a:r>
              <a:rPr lang="en-US" sz="900" dirty="0" err="1"/>
              <a:t>consistente</a:t>
            </a:r>
            <a:r>
              <a:rPr lang="en-US" sz="900" dirty="0"/>
              <a:t> do </a:t>
            </a:r>
            <a:r>
              <a:rPr lang="en-US" sz="900" dirty="0" err="1"/>
              <a:t>custo</a:t>
            </a:r>
            <a:r>
              <a:rPr lang="en-US" sz="900" dirty="0"/>
              <a:t> </a:t>
            </a:r>
            <a:r>
              <a:rPr lang="en-US" sz="900" dirty="0" err="1"/>
              <a:t>anual</a:t>
            </a:r>
            <a:r>
              <a:rPr lang="en-US" sz="900" dirty="0"/>
              <a:t> real de </a:t>
            </a:r>
            <a:r>
              <a:rPr lang="en-US" sz="900" dirty="0" err="1"/>
              <a:t>manutenção</a:t>
            </a:r>
            <a:r>
              <a:rPr lang="en-US" sz="900" dirty="0"/>
              <a:t> </a:t>
            </a:r>
            <a:r>
              <a:rPr lang="en-US" sz="900" dirty="0" err="1"/>
              <a:t>ao</a:t>
            </a:r>
            <a:r>
              <a:rPr lang="en-US" sz="900" dirty="0"/>
              <a:t> </a:t>
            </a:r>
            <a:r>
              <a:rPr lang="en-US" sz="900" dirty="0" err="1"/>
              <a:t>longo</a:t>
            </a:r>
            <a:r>
              <a:rPr lang="en-US" sz="900" dirty="0"/>
              <a:t> do </a:t>
            </a:r>
            <a:r>
              <a:rPr lang="en-US" sz="900" dirty="0" err="1"/>
              <a:t>período</a:t>
            </a:r>
            <a:r>
              <a:rPr lang="en-US" sz="900" dirty="0"/>
              <a:t> </a:t>
            </a:r>
            <a:r>
              <a:rPr lang="en-US" sz="900" dirty="0" err="1"/>
              <a:t>analisado</a:t>
            </a:r>
            <a:r>
              <a:rPr lang="en-US" sz="900" dirty="0"/>
              <a:t>, </a:t>
            </a:r>
            <a:r>
              <a:rPr lang="en-US" sz="900" dirty="0" err="1"/>
              <a:t>mesmo</a:t>
            </a:r>
            <a:r>
              <a:rPr lang="en-US" sz="900" dirty="0"/>
              <a:t> </a:t>
            </a:r>
            <a:r>
              <a:rPr lang="en-US" sz="900" dirty="0" err="1"/>
              <a:t>após</a:t>
            </a:r>
            <a:r>
              <a:rPr lang="en-US" sz="900" dirty="0"/>
              <a:t> a </a:t>
            </a:r>
            <a:r>
              <a:rPr lang="en-US" sz="900" dirty="0" err="1"/>
              <a:t>correção</a:t>
            </a:r>
            <a:r>
              <a:rPr lang="en-US" sz="900" dirty="0"/>
              <a:t> pela </a:t>
            </a:r>
            <a:r>
              <a:rPr lang="en-US" sz="900" dirty="0" err="1"/>
              <a:t>inflação</a:t>
            </a:r>
            <a:r>
              <a:rPr lang="en-US" sz="900" dirty="0"/>
              <a:t>. </a:t>
            </a:r>
            <a:r>
              <a:rPr lang="en-US" sz="900" dirty="0" err="1"/>
              <a:t>Média</a:t>
            </a:r>
            <a:r>
              <a:rPr lang="en-US" sz="900" dirty="0"/>
              <a:t> e </a:t>
            </a:r>
            <a:r>
              <a:rPr lang="en-US" sz="900" dirty="0" err="1"/>
              <a:t>mediana</a:t>
            </a:r>
            <a:r>
              <a:rPr lang="en-US" sz="900" dirty="0"/>
              <a:t> </a:t>
            </a:r>
            <a:r>
              <a:rPr lang="en-US" sz="900" dirty="0" err="1"/>
              <a:t>apresentam</a:t>
            </a:r>
            <a:r>
              <a:rPr lang="en-US" sz="900" dirty="0"/>
              <a:t> </a:t>
            </a:r>
            <a:r>
              <a:rPr lang="en-US" sz="900" dirty="0" err="1"/>
              <a:t>tendência</a:t>
            </a:r>
            <a:r>
              <a:rPr lang="en-US" sz="900" dirty="0"/>
              <a:t> de </a:t>
            </a:r>
            <a:r>
              <a:rPr lang="en-US" sz="900" dirty="0" err="1"/>
              <a:t>alta</a:t>
            </a:r>
            <a:r>
              <a:rPr lang="en-US" sz="900" dirty="0"/>
              <a:t>, </a:t>
            </a:r>
            <a:r>
              <a:rPr lang="en-US" sz="900" dirty="0" err="1"/>
              <a:t>indicando</a:t>
            </a:r>
            <a:r>
              <a:rPr lang="en-US" sz="900" dirty="0"/>
              <a:t> </a:t>
            </a:r>
            <a:r>
              <a:rPr lang="en-US" sz="900" dirty="0" err="1"/>
              <a:t>que</a:t>
            </a:r>
            <a:r>
              <a:rPr lang="en-US" sz="900" dirty="0"/>
              <a:t> o </a:t>
            </a:r>
            <a:r>
              <a:rPr lang="en-US" sz="900" dirty="0" err="1"/>
              <a:t>aumento</a:t>
            </a:r>
            <a:r>
              <a:rPr lang="en-US" sz="900" dirty="0"/>
              <a:t> dos custos </a:t>
            </a:r>
            <a:r>
              <a:rPr lang="en-US" sz="900" dirty="0" err="1"/>
              <a:t>ocorre</a:t>
            </a:r>
            <a:r>
              <a:rPr lang="en-US" sz="900" dirty="0"/>
              <a:t> de forma </a:t>
            </a:r>
            <a:r>
              <a:rPr lang="en-US" sz="900" dirty="0" err="1"/>
              <a:t>disseminada</a:t>
            </a:r>
            <a:r>
              <a:rPr lang="en-US" sz="900" dirty="0"/>
              <a:t> </a:t>
            </a:r>
            <a:r>
              <a:rPr lang="en-US" sz="900" dirty="0" err="1"/>
              <a:t>na</a:t>
            </a:r>
            <a:r>
              <a:rPr lang="en-US" sz="900" dirty="0"/>
              <a:t> </a:t>
            </a:r>
            <a:r>
              <a:rPr lang="en-US" sz="900" dirty="0" err="1"/>
              <a:t>frota</a:t>
            </a:r>
            <a:r>
              <a:rPr lang="en-US" sz="900" dirty="0"/>
              <a:t>. A </a:t>
            </a:r>
            <a:r>
              <a:rPr lang="en-US" sz="900" dirty="0" err="1"/>
              <a:t>diferença</a:t>
            </a:r>
            <a:r>
              <a:rPr lang="en-US" sz="900" dirty="0"/>
              <a:t> entre </a:t>
            </a:r>
            <a:r>
              <a:rPr lang="en-US" sz="900" dirty="0" err="1"/>
              <a:t>média</a:t>
            </a:r>
            <a:r>
              <a:rPr lang="en-US" sz="900" dirty="0"/>
              <a:t> e </a:t>
            </a:r>
            <a:r>
              <a:rPr lang="en-US" sz="900" dirty="0" err="1"/>
              <a:t>mediana</a:t>
            </a:r>
            <a:r>
              <a:rPr lang="en-US" sz="900" dirty="0"/>
              <a:t> </a:t>
            </a:r>
            <a:r>
              <a:rPr lang="en-US" sz="900" dirty="0" err="1"/>
              <a:t>evidencia</a:t>
            </a:r>
            <a:r>
              <a:rPr lang="en-US" sz="900" dirty="0"/>
              <a:t> a </a:t>
            </a:r>
            <a:r>
              <a:rPr lang="en-US" sz="900" dirty="0" err="1"/>
              <a:t>presença</a:t>
            </a:r>
            <a:r>
              <a:rPr lang="en-US" sz="900" dirty="0"/>
              <a:t> de </a:t>
            </a:r>
            <a:r>
              <a:rPr lang="en-US" sz="900" dirty="0" err="1"/>
              <a:t>ativos</a:t>
            </a:r>
            <a:r>
              <a:rPr lang="en-US" sz="900" dirty="0"/>
              <a:t> com custos </a:t>
            </a:r>
            <a:r>
              <a:rPr lang="en-US" sz="900" dirty="0" err="1"/>
              <a:t>excepcionalmente</a:t>
            </a:r>
            <a:r>
              <a:rPr lang="en-US" sz="900" dirty="0"/>
              <a:t> </a:t>
            </a:r>
            <a:r>
              <a:rPr lang="en-US" sz="900" dirty="0" err="1"/>
              <a:t>elevados</a:t>
            </a:r>
            <a:r>
              <a:rPr lang="en-US" sz="900" dirty="0"/>
              <a:t>, </a:t>
            </a:r>
            <a:r>
              <a:rPr lang="en-US" sz="900" dirty="0" err="1"/>
              <a:t>característicos</a:t>
            </a:r>
            <a:r>
              <a:rPr lang="en-US" sz="900" dirty="0"/>
              <a:t> de </a:t>
            </a:r>
            <a:r>
              <a:rPr lang="en-US" sz="900" dirty="0" err="1"/>
              <a:t>uma</a:t>
            </a:r>
            <a:r>
              <a:rPr lang="en-US" sz="900" dirty="0"/>
              <a:t> </a:t>
            </a:r>
            <a:r>
              <a:rPr lang="en-US" sz="900" dirty="0" err="1"/>
              <a:t>distribuição</a:t>
            </a:r>
            <a:r>
              <a:rPr lang="en-US" sz="900" dirty="0"/>
              <a:t> </a:t>
            </a:r>
            <a:r>
              <a:rPr lang="en-US" sz="900" dirty="0" err="1"/>
              <a:t>assimétrica</a:t>
            </a:r>
            <a:r>
              <a:rPr lang="en-US" sz="9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Histogramas e distribuições</a:t>
            </a:r>
          </a:p>
        </p:txBody>
      </p:sp>
      <p:pic>
        <p:nvPicPr>
          <p:cNvPr id="6" name="Picture 5" descr="quant_custo_an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8431"/>
            <a:ext cx="5394960" cy="2038096"/>
          </a:xfrm>
          <a:prstGeom prst="rect">
            <a:avLst/>
          </a:prstGeom>
        </p:spPr>
      </p:pic>
      <p:pic>
        <p:nvPicPr>
          <p:cNvPr id="7" name="Picture 6" descr="quant_km_rodado_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78431"/>
            <a:ext cx="5394960" cy="2038096"/>
          </a:xfrm>
          <a:prstGeom prst="rect">
            <a:avLst/>
          </a:prstGeom>
        </p:spPr>
      </p:pic>
      <p:pic>
        <p:nvPicPr>
          <p:cNvPr id="8" name="Picture 7" descr="quant_custo_ano_anteri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47312"/>
            <a:ext cx="5394960" cy="2038096"/>
          </a:xfrm>
          <a:prstGeom prst="rect">
            <a:avLst/>
          </a:prstGeom>
        </p:spPr>
      </p:pic>
      <p:pic>
        <p:nvPicPr>
          <p:cNvPr id="9" name="Picture 8" descr="quant_n_os_ano_anteri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47312"/>
            <a:ext cx="5394960" cy="20380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0130D4-3531-5B16-D863-4459F22AA963}"/>
              </a:ext>
            </a:extLst>
          </p:cNvPr>
          <p:cNvSpPr txBox="1"/>
          <p:nvPr/>
        </p:nvSpPr>
        <p:spPr>
          <a:xfrm>
            <a:off x="640080" y="3715398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 fortemente assimétrica à direita — a maioria das carretas custa pouco (mediana CAD 812/ano). O eixo do gráfico é cortado em ~CAD 12.000 (p99 = 11.804), mas a cauda real vai até CAD 62.231.</a:t>
            </a:r>
            <a:r>
              <a:rPr lang="en-US" sz="800" dirty="0"/>
              <a:t/>
            </a:r>
            <a:r>
              <a:rPr lang="en-US" sz="800" dirty="0" err="1"/>
              <a:t/>
            </a:r>
            <a:r>
              <a:rPr lang="en-US" sz="800" dirty="0"/>
              <a:t/>
            </a:r>
            <a:r>
              <a:rPr lang="en-US" sz="800" dirty="0" err="1"/>
              <a:t/>
            </a:r>
            <a:r>
              <a:rPr lang="en-US" sz="800" dirty="0"/>
              <a:t/>
            </a:r>
            <a:r>
              <a:rPr lang="en-US" sz="800" dirty="0" err="1"/>
              <a:t/>
            </a:r>
            <a:r>
              <a:rPr lang="en-US" sz="800" dirty="0"/>
              <a:t/>
            </a:r>
            <a:r>
              <a:rPr lang="en-US" sz="800" dirty="0" err="1"/>
              <a:t/>
            </a:r>
            <a:r>
              <a:rPr lang="en-US" sz="800" dirty="0"/>
              <a:t/>
            </a:r>
            <a:r>
              <a:rPr lang="en-US" sz="800" dirty="0" err="1"/>
              <a:t/>
            </a:r>
            <a:r>
              <a:rPr lang="en-US" sz="800" dirty="0"/>
              <a:t/>
            </a:r>
            <a:r>
              <a:rPr lang="en-US" sz="800" dirty="0" err="1"/>
              <a:t/>
            </a:r>
            <a:r>
              <a:rPr lang="en-US" sz="800" dirty="0"/>
              <a:t/>
            </a:r>
            <a:r>
              <a:rPr lang="en-US" sz="800" dirty="0" err="1"/>
              <a:t/>
            </a:r>
            <a:r>
              <a:rPr lang="en-US" sz="800" dirty="0"/>
              <a:t/>
            </a:r>
            <a:r>
              <a:rPr lang="en-US" sz="800" dirty="0" err="1"/>
              <a:t/>
            </a:r>
            <a:r>
              <a:rPr lang="en-US" sz="800" dirty="0"/>
              <a:t/>
            </a:r>
            <a:r>
              <a:rPr lang="en-US" sz="800" dirty="0" err="1"/>
              <a:t/>
            </a:r>
            <a:r>
              <a:rPr lang="en-US" sz="800" dirty="0"/>
              <a:t/>
            </a:r>
            <a:endParaRPr lang="en-B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F35E46-A3ED-54C8-812D-18BFD4A11662}"/>
              </a:ext>
            </a:extLst>
          </p:cNvPr>
          <p:cNvSpPr txBox="1"/>
          <p:nvPr/>
        </p:nvSpPr>
        <p:spPr>
          <a:xfrm>
            <a:off x="6217920" y="3716527"/>
            <a:ext cx="53949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Mesmo</a:t>
            </a:r>
            <a:r>
              <a:rPr lang="en-US" sz="800" dirty="0"/>
              <a:t> </a:t>
            </a:r>
            <a:r>
              <a:rPr lang="en-US" sz="800" dirty="0" err="1"/>
              <a:t>padrão</a:t>
            </a:r>
            <a:r>
              <a:rPr lang="en-US" sz="800" dirty="0"/>
              <a:t> </a:t>
            </a:r>
            <a:r>
              <a:rPr lang="en-US" sz="800" dirty="0" err="1"/>
              <a:t>assimétrico</a:t>
            </a:r>
            <a:r>
              <a:rPr lang="en-US" sz="800" dirty="0"/>
              <a:t> —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parte</a:t>
            </a:r>
            <a:r>
              <a:rPr lang="en-US" sz="800" dirty="0"/>
              <a:t> da </a:t>
            </a:r>
            <a:r>
              <a:rPr lang="en-US" sz="800" dirty="0" err="1"/>
              <a:t>frota</a:t>
            </a:r>
            <a:r>
              <a:rPr lang="en-US" sz="800" dirty="0"/>
              <a:t> </a:t>
            </a:r>
            <a:r>
              <a:rPr lang="en-US" sz="800" dirty="0" err="1"/>
              <a:t>roda</a:t>
            </a:r>
            <a:r>
              <a:rPr lang="en-US" sz="800" dirty="0"/>
              <a:t> </a:t>
            </a:r>
            <a:r>
              <a:rPr lang="en-US" sz="800" dirty="0" err="1"/>
              <a:t>menos</a:t>
            </a:r>
            <a:r>
              <a:rPr lang="en-US" sz="800" dirty="0"/>
              <a:t> de 20.000 km/</a:t>
            </a:r>
            <a:r>
              <a:rPr lang="en-US" sz="800" dirty="0" err="1"/>
              <a:t>ano</a:t>
            </a:r>
            <a:r>
              <a:rPr lang="en-US" sz="800" dirty="0"/>
              <a:t>, com outliers </a:t>
            </a:r>
            <a:r>
              <a:rPr lang="en-US" sz="800" dirty="0" err="1"/>
              <a:t>acima</a:t>
            </a:r>
            <a:r>
              <a:rPr lang="en-US" sz="800" dirty="0"/>
              <a:t> de 75.000 km. </a:t>
            </a:r>
            <a:endParaRPr lang="en-BR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C800E6-2A9A-1248-CD15-0489E511C6E8}"/>
              </a:ext>
            </a:extLst>
          </p:cNvPr>
          <p:cNvSpPr txBox="1"/>
          <p:nvPr/>
        </p:nvSpPr>
        <p:spPr>
          <a:xfrm>
            <a:off x="640080" y="6183150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</a:t>
            </a:r>
            <a:r>
              <a:rPr lang="en-US" sz="800" dirty="0" err="1"/>
              <a:t>quase</a:t>
            </a:r>
            <a:r>
              <a:rPr lang="en-US" sz="800" dirty="0"/>
              <a:t> </a:t>
            </a:r>
            <a:r>
              <a:rPr lang="en-US" sz="800" dirty="0" err="1"/>
              <a:t>idêntica</a:t>
            </a:r>
            <a:r>
              <a:rPr lang="en-US" sz="800" dirty="0"/>
              <a:t> à do </a:t>
            </a:r>
            <a:r>
              <a:rPr lang="en-US" sz="800" dirty="0" err="1"/>
              <a:t>custo</a:t>
            </a:r>
            <a:r>
              <a:rPr lang="en-US" sz="800" dirty="0"/>
              <a:t> </a:t>
            </a:r>
            <a:r>
              <a:rPr lang="en-US" sz="800" dirty="0" err="1"/>
              <a:t>atual</a:t>
            </a:r>
            <a:r>
              <a:rPr lang="en-US" sz="800" dirty="0"/>
              <a:t>, o </a:t>
            </a:r>
            <a:r>
              <a:rPr lang="en-US" sz="800" dirty="0" err="1"/>
              <a:t>que</a:t>
            </a:r>
            <a:r>
              <a:rPr lang="en-US" sz="800" dirty="0"/>
              <a:t> indica forte </a:t>
            </a:r>
            <a:r>
              <a:rPr lang="en-US" sz="800" dirty="0" err="1"/>
              <a:t>potencial</a:t>
            </a:r>
            <a:r>
              <a:rPr lang="en-US" sz="800" dirty="0"/>
              <a:t> </a:t>
            </a:r>
            <a:r>
              <a:rPr lang="en-US" sz="800" dirty="0" err="1"/>
              <a:t>preditivo</a:t>
            </a:r>
            <a:r>
              <a:rPr lang="en-US" sz="800" dirty="0"/>
              <a:t> — </a:t>
            </a:r>
            <a:r>
              <a:rPr lang="en-US" sz="800" dirty="0" err="1"/>
              <a:t>custo</a:t>
            </a:r>
            <a:r>
              <a:rPr lang="en-US" sz="800" dirty="0"/>
              <a:t> passado </a:t>
            </a:r>
            <a:r>
              <a:rPr lang="en-US" sz="800" dirty="0" err="1"/>
              <a:t>tende</a:t>
            </a:r>
            <a:r>
              <a:rPr lang="en-US" sz="800" dirty="0"/>
              <a:t> a ser o </a:t>
            </a:r>
            <a:r>
              <a:rPr lang="en-US" sz="800" dirty="0" err="1"/>
              <a:t>melhor</a:t>
            </a:r>
            <a:r>
              <a:rPr lang="en-US" sz="800" dirty="0"/>
              <a:t> </a:t>
            </a:r>
            <a:r>
              <a:rPr lang="en-US" sz="800" dirty="0" err="1"/>
              <a:t>previsor</a:t>
            </a:r>
            <a:r>
              <a:rPr lang="en-US" sz="800" dirty="0"/>
              <a:t> do </a:t>
            </a:r>
            <a:r>
              <a:rPr lang="en-US" sz="800" dirty="0" err="1"/>
              <a:t>custo</a:t>
            </a:r>
            <a:r>
              <a:rPr lang="en-US" sz="800" dirty="0"/>
              <a:t> </a:t>
            </a:r>
            <a:r>
              <a:rPr lang="en-US" sz="800" dirty="0" err="1"/>
              <a:t>futuro</a:t>
            </a:r>
            <a:r>
              <a:rPr lang="en-US" sz="800" dirty="0"/>
              <a:t>. </a:t>
            </a:r>
            <a:endParaRPr lang="en-BR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017C92-C222-260D-093F-C3902A1D7A89}"/>
              </a:ext>
            </a:extLst>
          </p:cNvPr>
          <p:cNvSpPr txBox="1"/>
          <p:nvPr/>
        </p:nvSpPr>
        <p:spPr>
          <a:xfrm>
            <a:off x="6217920" y="6183150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Variável</a:t>
            </a:r>
            <a:r>
              <a:rPr lang="en-US" sz="800" dirty="0"/>
              <a:t> de </a:t>
            </a:r>
            <a:r>
              <a:rPr lang="en-US" sz="800" dirty="0" err="1"/>
              <a:t>contagem</a:t>
            </a:r>
            <a:r>
              <a:rPr lang="en-US" sz="800" dirty="0"/>
              <a:t> com </a:t>
            </a:r>
            <a:r>
              <a:rPr lang="en-US" sz="800" dirty="0" err="1"/>
              <a:t>moda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1–2 </a:t>
            </a:r>
            <a:r>
              <a:rPr lang="en-US" sz="800" dirty="0" err="1"/>
              <a:t>ordens</a:t>
            </a:r>
            <a:r>
              <a:rPr lang="en-US" sz="800" dirty="0"/>
              <a:t> de </a:t>
            </a:r>
            <a:r>
              <a:rPr lang="en-US" sz="800" dirty="0" err="1"/>
              <a:t>serviço</a:t>
            </a:r>
            <a:r>
              <a:rPr lang="en-US" sz="800" dirty="0"/>
              <a:t> e cauda </a:t>
            </a:r>
            <a:r>
              <a:rPr lang="en-US" sz="800" dirty="0" err="1"/>
              <a:t>até</a:t>
            </a:r>
            <a:r>
              <a:rPr lang="en-US" sz="800" dirty="0"/>
              <a:t> ~20, </a:t>
            </a:r>
            <a:r>
              <a:rPr lang="en-US" sz="800" dirty="0" err="1"/>
              <a:t>padrão</a:t>
            </a:r>
            <a:r>
              <a:rPr lang="en-US" sz="800" dirty="0"/>
              <a:t> </a:t>
            </a:r>
            <a:r>
              <a:rPr lang="en-US" sz="800" dirty="0" err="1"/>
              <a:t>típico</a:t>
            </a:r>
            <a:r>
              <a:rPr lang="en-US" sz="800" dirty="0"/>
              <a:t> Poisson. </a:t>
            </a:r>
            <a:r>
              <a:rPr lang="en-US" sz="800" dirty="0" err="1"/>
              <a:t>Os</a:t>
            </a:r>
            <a:r>
              <a:rPr lang="en-US" sz="800" dirty="0"/>
              <a:t> outliers </a:t>
            </a:r>
            <a:r>
              <a:rPr lang="en-US" sz="800" dirty="0" err="1"/>
              <a:t>acima</a:t>
            </a:r>
            <a:r>
              <a:rPr lang="en-US" sz="800" dirty="0"/>
              <a:t> de 12 OS </a:t>
            </a:r>
            <a:r>
              <a:rPr lang="en-US" sz="800" dirty="0" err="1"/>
              <a:t>indicam</a:t>
            </a:r>
            <a:r>
              <a:rPr lang="en-US" sz="800" dirty="0"/>
              <a:t> </a:t>
            </a:r>
            <a:r>
              <a:rPr lang="en-US" sz="800" dirty="0" err="1"/>
              <a:t>veículos</a:t>
            </a:r>
            <a:r>
              <a:rPr lang="en-US" sz="800" dirty="0"/>
              <a:t> com </a:t>
            </a:r>
            <a:r>
              <a:rPr lang="en-US" sz="800" dirty="0" err="1"/>
              <a:t>manutenção</a:t>
            </a:r>
            <a:r>
              <a:rPr lang="en-US" sz="800" dirty="0"/>
              <a:t> </a:t>
            </a:r>
            <a:r>
              <a:rPr lang="en-US" sz="800" dirty="0" err="1"/>
              <a:t>recorrente</a:t>
            </a:r>
            <a:r>
              <a:rPr lang="en-US" sz="800" dirty="0"/>
              <a:t>,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merecem</a:t>
            </a:r>
            <a:r>
              <a:rPr lang="en-US" sz="800" dirty="0"/>
              <a:t> </a:t>
            </a:r>
            <a:r>
              <a:rPr lang="en-US" sz="800" dirty="0" err="1"/>
              <a:t>atenção</a:t>
            </a:r>
            <a:r>
              <a:rPr lang="en-US" sz="800" dirty="0"/>
              <a:t> especial.</a:t>
            </a:r>
            <a:endParaRPr lang="en-BR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Histogramas — atributos do ativo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2496"/>
            <a:ext cx="5394960" cy="20391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82496"/>
            <a:ext cx="5394960" cy="20391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51376"/>
            <a:ext cx="5394960" cy="20391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51376"/>
            <a:ext cx="5394960" cy="2039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0F57A5-F4E3-5A25-6797-4F2BCF6CA802}"/>
              </a:ext>
            </a:extLst>
          </p:cNvPr>
          <p:cNvSpPr txBox="1"/>
          <p:nvPr/>
        </p:nvSpPr>
        <p:spPr>
          <a:xfrm>
            <a:off x="640080" y="3715398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Frota </a:t>
            </a:r>
            <a:r>
              <a:rPr lang="en-US" sz="800" dirty="0" err="1"/>
              <a:t>concentrada</a:t>
            </a:r>
            <a:r>
              <a:rPr lang="en-US" sz="800" dirty="0"/>
              <a:t> entre 2005 e 2024, com </a:t>
            </a:r>
            <a:r>
              <a:rPr lang="en-US" sz="800" dirty="0" err="1"/>
              <a:t>mediana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</a:t>
            </a:r>
            <a:r>
              <a:rPr lang="en-US" sz="800" dirty="0" err="1"/>
              <a:t>torno</a:t>
            </a:r>
            <a:r>
              <a:rPr lang="en-US" sz="800" dirty="0"/>
              <a:t> de 2015 e um </a:t>
            </a:r>
            <a:r>
              <a:rPr lang="en-US" sz="800" dirty="0" err="1"/>
              <a:t>pico</a:t>
            </a:r>
            <a:r>
              <a:rPr lang="en-US" sz="800" dirty="0"/>
              <a:t> </a:t>
            </a:r>
            <a:r>
              <a:rPr lang="en-US" sz="800" dirty="0" err="1"/>
              <a:t>expressivo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~2020. </a:t>
            </a:r>
            <a:r>
              <a:rPr lang="en-US" sz="800" dirty="0" err="1"/>
              <a:t>Os</a:t>
            </a:r>
            <a:r>
              <a:rPr lang="en-US" sz="800" dirty="0"/>
              <a:t> outliers </a:t>
            </a:r>
            <a:r>
              <a:rPr lang="en-US" sz="800" dirty="0" err="1"/>
              <a:t>abaixo</a:t>
            </a:r>
            <a:r>
              <a:rPr lang="en-US" sz="800" dirty="0"/>
              <a:t> de 1999 </a:t>
            </a:r>
            <a:r>
              <a:rPr lang="en-US" sz="800" dirty="0" err="1"/>
              <a:t>são</a:t>
            </a:r>
            <a:r>
              <a:rPr lang="en-US" sz="800" dirty="0"/>
              <a:t> </a:t>
            </a:r>
            <a:r>
              <a:rPr lang="en-US" sz="800" dirty="0" err="1"/>
              <a:t>poucos</a:t>
            </a:r>
            <a:r>
              <a:rPr lang="en-US" sz="800" dirty="0"/>
              <a:t> </a:t>
            </a:r>
            <a:r>
              <a:rPr lang="en-US" sz="800" dirty="0" err="1"/>
              <a:t>veículos</a:t>
            </a:r>
            <a:r>
              <a:rPr lang="en-US" sz="800" dirty="0"/>
              <a:t> </a:t>
            </a:r>
            <a:r>
              <a:rPr lang="en-US" sz="800" dirty="0" err="1"/>
              <a:t>muito</a:t>
            </a:r>
            <a:r>
              <a:rPr lang="en-US" sz="800" dirty="0"/>
              <a:t> </a:t>
            </a:r>
            <a:r>
              <a:rPr lang="en-US" sz="800" dirty="0" err="1"/>
              <a:t>antigos</a:t>
            </a:r>
            <a:r>
              <a:rPr lang="en-US" sz="800" dirty="0"/>
              <a:t>,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merecem</a:t>
            </a:r>
            <a:r>
              <a:rPr lang="en-US" sz="800" dirty="0"/>
              <a:t> </a:t>
            </a:r>
            <a:r>
              <a:rPr lang="en-US" sz="800" dirty="0" err="1"/>
              <a:t>verificação</a:t>
            </a:r>
            <a:r>
              <a:rPr lang="en-US" sz="800" dirty="0"/>
              <a:t> se </a:t>
            </a:r>
            <a:r>
              <a:rPr lang="en-US" sz="800" dirty="0" err="1"/>
              <a:t>ainda</a:t>
            </a:r>
            <a:r>
              <a:rPr lang="en-US" sz="800" dirty="0"/>
              <a:t> </a:t>
            </a:r>
            <a:r>
              <a:rPr lang="en-US" sz="800" dirty="0" err="1"/>
              <a:t>estão</a:t>
            </a:r>
            <a:r>
              <a:rPr lang="en-US" sz="800" dirty="0"/>
              <a:t> </a:t>
            </a:r>
            <a:r>
              <a:rPr lang="en-US" sz="800" dirty="0" err="1"/>
              <a:t>ativos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E3C120-95B0-EA6B-176B-CEF04A0C75B0}"/>
              </a:ext>
            </a:extLst>
          </p:cNvPr>
          <p:cNvSpPr txBox="1"/>
          <p:nvPr/>
        </p:nvSpPr>
        <p:spPr>
          <a:xfrm>
            <a:off x="6217920" y="3716527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Variável</a:t>
            </a:r>
            <a:r>
              <a:rPr lang="en-US" sz="800" dirty="0"/>
              <a:t> </a:t>
            </a:r>
            <a:r>
              <a:rPr lang="en-US" sz="800" dirty="0" err="1"/>
              <a:t>quase</a:t>
            </a:r>
            <a:r>
              <a:rPr lang="en-US" sz="800" dirty="0"/>
              <a:t> </a:t>
            </a:r>
            <a:r>
              <a:rPr lang="en-US" sz="800" dirty="0" err="1"/>
              <a:t>constante</a:t>
            </a:r>
            <a:r>
              <a:rPr lang="en-US" sz="800" dirty="0"/>
              <a:t> — a </a:t>
            </a:r>
            <a:r>
              <a:rPr lang="en-US" sz="800" dirty="0" err="1"/>
              <a:t>esmagadora</a:t>
            </a:r>
            <a:r>
              <a:rPr lang="en-US" sz="800" dirty="0"/>
              <a:t> </a:t>
            </a:r>
            <a:r>
              <a:rPr lang="en-US" sz="800" dirty="0" err="1"/>
              <a:t>maioria</a:t>
            </a:r>
            <a:r>
              <a:rPr lang="en-US" sz="800" dirty="0"/>
              <a:t> das carretas </a:t>
            </a:r>
            <a:r>
              <a:rPr lang="en-US" sz="800" dirty="0" err="1"/>
              <a:t>tem</a:t>
            </a:r>
            <a:r>
              <a:rPr lang="en-US" sz="800" dirty="0"/>
              <a:t> 2 </a:t>
            </a:r>
            <a:r>
              <a:rPr lang="en-US" sz="800" dirty="0" err="1"/>
              <a:t>eixos</a:t>
            </a:r>
            <a:r>
              <a:rPr lang="en-US" sz="800" dirty="0"/>
              <a:t>, com </a:t>
            </a:r>
            <a:r>
              <a:rPr lang="en-US" sz="800" dirty="0" err="1"/>
              <a:t>uma</a:t>
            </a:r>
            <a:r>
              <a:rPr lang="en-US" sz="800" dirty="0"/>
              <a:t> </a:t>
            </a:r>
            <a:r>
              <a:rPr lang="en-US" sz="800" dirty="0" err="1"/>
              <a:t>pequena</a:t>
            </a:r>
            <a:r>
              <a:rPr lang="en-US" sz="800" dirty="0"/>
              <a:t> </a:t>
            </a:r>
            <a:r>
              <a:rPr lang="en-US" sz="800" dirty="0" err="1"/>
              <a:t>fração</a:t>
            </a:r>
            <a:r>
              <a:rPr lang="en-US" sz="800" dirty="0"/>
              <a:t> de 3 e </a:t>
            </a:r>
            <a:r>
              <a:rPr lang="en-US" sz="800" dirty="0" err="1"/>
              <a:t>casos</a:t>
            </a:r>
            <a:r>
              <a:rPr lang="en-US" sz="800" dirty="0"/>
              <a:t> </a:t>
            </a:r>
            <a:r>
              <a:rPr lang="en-US" sz="800" dirty="0" err="1"/>
              <a:t>raros</a:t>
            </a:r>
            <a:r>
              <a:rPr lang="en-US" sz="800" dirty="0"/>
              <a:t> de 1 e 4. Com </a:t>
            </a:r>
            <a:r>
              <a:rPr lang="en-US" sz="800" dirty="0" err="1"/>
              <a:t>tão</a:t>
            </a:r>
            <a:r>
              <a:rPr lang="en-US" sz="800" dirty="0"/>
              <a:t> </a:t>
            </a:r>
            <a:r>
              <a:rPr lang="en-US" sz="800" dirty="0" err="1"/>
              <a:t>pouca</a:t>
            </a:r>
            <a:r>
              <a:rPr lang="en-US" sz="800" dirty="0"/>
              <a:t> </a:t>
            </a:r>
            <a:r>
              <a:rPr lang="en-US" sz="800" dirty="0" err="1"/>
              <a:t>variabilidade</a:t>
            </a:r>
            <a:r>
              <a:rPr lang="en-US" sz="800" dirty="0"/>
              <a:t>, </a:t>
            </a:r>
            <a:r>
              <a:rPr lang="en-US" sz="800" dirty="0" err="1"/>
              <a:t>tende</a:t>
            </a:r>
            <a:r>
              <a:rPr lang="en-US" sz="800" dirty="0"/>
              <a:t> a ter </a:t>
            </a:r>
            <a:r>
              <a:rPr lang="en-US" sz="800" dirty="0" err="1"/>
              <a:t>baixo</a:t>
            </a:r>
            <a:r>
              <a:rPr lang="en-US" sz="800" dirty="0"/>
              <a:t> </a:t>
            </a:r>
            <a:r>
              <a:rPr lang="en-US" sz="800" dirty="0" err="1"/>
              <a:t>poder</a:t>
            </a:r>
            <a:r>
              <a:rPr lang="en-US" sz="800" dirty="0"/>
              <a:t> </a:t>
            </a:r>
            <a:r>
              <a:rPr lang="en-US" sz="800" dirty="0" err="1"/>
              <a:t>preditivo</a:t>
            </a:r>
            <a:r>
              <a:rPr lang="en-US" sz="800" dirty="0"/>
              <a:t> no </a:t>
            </a:r>
            <a:r>
              <a:rPr lang="en-US" sz="800" dirty="0" err="1"/>
              <a:t>modelo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FFDE60-4C0E-1B65-C7CB-D094462EAA8F}"/>
              </a:ext>
            </a:extLst>
          </p:cNvPr>
          <p:cNvSpPr txBox="1"/>
          <p:nvPr/>
        </p:nvSpPr>
        <p:spPr>
          <a:xfrm>
            <a:off x="640080" y="6183150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Fortemente </a:t>
            </a:r>
            <a:r>
              <a:rPr lang="en-US" sz="800" dirty="0" err="1"/>
              <a:t>concentrado</a:t>
            </a:r>
            <a:r>
              <a:rPr lang="en-US" sz="800" dirty="0"/>
              <a:t> num </a:t>
            </a:r>
            <a:r>
              <a:rPr lang="en-US" sz="800" dirty="0" err="1"/>
              <a:t>único</a:t>
            </a:r>
            <a:r>
              <a:rPr lang="en-US" sz="800" dirty="0"/>
              <a:t> valor (~53 </a:t>
            </a:r>
            <a:r>
              <a:rPr lang="en-US" sz="800" dirty="0" err="1"/>
              <a:t>pés</a:t>
            </a:r>
            <a:r>
              <a:rPr lang="en-US" sz="800" dirty="0"/>
              <a:t>, o </a:t>
            </a:r>
            <a:r>
              <a:rPr lang="en-US" sz="800" dirty="0" err="1"/>
              <a:t>padrão</a:t>
            </a:r>
            <a:r>
              <a:rPr lang="en-US" sz="800" dirty="0"/>
              <a:t> do mercado), com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demais</a:t>
            </a:r>
            <a:r>
              <a:rPr lang="en-US" sz="800" dirty="0"/>
              <a:t> </a:t>
            </a:r>
            <a:r>
              <a:rPr lang="en-US" sz="800" dirty="0" err="1"/>
              <a:t>comprimentos</a:t>
            </a:r>
            <a:r>
              <a:rPr lang="en-US" sz="800" dirty="0"/>
              <a:t> </a:t>
            </a:r>
            <a:r>
              <a:rPr lang="en-US" sz="800" dirty="0" err="1"/>
              <a:t>aparecendo</a:t>
            </a:r>
            <a:r>
              <a:rPr lang="en-US" sz="800" dirty="0"/>
              <a:t> </a:t>
            </a:r>
            <a:r>
              <a:rPr lang="en-US" sz="800" dirty="0" err="1"/>
              <a:t>como</a:t>
            </a:r>
            <a:r>
              <a:rPr lang="en-US" sz="800" dirty="0"/>
              <a:t> outliers no boxplot. Assim </a:t>
            </a:r>
            <a:r>
              <a:rPr lang="en-US" sz="800" dirty="0" err="1"/>
              <a:t>como</a:t>
            </a:r>
            <a:r>
              <a:rPr lang="en-US" sz="800" dirty="0"/>
              <a:t> </a:t>
            </a:r>
            <a:r>
              <a:rPr lang="en-US" sz="800" dirty="0" err="1"/>
              <a:t>eixos</a:t>
            </a:r>
            <a:r>
              <a:rPr lang="en-US" sz="800" dirty="0"/>
              <a:t>, </a:t>
            </a:r>
            <a:r>
              <a:rPr lang="en-US" sz="800" dirty="0" err="1"/>
              <a:t>é</a:t>
            </a:r>
            <a:r>
              <a:rPr lang="en-US" sz="800" dirty="0"/>
              <a:t> </a:t>
            </a:r>
            <a:r>
              <a:rPr lang="en-US" sz="800" dirty="0" err="1"/>
              <a:t>uma</a:t>
            </a:r>
            <a:r>
              <a:rPr lang="en-US" sz="800" dirty="0"/>
              <a:t> </a:t>
            </a:r>
            <a:r>
              <a:rPr lang="en-US" sz="800" dirty="0" err="1"/>
              <a:t>variável</a:t>
            </a:r>
            <a:r>
              <a:rPr lang="en-US" sz="800" dirty="0"/>
              <a:t> de </a:t>
            </a:r>
            <a:r>
              <a:rPr lang="en-US" sz="800" dirty="0" err="1"/>
              <a:t>baixa</a:t>
            </a:r>
            <a:r>
              <a:rPr lang="en-US" sz="800" dirty="0"/>
              <a:t> </a:t>
            </a:r>
            <a:r>
              <a:rPr lang="en-US" sz="800" dirty="0" err="1"/>
              <a:t>variância</a:t>
            </a:r>
            <a:r>
              <a:rPr lang="en-US" sz="800" dirty="0"/>
              <a:t> —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poucos</a:t>
            </a:r>
            <a:r>
              <a:rPr lang="en-US" sz="800" dirty="0"/>
              <a:t> </a:t>
            </a:r>
            <a:r>
              <a:rPr lang="en-US" sz="800" dirty="0" err="1"/>
              <a:t>comprimentos</a:t>
            </a:r>
            <a:r>
              <a:rPr lang="en-US" sz="800" dirty="0"/>
              <a:t> </a:t>
            </a:r>
            <a:r>
              <a:rPr lang="en-US" sz="800" dirty="0" err="1"/>
              <a:t>atípicos</a:t>
            </a:r>
            <a:r>
              <a:rPr lang="en-US" sz="800" dirty="0"/>
              <a:t> </a:t>
            </a:r>
            <a:r>
              <a:rPr lang="en-US" sz="800" dirty="0" err="1"/>
              <a:t>podem</a:t>
            </a:r>
            <a:r>
              <a:rPr lang="en-US" sz="800" dirty="0"/>
              <a:t>, </a:t>
            </a:r>
            <a:r>
              <a:rPr lang="en-US" sz="800" dirty="0" err="1"/>
              <a:t>porém</a:t>
            </a:r>
            <a:r>
              <a:rPr lang="en-US" sz="800" dirty="0"/>
              <a:t>, </a:t>
            </a:r>
            <a:r>
              <a:rPr lang="en-US" sz="800" dirty="0" err="1"/>
              <a:t>sinalizar</a:t>
            </a:r>
            <a:r>
              <a:rPr lang="en-US" sz="800" dirty="0"/>
              <a:t> </a:t>
            </a:r>
            <a:r>
              <a:rPr lang="en-US" sz="800" dirty="0" err="1"/>
              <a:t>equipamentos</a:t>
            </a:r>
            <a:r>
              <a:rPr lang="en-US" sz="800" dirty="0"/>
              <a:t> </a:t>
            </a:r>
            <a:r>
              <a:rPr lang="en-US" sz="800" dirty="0" err="1"/>
              <a:t>especiais</a:t>
            </a:r>
            <a:r>
              <a:rPr lang="en-US" sz="800" dirty="0"/>
              <a:t> com </a:t>
            </a:r>
            <a:r>
              <a:rPr lang="en-US" sz="800" dirty="0" err="1"/>
              <a:t>perfil</a:t>
            </a:r>
            <a:r>
              <a:rPr lang="en-US" sz="800" dirty="0"/>
              <a:t> de </a:t>
            </a:r>
            <a:r>
              <a:rPr lang="en-US" sz="800" dirty="0" err="1"/>
              <a:t>custo</a:t>
            </a:r>
            <a:r>
              <a:rPr lang="en-US" sz="800" dirty="0"/>
              <a:t> </a:t>
            </a:r>
            <a:r>
              <a:rPr lang="en-US" sz="800" dirty="0" err="1"/>
              <a:t>diferente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621FB-CE03-D9E0-993C-9BE84B7E63FC}"/>
              </a:ext>
            </a:extLst>
          </p:cNvPr>
          <p:cNvSpPr txBox="1"/>
          <p:nvPr/>
        </p:nvSpPr>
        <p:spPr>
          <a:xfrm>
            <a:off x="6217920" y="6183150"/>
            <a:ext cx="539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</a:t>
            </a:r>
            <a:r>
              <a:rPr lang="en-US" sz="800" dirty="0" err="1"/>
              <a:t>bem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equilibrada</a:t>
            </a:r>
            <a:r>
              <a:rPr lang="en-US" sz="800" dirty="0"/>
              <a:t>, com </a:t>
            </a:r>
            <a:r>
              <a:rPr lang="en-US" sz="800" dirty="0" err="1"/>
              <a:t>platô</a:t>
            </a:r>
            <a:r>
              <a:rPr lang="en-US" sz="800" dirty="0"/>
              <a:t> entre 0 e 8 </a:t>
            </a:r>
            <a:r>
              <a:rPr lang="en-US" sz="800" dirty="0" err="1"/>
              <a:t>anos</a:t>
            </a:r>
            <a:r>
              <a:rPr lang="en-US" sz="800" dirty="0"/>
              <a:t> e </a:t>
            </a:r>
            <a:r>
              <a:rPr lang="en-US" sz="800" dirty="0" err="1"/>
              <a:t>decaimento</a:t>
            </a:r>
            <a:r>
              <a:rPr lang="en-US" sz="800" dirty="0"/>
              <a:t> gradual </a:t>
            </a:r>
            <a:r>
              <a:rPr lang="en-US" sz="800" dirty="0" err="1"/>
              <a:t>até</a:t>
            </a:r>
            <a:r>
              <a:rPr lang="en-US" sz="800" dirty="0"/>
              <a:t> ~23 </a:t>
            </a:r>
            <a:r>
              <a:rPr lang="en-US" sz="800" dirty="0" err="1"/>
              <a:t>anos</a:t>
            </a:r>
            <a:r>
              <a:rPr lang="en-US" sz="800" dirty="0"/>
              <a:t>; </a:t>
            </a:r>
            <a:r>
              <a:rPr lang="en-US" sz="800" dirty="0" err="1"/>
              <a:t>mediana</a:t>
            </a:r>
            <a:r>
              <a:rPr lang="en-US" sz="800" dirty="0"/>
              <a:t> de ~7 </a:t>
            </a:r>
            <a:r>
              <a:rPr lang="en-US" sz="800" dirty="0" err="1"/>
              <a:t>anos</a:t>
            </a:r>
            <a:r>
              <a:rPr lang="en-US" sz="800" dirty="0"/>
              <a:t>. </a:t>
            </a:r>
            <a:r>
              <a:rPr lang="en-US" sz="800" dirty="0" err="1"/>
              <a:t>É</a:t>
            </a:r>
            <a:r>
              <a:rPr lang="en-US" sz="800" dirty="0"/>
              <a:t> a </a:t>
            </a:r>
            <a:r>
              <a:rPr lang="en-US" sz="800" dirty="0" err="1"/>
              <a:t>versão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"</a:t>
            </a:r>
            <a:r>
              <a:rPr lang="en-US" sz="800" dirty="0" err="1"/>
              <a:t>utilizável</a:t>
            </a:r>
            <a:r>
              <a:rPr lang="en-US" sz="800" dirty="0"/>
              <a:t>" de </a:t>
            </a:r>
            <a:r>
              <a:rPr lang="en-US" sz="800" dirty="0" err="1"/>
              <a:t>ano_modelo</a:t>
            </a:r>
            <a:r>
              <a:rPr lang="en-US" sz="800" dirty="0"/>
              <a:t> para o </a:t>
            </a:r>
            <a:r>
              <a:rPr lang="en-US" sz="800" dirty="0" err="1"/>
              <a:t>modelo</a:t>
            </a:r>
            <a:r>
              <a:rPr lang="en-US" sz="800" dirty="0"/>
              <a:t>, com boa </a:t>
            </a:r>
            <a:r>
              <a:rPr lang="en-US" sz="800" dirty="0" err="1"/>
              <a:t>dispersão</a:t>
            </a:r>
            <a:r>
              <a:rPr lang="en-US" sz="800" dirty="0"/>
              <a:t> e </a:t>
            </a:r>
            <a:r>
              <a:rPr lang="en-US" sz="800" dirty="0" err="1"/>
              <a:t>leitura</a:t>
            </a:r>
            <a:r>
              <a:rPr lang="en-US" sz="800" dirty="0"/>
              <a:t> </a:t>
            </a:r>
            <a:r>
              <a:rPr lang="en-US" sz="800" dirty="0" err="1"/>
              <a:t>direta</a:t>
            </a:r>
            <a:endParaRPr lang="en-BR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Histogramas — uso e operação no ano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2496"/>
            <a:ext cx="5394960" cy="20391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82496"/>
            <a:ext cx="5394960" cy="20391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51376"/>
            <a:ext cx="5394960" cy="20391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51376"/>
            <a:ext cx="5394960" cy="20391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AC43E0-D2E6-D450-B2DB-EAC8C935CE54}"/>
              </a:ext>
            </a:extLst>
          </p:cNvPr>
          <p:cNvSpPr txBox="1"/>
          <p:nvPr/>
        </p:nvSpPr>
        <p:spPr>
          <a:xfrm>
            <a:off x="640080" y="3715398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Assimetria</a:t>
            </a:r>
            <a:r>
              <a:rPr lang="en-US" sz="800" dirty="0"/>
              <a:t> à </a:t>
            </a:r>
            <a:r>
              <a:rPr lang="en-US" sz="800" dirty="0" err="1"/>
              <a:t>direita</a:t>
            </a:r>
            <a:r>
              <a:rPr lang="en-US" sz="800" dirty="0"/>
              <a:t> </a:t>
            </a:r>
            <a:r>
              <a:rPr lang="en-US" sz="800" dirty="0" err="1"/>
              <a:t>típica</a:t>
            </a:r>
            <a:r>
              <a:rPr lang="en-US" sz="800" dirty="0"/>
              <a:t> de </a:t>
            </a:r>
            <a:r>
              <a:rPr lang="en-US" sz="800" dirty="0" err="1"/>
              <a:t>quilometragem</a:t>
            </a:r>
            <a:r>
              <a:rPr lang="en-US" sz="800" dirty="0"/>
              <a:t> </a:t>
            </a:r>
            <a:r>
              <a:rPr lang="en-US" sz="800" dirty="0" err="1"/>
              <a:t>acumulada</a:t>
            </a:r>
            <a:r>
              <a:rPr lang="en-US" sz="800" dirty="0"/>
              <a:t> — a </a:t>
            </a:r>
            <a:r>
              <a:rPr lang="en-US" sz="800" dirty="0" err="1"/>
              <a:t>maioria</a:t>
            </a:r>
            <a:r>
              <a:rPr lang="en-US" sz="800" dirty="0"/>
              <a:t> dos </a:t>
            </a:r>
            <a:r>
              <a:rPr lang="en-US" sz="800" dirty="0" err="1"/>
              <a:t>veículos</a:t>
            </a:r>
            <a:r>
              <a:rPr lang="en-US" sz="800" dirty="0"/>
              <a:t> </a:t>
            </a:r>
            <a:r>
              <a:rPr lang="en-US" sz="800" dirty="0" err="1"/>
              <a:t>tem</a:t>
            </a:r>
            <a:r>
              <a:rPr lang="en-US" sz="800" dirty="0"/>
              <a:t> </a:t>
            </a:r>
            <a:r>
              <a:rPr lang="en-US" sz="800" dirty="0" err="1"/>
              <a:t>menos</a:t>
            </a:r>
            <a:r>
              <a:rPr lang="en-US" sz="800" dirty="0"/>
              <a:t> de 200.000 km, com cauda longa </a:t>
            </a:r>
            <a:r>
              <a:rPr lang="en-US" sz="800" dirty="0" err="1"/>
              <a:t>até</a:t>
            </a:r>
            <a:r>
              <a:rPr lang="en-US" sz="800" dirty="0"/>
              <a:t> ~850.000 km e </a:t>
            </a:r>
            <a:r>
              <a:rPr lang="en-US" sz="800" dirty="0" err="1"/>
              <a:t>muitos</a:t>
            </a:r>
            <a:r>
              <a:rPr lang="en-US" sz="800" dirty="0"/>
              <a:t> outliers </a:t>
            </a:r>
            <a:r>
              <a:rPr lang="en-US" sz="800" dirty="0" err="1"/>
              <a:t>acima</a:t>
            </a:r>
            <a:r>
              <a:rPr lang="en-US" sz="800" dirty="0"/>
              <a:t> de ~530.000 km. A </a:t>
            </a:r>
            <a:r>
              <a:rPr lang="en-US" sz="800" dirty="0" err="1"/>
              <a:t>mediana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</a:t>
            </a:r>
            <a:r>
              <a:rPr lang="en-US" sz="800" dirty="0" err="1"/>
              <a:t>torno</a:t>
            </a:r>
            <a:r>
              <a:rPr lang="en-US" sz="800" dirty="0"/>
              <a:t> de 120.000 km </a:t>
            </a:r>
            <a:r>
              <a:rPr lang="en-US" sz="800" dirty="0" err="1"/>
              <a:t>reflete</a:t>
            </a:r>
            <a:r>
              <a:rPr lang="en-US" sz="800" dirty="0"/>
              <a:t> </a:t>
            </a:r>
            <a:r>
              <a:rPr lang="en-US" sz="800" dirty="0" err="1"/>
              <a:t>uma</a:t>
            </a:r>
            <a:r>
              <a:rPr lang="en-US" sz="800" dirty="0"/>
              <a:t> </a:t>
            </a:r>
            <a:r>
              <a:rPr lang="en-US" sz="800" dirty="0" err="1"/>
              <a:t>frota</a:t>
            </a:r>
            <a:r>
              <a:rPr lang="en-US" sz="800" dirty="0"/>
              <a:t> </a:t>
            </a:r>
            <a:r>
              <a:rPr lang="en-US" sz="800" dirty="0" err="1"/>
              <a:t>relativamente</a:t>
            </a:r>
            <a:r>
              <a:rPr lang="en-US" sz="800" dirty="0"/>
              <a:t> </a:t>
            </a:r>
            <a:r>
              <a:rPr lang="en-US" sz="800" dirty="0" err="1"/>
              <a:t>jovem</a:t>
            </a:r>
            <a:r>
              <a:rPr lang="en-US" sz="800" dirty="0"/>
              <a:t>, </a:t>
            </a:r>
            <a:r>
              <a:rPr lang="en-US" sz="800" dirty="0" err="1"/>
              <a:t>coerente</a:t>
            </a:r>
            <a:r>
              <a:rPr lang="en-US" sz="800" dirty="0"/>
              <a:t> com a </a:t>
            </a:r>
            <a:r>
              <a:rPr lang="en-US" sz="800" dirty="0" err="1"/>
              <a:t>idade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de ~7 </a:t>
            </a:r>
            <a:r>
              <a:rPr lang="en-US" sz="800" dirty="0" err="1"/>
              <a:t>anos</a:t>
            </a:r>
            <a:r>
              <a:rPr lang="en-US" sz="800" dirty="0"/>
              <a:t> vista antes.</a:t>
            </a:r>
            <a:endParaRPr lang="en-BR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6AD6C0-AD2D-30B7-7892-C60A6D11FFAA}"/>
              </a:ext>
            </a:extLst>
          </p:cNvPr>
          <p:cNvSpPr txBox="1"/>
          <p:nvPr/>
        </p:nvSpPr>
        <p:spPr>
          <a:xfrm>
            <a:off x="6217920" y="3716527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de </a:t>
            </a:r>
            <a:r>
              <a:rPr lang="en-US" sz="800" dirty="0" err="1"/>
              <a:t>contagem</a:t>
            </a:r>
            <a:r>
              <a:rPr lang="en-US" sz="800" dirty="0"/>
              <a:t> com </a:t>
            </a:r>
            <a:r>
              <a:rPr lang="en-US" sz="800" dirty="0" err="1"/>
              <a:t>moda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2 </a:t>
            </a:r>
            <a:r>
              <a:rPr lang="en-US" sz="800" dirty="0" err="1"/>
              <a:t>sistemas</a:t>
            </a:r>
            <a:r>
              <a:rPr lang="en-US" sz="800" dirty="0"/>
              <a:t> </a:t>
            </a:r>
            <a:r>
              <a:rPr lang="en-US" sz="800" dirty="0" err="1"/>
              <a:t>distintos</a:t>
            </a:r>
            <a:r>
              <a:rPr lang="en-US" sz="800" dirty="0"/>
              <a:t> </a:t>
            </a:r>
            <a:r>
              <a:rPr lang="en-US" sz="800" dirty="0" err="1"/>
              <a:t>afetados</a:t>
            </a:r>
            <a:r>
              <a:rPr lang="en-US" sz="800" dirty="0"/>
              <a:t> </a:t>
            </a:r>
            <a:r>
              <a:rPr lang="en-US" sz="800" dirty="0" err="1"/>
              <a:t>por</a:t>
            </a:r>
            <a:r>
              <a:rPr lang="en-US" sz="800" dirty="0"/>
              <a:t> </a:t>
            </a:r>
            <a:r>
              <a:rPr lang="en-US" sz="800" dirty="0" err="1"/>
              <a:t>ano</a:t>
            </a:r>
            <a:r>
              <a:rPr lang="en-US" sz="800" dirty="0"/>
              <a:t> e </a:t>
            </a:r>
            <a:r>
              <a:rPr lang="en-US" sz="800" dirty="0" err="1"/>
              <a:t>decaimento</a:t>
            </a:r>
            <a:r>
              <a:rPr lang="en-US" sz="800" dirty="0"/>
              <a:t> </a:t>
            </a:r>
            <a:r>
              <a:rPr lang="en-US" sz="800" dirty="0" err="1"/>
              <a:t>rápido</a:t>
            </a:r>
            <a:r>
              <a:rPr lang="en-US" sz="800" dirty="0"/>
              <a:t>, com outliers </a:t>
            </a:r>
            <a:r>
              <a:rPr lang="en-US" sz="800" dirty="0" err="1"/>
              <a:t>acima</a:t>
            </a:r>
            <a:r>
              <a:rPr lang="en-US" sz="800" dirty="0"/>
              <a:t> de 6. </a:t>
            </a:r>
            <a:r>
              <a:rPr lang="en-US" sz="800" dirty="0" err="1"/>
              <a:t>Veículos</a:t>
            </a:r>
            <a:r>
              <a:rPr lang="en-US" sz="800" dirty="0"/>
              <a:t>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acionam</a:t>
            </a:r>
            <a:r>
              <a:rPr lang="en-US" sz="800" dirty="0"/>
              <a:t> </a:t>
            </a:r>
            <a:r>
              <a:rPr lang="en-US" sz="800" dirty="0" err="1"/>
              <a:t>muitos</a:t>
            </a:r>
            <a:r>
              <a:rPr lang="en-US" sz="800" dirty="0"/>
              <a:t> </a:t>
            </a:r>
            <a:r>
              <a:rPr lang="en-US" sz="800" dirty="0" err="1"/>
              <a:t>sistemas</a:t>
            </a:r>
            <a:r>
              <a:rPr lang="en-US" sz="800" dirty="0"/>
              <a:t> </a:t>
            </a:r>
            <a:r>
              <a:rPr lang="en-US" sz="800" dirty="0" err="1"/>
              <a:t>diferentes</a:t>
            </a:r>
            <a:r>
              <a:rPr lang="en-US" sz="800" dirty="0"/>
              <a:t> no </a:t>
            </a:r>
            <a:r>
              <a:rPr lang="en-US" sz="800" dirty="0" err="1"/>
              <a:t>mesmo</a:t>
            </a:r>
            <a:r>
              <a:rPr lang="en-US" sz="800" dirty="0"/>
              <a:t> </a:t>
            </a:r>
            <a:r>
              <a:rPr lang="en-US" sz="800" dirty="0" err="1"/>
              <a:t>ano</a:t>
            </a:r>
            <a:r>
              <a:rPr lang="en-US" sz="800" dirty="0"/>
              <a:t> </a:t>
            </a:r>
            <a:r>
              <a:rPr lang="en-US" sz="800" dirty="0" err="1"/>
              <a:t>são</a:t>
            </a:r>
            <a:r>
              <a:rPr lang="en-US" sz="800" dirty="0"/>
              <a:t> </a:t>
            </a:r>
            <a:r>
              <a:rPr lang="en-US" sz="800" dirty="0" err="1"/>
              <a:t>candidatos</a:t>
            </a:r>
            <a:r>
              <a:rPr lang="en-US" sz="800" dirty="0"/>
              <a:t> a </a:t>
            </a:r>
            <a:r>
              <a:rPr lang="en-US" sz="800" dirty="0" err="1"/>
              <a:t>problema</a:t>
            </a:r>
            <a:r>
              <a:rPr lang="en-US" sz="800" dirty="0"/>
              <a:t> </a:t>
            </a:r>
            <a:r>
              <a:rPr lang="en-US" sz="800" dirty="0" err="1"/>
              <a:t>crônico</a:t>
            </a:r>
            <a:r>
              <a:rPr lang="en-US" sz="800" dirty="0"/>
              <a:t> — e </a:t>
            </a:r>
            <a:r>
              <a:rPr lang="en-US" sz="800" dirty="0" err="1"/>
              <a:t>essa</a:t>
            </a:r>
            <a:r>
              <a:rPr lang="en-US" sz="800" dirty="0"/>
              <a:t> </a:t>
            </a:r>
            <a:r>
              <a:rPr lang="en-US" sz="800" dirty="0" err="1"/>
              <a:t>variável</a:t>
            </a:r>
            <a:r>
              <a:rPr lang="en-US" sz="800" dirty="0"/>
              <a:t> </a:t>
            </a:r>
            <a:r>
              <a:rPr lang="en-US" sz="800" dirty="0" err="1"/>
              <a:t>apareceu</a:t>
            </a:r>
            <a:r>
              <a:rPr lang="en-US" sz="800" dirty="0"/>
              <a:t> </a:t>
            </a:r>
            <a:r>
              <a:rPr lang="en-US" sz="800" dirty="0" err="1"/>
              <a:t>como</a:t>
            </a:r>
            <a:r>
              <a:rPr lang="en-US" sz="800" dirty="0"/>
              <a:t> </a:t>
            </a:r>
            <a:r>
              <a:rPr lang="en-US" sz="800" dirty="0" err="1"/>
              <a:t>uma</a:t>
            </a:r>
            <a:r>
              <a:rPr lang="en-US" sz="800" dirty="0"/>
              <a:t> das </a:t>
            </a:r>
            <a:r>
              <a:rPr lang="en-US" sz="800" dirty="0" err="1"/>
              <a:t>explicativas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fortes (Spearman 0.70), o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faz</a:t>
            </a:r>
            <a:r>
              <a:rPr lang="en-US" sz="800" dirty="0"/>
              <a:t> </a:t>
            </a:r>
            <a:r>
              <a:rPr lang="en-US" sz="800" dirty="0" err="1"/>
              <a:t>sentido</a:t>
            </a:r>
            <a:r>
              <a:rPr lang="en-US" sz="800" dirty="0"/>
              <a:t>: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sistemas</a:t>
            </a:r>
            <a:r>
              <a:rPr lang="en-US" sz="800" dirty="0"/>
              <a:t> </a:t>
            </a:r>
            <a:r>
              <a:rPr lang="en-US" sz="800" dirty="0" err="1"/>
              <a:t>afetados</a:t>
            </a:r>
            <a:r>
              <a:rPr lang="en-US" sz="800" dirty="0"/>
              <a:t>,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custo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B78145-653E-83A6-0668-2B28CB4722E2}"/>
              </a:ext>
            </a:extLst>
          </p:cNvPr>
          <p:cNvSpPr txBox="1"/>
          <p:nvPr/>
        </p:nvSpPr>
        <p:spPr>
          <a:xfrm>
            <a:off x="640080" y="6183150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peculiar, com </a:t>
            </a:r>
            <a:r>
              <a:rPr lang="en-US" sz="800" dirty="0" err="1"/>
              <a:t>três</a:t>
            </a:r>
            <a:r>
              <a:rPr lang="en-US" sz="800" dirty="0"/>
              <a:t> </a:t>
            </a:r>
            <a:r>
              <a:rPr lang="en-US" sz="800" dirty="0" err="1"/>
              <a:t>picos</a:t>
            </a:r>
            <a:r>
              <a:rPr lang="en-US" sz="800" dirty="0"/>
              <a:t> claros: 0 (</a:t>
            </a:r>
            <a:r>
              <a:rPr lang="en-US" sz="800" dirty="0" err="1"/>
              <a:t>nenhuma</a:t>
            </a:r>
            <a:r>
              <a:rPr lang="en-US" sz="800" dirty="0"/>
              <a:t> </a:t>
            </a:r>
            <a:r>
              <a:rPr lang="en-US" sz="800" dirty="0" err="1"/>
              <a:t>manutenção</a:t>
            </a:r>
            <a:r>
              <a:rPr lang="en-US" sz="800" dirty="0"/>
              <a:t> </a:t>
            </a:r>
            <a:r>
              <a:rPr lang="en-US" sz="800" dirty="0" err="1"/>
              <a:t>preventiva</a:t>
            </a:r>
            <a:r>
              <a:rPr lang="en-US" sz="800" dirty="0"/>
              <a:t>), ~0.5 e 1.0 (</a:t>
            </a:r>
            <a:r>
              <a:rPr lang="en-US" sz="800" dirty="0" err="1"/>
              <a:t>só</a:t>
            </a:r>
            <a:r>
              <a:rPr lang="en-US" sz="800" dirty="0"/>
              <a:t> </a:t>
            </a:r>
            <a:r>
              <a:rPr lang="en-US" sz="800" dirty="0" err="1"/>
              <a:t>preventiva</a:t>
            </a:r>
            <a:r>
              <a:rPr lang="en-US" sz="800" dirty="0"/>
              <a:t>) — </a:t>
            </a:r>
            <a:r>
              <a:rPr lang="en-US" sz="800" dirty="0" err="1"/>
              <a:t>comportamento</a:t>
            </a:r>
            <a:r>
              <a:rPr lang="en-US" sz="800" dirty="0"/>
              <a:t> </a:t>
            </a:r>
            <a:r>
              <a:rPr lang="en-US" sz="800" dirty="0" err="1"/>
              <a:t>típico</a:t>
            </a:r>
            <a:r>
              <a:rPr lang="en-US" sz="800" dirty="0"/>
              <a:t> de </a:t>
            </a:r>
            <a:r>
              <a:rPr lang="en-US" sz="800" dirty="0" err="1"/>
              <a:t>proporção</a:t>
            </a:r>
            <a:r>
              <a:rPr lang="en-US" sz="800" dirty="0"/>
              <a:t> com </a:t>
            </a:r>
            <a:r>
              <a:rPr lang="en-US" sz="800" dirty="0" err="1"/>
              <a:t>poucos</a:t>
            </a:r>
            <a:r>
              <a:rPr lang="en-US" sz="800" dirty="0"/>
              <a:t> </a:t>
            </a:r>
            <a:r>
              <a:rPr lang="en-US" sz="800" dirty="0" err="1"/>
              <a:t>eventos</a:t>
            </a:r>
            <a:r>
              <a:rPr lang="en-US" sz="800" dirty="0"/>
              <a:t> no </a:t>
            </a:r>
            <a:r>
              <a:rPr lang="en-US" sz="800" dirty="0" err="1"/>
              <a:t>denominador</a:t>
            </a:r>
            <a:r>
              <a:rPr lang="en-US" sz="800" dirty="0"/>
              <a:t> (com 2 OS, o share </a:t>
            </a:r>
            <a:r>
              <a:rPr lang="en-US" sz="800" dirty="0" err="1"/>
              <a:t>só</a:t>
            </a:r>
            <a:r>
              <a:rPr lang="en-US" sz="800" dirty="0"/>
              <a:t> </a:t>
            </a:r>
            <a:r>
              <a:rPr lang="en-US" sz="800" dirty="0" err="1"/>
              <a:t>pode</a:t>
            </a:r>
            <a:r>
              <a:rPr lang="en-US" sz="800" dirty="0"/>
              <a:t> ser 0, 0.5 </a:t>
            </a:r>
            <a:r>
              <a:rPr lang="en-US" sz="800" dirty="0" err="1"/>
              <a:t>ou</a:t>
            </a:r>
            <a:r>
              <a:rPr lang="en-US" sz="800" dirty="0"/>
              <a:t> 1). A </a:t>
            </a:r>
            <a:r>
              <a:rPr lang="en-US" sz="800" dirty="0" err="1"/>
              <a:t>correlação</a:t>
            </a:r>
            <a:r>
              <a:rPr lang="en-US" sz="800" dirty="0"/>
              <a:t> </a:t>
            </a:r>
            <a:r>
              <a:rPr lang="en-US" sz="800" dirty="0" err="1"/>
              <a:t>negativa</a:t>
            </a:r>
            <a:r>
              <a:rPr lang="en-US" sz="800" dirty="0"/>
              <a:t> com </a:t>
            </a:r>
            <a:r>
              <a:rPr lang="en-US" sz="800" dirty="0" err="1"/>
              <a:t>custo</a:t>
            </a:r>
            <a:r>
              <a:rPr lang="en-US" sz="800" dirty="0"/>
              <a:t> vista antes </a:t>
            </a:r>
            <a:r>
              <a:rPr lang="en-US" sz="800" dirty="0" err="1"/>
              <a:t>sugere</a:t>
            </a:r>
            <a:r>
              <a:rPr lang="en-US" sz="800" dirty="0"/>
              <a:t>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veículos</a:t>
            </a:r>
            <a:r>
              <a:rPr lang="en-US" sz="800" dirty="0"/>
              <a:t> com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preventiva</a:t>
            </a:r>
            <a:r>
              <a:rPr lang="en-US" sz="800" dirty="0"/>
              <a:t> </a:t>
            </a:r>
            <a:r>
              <a:rPr lang="en-US" sz="800" dirty="0" err="1"/>
              <a:t>custam</a:t>
            </a:r>
            <a:r>
              <a:rPr lang="en-US" sz="800" dirty="0"/>
              <a:t> </a:t>
            </a:r>
            <a:r>
              <a:rPr lang="en-US" sz="800" dirty="0" err="1"/>
              <a:t>menos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9EE58F-334D-BF8D-0FD2-DC9023BF3E9C}"/>
              </a:ext>
            </a:extLst>
          </p:cNvPr>
          <p:cNvSpPr txBox="1"/>
          <p:nvPr/>
        </p:nvSpPr>
        <p:spPr>
          <a:xfrm>
            <a:off x="6217920" y="6183150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Contagem</a:t>
            </a:r>
            <a:r>
              <a:rPr lang="en-US" sz="800" dirty="0"/>
              <a:t> com </a:t>
            </a:r>
            <a:r>
              <a:rPr lang="en-US" sz="800" dirty="0" err="1"/>
              <a:t>moda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2 OS/</a:t>
            </a:r>
            <a:r>
              <a:rPr lang="en-US" sz="800" dirty="0" err="1"/>
              <a:t>ano</a:t>
            </a:r>
            <a:r>
              <a:rPr lang="en-US" sz="800" dirty="0"/>
              <a:t>, </a:t>
            </a:r>
            <a:r>
              <a:rPr lang="en-US" sz="800" dirty="0" err="1"/>
              <a:t>mediana</a:t>
            </a:r>
            <a:r>
              <a:rPr lang="en-US" sz="800" dirty="0"/>
              <a:t> de ~3 e cauda </a:t>
            </a:r>
            <a:r>
              <a:rPr lang="en-US" sz="800" dirty="0" err="1"/>
              <a:t>até</a:t>
            </a:r>
            <a:r>
              <a:rPr lang="en-US" sz="800" dirty="0"/>
              <a:t> 20+, com outliers </a:t>
            </a:r>
            <a:r>
              <a:rPr lang="en-US" sz="800" dirty="0" err="1"/>
              <a:t>acima</a:t>
            </a:r>
            <a:r>
              <a:rPr lang="en-US" sz="800" dirty="0"/>
              <a:t> de 12. Como </a:t>
            </a:r>
            <a:r>
              <a:rPr lang="en-US" sz="800" dirty="0" err="1"/>
              <a:t>é</a:t>
            </a:r>
            <a:r>
              <a:rPr lang="en-US" sz="800" dirty="0"/>
              <a:t> </a:t>
            </a:r>
            <a:r>
              <a:rPr lang="en-US" sz="800" dirty="0" err="1"/>
              <a:t>componente</a:t>
            </a:r>
            <a:r>
              <a:rPr lang="en-US" sz="800" dirty="0"/>
              <a:t> </a:t>
            </a:r>
            <a:r>
              <a:rPr lang="en-US" sz="800" dirty="0" err="1"/>
              <a:t>direto</a:t>
            </a:r>
            <a:r>
              <a:rPr lang="en-US" sz="800" dirty="0"/>
              <a:t> do Y (</a:t>
            </a:r>
            <a:r>
              <a:rPr lang="en-US" sz="800" dirty="0" err="1"/>
              <a:t>custo</a:t>
            </a:r>
            <a:r>
              <a:rPr lang="en-US" sz="800" dirty="0"/>
              <a:t> = nº OS × </a:t>
            </a:r>
            <a:r>
              <a:rPr lang="en-US" sz="800" dirty="0" err="1"/>
              <a:t>custo</a:t>
            </a:r>
            <a:r>
              <a:rPr lang="en-US" sz="800" dirty="0"/>
              <a:t> </a:t>
            </a:r>
            <a:r>
              <a:rPr lang="en-US" sz="800" dirty="0" err="1"/>
              <a:t>médio</a:t>
            </a:r>
            <a:r>
              <a:rPr lang="en-US" sz="800" dirty="0"/>
              <a:t>), serve para </a:t>
            </a:r>
            <a:r>
              <a:rPr lang="en-US" sz="800" dirty="0" err="1"/>
              <a:t>entender</a:t>
            </a:r>
            <a:r>
              <a:rPr lang="en-US" sz="800" dirty="0"/>
              <a:t> o </a:t>
            </a:r>
            <a:r>
              <a:rPr lang="en-US" sz="800" dirty="0" err="1"/>
              <a:t>comportamento</a:t>
            </a:r>
            <a:r>
              <a:rPr lang="en-US" sz="800" dirty="0"/>
              <a:t> da </a:t>
            </a:r>
            <a:r>
              <a:rPr lang="en-US" sz="800" dirty="0" err="1"/>
              <a:t>frota</a:t>
            </a:r>
            <a:r>
              <a:rPr lang="en-US" sz="800" dirty="0"/>
              <a:t>, mas </a:t>
            </a:r>
            <a:r>
              <a:rPr lang="en-US" sz="800" dirty="0" err="1"/>
              <a:t>não</a:t>
            </a:r>
            <a:r>
              <a:rPr lang="en-US" sz="800" dirty="0"/>
              <a:t> </a:t>
            </a:r>
            <a:r>
              <a:rPr lang="en-US" sz="800" dirty="0" err="1"/>
              <a:t>pode</a:t>
            </a:r>
            <a:r>
              <a:rPr lang="en-US" sz="800" dirty="0"/>
              <a:t> </a:t>
            </a:r>
            <a:r>
              <a:rPr lang="en-US" sz="800" dirty="0" err="1"/>
              <a:t>entrar</a:t>
            </a:r>
            <a:r>
              <a:rPr lang="en-US" sz="800" dirty="0"/>
              <a:t> </a:t>
            </a:r>
            <a:r>
              <a:rPr lang="en-US" sz="800" dirty="0" err="1"/>
              <a:t>como</a:t>
            </a:r>
            <a:r>
              <a:rPr lang="en-US" sz="800" dirty="0"/>
              <a:t> </a:t>
            </a:r>
            <a:r>
              <a:rPr lang="en-US" sz="800" dirty="0" err="1"/>
              <a:t>preditora</a:t>
            </a:r>
            <a:r>
              <a:rPr lang="en-US" sz="800" dirty="0"/>
              <a:t> no </a:t>
            </a:r>
            <a:r>
              <a:rPr lang="en-US" sz="800" dirty="0" err="1"/>
              <a:t>modelo</a:t>
            </a:r>
            <a:r>
              <a:rPr lang="en-US" sz="800" dirty="0"/>
              <a:t>.</a:t>
            </a:r>
            <a:endParaRPr lang="en-BR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Histogramas — histórico defasado e custo por OS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2496"/>
            <a:ext cx="5394960" cy="20391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82496"/>
            <a:ext cx="5394960" cy="20391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51376"/>
            <a:ext cx="5394960" cy="20391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51376"/>
            <a:ext cx="5394960" cy="2039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1B7047-5BAA-39F5-6B6D-71B5DD8C7820}"/>
              </a:ext>
            </a:extLst>
          </p:cNvPr>
          <p:cNvSpPr txBox="1"/>
          <p:nvPr/>
        </p:nvSpPr>
        <p:spPr>
          <a:xfrm>
            <a:off x="640080" y="3715398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Forte </a:t>
            </a:r>
            <a:r>
              <a:rPr lang="en-US" sz="800" dirty="0" err="1"/>
              <a:t>assimetria</a:t>
            </a:r>
            <a:r>
              <a:rPr lang="en-US" sz="800" dirty="0"/>
              <a:t> à </a:t>
            </a:r>
            <a:r>
              <a:rPr lang="en-US" sz="800" dirty="0" err="1"/>
              <a:t>direita</a:t>
            </a:r>
            <a:r>
              <a:rPr lang="en-US" sz="800" dirty="0"/>
              <a:t>, com </a:t>
            </a:r>
            <a:r>
              <a:rPr lang="en-US" sz="800" dirty="0" err="1"/>
              <a:t>concentração</a:t>
            </a:r>
            <a:r>
              <a:rPr lang="en-US" sz="800" dirty="0"/>
              <a:t> de carretas </a:t>
            </a:r>
            <a:r>
              <a:rPr lang="en-US" sz="800" dirty="0" err="1"/>
              <a:t>em</a:t>
            </a:r>
            <a:r>
              <a:rPr lang="en-US" sz="800" dirty="0"/>
              <a:t> </a:t>
            </a:r>
            <a:r>
              <a:rPr lang="en-US" sz="800" dirty="0" err="1"/>
              <a:t>baixos</a:t>
            </a:r>
            <a:r>
              <a:rPr lang="en-US" sz="800" dirty="0"/>
              <a:t> custos </a:t>
            </a:r>
            <a:r>
              <a:rPr lang="en-US" sz="800" dirty="0" err="1"/>
              <a:t>acumulados</a:t>
            </a:r>
            <a:r>
              <a:rPr lang="en-US" sz="800" dirty="0"/>
              <a:t> e </a:t>
            </a:r>
            <a:r>
              <a:rPr lang="en-US" sz="800" dirty="0" err="1"/>
              <a:t>poucos</a:t>
            </a:r>
            <a:r>
              <a:rPr lang="en-US" sz="800" dirty="0"/>
              <a:t> </a:t>
            </a:r>
            <a:r>
              <a:rPr lang="en-US" sz="800" dirty="0" err="1"/>
              <a:t>ativos</a:t>
            </a:r>
            <a:r>
              <a:rPr lang="en-US" sz="800" dirty="0"/>
              <a:t> </a:t>
            </a:r>
            <a:r>
              <a:rPr lang="en-US" sz="800" dirty="0" err="1"/>
              <a:t>concentrando</a:t>
            </a:r>
            <a:r>
              <a:rPr lang="en-US" sz="800" dirty="0"/>
              <a:t> </a:t>
            </a:r>
            <a:r>
              <a:rPr lang="en-US" sz="800" dirty="0" err="1"/>
              <a:t>gastos</a:t>
            </a:r>
            <a:r>
              <a:rPr lang="en-US" sz="800" dirty="0"/>
              <a:t> </a:t>
            </a:r>
            <a:r>
              <a:rPr lang="en-US" sz="800" dirty="0" err="1"/>
              <a:t>muito</a:t>
            </a:r>
            <a:r>
              <a:rPr lang="en-US" sz="800" dirty="0"/>
              <a:t> </a:t>
            </a:r>
            <a:r>
              <a:rPr lang="en-US" sz="800" dirty="0" err="1"/>
              <a:t>elevados</a:t>
            </a:r>
            <a:r>
              <a:rPr lang="en-US" sz="800" dirty="0"/>
              <a:t>. A grande </a:t>
            </a:r>
            <a:r>
              <a:rPr lang="en-US" sz="800" dirty="0" err="1"/>
              <a:t>quantidade</a:t>
            </a:r>
            <a:r>
              <a:rPr lang="en-US" sz="800" dirty="0"/>
              <a:t> de outliers </a:t>
            </a:r>
            <a:r>
              <a:rPr lang="en-US" sz="800" dirty="0" err="1"/>
              <a:t>evidencia</a:t>
            </a:r>
            <a:r>
              <a:rPr lang="en-US" sz="800" dirty="0"/>
              <a:t> </a:t>
            </a:r>
            <a:r>
              <a:rPr lang="en-US" sz="800" dirty="0" err="1"/>
              <a:t>uma</a:t>
            </a:r>
            <a:r>
              <a:rPr lang="en-US" sz="800" dirty="0"/>
              <a:t> </a:t>
            </a:r>
            <a:r>
              <a:rPr lang="en-US" sz="800" dirty="0" err="1"/>
              <a:t>parcela</a:t>
            </a:r>
            <a:r>
              <a:rPr lang="en-US" sz="800" dirty="0"/>
              <a:t> </a:t>
            </a:r>
            <a:r>
              <a:rPr lang="en-US" sz="800" dirty="0" err="1"/>
              <a:t>reduzida</a:t>
            </a:r>
            <a:r>
              <a:rPr lang="en-US" sz="800" dirty="0"/>
              <a:t> da </a:t>
            </a:r>
            <a:r>
              <a:rPr lang="en-US" sz="800" dirty="0" err="1"/>
              <a:t>frota</a:t>
            </a:r>
            <a:r>
              <a:rPr lang="en-US" sz="800" dirty="0"/>
              <a:t> com histórico de </a:t>
            </a:r>
            <a:r>
              <a:rPr lang="en-US" sz="800" dirty="0" err="1"/>
              <a:t>manutenção</a:t>
            </a:r>
            <a:r>
              <a:rPr lang="en-US" sz="800" dirty="0"/>
              <a:t> </a:t>
            </a:r>
            <a:r>
              <a:rPr lang="en-US" sz="800" dirty="0" err="1"/>
              <a:t>significativamente</a:t>
            </a:r>
            <a:r>
              <a:rPr lang="en-US" sz="800" dirty="0"/>
              <a:t> superior </a:t>
            </a:r>
            <a:r>
              <a:rPr lang="en-US" sz="800" dirty="0" err="1"/>
              <a:t>ao</a:t>
            </a:r>
            <a:r>
              <a:rPr lang="en-US" sz="800" dirty="0"/>
              <a:t> restante.</a:t>
            </a:r>
            <a:endParaRPr lang="en-B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3EA5F-E451-D95F-490C-3BA4D4D2E27B}"/>
              </a:ext>
            </a:extLst>
          </p:cNvPr>
          <p:cNvSpPr txBox="1"/>
          <p:nvPr/>
        </p:nvSpPr>
        <p:spPr>
          <a:xfrm>
            <a:off x="6217920" y="3716527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 </a:t>
            </a:r>
            <a:r>
              <a:rPr lang="en-US" sz="800" dirty="0" err="1"/>
              <a:t>maioria</a:t>
            </a:r>
            <a:r>
              <a:rPr lang="en-US" sz="800" dirty="0"/>
              <a:t> das carretas </a:t>
            </a:r>
            <a:r>
              <a:rPr lang="en-US" sz="800" dirty="0" err="1"/>
              <a:t>acumula</a:t>
            </a:r>
            <a:r>
              <a:rPr lang="en-US" sz="800" dirty="0"/>
              <a:t> </a:t>
            </a:r>
            <a:r>
              <a:rPr lang="en-US" sz="800" dirty="0" err="1"/>
              <a:t>poucas</a:t>
            </a:r>
            <a:r>
              <a:rPr lang="en-US" sz="800" dirty="0"/>
              <a:t> </a:t>
            </a:r>
            <a:r>
              <a:rPr lang="en-US" sz="800" dirty="0" err="1"/>
              <a:t>ordens</a:t>
            </a:r>
            <a:r>
              <a:rPr lang="en-US" sz="800" dirty="0"/>
              <a:t> de </a:t>
            </a:r>
            <a:r>
              <a:rPr lang="en-US" sz="800" dirty="0" err="1"/>
              <a:t>serviço</a:t>
            </a:r>
            <a:r>
              <a:rPr lang="en-US" sz="800" dirty="0"/>
              <a:t> </a:t>
            </a:r>
            <a:r>
              <a:rPr lang="en-US" sz="800" dirty="0" err="1"/>
              <a:t>ao</a:t>
            </a:r>
            <a:r>
              <a:rPr lang="en-US" sz="800" dirty="0"/>
              <a:t> </a:t>
            </a:r>
            <a:r>
              <a:rPr lang="en-US" sz="800" dirty="0" err="1"/>
              <a:t>longo</a:t>
            </a:r>
            <a:r>
              <a:rPr lang="en-US" sz="800" dirty="0"/>
              <a:t> do histórico, </a:t>
            </a:r>
            <a:r>
              <a:rPr lang="en-US" sz="800" dirty="0" err="1"/>
              <a:t>enquanto</a:t>
            </a:r>
            <a:r>
              <a:rPr lang="en-US" sz="800" dirty="0"/>
              <a:t> </a:t>
            </a:r>
            <a:r>
              <a:rPr lang="en-US" sz="800" dirty="0" err="1"/>
              <a:t>uma</a:t>
            </a:r>
            <a:r>
              <a:rPr lang="en-US" sz="800" dirty="0"/>
              <a:t> </a:t>
            </a:r>
            <a:r>
              <a:rPr lang="en-US" sz="800" dirty="0" err="1"/>
              <a:t>pequena</a:t>
            </a:r>
            <a:r>
              <a:rPr lang="en-US" sz="800" dirty="0"/>
              <a:t> </a:t>
            </a:r>
            <a:r>
              <a:rPr lang="en-US" sz="800" dirty="0" err="1"/>
              <a:t>parcela</a:t>
            </a:r>
            <a:r>
              <a:rPr lang="en-US" sz="800" dirty="0"/>
              <a:t> </a:t>
            </a:r>
            <a:r>
              <a:rPr lang="en-US" sz="800" dirty="0" err="1"/>
              <a:t>apresenta</a:t>
            </a:r>
            <a:r>
              <a:rPr lang="en-US" sz="800" dirty="0"/>
              <a:t> </a:t>
            </a:r>
            <a:r>
              <a:rPr lang="en-US" sz="800" dirty="0" err="1"/>
              <a:t>recorrência</a:t>
            </a:r>
            <a:r>
              <a:rPr lang="en-US" sz="800" dirty="0"/>
              <a:t> </a:t>
            </a:r>
            <a:r>
              <a:rPr lang="en-US" sz="800" dirty="0" err="1"/>
              <a:t>elevada</a:t>
            </a:r>
            <a:r>
              <a:rPr lang="en-US" sz="800" dirty="0"/>
              <a:t> de </a:t>
            </a:r>
            <a:r>
              <a:rPr lang="en-US" sz="800" dirty="0" err="1"/>
              <a:t>intervenções</a:t>
            </a:r>
            <a:r>
              <a:rPr lang="en-US" sz="800" dirty="0"/>
              <a:t>. O </a:t>
            </a:r>
            <a:r>
              <a:rPr lang="en-US" sz="800" dirty="0" err="1"/>
              <a:t>comportamento</a:t>
            </a:r>
            <a:r>
              <a:rPr lang="en-US" sz="800" dirty="0"/>
              <a:t> </a:t>
            </a:r>
            <a:r>
              <a:rPr lang="en-US" sz="800" dirty="0" err="1"/>
              <a:t>reforça</a:t>
            </a:r>
            <a:r>
              <a:rPr lang="en-US" sz="800" dirty="0"/>
              <a:t> </a:t>
            </a:r>
            <a:r>
              <a:rPr lang="en-US" sz="800" dirty="0" err="1"/>
              <a:t>que</a:t>
            </a:r>
            <a:r>
              <a:rPr lang="en-US" sz="800" dirty="0"/>
              <a:t> </a:t>
            </a:r>
            <a:r>
              <a:rPr lang="en-US" sz="800" dirty="0" err="1"/>
              <a:t>existem</a:t>
            </a:r>
            <a:r>
              <a:rPr lang="en-US" sz="800" dirty="0"/>
              <a:t> </a:t>
            </a:r>
            <a:r>
              <a:rPr lang="en-US" sz="800" dirty="0" err="1"/>
              <a:t>ativos</a:t>
            </a:r>
            <a:r>
              <a:rPr lang="en-US" sz="800" dirty="0"/>
              <a:t> com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intensidade</a:t>
            </a:r>
            <a:r>
              <a:rPr lang="en-US" sz="800" dirty="0"/>
              <a:t> de </a:t>
            </a:r>
            <a:r>
              <a:rPr lang="en-US" sz="800" dirty="0" err="1"/>
              <a:t>manutenção</a:t>
            </a:r>
            <a:r>
              <a:rPr lang="en-US" sz="800" dirty="0"/>
              <a:t>, </a:t>
            </a:r>
            <a:r>
              <a:rPr lang="en-US" sz="800" dirty="0" err="1"/>
              <a:t>refletindo</a:t>
            </a:r>
            <a:r>
              <a:rPr lang="en-US" sz="800" dirty="0"/>
              <a:t> </a:t>
            </a:r>
            <a:r>
              <a:rPr lang="en-US" sz="800" dirty="0" err="1"/>
              <a:t>diferentes</a:t>
            </a:r>
            <a:r>
              <a:rPr lang="en-US" sz="800" dirty="0"/>
              <a:t> </a:t>
            </a:r>
            <a:r>
              <a:rPr lang="en-US" sz="800" dirty="0" err="1"/>
              <a:t>perfis</a:t>
            </a:r>
            <a:r>
              <a:rPr lang="en-US" sz="800" dirty="0"/>
              <a:t> de </a:t>
            </a:r>
            <a:r>
              <a:rPr lang="en-US" sz="800" dirty="0" err="1"/>
              <a:t>utilização</a:t>
            </a:r>
            <a:r>
              <a:rPr lang="en-US" sz="800" dirty="0"/>
              <a:t> e </a:t>
            </a:r>
            <a:r>
              <a:rPr lang="en-US" sz="800" dirty="0" err="1"/>
              <a:t>desgaste</a:t>
            </a:r>
            <a:r>
              <a:rPr lang="en-US" sz="800" dirty="0"/>
              <a:t>.</a:t>
            </a:r>
            <a:endParaRPr lang="en-BR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3070E6-B16C-207E-D961-619DFD3CBC66}"/>
              </a:ext>
            </a:extLst>
          </p:cNvPr>
          <p:cNvSpPr txBox="1"/>
          <p:nvPr/>
        </p:nvSpPr>
        <p:spPr>
          <a:xfrm>
            <a:off x="640080" y="6183150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 </a:t>
            </a:r>
            <a:r>
              <a:rPr lang="en-US" sz="800" dirty="0" err="1"/>
              <a:t>distribuição</a:t>
            </a:r>
            <a:r>
              <a:rPr lang="en-US" sz="800" dirty="0"/>
              <a:t> </a:t>
            </a:r>
            <a:r>
              <a:rPr lang="en-US" sz="800" dirty="0" err="1"/>
              <a:t>é</a:t>
            </a:r>
            <a:r>
              <a:rPr lang="en-US" sz="800" dirty="0"/>
              <a:t> </a:t>
            </a:r>
            <a:r>
              <a:rPr lang="en-US" sz="800" dirty="0" err="1"/>
              <a:t>relativamente</a:t>
            </a:r>
            <a:r>
              <a:rPr lang="en-US" sz="800" dirty="0"/>
              <a:t> </a:t>
            </a:r>
            <a:r>
              <a:rPr lang="en-US" sz="800" dirty="0" err="1"/>
              <a:t>equilibrada</a:t>
            </a:r>
            <a:r>
              <a:rPr lang="en-US" sz="800" dirty="0"/>
              <a:t> entre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anos</a:t>
            </a:r>
            <a:r>
              <a:rPr lang="en-US" sz="800" dirty="0"/>
              <a:t> </a:t>
            </a:r>
            <a:r>
              <a:rPr lang="en-US" sz="800" dirty="0" err="1"/>
              <a:t>disponíveis</a:t>
            </a:r>
            <a:r>
              <a:rPr lang="en-US" sz="800" dirty="0"/>
              <a:t> de histórico, </a:t>
            </a:r>
            <a:r>
              <a:rPr lang="en-US" sz="800" dirty="0" err="1"/>
              <a:t>sem</a:t>
            </a:r>
            <a:r>
              <a:rPr lang="en-US" sz="800" dirty="0"/>
              <a:t> </a:t>
            </a:r>
            <a:r>
              <a:rPr lang="en-US" sz="800" dirty="0" err="1"/>
              <a:t>concentração</a:t>
            </a:r>
            <a:r>
              <a:rPr lang="en-US" sz="800" dirty="0"/>
              <a:t> </a:t>
            </a:r>
            <a:r>
              <a:rPr lang="en-US" sz="800" dirty="0" err="1"/>
              <a:t>relevante</a:t>
            </a:r>
            <a:r>
              <a:rPr lang="en-US" sz="800" dirty="0"/>
              <a:t> de outliers. O histórico </a:t>
            </a:r>
            <a:r>
              <a:rPr lang="en-US" sz="800" dirty="0" err="1"/>
              <a:t>contempla</a:t>
            </a:r>
            <a:r>
              <a:rPr lang="en-US" sz="800" dirty="0"/>
              <a:t> </a:t>
            </a:r>
            <a:r>
              <a:rPr lang="en-US" sz="800" dirty="0" err="1"/>
              <a:t>ativos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</a:t>
            </a:r>
            <a:r>
              <a:rPr lang="en-US" sz="800" dirty="0" err="1"/>
              <a:t>diferentes</a:t>
            </a:r>
            <a:r>
              <a:rPr lang="en-US" sz="800" dirty="0"/>
              <a:t> </a:t>
            </a:r>
            <a:r>
              <a:rPr lang="en-US" sz="800" dirty="0" err="1"/>
              <a:t>estágios</a:t>
            </a:r>
            <a:r>
              <a:rPr lang="en-US" sz="800" dirty="0"/>
              <a:t> de </a:t>
            </a:r>
            <a:r>
              <a:rPr lang="en-US" sz="800" dirty="0" err="1"/>
              <a:t>acompanhamento</a:t>
            </a:r>
            <a:r>
              <a:rPr lang="en-US" sz="800" dirty="0"/>
              <a:t>, </a:t>
            </a:r>
            <a:r>
              <a:rPr lang="en-US" sz="800" dirty="0" err="1"/>
              <a:t>permitindo</a:t>
            </a:r>
            <a:r>
              <a:rPr lang="en-US" sz="800" dirty="0"/>
              <a:t> </a:t>
            </a:r>
            <a:r>
              <a:rPr lang="en-US" sz="800" dirty="0" err="1"/>
              <a:t>avaliar</a:t>
            </a:r>
            <a:r>
              <a:rPr lang="en-US" sz="800" dirty="0"/>
              <a:t> a </a:t>
            </a:r>
            <a:r>
              <a:rPr lang="en-US" sz="800" dirty="0" err="1"/>
              <a:t>influência</a:t>
            </a:r>
            <a:r>
              <a:rPr lang="en-US" sz="800" dirty="0"/>
              <a:t> da </a:t>
            </a:r>
            <a:r>
              <a:rPr lang="en-US" sz="800" dirty="0" err="1"/>
              <a:t>experiência</a:t>
            </a:r>
            <a:r>
              <a:rPr lang="en-US" sz="800" dirty="0"/>
              <a:t> </a:t>
            </a:r>
            <a:r>
              <a:rPr lang="en-US" sz="800" dirty="0" err="1"/>
              <a:t>operacional</a:t>
            </a:r>
            <a:r>
              <a:rPr lang="en-US" sz="800" dirty="0"/>
              <a:t> </a:t>
            </a:r>
            <a:r>
              <a:rPr lang="en-US" sz="800" dirty="0" err="1"/>
              <a:t>ao</a:t>
            </a:r>
            <a:r>
              <a:rPr lang="en-US" sz="800" dirty="0"/>
              <a:t> </a:t>
            </a:r>
            <a:r>
              <a:rPr lang="en-US" sz="800" dirty="0" err="1"/>
              <a:t>longo</a:t>
            </a:r>
            <a:r>
              <a:rPr lang="en-US" sz="800" dirty="0"/>
              <a:t> do tempo.</a:t>
            </a:r>
            <a:endParaRPr lang="en-BR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B25854-17E9-D5D5-9B08-754A6C064617}"/>
              </a:ext>
            </a:extLst>
          </p:cNvPr>
          <p:cNvSpPr txBox="1"/>
          <p:nvPr/>
        </p:nvSpPr>
        <p:spPr>
          <a:xfrm>
            <a:off x="6217920" y="6183150"/>
            <a:ext cx="539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 err="1"/>
              <a:t>Distribuição</a:t>
            </a:r>
            <a:r>
              <a:rPr lang="en-US" sz="800" dirty="0"/>
              <a:t> </a:t>
            </a:r>
            <a:r>
              <a:rPr lang="en-US" sz="800" dirty="0" err="1"/>
              <a:t>assimétrica</a:t>
            </a:r>
            <a:r>
              <a:rPr lang="en-US" sz="800" dirty="0"/>
              <a:t>, </a:t>
            </a:r>
            <a:r>
              <a:rPr lang="en-US" sz="800" dirty="0" err="1"/>
              <a:t>concentrando</a:t>
            </a:r>
            <a:r>
              <a:rPr lang="en-US" sz="800" dirty="0"/>
              <a:t> </a:t>
            </a:r>
            <a:r>
              <a:rPr lang="en-US" sz="800" dirty="0" err="1"/>
              <a:t>ordens</a:t>
            </a:r>
            <a:r>
              <a:rPr lang="en-US" sz="800" dirty="0"/>
              <a:t> de </a:t>
            </a:r>
            <a:r>
              <a:rPr lang="en-US" sz="800" dirty="0" err="1"/>
              <a:t>serviço</a:t>
            </a:r>
            <a:r>
              <a:rPr lang="en-US" sz="800" dirty="0"/>
              <a:t> de </a:t>
            </a:r>
            <a:r>
              <a:rPr lang="en-US" sz="800" dirty="0" err="1"/>
              <a:t>menor</a:t>
            </a:r>
            <a:r>
              <a:rPr lang="en-US" sz="800" dirty="0"/>
              <a:t> </a:t>
            </a:r>
            <a:r>
              <a:rPr lang="en-US" sz="800" dirty="0" err="1"/>
              <a:t>custo</a:t>
            </a:r>
            <a:r>
              <a:rPr lang="en-US" sz="800" dirty="0"/>
              <a:t> e </a:t>
            </a:r>
            <a:r>
              <a:rPr lang="en-US" sz="800" dirty="0" err="1"/>
              <a:t>poucos</a:t>
            </a:r>
            <a:r>
              <a:rPr lang="en-US" sz="800" dirty="0"/>
              <a:t> </a:t>
            </a:r>
            <a:r>
              <a:rPr lang="en-US" sz="800" dirty="0" err="1"/>
              <a:t>reparos</a:t>
            </a:r>
            <a:r>
              <a:rPr lang="en-US" sz="800" dirty="0"/>
              <a:t> com </a:t>
            </a:r>
            <a:r>
              <a:rPr lang="en-US" sz="800" dirty="0" err="1"/>
              <a:t>valores</a:t>
            </a:r>
            <a:r>
              <a:rPr lang="en-US" sz="800" dirty="0"/>
              <a:t> </a:t>
            </a:r>
            <a:r>
              <a:rPr lang="en-US" sz="800" dirty="0" err="1"/>
              <a:t>significativamente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elevados</a:t>
            </a:r>
            <a:r>
              <a:rPr lang="en-US" sz="800" dirty="0"/>
              <a:t>. A </a:t>
            </a:r>
            <a:r>
              <a:rPr lang="en-US" sz="800" dirty="0" err="1"/>
              <a:t>presença</a:t>
            </a:r>
            <a:r>
              <a:rPr lang="en-US" sz="800" dirty="0"/>
              <a:t> de </a:t>
            </a:r>
            <a:r>
              <a:rPr lang="en-US" sz="800" dirty="0" err="1"/>
              <a:t>diversos</a:t>
            </a:r>
            <a:r>
              <a:rPr lang="en-US" sz="800" dirty="0"/>
              <a:t> outliers indica </a:t>
            </a:r>
            <a:r>
              <a:rPr lang="en-US" sz="800" dirty="0" err="1"/>
              <a:t>eventos</a:t>
            </a:r>
            <a:r>
              <a:rPr lang="en-US" sz="800" dirty="0"/>
              <a:t> de </a:t>
            </a:r>
            <a:r>
              <a:rPr lang="en-US" sz="800" dirty="0" err="1"/>
              <a:t>manutenção</a:t>
            </a:r>
            <a:r>
              <a:rPr lang="en-US" sz="800" dirty="0"/>
              <a:t> de alto </a:t>
            </a:r>
            <a:r>
              <a:rPr lang="en-US" sz="800" dirty="0" err="1"/>
              <a:t>impacto</a:t>
            </a:r>
            <a:r>
              <a:rPr lang="en-US" sz="800" dirty="0"/>
              <a:t> </a:t>
            </a:r>
            <a:r>
              <a:rPr lang="en-US" sz="800" dirty="0" err="1"/>
              <a:t>financeiro</a:t>
            </a:r>
            <a:r>
              <a:rPr lang="en-US" sz="800" dirty="0"/>
              <a:t>, </a:t>
            </a:r>
            <a:r>
              <a:rPr lang="en-US" sz="800" dirty="0" err="1"/>
              <a:t>característicos</a:t>
            </a:r>
            <a:r>
              <a:rPr lang="en-US" sz="800" dirty="0"/>
              <a:t> de </a:t>
            </a:r>
            <a:r>
              <a:rPr lang="en-US" sz="800" dirty="0" err="1"/>
              <a:t>operações</a:t>
            </a:r>
            <a:r>
              <a:rPr lang="en-US" sz="800" dirty="0"/>
              <a:t> de </a:t>
            </a:r>
            <a:r>
              <a:rPr lang="en-US" sz="800" dirty="0" err="1"/>
              <a:t>manutenção</a:t>
            </a:r>
            <a:r>
              <a:rPr lang="en-US" sz="800" dirty="0"/>
              <a:t> </a:t>
            </a:r>
            <a:r>
              <a:rPr lang="en-US" sz="800" dirty="0" err="1"/>
              <a:t>pesada</a:t>
            </a:r>
            <a:r>
              <a:rPr lang="en-US" sz="800" dirty="0"/>
              <a:t>.</a:t>
            </a:r>
            <a:endParaRPr lang="en-BR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 err="1">
                <a:solidFill>
                  <a:srgbClr val="142B45"/>
                </a:solidFill>
                <a:latin typeface="Calibri"/>
              </a:rPr>
              <a:t>Boxplots</a:t>
            </a:r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 do custo anual por categoria</a:t>
            </a:r>
          </a:p>
        </p:txBody>
      </p:sp>
      <p:pic>
        <p:nvPicPr>
          <p:cNvPr id="6" name="Picture 5" descr="quali_flag_refrige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85" y="1490682"/>
            <a:ext cx="4857750" cy="2286000"/>
          </a:xfrm>
          <a:prstGeom prst="rect">
            <a:avLst/>
          </a:prstGeom>
        </p:spPr>
      </p:pic>
      <p:pic>
        <p:nvPicPr>
          <p:cNvPr id="7" name="Picture 6" descr="quali_unit_sub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1490682"/>
            <a:ext cx="4857750" cy="2286000"/>
          </a:xfrm>
          <a:prstGeom prst="rect">
            <a:avLst/>
          </a:prstGeom>
        </p:spPr>
      </p:pic>
      <p:pic>
        <p:nvPicPr>
          <p:cNvPr id="8" name="Picture 7" descr="quali_cod_montad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" y="4129690"/>
            <a:ext cx="4857750" cy="2286000"/>
          </a:xfrm>
          <a:prstGeom prst="rect">
            <a:avLst/>
          </a:prstGeom>
        </p:spPr>
      </p:pic>
      <p:pic>
        <p:nvPicPr>
          <p:cNvPr id="9" name="Picture 8" descr="quali_vmrs_predominante_an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129690"/>
            <a:ext cx="4857750" cy="2286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E9EC61-56A5-1744-7FEF-90001A338135}"/>
              </a:ext>
            </a:extLst>
          </p:cNvPr>
          <p:cNvSpPr txBox="1"/>
          <p:nvPr/>
        </p:nvSpPr>
        <p:spPr>
          <a:xfrm>
            <a:off x="908685" y="3776682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As carretas </a:t>
            </a:r>
            <a:r>
              <a:rPr lang="en-US" sz="800" dirty="0" err="1"/>
              <a:t>refrigeradas</a:t>
            </a:r>
            <a:r>
              <a:rPr lang="en-US" sz="800" dirty="0"/>
              <a:t> </a:t>
            </a:r>
            <a:r>
              <a:rPr lang="en-US" sz="800" dirty="0" err="1"/>
              <a:t>apresentam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de </a:t>
            </a:r>
            <a:r>
              <a:rPr lang="en-US" sz="800" dirty="0" err="1"/>
              <a:t>custo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alta</a:t>
            </a:r>
            <a:r>
              <a:rPr lang="en-US" sz="800" dirty="0"/>
              <a:t> e </a:t>
            </a:r>
            <a:r>
              <a:rPr lang="en-US" sz="800" dirty="0" err="1"/>
              <a:t>dispersão</a:t>
            </a:r>
            <a:r>
              <a:rPr lang="en-US" sz="800" dirty="0"/>
              <a:t> </a:t>
            </a:r>
            <a:r>
              <a:rPr lang="en-US" sz="800" dirty="0" err="1"/>
              <a:t>muito</a:t>
            </a:r>
            <a:r>
              <a:rPr lang="en-US" sz="800" dirty="0"/>
              <a:t> </a:t>
            </a:r>
            <a:r>
              <a:rPr lang="en-US" sz="800" dirty="0" err="1"/>
              <a:t>maior</a:t>
            </a:r>
            <a:r>
              <a:rPr lang="en-US" sz="800" dirty="0"/>
              <a:t> do </a:t>
            </a:r>
            <a:r>
              <a:rPr lang="en-US" sz="800" dirty="0" err="1"/>
              <a:t>que</a:t>
            </a:r>
            <a:r>
              <a:rPr lang="en-US" sz="800" dirty="0"/>
              <a:t> as </a:t>
            </a:r>
            <a:r>
              <a:rPr lang="en-US" sz="800" dirty="0" err="1"/>
              <a:t>não</a:t>
            </a:r>
            <a:r>
              <a:rPr lang="en-US" sz="800" dirty="0"/>
              <a:t> </a:t>
            </a:r>
            <a:r>
              <a:rPr lang="en-US" sz="800" dirty="0" err="1"/>
              <a:t>refrigeradas</a:t>
            </a:r>
            <a:r>
              <a:rPr lang="en-US" sz="800" dirty="0"/>
              <a:t>.</a:t>
            </a:r>
            <a:endParaRPr lang="en-BR" sz="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ED79CD-2954-ACA9-F3D3-E14FC7D03C9B}"/>
              </a:ext>
            </a:extLst>
          </p:cNvPr>
          <p:cNvSpPr txBox="1"/>
          <p:nvPr/>
        </p:nvSpPr>
        <p:spPr>
          <a:xfrm>
            <a:off x="6486525" y="3791136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RC2, RHM2 e HC3 </a:t>
            </a:r>
            <a:r>
              <a:rPr lang="en-US" sz="800" dirty="0" err="1"/>
              <a:t>concentram</a:t>
            </a:r>
            <a:r>
              <a:rPr lang="en-US" sz="800" dirty="0"/>
              <a:t>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maiores</a:t>
            </a:r>
            <a:r>
              <a:rPr lang="en-US" sz="800" dirty="0"/>
              <a:t> custos </a:t>
            </a:r>
            <a:r>
              <a:rPr lang="en-US" sz="800" dirty="0" err="1"/>
              <a:t>medianos</a:t>
            </a:r>
            <a:r>
              <a:rPr lang="en-US" sz="800" dirty="0"/>
              <a:t> e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variabilidade</a:t>
            </a:r>
            <a:r>
              <a:rPr lang="en-US" sz="800" dirty="0"/>
              <a:t>;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demais</a:t>
            </a:r>
            <a:r>
              <a:rPr lang="en-US" sz="800" dirty="0"/>
              <a:t> </a:t>
            </a:r>
            <a:r>
              <a:rPr lang="en-US" sz="800" dirty="0" err="1"/>
              <a:t>subtipos</a:t>
            </a:r>
            <a:r>
              <a:rPr lang="en-US" sz="800" dirty="0"/>
              <a:t> </a:t>
            </a:r>
            <a:r>
              <a:rPr lang="en-US" sz="800" dirty="0" err="1"/>
              <a:t>ficam</a:t>
            </a:r>
            <a:r>
              <a:rPr lang="en-US" sz="800" dirty="0"/>
              <a:t> </a:t>
            </a:r>
            <a:r>
              <a:rPr lang="en-US" sz="800" dirty="0" err="1"/>
              <a:t>em</a:t>
            </a:r>
            <a:r>
              <a:rPr lang="en-US" sz="800" dirty="0"/>
              <a:t> </a:t>
            </a:r>
            <a:r>
              <a:rPr lang="en-US" sz="800" dirty="0" err="1"/>
              <a:t>níveis</a:t>
            </a:r>
            <a:r>
              <a:rPr lang="en-US" sz="800" dirty="0"/>
              <a:t> </a:t>
            </a:r>
            <a:r>
              <a:rPr lang="en-US" sz="800" dirty="0" err="1"/>
              <a:t>inferiores</a:t>
            </a:r>
            <a:r>
              <a:rPr lang="en-US" sz="800" dirty="0"/>
              <a:t>.</a:t>
            </a:r>
            <a:r>
              <a:rPr lang="en-BR" sz="8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00BFC-8E51-4C39-1BEE-25EA7B3A8657}"/>
              </a:ext>
            </a:extLst>
          </p:cNvPr>
          <p:cNvSpPr txBox="1"/>
          <p:nvPr/>
        </p:nvSpPr>
        <p:spPr>
          <a:xfrm>
            <a:off x="908685" y="6413981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As </a:t>
            </a:r>
            <a:r>
              <a:rPr lang="en-US" sz="800" dirty="0" err="1"/>
              <a:t>medianas</a:t>
            </a:r>
            <a:r>
              <a:rPr lang="en-US" sz="800" dirty="0"/>
              <a:t> </a:t>
            </a:r>
            <a:r>
              <a:rPr lang="en-US" sz="800" dirty="0" err="1"/>
              <a:t>são</a:t>
            </a:r>
            <a:r>
              <a:rPr lang="en-US" sz="800" dirty="0"/>
              <a:t> </a:t>
            </a:r>
            <a:r>
              <a:rPr lang="en-US" sz="800" dirty="0" err="1"/>
              <a:t>relativamente</a:t>
            </a:r>
            <a:r>
              <a:rPr lang="en-US" sz="800" dirty="0"/>
              <a:t> </a:t>
            </a:r>
            <a:r>
              <a:rPr lang="en-US" sz="800" dirty="0" err="1"/>
              <a:t>próximas</a:t>
            </a:r>
            <a:r>
              <a:rPr lang="en-US" sz="800" dirty="0"/>
              <a:t>, mas Utility </a:t>
            </a:r>
            <a:r>
              <a:rPr lang="en-US" sz="800" dirty="0" err="1"/>
              <a:t>apresenta</a:t>
            </a:r>
            <a:r>
              <a:rPr lang="en-US" sz="800" dirty="0"/>
              <a:t>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dispersão</a:t>
            </a:r>
            <a:r>
              <a:rPr lang="en-US" sz="800" dirty="0"/>
              <a:t>; Mond </a:t>
            </a:r>
            <a:r>
              <a:rPr lang="en-US" sz="800" dirty="0" err="1"/>
              <a:t>concentra</a:t>
            </a:r>
            <a:r>
              <a:rPr lang="en-US" sz="800" dirty="0"/>
              <a:t>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menores</a:t>
            </a:r>
            <a:r>
              <a:rPr lang="en-US" sz="800" dirty="0"/>
              <a:t> custos.</a:t>
            </a:r>
            <a:r>
              <a:rPr lang="en-BR" sz="8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9A106-4ECD-979B-6181-B85929E92D70}"/>
              </a:ext>
            </a:extLst>
          </p:cNvPr>
          <p:cNvSpPr txBox="1"/>
          <p:nvPr/>
        </p:nvSpPr>
        <p:spPr>
          <a:xfrm>
            <a:off x="6486525" y="6413981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 </a:t>
            </a:r>
            <a:r>
              <a:rPr lang="en-US" sz="800" dirty="0" err="1"/>
              <a:t>categoria</a:t>
            </a:r>
            <a:r>
              <a:rPr lang="en-US" sz="800" dirty="0"/>
              <a:t> 10 </a:t>
            </a:r>
            <a:r>
              <a:rPr lang="en-US" sz="800" dirty="0" err="1"/>
              <a:t>possui</a:t>
            </a:r>
            <a:r>
              <a:rPr lang="en-US" sz="800" dirty="0"/>
              <a:t>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e a </a:t>
            </a:r>
            <a:r>
              <a:rPr lang="en-US" sz="800" dirty="0" err="1"/>
              <a:t>maior</a:t>
            </a:r>
            <a:r>
              <a:rPr lang="en-US" sz="800" dirty="0"/>
              <a:t> amplitude de custos; a </a:t>
            </a:r>
            <a:r>
              <a:rPr lang="en-US" sz="800" dirty="0" err="1"/>
              <a:t>categoria</a:t>
            </a:r>
            <a:r>
              <a:rPr lang="en-US" sz="800" dirty="0"/>
              <a:t> SEM_OS </a:t>
            </a:r>
            <a:r>
              <a:rPr lang="en-US" sz="800" dirty="0" err="1"/>
              <a:t>permanece</a:t>
            </a:r>
            <a:r>
              <a:rPr lang="en-US" sz="800" dirty="0"/>
              <a:t> </a:t>
            </a:r>
            <a:r>
              <a:rPr lang="en-US" sz="800" dirty="0" err="1"/>
              <a:t>próxima</a:t>
            </a:r>
            <a:r>
              <a:rPr lang="en-US" sz="800" dirty="0"/>
              <a:t> de zero.</a:t>
            </a:r>
            <a:r>
              <a:rPr lang="en-BR" sz="800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 err="1">
                <a:solidFill>
                  <a:srgbClr val="142B45"/>
                </a:solidFill>
                <a:latin typeface="Calibri"/>
              </a:rPr>
              <a:t>Boxplots por categoria — configuração e tipo do ativo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501315"/>
            <a:ext cx="4855464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501315"/>
            <a:ext cx="4855464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108424"/>
            <a:ext cx="4855464" cy="2286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4108424"/>
            <a:ext cx="4855464" cy="2286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D2BFE8-675D-17C0-D8F0-0592C1402E53}"/>
              </a:ext>
            </a:extLst>
          </p:cNvPr>
          <p:cNvSpPr txBox="1"/>
          <p:nvPr/>
        </p:nvSpPr>
        <p:spPr>
          <a:xfrm>
            <a:off x="908685" y="3776682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As </a:t>
            </a:r>
            <a:r>
              <a:rPr lang="en-US" sz="800" dirty="0" err="1"/>
              <a:t>configurações</a:t>
            </a:r>
            <a:r>
              <a:rPr lang="en-US" sz="800" dirty="0"/>
              <a:t> 53' T/A Reefer e 53' Tridem HEA </a:t>
            </a:r>
            <a:r>
              <a:rPr lang="en-US" sz="800" dirty="0" err="1"/>
              <a:t>apresentam</a:t>
            </a:r>
            <a:r>
              <a:rPr lang="en-US" sz="800" dirty="0"/>
              <a:t>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maiores</a:t>
            </a:r>
            <a:r>
              <a:rPr lang="en-US" sz="800" dirty="0"/>
              <a:t> custos </a:t>
            </a:r>
            <a:r>
              <a:rPr lang="en-US" sz="800" dirty="0" err="1"/>
              <a:t>medianos</a:t>
            </a:r>
            <a:r>
              <a:rPr lang="en-US" sz="800" dirty="0"/>
              <a:t> e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variabilidade</a:t>
            </a:r>
            <a:r>
              <a:rPr lang="en-US" sz="800" dirty="0"/>
              <a:t>.</a:t>
            </a:r>
            <a:r>
              <a:rPr lang="en-BR" sz="8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756B43-EDF4-7834-EB34-8EBB08524189}"/>
              </a:ext>
            </a:extLst>
          </p:cNvPr>
          <p:cNvSpPr txBox="1"/>
          <p:nvPr/>
        </p:nvSpPr>
        <p:spPr>
          <a:xfrm>
            <a:off x="6486525" y="3791136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 </a:t>
            </a:r>
            <a:r>
              <a:rPr lang="en-US" sz="800" dirty="0" err="1"/>
              <a:t>medida</a:t>
            </a:r>
            <a:r>
              <a:rPr lang="en-US" sz="800" dirty="0"/>
              <a:t> 275/80R22.5 se </a:t>
            </a:r>
            <a:r>
              <a:rPr lang="en-US" sz="800" dirty="0" err="1"/>
              <a:t>destaca</a:t>
            </a:r>
            <a:r>
              <a:rPr lang="en-US" sz="800" dirty="0"/>
              <a:t> pela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e </a:t>
            </a:r>
            <a:r>
              <a:rPr lang="en-US" sz="800" dirty="0" err="1"/>
              <a:t>dispersão</a:t>
            </a:r>
            <a:r>
              <a:rPr lang="en-US" sz="800" dirty="0"/>
              <a:t>; as </a:t>
            </a:r>
            <a:r>
              <a:rPr lang="en-US" sz="800" dirty="0" err="1"/>
              <a:t>demais</a:t>
            </a:r>
            <a:r>
              <a:rPr lang="en-US" sz="800" dirty="0"/>
              <a:t> </a:t>
            </a:r>
            <a:r>
              <a:rPr lang="en-US" sz="800" dirty="0" err="1"/>
              <a:t>medidas</a:t>
            </a:r>
            <a:r>
              <a:rPr lang="en-US" sz="800" dirty="0"/>
              <a:t> </a:t>
            </a:r>
            <a:r>
              <a:rPr lang="en-US" sz="800" dirty="0" err="1"/>
              <a:t>apresentam</a:t>
            </a:r>
            <a:r>
              <a:rPr lang="en-US" sz="800" dirty="0"/>
              <a:t> </a:t>
            </a:r>
            <a:r>
              <a:rPr lang="en-US" sz="800" dirty="0" err="1"/>
              <a:t>distribuições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próximas</a:t>
            </a:r>
            <a:r>
              <a:rPr lang="en-US" sz="800" dirty="0"/>
              <a:t>.</a:t>
            </a:r>
            <a:r>
              <a:rPr lang="en-BR" sz="8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C310E0-6015-AF66-6B25-C28EC91589EE}"/>
              </a:ext>
            </a:extLst>
          </p:cNvPr>
          <p:cNvSpPr txBox="1"/>
          <p:nvPr/>
        </p:nvSpPr>
        <p:spPr>
          <a:xfrm>
            <a:off x="908685" y="6413981"/>
            <a:ext cx="4857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Hendrickson </a:t>
            </a:r>
            <a:r>
              <a:rPr lang="en-US" sz="800" dirty="0" err="1"/>
              <a:t>apresenta</a:t>
            </a:r>
            <a:r>
              <a:rPr lang="en-US" sz="800" dirty="0"/>
              <a:t> a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e </a:t>
            </a:r>
            <a:r>
              <a:rPr lang="en-US" sz="800" dirty="0" err="1"/>
              <a:t>ampla</a:t>
            </a:r>
            <a:r>
              <a:rPr lang="en-US" sz="800" dirty="0"/>
              <a:t> </a:t>
            </a:r>
            <a:r>
              <a:rPr lang="en-US" sz="800" dirty="0" err="1"/>
              <a:t>dispersão</a:t>
            </a:r>
            <a:r>
              <a:rPr lang="en-US" sz="800" dirty="0"/>
              <a:t>, </a:t>
            </a:r>
            <a:r>
              <a:rPr lang="en-US" sz="800" dirty="0" err="1"/>
              <a:t>enquanto</a:t>
            </a:r>
            <a:r>
              <a:rPr lang="en-US" sz="800" dirty="0"/>
              <a:t> Chalmers </a:t>
            </a:r>
            <a:r>
              <a:rPr lang="en-US" sz="800" dirty="0" err="1"/>
              <a:t>concentra</a:t>
            </a:r>
            <a:r>
              <a:rPr lang="en-US" sz="800" dirty="0"/>
              <a:t>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menores</a:t>
            </a:r>
            <a:r>
              <a:rPr lang="en-US" sz="800" dirty="0"/>
              <a:t> custos.</a:t>
            </a:r>
            <a:r>
              <a:rPr lang="en-BR" sz="8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70EDB1-8955-4B6D-7946-5F2B9EE0E6C0}"/>
              </a:ext>
            </a:extLst>
          </p:cNvPr>
          <p:cNvSpPr txBox="1"/>
          <p:nvPr/>
        </p:nvSpPr>
        <p:spPr>
          <a:xfrm>
            <a:off x="6486525" y="6413981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As </a:t>
            </a:r>
            <a:r>
              <a:rPr lang="en-US" sz="800" dirty="0" err="1"/>
              <a:t>unidades</a:t>
            </a:r>
            <a:r>
              <a:rPr lang="en-US" sz="800" dirty="0"/>
              <a:t> </a:t>
            </a:r>
            <a:r>
              <a:rPr lang="en-US" sz="800" dirty="0" err="1"/>
              <a:t>novas</a:t>
            </a:r>
            <a:r>
              <a:rPr lang="en-US" sz="800" dirty="0"/>
              <a:t> </a:t>
            </a:r>
            <a:r>
              <a:rPr lang="en-US" sz="800" dirty="0" err="1"/>
              <a:t>têm</a:t>
            </a:r>
            <a:r>
              <a:rPr lang="en-US" sz="800" dirty="0"/>
              <a:t> </a:t>
            </a:r>
            <a:r>
              <a:rPr lang="en-US" sz="800" dirty="0" err="1"/>
              <a:t>mediana</a:t>
            </a:r>
            <a:r>
              <a:rPr lang="en-US" sz="800" dirty="0"/>
              <a:t> </a:t>
            </a:r>
            <a:r>
              <a:rPr lang="en-US" sz="800" dirty="0" err="1"/>
              <a:t>ligeiramente</a:t>
            </a:r>
            <a:r>
              <a:rPr lang="en-US" sz="800" dirty="0"/>
              <a:t> superior e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dispersão</a:t>
            </a:r>
            <a:r>
              <a:rPr lang="en-US" sz="800" dirty="0"/>
              <a:t>, </a:t>
            </a:r>
            <a:r>
              <a:rPr lang="en-US" sz="800" dirty="0" err="1"/>
              <a:t>embora</a:t>
            </a:r>
            <a:r>
              <a:rPr lang="en-US" sz="800" dirty="0"/>
              <a:t> </a:t>
            </a:r>
            <a:r>
              <a:rPr lang="en-US" sz="800" dirty="0" err="1"/>
              <a:t>exista</a:t>
            </a:r>
            <a:r>
              <a:rPr lang="en-US" sz="800" dirty="0"/>
              <a:t> forte </a:t>
            </a:r>
            <a:r>
              <a:rPr lang="en-US" sz="800" dirty="0" err="1"/>
              <a:t>sobreposição</a:t>
            </a:r>
            <a:r>
              <a:rPr lang="en-US" sz="800" dirty="0"/>
              <a:t> com as </a:t>
            </a:r>
            <a:r>
              <a:rPr lang="en-US" sz="800" dirty="0" err="1"/>
              <a:t>usadas</a:t>
            </a:r>
            <a:r>
              <a:rPr lang="en-US" sz="800" dirty="0"/>
              <a:t>.</a:t>
            </a:r>
            <a:r>
              <a:rPr lang="en-BR" sz="800" dirty="0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 err="1">
                <a:solidFill>
                  <a:srgbClr val="142B45"/>
                </a:solidFill>
                <a:latin typeface="Calibri"/>
              </a:rPr>
              <a:t>Boxplots por categoria — geografia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501315"/>
            <a:ext cx="4855464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501315"/>
            <a:ext cx="4855464" cy="228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3E5327-2480-856F-A454-E90DD5C76E37}"/>
              </a:ext>
            </a:extLst>
          </p:cNvPr>
          <p:cNvSpPr txBox="1"/>
          <p:nvPr/>
        </p:nvSpPr>
        <p:spPr>
          <a:xfrm>
            <a:off x="908685" y="3776682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Balzac e Langley </a:t>
            </a:r>
            <a:r>
              <a:rPr lang="en-US" sz="800" dirty="0" err="1"/>
              <a:t>apresentam</a:t>
            </a:r>
            <a:r>
              <a:rPr lang="en-US" sz="800" dirty="0"/>
              <a:t> </a:t>
            </a:r>
            <a:r>
              <a:rPr lang="en-US" sz="800" dirty="0" err="1"/>
              <a:t>os</a:t>
            </a:r>
            <a:r>
              <a:rPr lang="en-US" sz="800" dirty="0"/>
              <a:t> </a:t>
            </a:r>
            <a:r>
              <a:rPr lang="en-US" sz="800" dirty="0" err="1"/>
              <a:t>maiores</a:t>
            </a:r>
            <a:r>
              <a:rPr lang="en-US" sz="800" dirty="0"/>
              <a:t> custos </a:t>
            </a:r>
            <a:r>
              <a:rPr lang="en-US" sz="800" dirty="0" err="1"/>
              <a:t>medianos</a:t>
            </a:r>
            <a:r>
              <a:rPr lang="en-US" sz="800" dirty="0"/>
              <a:t> e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dispersão</a:t>
            </a:r>
            <a:r>
              <a:rPr lang="en-US" sz="800" dirty="0"/>
              <a:t>; Winnipeg01 </a:t>
            </a:r>
            <a:r>
              <a:rPr lang="en-US" sz="800" dirty="0" err="1"/>
              <a:t>permanece</a:t>
            </a:r>
            <a:r>
              <a:rPr lang="en-US" sz="800" dirty="0"/>
              <a:t> </a:t>
            </a:r>
            <a:r>
              <a:rPr lang="en-US" sz="800" dirty="0" err="1"/>
              <a:t>concentrada</a:t>
            </a:r>
            <a:r>
              <a:rPr lang="en-US" sz="800" dirty="0"/>
              <a:t> </a:t>
            </a:r>
            <a:r>
              <a:rPr lang="en-US" sz="800" dirty="0" err="1"/>
              <a:t>próxima</a:t>
            </a:r>
            <a:r>
              <a:rPr lang="en-US" sz="800" dirty="0"/>
              <a:t> de zero.</a:t>
            </a:r>
            <a:r>
              <a:rPr lang="en-BR" sz="8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9AC5B-770F-D298-7B59-06836D6EDC43}"/>
              </a:ext>
            </a:extLst>
          </p:cNvPr>
          <p:cNvSpPr txBox="1"/>
          <p:nvPr/>
        </p:nvSpPr>
        <p:spPr>
          <a:xfrm>
            <a:off x="6486525" y="3791136"/>
            <a:ext cx="485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New Brunswick, Manitoba e Saskatchewan </a:t>
            </a:r>
            <a:r>
              <a:rPr lang="en-US" sz="800" dirty="0" err="1"/>
              <a:t>apresentam</a:t>
            </a:r>
            <a:r>
              <a:rPr lang="en-US" sz="800" dirty="0"/>
              <a:t> </a:t>
            </a:r>
            <a:r>
              <a:rPr lang="en-US" sz="800" dirty="0" err="1"/>
              <a:t>medianas</a:t>
            </a:r>
            <a:r>
              <a:rPr lang="en-US" sz="800" dirty="0"/>
              <a:t> </a:t>
            </a:r>
            <a:r>
              <a:rPr lang="en-US" sz="800" dirty="0" err="1"/>
              <a:t>mais</a:t>
            </a:r>
            <a:r>
              <a:rPr lang="en-US" sz="800" dirty="0"/>
              <a:t> </a:t>
            </a:r>
            <a:r>
              <a:rPr lang="en-US" sz="800" dirty="0" err="1"/>
              <a:t>elevadas</a:t>
            </a:r>
            <a:r>
              <a:rPr lang="en-US" sz="800" dirty="0"/>
              <a:t>; New Brunswick e Manitoba </a:t>
            </a:r>
            <a:r>
              <a:rPr lang="en-US" sz="800" dirty="0" err="1"/>
              <a:t>também</a:t>
            </a:r>
            <a:r>
              <a:rPr lang="en-US" sz="800" dirty="0"/>
              <a:t> </a:t>
            </a:r>
            <a:r>
              <a:rPr lang="en-US" sz="800" dirty="0" err="1"/>
              <a:t>exibem</a:t>
            </a:r>
            <a:r>
              <a:rPr lang="en-US" sz="800" dirty="0"/>
              <a:t> </a:t>
            </a:r>
            <a:r>
              <a:rPr lang="en-US" sz="800" dirty="0" err="1"/>
              <a:t>maior</a:t>
            </a:r>
            <a:r>
              <a:rPr lang="en-US" sz="800" dirty="0"/>
              <a:t> </a:t>
            </a:r>
            <a:r>
              <a:rPr lang="en-US" sz="800" dirty="0" err="1"/>
              <a:t>variabilidade</a:t>
            </a:r>
            <a:r>
              <a:rPr lang="en-US" sz="800" dirty="0"/>
              <a:t>.</a:t>
            </a:r>
            <a:r>
              <a:rPr lang="en-BR" sz="800" dirty="0"/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Relação individual de cada variável com </a:t>
            </a:r>
            <a:r>
              <a:rPr lang="pt-BR" sz="2700" b="1" noProof="0" dirty="0" err="1">
                <a:solidFill>
                  <a:srgbClr val="142B45"/>
                </a:solidFill>
                <a:latin typeface="Calibri"/>
              </a:rPr>
              <a:t>Y</a:t>
            </a:r>
            <a:endParaRPr lang="pt-BR" sz="2700" b="1" noProof="0" dirty="0">
              <a:solidFill>
                <a:srgbClr val="142B45"/>
              </a:solidFill>
              <a:latin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416552"/>
              </p:ext>
            </p:extLst>
          </p:nvPr>
        </p:nvGraphicFramePr>
        <p:xfrm>
          <a:off x="944878" y="1737360"/>
          <a:ext cx="4319752" cy="4461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730"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 err="1">
                          <a:solidFill>
                            <a:srgbClr val="FFFFFF"/>
                          </a:solidFill>
                        </a:rPr>
                        <a:t>spearman</a:t>
                      </a:r>
                      <a:endParaRPr lang="pt-BR" sz="9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papel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custo_medio_por_os_ano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componente de Y</a:t>
                      </a:r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/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0.768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componente de Y</a:t>
                      </a:r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/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0.702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0.539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0.538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km_rodado_ano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0.527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0.465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0.457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km_acumulado_fim_ano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0.435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0.26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n_clientes_ano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share_maint_ano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0.23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3516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share_pm_ano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-0.172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tempo_contrato_meses_fim_ano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/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tempo_contrato_meses_inicio_ano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explicativa</a:t>
                      </a:r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/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176622"/>
              </p:ext>
            </p:extLst>
          </p:nvPr>
        </p:nvGraphicFramePr>
        <p:xfrm>
          <a:off x="6166340" y="1737360"/>
          <a:ext cx="5212080" cy="4365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219"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 err="1">
                          <a:solidFill>
                            <a:srgbClr val="FFFFFF"/>
                          </a:solidFill>
                        </a:rPr>
                        <a:t>eta</a:t>
                      </a:r>
                      <a:endParaRPr lang="pt-BR" sz="9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 err="1">
                          <a:solidFill>
                            <a:srgbClr val="FFFFFF"/>
                          </a:solidFill>
                        </a:rPr>
                        <a:t>n_categorias</a:t>
                      </a:r>
                      <a:endParaRPr lang="pt-BR" sz="9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descricao_carreta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0.5918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unit_subtype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0.5438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0.4246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vmrs_predominante_ano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0.3357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cod_montadora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0.2301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tipo_manutencao_ano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0.1828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suspension_type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0.1409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provincia_estado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0.1399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tire_size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2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new_used_indicator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0.1146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regiao_operacao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0.0759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723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Ranking de associação com o custo anual</a:t>
            </a:r>
          </a:p>
        </p:txBody>
      </p:sp>
      <p:pic>
        <p:nvPicPr>
          <p:cNvPr id="6" name="Picture 5" descr="ranking_associaca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4480"/>
            <a:ext cx="673608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828800"/>
            <a:ext cx="384048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Uso (km) e histórico defasado lideram entre as quantitativas.</a:t>
            </a:r>
          </a:p>
          <a:p>
            <a:pPr algn="just"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Refrigerado e subtipo lideram entre as categóricas.</a:t>
            </a:r>
          </a:p>
          <a:p>
            <a:pPr algn="just"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Idade tem efeito direto fraco.</a:t>
            </a:r>
          </a:p>
          <a:p>
            <a:pPr algn="just"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Componentes aritméticos de 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>Y</a:t>
            </a: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 são excluídos do ranking de explicadores.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09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Multicolinearidade — matriz e VIF</a:t>
            </a:r>
          </a:p>
        </p:txBody>
      </p:sp>
      <p:pic>
        <p:nvPicPr>
          <p:cNvPr id="6" name="Picture 5" descr="matriz_spear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1" y="1518668"/>
            <a:ext cx="6248702" cy="520725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114363"/>
              </p:ext>
            </p:extLst>
          </p:nvPr>
        </p:nvGraphicFramePr>
        <p:xfrm>
          <a:off x="7498079" y="1530440"/>
          <a:ext cx="4023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 err="1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pt-BR" sz="10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idade_carreta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14.13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12.98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ano_modelo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9.48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5.99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4.84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tempo_contrato_meses_fim_ano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4.04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3.97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tempo_contrato_meses_inicio_ano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3.41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7632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km_rodado_ano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1.61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trocou_contrato_ano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km_acumulado_fim_ano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share_maint_ano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n_clientes_ano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share_pm_ano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comprimento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custo_medio_por_os_ano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eixos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10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SELEÇÃO DAS VARIÁVEIS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Seleção das variáveis do modelo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520766"/>
              </p:ext>
            </p:extLst>
          </p:nvPr>
        </p:nvGraphicFramePr>
        <p:xfrm>
          <a:off x="640080" y="173736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decisão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tailgate_flag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franquia_km_mensal_contrato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cod_cliente_predominante_ano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tipo_manutencao_ano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removida do modelo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tempo_contrato_meses_inicio_ano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tempo_contrato_meses_fim_ano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 (só explicativo)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share_maint_ano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 (só explicativo)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n_clientes_ano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 (só explicativo)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trocou_contrato_ano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 (só explicativo)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custo_medio_por_os_ano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descricao_carreta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ano_modelo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condicional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idade_carreta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eixos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comprimento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flag_refrigerado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46367"/>
              </p:ext>
            </p:extLst>
          </p:nvPr>
        </p:nvGraphicFramePr>
        <p:xfrm>
          <a:off x="6309360" y="173736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 dirty="0">
                          <a:solidFill>
                            <a:srgbClr val="FFFFFF"/>
                          </a:solidFill>
                        </a:rPr>
                        <a:t>decisão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unit_subtype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tire_size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suspension_type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new_used_indicator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cod_montadora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regiao_operacao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provincia_estado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/>
                      </a:r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vmrs_predominante_ano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 (só explicativo)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km_rodado_ano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 (só explicativo)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 (só explicativo)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share_pm_ano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 (só explicativo)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664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km_acumulado_fim_ano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explicativo / início de ano no preditivo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 err="1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  <a:endParaRPr lang="pt-BR" sz="9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noProof="0" dirty="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26364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noProof="0" dirty="0">
                <a:solidFill>
                  <a:srgbClr val="5B636E"/>
                </a:solidFill>
                <a:latin typeface="Calibri"/>
              </a:rPr>
              <a:t>Critérios: ranking, VIF, redundância, vazamento temporal e coerência de domínio.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11 · REFERENCIAL TEÓRICO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Estudos selecionados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Katreddi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et al. (2023) — ML para custo de manutenção por milha em caminhões (Super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Learner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, R²=97%); variáveis operacionais e ensembles capturam relações não lineares.</a:t>
            </a:r>
          </a:p>
          <a:p>
            <a:pPr algn="just"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Katreddi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et al. (2023) —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Mixed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Effects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Random Forest: captura diferenças sistemáticas entre grupos de ativos; motiva incluir categóricas (subtipo, montadora,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reefer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).</a:t>
            </a:r>
          </a:p>
          <a:p>
            <a:pPr algn="just"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Sun et al. (2024) — previsão por dados históricos de manutenção; reforça que o histórico e insumo suficiente para prever custos futuros.</a:t>
            </a:r>
          </a:p>
          <a:p>
            <a:pPr algn="just"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Adekitan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et al. (2018) — ANN com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R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=0,766; sinal preditivo de variáveis de uso mesmo com dados limitados.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noProof="0" dirty="0">
                <a:solidFill>
                  <a:srgbClr val="5B636E"/>
                </a:solidFill>
                <a:latin typeface="Calibri"/>
              </a:rPr>
              <a:t>As referencias favorecem modelos de arvore/ensemble, coerente com os resultados deste estudo.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9089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E8713A"/>
                </a:solidFill>
                <a:latin typeface="Calibri"/>
              </a:rPr>
              <a:t>11 · REFERENCIAL TEÓRICO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700" b="1" dirty="0">
                <a:solidFill>
                  <a:srgbClr val="142B45"/>
                </a:solidFill>
              </a:rPr>
              <a:t>Estudos selecionados e </a:t>
            </a:r>
            <a:r>
              <a:rPr lang="pt-BR" sz="2700" b="1" i="0" noProof="0" dirty="0">
                <a:solidFill>
                  <a:srgbClr val="142B45"/>
                </a:solidFill>
                <a:latin typeface="Calibri"/>
              </a:rPr>
              <a:t>trabalhos-base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540133"/>
              </p:ext>
            </p:extLst>
          </p:nvPr>
        </p:nvGraphicFramePr>
        <p:xfrm>
          <a:off x="822960" y="178308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50" b="1" i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Autor (ano)</a:t>
                      </a:r>
                    </a:p>
                  </a:txBody>
                  <a:tcPr marL="82296" marR="64008" marT="36576" marB="36576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50" b="1" i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Tema do estudo</a:t>
                      </a:r>
                    </a:p>
                  </a:txBody>
                  <a:tcPr marL="82296" marR="64008" marT="36576" marB="36576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50" b="1" i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Método / achado principal</a:t>
                      </a:r>
                    </a:p>
                  </a:txBody>
                  <a:tcPr marL="82296" marR="64008" marT="36576" marB="36576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50" b="1" i="0" noProof="0" dirty="0">
                          <a:solidFill>
                            <a:srgbClr val="FFFFFF"/>
                          </a:solidFill>
                          <a:latin typeface="Calibri"/>
                        </a:rPr>
                        <a:t>Contribuição para o projeto</a:t>
                      </a:r>
                    </a:p>
                  </a:txBody>
                  <a:tcPr marL="82296" marR="64008" marT="36576" marB="36576"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Katreddi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Thiruvengadam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Thompson, Schmid e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Padmanaban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(2023)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Custo de manutenção de caminhões de entrega (diesel/GNV)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RF, </a:t>
                      </a: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XGBoost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 ANN e Super </a:t>
                      </a: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Learner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; Super </a:t>
                      </a: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Learner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o melhor (R²=97,28%)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Fundamenta o uso de árvores e ensembles para capturar a relação não linear entre operação e custo.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Katreddi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Thiruvengadam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Thompson e Schmid (2023)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Custo em veículos pesados; frotas heterogêneas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Mixed-Effects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Random Forest (MERF)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Apoia o uso de variáveis categóricas de agrupamento (montadora, subtipo, refrigeração) como preditoras.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Sun,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Guo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 Sun,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Yang e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Hao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(2024)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Previsão de custo a partir de dados de manutenção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Mixed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</a:t>
                      </a: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Weibull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+ estimativa iterativa sobre o histórico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Mostra que o próprio histórico de manutenção já prevê o custo futuro — base para as variáveis históricas defasadas.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Adekitan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,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Adetokun</a:t>
                      </a:r>
                      <a:endParaRPr lang="pt-BR" sz="1050" b="1" i="0" noProof="0" dirty="0">
                        <a:solidFill>
                          <a:srgbClr val="1C2433"/>
                        </a:solidFill>
                        <a:latin typeface="Calibri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e </a:t>
                      </a:r>
                      <a:r>
                        <a:rPr lang="pt-BR" sz="1050" b="1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Okokpujie</a:t>
                      </a:r>
                      <a:r>
                        <a:rPr lang="pt-BR" sz="1050" b="1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 (2018)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Componentes de custo de manutenção veicular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Rede neural artificial (ANN); </a:t>
                      </a:r>
                      <a:r>
                        <a:rPr lang="pt-BR" sz="1050" b="0" i="0" noProof="0" dirty="0" err="1">
                          <a:solidFill>
                            <a:srgbClr val="1C2433"/>
                          </a:solidFill>
                          <a:latin typeface="Calibri"/>
                        </a:rPr>
                        <a:t>R</a:t>
                      </a: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=0,766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50" b="0" i="0" noProof="0" dirty="0">
                          <a:solidFill>
                            <a:srgbClr val="1C2433"/>
                          </a:solidFill>
                          <a:latin typeface="Calibri"/>
                        </a:rPr>
                        <a:t>Confirma sinal preditivo em uso e histórico, mas indica que redes neurais não superam os métodos de árvore.</a:t>
                      </a:r>
                    </a:p>
                  </a:txBody>
                  <a:tcPr marL="82296" marR="64008" marT="36576" marB="36576" anchor="ctr">
                    <a:solidFill>
                      <a:srgbClr val="F6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9A5679B-CE47-00CB-FF3B-1A40ADD7068F}"/>
              </a:ext>
            </a:extLst>
          </p:cNvPr>
          <p:cNvSpPr txBox="1"/>
          <p:nvPr/>
        </p:nvSpPr>
        <p:spPr>
          <a:xfrm>
            <a:off x="822960" y="6126480"/>
            <a:ext cx="10607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noProof="0" dirty="0">
                <a:solidFill>
                  <a:srgbClr val="5B636E"/>
                </a:solidFill>
                <a:latin typeface="Calibri"/>
              </a:rPr>
              <a:t>As referências favorecem modelos de árvore/ensemble, coerente com os resultados destes estudos.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12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Técnicas e desenho 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Estatística: regressão linear múltipla, </a:t>
            </a:r>
            <a:r>
              <a:rPr lang="pt-BR" sz="1600" noProof="0" dirty="0" err="1">
                <a:solidFill>
                  <a:srgbClr val="1C2433"/>
                </a:solidFill>
                <a:latin typeface="Calibri"/>
              </a:rPr>
              <a:t>ridge</a:t>
            </a: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, regressão polinomial.</a:t>
            </a:r>
          </a:p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Machine Learning: árvore de decisão, Random Forest, Gradient Boosting e KNN.</a:t>
            </a:r>
            <a:r>
              <a:rPr lang="pt-BR" sz="1600" noProof="0" dirty="0" err="1">
                <a:solidFill>
                  <a:srgbClr val="1C2433"/>
                </a:solidFill>
                <a:latin typeface="Calibri"/>
              </a:rPr>
              <a:t/>
            </a: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/>
            </a:r>
            <a:r>
              <a:rPr lang="pt-BR" sz="1600" noProof="0" dirty="0" err="1">
                <a:solidFill>
                  <a:srgbClr val="1C2433"/>
                </a:solidFill>
                <a:latin typeface="Calibri"/>
              </a:rPr>
              <a:t/>
            </a: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Alvo transformado por log1p (assimetria); métricas na escala original (CAD/ano).</a:t>
            </a:r>
          </a:p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Split temporal: treino 2020–2024, teste 2025 (evita vazamento entre períodos).</a:t>
            </a:r>
          </a:p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Dois cenários: explicativo (inclui uso do ano) e preditivo (histórico defasado + atributos).</a:t>
            </a:r>
          </a:p>
          <a:p>
            <a:pPr>
              <a:spcAft>
                <a:spcPts val="600"/>
              </a:spcAft>
            </a:pPr>
            <a:r>
              <a:rPr lang="pt-BR" sz="1600" noProof="0" dirty="0">
                <a:solidFill>
                  <a:srgbClr val="1C2433"/>
                </a:solidFill>
                <a:latin typeface="Calibri"/>
              </a:rPr>
              <a:t>•  Métricas: R², RMSE e MAE.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12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Comparação dos modelos (teste 2025)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642414"/>
              </p:ext>
            </p:extLst>
          </p:nvPr>
        </p:nvGraphicFramePr>
        <p:xfrm>
          <a:off x="640080" y="1645920"/>
          <a:ext cx="6766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9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cenário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 err="1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pt-BR" sz="10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 err="1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pt-BR" sz="1000" b="1" noProof="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regressao_linear_multipla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0.0356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2663.4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1165.5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ridge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0.0256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2677.2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1166.9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arvore_decisao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0.5315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1856.5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959.8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random_forest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0.5734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1771.5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915.5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gradient_boosting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0.5854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1746.4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907.5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knn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0.5289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1861.6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986.1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regressao_polinomial_grau_2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0.3876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2122.4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1079.1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regressao_linear_multipla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0.2719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2314.2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1202.0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ridge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0.2665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2322.8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1202.7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arvore_decisao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0.4124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2079.1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1128.2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random_forest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0.4486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2013.9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1088.6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gradient_boosting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0.4549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2002.4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1092.7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knn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0.4487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2013.8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1099.0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regressao_polinomial_grau_2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0.2723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2313.6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1258.1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828800"/>
            <a:ext cx="3840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noProof="0" dirty="0">
                <a:solidFill>
                  <a:srgbClr val="1C2433"/>
                </a:solidFill>
                <a:latin typeface="Calibri"/>
              </a:rPr>
              <a:t>•  Preditivo recomendado: gradient_boosting</a:t>
            </a:r>
            <a:r>
              <a:rPr lang="pt-BR" sz="1400" noProof="0" dirty="0" err="1">
                <a:solidFill>
                  <a:srgbClr val="1C2433"/>
                </a:solidFill>
                <a:latin typeface="Calibri"/>
              </a:rPr>
              <a:t/>
            </a:r>
            <a:endParaRPr lang="pt-BR" sz="1400" noProof="0" dirty="0">
              <a:solidFill>
                <a:srgbClr val="1C2433"/>
              </a:solidFill>
              <a:latin typeface="Calibri"/>
            </a:endParaRPr>
          </a:p>
          <a:p>
            <a:r>
              <a:rPr sz="1300">
                <a:solidFill>
                  <a:srgbClr val="1C2433"/>
                </a:solidFill>
                <a:latin typeface="Calibri"/>
              </a:rPr>
              <a:t>•  R² = 0.4549 · RMSE = 2002.4</a:t>
            </a:r>
          </a:p>
          <a:p>
            <a:r>
              <a:rPr sz="1300">
                <a:solidFill>
                  <a:srgbClr val="1C2433"/>
                </a:solidFill>
                <a:latin typeface="Calibri"/>
              </a:rPr>
              <a:t>•  MAE = 1092.7 CAD/ano</a:t>
            </a:r>
          </a:p>
          <a:p>
            <a:r>
              <a:rPr sz="1300">
                <a:solidFill>
                  <a:srgbClr val="1C2433"/>
                </a:solidFill>
                <a:latin typeface="Calibri"/>
              </a:rPr>
              <a:t>•  Explicativo (melhor): R² = 0.5854</a:t>
            </a:r>
          </a:p>
          <a:p>
            <a:r>
              <a:rPr sz="1300">
                <a:solidFill>
                  <a:srgbClr val="1C2433"/>
                </a:solidFill>
                <a:latin typeface="Calibri"/>
              </a:rPr>
              <a:t>•  Árvores/ensembles superam modelos lineares.</a:t>
            </a:r>
          </a:p>
          <a:p>
            <a:r>
              <a:rPr sz="1300">
                <a:solidFill>
                  <a:srgbClr val="1C2433"/>
                </a:solidFill>
                <a:latin typeface="Calibri"/>
              </a:rPr>
              <a:t>•  Efeito do filtro MAINT: +0.0193 de R².</a:t>
            </a:r>
          </a:p>
          <a:p>
            <a:r>
              <a:rPr sz="1300">
                <a:solidFill>
                  <a:srgbClr val="1C2433"/>
                </a:solidFill>
                <a:latin typeface="Calibri"/>
              </a:rPr>
              <a:t>•  Efeito do contrato: +0.0033 de R² — praticamente nulo.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12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Variáveis mais importantes (permutação)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887814"/>
              </p:ext>
            </p:extLst>
          </p:nvPr>
        </p:nvGraphicFramePr>
        <p:xfrm>
          <a:off x="7802881" y="1645920"/>
          <a:ext cx="37490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FFFFFF"/>
                          </a:solidFill>
                        </a:rPr>
                        <a:t>importância</a:t>
                      </a:r>
                    </a:p>
                  </a:txBody>
                  <a:tcPr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0.1693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0.0967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0.0804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km_acumulado_inicio_ano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0.0791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unit_subtype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0.0574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0.04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comprimento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0.0395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 err="1">
                          <a:solidFill>
                            <a:srgbClr val="1C2433"/>
                          </a:solidFill>
                        </a:rPr>
                        <a:t>provincia_estado</a:t>
                      </a:r>
                      <a:endParaRPr lang="pt-BR" sz="1000" noProof="0" dirty="0">
                        <a:solidFill>
                          <a:srgbClr val="1C2433"/>
                        </a:solidFill>
                      </a:endParaRP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0.0367</a:t>
                      </a:r>
                    </a:p>
                  </a:txBody>
                  <a:tcPr anchor="ctr">
                    <a:solidFill>
                      <a:srgbClr val="EEEA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idade_carreta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noProof="0" dirty="0">
                          <a:solidFill>
                            <a:srgbClr val="1C2433"/>
                          </a:solidFill>
                        </a:rPr>
                        <a:t>0.0167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7" descr="05_importancia_permut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9494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9089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E8713A"/>
                </a:solidFill>
                <a:latin typeface="Calibri"/>
              </a:rPr>
              <a:t>13 · REFERENCIAL TEÓRICO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i="0" noProof="0" dirty="0">
                <a:solidFill>
                  <a:srgbClr val="142B45"/>
                </a:solidFill>
                <a:latin typeface="Calibri"/>
              </a:rPr>
              <a:t>O que </a:t>
            </a:r>
            <a:r>
              <a:rPr lang="pt-BR" sz="2700" b="1" dirty="0">
                <a:solidFill>
                  <a:srgbClr val="142B45"/>
                </a:solidFill>
                <a:latin typeface="Calibri"/>
              </a:rPr>
              <a:t>dizem os dados</a:t>
            </a:r>
            <a:endParaRPr lang="pt-BR" sz="2700" b="1" i="0" noProof="0" dirty="0">
              <a:solidFill>
                <a:srgbClr val="142B45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52120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46304" bIns="91440" rtlCol="0" anchor="t"/>
          <a:lstStyle/>
          <a:p>
            <a:pPr algn="l">
              <a:spcAft>
                <a:spcPts val="500"/>
              </a:spcAft>
            </a:pPr>
            <a:r>
              <a:rPr lang="pt-BR" sz="1350" b="1" i="0" noProof="0" dirty="0">
                <a:solidFill>
                  <a:srgbClr val="E8713A"/>
                </a:solidFill>
                <a:latin typeface="Calibri"/>
              </a:rPr>
              <a:t>Modelos</a:t>
            </a:r>
          </a:p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1C2433"/>
                </a:solidFill>
                <a:latin typeface="Calibri"/>
              </a:rPr>
              <a:t>Árvores/ensembles: 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R² 0.45 (preditivo) a 0.59 (explicativo) no teste 2025; regressões lineares ficam muito atrás (R² ~ 0,27).</a:t>
            </a:r>
          </a:p>
          <a:p>
            <a:pPr algn="l">
              <a:spcAft>
                <a:spcPts val="300"/>
              </a:spcAft>
            </a:pP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>→ a relação custo × operação é não linear, como reporta Katreddi (2023). O R² de 97% daquele estudo não é comparável ao nosso: outra frota, outro alvo e outra unidade.</a:t>
            </a:r>
            <a:r>
              <a:rPr lang="pt-BR" sz="1200" b="0" i="0" noProof="0" dirty="0" err="1">
                <a:solidFill>
                  <a:srgbClr val="2E7D4F"/>
                </a:solidFill>
                <a:latin typeface="Calibri"/>
              </a:rPr>
              <a:t/>
            </a: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/>
            </a:r>
            <a:r>
              <a:rPr lang="pt-BR" sz="1200" b="0" i="0" noProof="0" dirty="0" err="1">
                <a:solidFill>
                  <a:srgbClr val="2E7D4F"/>
                </a:solidFill>
                <a:latin typeface="Calibri"/>
              </a:rPr>
              <a:t/>
            </a: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828800"/>
            <a:ext cx="52120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46304" bIns="91440" rtlCol="0" anchor="t"/>
          <a:lstStyle/>
          <a:p>
            <a:pPr algn="l">
              <a:spcAft>
                <a:spcPts val="500"/>
              </a:spcAft>
            </a:pPr>
            <a:r>
              <a:rPr lang="pt-BR" sz="1350" b="1" i="0" noProof="0" dirty="0">
                <a:solidFill>
                  <a:srgbClr val="E8713A"/>
                </a:solidFill>
                <a:latin typeface="Calibri"/>
              </a:rPr>
              <a:t>Variáveis</a:t>
            </a:r>
          </a:p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1C2433"/>
                </a:solidFill>
                <a:latin typeface="Calibri"/>
              </a:rPr>
              <a:t>Histórico e uso lideram: 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OS e custo do ano anterior ρ≈0,54; km rodado </a:t>
            </a:r>
            <a:r>
              <a:rPr lang="pt-BR" sz="1200" b="0" i="0" noProof="0" dirty="0" err="1">
                <a:solidFill>
                  <a:srgbClr val="1C2433"/>
                </a:solidFill>
                <a:latin typeface="Calibri"/>
              </a:rPr>
              <a:t>ρ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=0,53; idade isolada </a:t>
            </a:r>
            <a:r>
              <a:rPr lang="pt-BR" sz="1200" b="0" i="0" noProof="0" dirty="0" err="1">
                <a:solidFill>
                  <a:srgbClr val="1C2433"/>
                </a:solidFill>
                <a:latin typeface="Calibri"/>
              </a:rPr>
              <a:t>ρ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=0,02.</a:t>
            </a:r>
          </a:p>
          <a:p>
            <a:pPr algn="l">
              <a:spcAft>
                <a:spcPts val="300"/>
              </a:spcAft>
            </a:pP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>→ resultado consistente com Sun (2024), que usa o histórico para prever custo; aqui a idade, isolada, tem associação fraca.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22191"/>
            <a:ext cx="52120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46304" bIns="91440" rtlCol="0" anchor="t"/>
          <a:lstStyle/>
          <a:p>
            <a:pPr algn="l">
              <a:spcAft>
                <a:spcPts val="500"/>
              </a:spcAft>
            </a:pPr>
            <a:r>
              <a:rPr lang="pt-BR" sz="1350" b="1" i="0" noProof="0" dirty="0">
                <a:solidFill>
                  <a:srgbClr val="E8713A"/>
                </a:solidFill>
                <a:latin typeface="Calibri"/>
              </a:rPr>
              <a:t>Grupos</a:t>
            </a:r>
          </a:p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1C2433"/>
                </a:solidFill>
                <a:latin typeface="Calibri"/>
              </a:rPr>
              <a:t>Refrigeração é a variável nº 1 do modelo: embaralhar seus valores reduz o R² em 0,17 (importância por permutação). Isso mede a dependência do modelo ajustado — não equivale a retreinar sem a variável.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>→ a relevância da refrigeração motivou testar modelos por grupo; o ganho, porém, não se mostrou estável entre os anos.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3822191"/>
            <a:ext cx="52120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46304" bIns="91440" rtlCol="0" anchor="t"/>
          <a:lstStyle/>
          <a:p>
            <a:pPr algn="l">
              <a:spcAft>
                <a:spcPts val="500"/>
              </a:spcAft>
            </a:pPr>
            <a:r>
              <a:rPr lang="pt-BR" sz="1350" b="1" i="0" noProof="0" dirty="0">
                <a:solidFill>
                  <a:srgbClr val="E8713A"/>
                </a:solidFill>
                <a:latin typeface="Calibri"/>
              </a:rPr>
              <a:t>Avaliação</a:t>
            </a:r>
          </a:p>
          <a:p>
            <a:pPr algn="l">
              <a:spcAft>
                <a:spcPts val="300"/>
              </a:spcAft>
            </a:pPr>
            <a:r>
              <a:rPr lang="pt-BR" sz="1200" b="1" i="0" noProof="0" dirty="0">
                <a:solidFill>
                  <a:srgbClr val="1C2433"/>
                </a:solidFill>
                <a:latin typeface="Calibri"/>
              </a:rPr>
              <a:t>Sem vazamento: </a:t>
            </a:r>
            <a:r>
              <a:rPr lang="pt-BR" sz="1200" b="0" i="0" noProof="0" dirty="0">
                <a:solidFill>
                  <a:srgbClr val="1C2433"/>
                </a:solidFill>
                <a:latin typeface="Calibri"/>
              </a:rPr>
              <a:t>ao remover variáveis do próprio ano e testar em 2025, o R² cai de 0.59 para 0.45.</a:t>
            </a:r>
          </a:p>
          <a:p>
            <a:pPr algn="l">
              <a:spcAft>
                <a:spcPts val="300"/>
              </a:spcAft>
            </a:pPr>
            <a:r>
              <a:rPr lang="pt-BR" sz="1200" b="0" i="0" noProof="0" dirty="0">
                <a:solidFill>
                  <a:srgbClr val="2E7D4F"/>
                </a:solidFill>
                <a:latin typeface="Calibri"/>
              </a:rPr>
              <a:t>→ a queda mostra quanto do R² explicativo vinha de variáveis do próprio ano; a avaliação temporal segue a prática recomendada na literatura.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44263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pt-BR" sz="1200" b="1" i="0" dirty="0">
                <a:solidFill>
                  <a:srgbClr val="E8713A"/>
                </a:solidFill>
                <a:latin typeface="Calibri"/>
              </a:rPr>
              <a:t>14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pt-BR" sz="2700" b="1" i="0" dirty="0">
                <a:solidFill>
                  <a:srgbClr val="142B45"/>
                </a:solidFill>
                <a:latin typeface="Calibri"/>
              </a:rPr>
              <a:t>Procedimento passo a passo</a:t>
            </a:r>
          </a:p>
        </p:txBody>
      </p:sp>
      <p:sp>
        <p:nvSpPr>
          <p:cNvPr id="6" name="Connector"/>
          <p:cNvSpPr/>
          <p:nvPr/>
        </p:nvSpPr>
        <p:spPr>
          <a:xfrm>
            <a:off x="1133856" y="1895000"/>
            <a:ext cx="36576" cy="445000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Oval 0"/>
          <p:cNvSpPr/>
          <p:nvPr/>
        </p:nvSpPr>
        <p:spPr>
          <a:xfrm>
            <a:off x="977144" y="172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" name="Step 0"/>
          <p:cNvSpPr txBox="1"/>
          <p:nvPr/>
        </p:nvSpPr>
        <p:spPr>
          <a:xfrm>
            <a:off x="1600200" y="153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Mapeamento e extração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identifica tabelas-chave, cria scripts SQL para exportar CSVs e desnormaliza as fontes em uma base consolidada.</a:t>
            </a:r>
          </a:p>
        </p:txBody>
      </p:sp>
      <p:sp>
        <p:nvSpPr>
          <p:cNvPr id="9" name="Oval 1"/>
          <p:cNvSpPr/>
          <p:nvPr/>
        </p:nvSpPr>
        <p:spPr>
          <a:xfrm>
            <a:off x="977144" y="2165000"/>
            <a:ext cx="350000" cy="350000"/>
          </a:xfrm>
          <a:prstGeom prst="ellipse">
            <a:avLst/>
          </a:prstGeom>
          <a:solidFill>
            <a:srgbClr val="E8713A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Step 1"/>
          <p:cNvSpPr txBox="1"/>
          <p:nvPr/>
        </p:nvSpPr>
        <p:spPr>
          <a:xfrm>
            <a:off x="1600200" y="1980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Fonte única — CSV consolidado fato_wo_ml (217.217 OS · 9.585 carretas · 2020–2025).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/>
            </a:r>
          </a:p>
        </p:txBody>
      </p:sp>
      <p:sp>
        <p:nvSpPr>
          <p:cNvPr id="11" name="Oval 2"/>
          <p:cNvSpPr/>
          <p:nvPr/>
        </p:nvSpPr>
        <p:spPr>
          <a:xfrm>
            <a:off x="977144" y="261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Step 2"/>
          <p:cNvSpPr txBox="1"/>
          <p:nvPr/>
        </p:nvSpPr>
        <p:spPr>
          <a:xfrm>
            <a:off x="1600200" y="242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Qualidade e integridade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consistência dos registros e exclusão de estornos (custos negativos).</a:t>
            </a:r>
          </a:p>
        </p:txBody>
      </p:sp>
      <p:sp>
        <p:nvSpPr>
          <p:cNvPr id="13" name="Oval 3"/>
          <p:cNvSpPr/>
          <p:nvPr/>
        </p:nvSpPr>
        <p:spPr>
          <a:xfrm>
            <a:off x="977144" y="3055000"/>
            <a:ext cx="350000" cy="350000"/>
          </a:xfrm>
          <a:prstGeom prst="ellipse">
            <a:avLst/>
          </a:prstGeom>
          <a:solidFill>
            <a:srgbClr val="E8713A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Step 3"/>
          <p:cNvSpPr txBox="1"/>
          <p:nvPr/>
        </p:nvSpPr>
        <p:spPr>
          <a:xfrm>
            <a:off x="1600200" y="2870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Base carreta × ano — alvo Y = custo anual por carreta (47.715 linhas; 41.739 na população MAINT). São 6 anos de dados, mas só 5 modeláveis: 2020 não tem ano anterior para as variáveis defasadas.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/>
            </a:r>
          </a:p>
        </p:txBody>
      </p:sp>
      <p:sp>
        <p:nvSpPr>
          <p:cNvPr id="15" name="Oval 4"/>
          <p:cNvSpPr/>
          <p:nvPr/>
        </p:nvSpPr>
        <p:spPr>
          <a:xfrm>
            <a:off x="977144" y="350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Step 4"/>
          <p:cNvSpPr txBox="1"/>
          <p:nvPr/>
        </p:nvSpPr>
        <p:spPr>
          <a:xfrm>
            <a:off x="1600200" y="331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Deflação — CPI Canadá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custos trazidos a CAD reais de dez/2025, comparáveis no tempo.</a:t>
            </a:r>
          </a:p>
        </p:txBody>
      </p:sp>
      <p:sp>
        <p:nvSpPr>
          <p:cNvPr id="17" name="Oval 5"/>
          <p:cNvSpPr/>
          <p:nvPr/>
        </p:nvSpPr>
        <p:spPr>
          <a:xfrm>
            <a:off x="977144" y="3945000"/>
            <a:ext cx="350000" cy="350000"/>
          </a:xfrm>
          <a:prstGeom prst="ellipse">
            <a:avLst/>
          </a:prstGeom>
          <a:solidFill>
            <a:srgbClr val="E8713A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Step 5"/>
          <p:cNvSpPr txBox="1"/>
          <p:nvPr/>
        </p:nvSpPr>
        <p:spPr>
          <a:xfrm>
            <a:off x="1600200" y="3760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EDA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descritivas, distribuições e relação de cada variável com o custo.</a:t>
            </a:r>
          </a:p>
        </p:txBody>
      </p:sp>
      <p:sp>
        <p:nvSpPr>
          <p:cNvPr id="19" name="Oval 6"/>
          <p:cNvSpPr/>
          <p:nvPr/>
        </p:nvSpPr>
        <p:spPr>
          <a:xfrm>
            <a:off x="977144" y="439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Step 6"/>
          <p:cNvSpPr txBox="1"/>
          <p:nvPr/>
        </p:nvSpPr>
        <p:spPr>
          <a:xfrm>
            <a:off x="1600200" y="420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Seleção anti-vazamento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remove componentes do próprio Y e usa histórico só do ano anterior.</a:t>
            </a:r>
          </a:p>
        </p:txBody>
      </p:sp>
      <p:sp>
        <p:nvSpPr>
          <p:cNvPr id="21" name="Oval 7"/>
          <p:cNvSpPr/>
          <p:nvPr/>
        </p:nvSpPr>
        <p:spPr>
          <a:xfrm>
            <a:off x="977144" y="4835000"/>
            <a:ext cx="350000" cy="350000"/>
          </a:xfrm>
          <a:prstGeom prst="ellipse">
            <a:avLst/>
          </a:prstGeom>
          <a:solidFill>
            <a:srgbClr val="E8713A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Step 7"/>
          <p:cNvSpPr txBox="1"/>
          <p:nvPr/>
        </p:nvSpPr>
        <p:spPr>
          <a:xfrm>
            <a:off x="1600200" y="4650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Modelagem — split temporal — treino 2020–2024 / teste 2025; validação adicional com 2023 e 2024 como anos de teste; lineares, árvores e ensembles.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/>
            </a:r>
          </a:p>
        </p:txBody>
      </p:sp>
      <p:sp>
        <p:nvSpPr>
          <p:cNvPr id="23" name="Oval 8"/>
          <p:cNvSpPr/>
          <p:nvPr/>
        </p:nvSpPr>
        <p:spPr>
          <a:xfrm>
            <a:off x="977144" y="528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4" name="Step 8"/>
          <p:cNvSpPr txBox="1"/>
          <p:nvPr/>
        </p:nvSpPr>
        <p:spPr>
          <a:xfrm>
            <a:off x="1600200" y="509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Avaliação e conclusões   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>—  R² / RMSE / MAE, importância das variáveis e recomendações.</a:t>
            </a:r>
          </a:p>
        </p:txBody>
      </p:sp>
      <p:sp>
        <p:nvSpPr>
          <p:cNvPr id="25" name="Oval 9"/>
          <p:cNvSpPr/>
          <p:nvPr/>
        </p:nvSpPr>
        <p:spPr>
          <a:xfrm>
            <a:off x="977144" y="5725000"/>
            <a:ext cx="350000" cy="350000"/>
          </a:xfrm>
          <a:prstGeom prst="ellipse">
            <a:avLst/>
          </a:prstGeom>
          <a:solidFill>
            <a:srgbClr val="E8713A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200" b="1" i="0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6" name="Step 9"/>
          <p:cNvSpPr txBox="1"/>
          <p:nvPr/>
        </p:nvSpPr>
        <p:spPr>
          <a:xfrm>
            <a:off x="1600200" y="5540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Aplicação ao planejamento — apoia a priorização de carretas e o provisionamento agregado por perfil de frota; o erro por ativo isolado é alto demais para orçamento individual.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/>
            </a:r>
          </a:p>
        </p:txBody>
      </p:sp>
      <p:sp>
        <p:nvSpPr>
          <p:cNvPr id="27" name="Oval 10"/>
          <p:cNvSpPr/>
          <p:nvPr/>
        </p:nvSpPr>
        <p:spPr>
          <a:xfrm>
            <a:off x="977144" y="6170000"/>
            <a:ext cx="350000" cy="350000"/>
          </a:xfrm>
          <a:prstGeom prst="ellipse">
            <a:avLst/>
          </a:prstGeom>
          <a:solidFill>
            <a:srgbClr val="142B45"/>
          </a:solidFill>
          <a:ln w="31750">
            <a:solidFill>
              <a:srgbClr val="F6F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pt-BR" sz="1050" b="1" i="0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8" name="Step 10"/>
          <p:cNvSpPr txBox="1"/>
          <p:nvPr/>
        </p:nvSpPr>
        <p:spPr>
          <a:xfrm>
            <a:off x="1600200" y="5985000"/>
            <a:ext cx="10200000" cy="7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pt-BR" sz="1300" b="1" i="0" dirty="0">
                <a:solidFill>
                  <a:srgbClr val="142B45"/>
                </a:solidFill>
                <a:latin typeface="Calibri"/>
              </a:rPr>
              <a:t>Deployment e atualização — o pipeline é reprodutível ponta a ponta pelos notebooks; a integração com APIs e a atualização periódica são etapa futura, ainda não implementada.</a:t>
            </a:r>
            <a:r>
              <a:rPr lang="pt-BR" sz="1150" b="0" i="0" dirty="0">
                <a:solidFill>
                  <a:srgbClr val="5B636E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44263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E8713A"/>
                </a:solidFill>
                <a:latin typeface="Calibri"/>
              </a:rPr>
              <a:t>14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i="0" noProof="0" dirty="0">
                <a:solidFill>
                  <a:srgbClr val="142B45"/>
                </a:solidFill>
                <a:latin typeface="Calibri"/>
              </a:rPr>
              <a:t>Desenho do estudo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500">
                <a:solidFill>
                  <a:srgbClr val="1C2433"/>
                </a:solidFill>
                <a:latin typeface="Calibri"/>
              </a:defRPr>
            </a:lvl1pPr>
          </a:lstStyle>
          <a:p>
            <a:r>
              <a:rPr lang="pt-BR" noProof="0" dirty="0"/>
              <a:t>•  Unidade de análise: grão carreta × ano.</a:t>
            </a:r>
          </a:p>
          <a:p>
            <a:r>
              <a:rPr lang="pt-BR" noProof="0" dirty="0"/>
              <a:t>•  Fonte única: CSV fato_wo_ml; extração SQL, </a:t>
            </a:r>
            <a:r>
              <a:rPr lang="pt-BR" noProof="0" dirty="0" err="1"/>
              <a:t>joins</a:t>
            </a:r>
            <a:r>
              <a:rPr lang="pt-BR" noProof="0" dirty="0"/>
              <a:t> e feature </a:t>
            </a:r>
            <a:r>
              <a:rPr lang="pt-BR" noProof="0" dirty="0" err="1"/>
              <a:t>engineering</a:t>
            </a:r>
            <a:r>
              <a:rPr lang="pt-BR" noProof="0" dirty="0"/>
              <a:t> são etapa anterior de preparação.</a:t>
            </a:r>
          </a:p>
          <a:p>
            <a:r>
              <a:rPr lang="pt-BR" noProof="0" dirty="0"/>
              <a:t>•  Variável resposta: custo anual de manutenção por carreta, em CAD (deflacionado pelo CPI do Canadá, base dez/2025).</a:t>
            </a:r>
          </a:p>
          <a:p>
            <a:r>
              <a:rPr lang="pt-BR" noProof="0" dirty="0"/>
              <a:t>•  População principal: contrato com manutenção inclusa (MAINT), aplicada como flag; o cenário sem filtro é mantido como baseline de comparação.</a:t>
            </a:r>
          </a:p>
          <a:p>
            <a:r>
              <a:rPr lang="pt-BR" noProof="0" dirty="0"/>
              <a:t>•  Universo de variáveis: fonte única com 29 colunas — atributos do ativo, uso/quilometragem, geografia, histórico defasado e contrato (H6 avaliada nesta fase).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44263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E8713A"/>
                </a:solidFill>
                <a:latin typeface="Calibri"/>
              </a:rPr>
              <a:t>14 ·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i="0" noProof="0" dirty="0">
                <a:solidFill>
                  <a:srgbClr val="142B45"/>
                </a:solidFill>
                <a:latin typeface="Calibri"/>
              </a:rPr>
              <a:t>Desenho de avaliação e </a:t>
            </a:r>
            <a:r>
              <a:rPr lang="pt-BR" sz="2700" b="1" i="0" noProof="0" dirty="0" err="1">
                <a:solidFill>
                  <a:srgbClr val="142B45"/>
                </a:solidFill>
                <a:latin typeface="Calibri"/>
              </a:rPr>
              <a:t>anti-vazamento</a:t>
            </a:r>
            <a:endParaRPr lang="pt-BR" sz="2700" b="1" i="0" noProof="0" dirty="0">
              <a:solidFill>
                <a:srgbClr val="142B4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500">
                <a:solidFill>
                  <a:srgbClr val="1C2433"/>
                </a:solidFill>
                <a:latin typeface="Calibri"/>
              </a:defRPr>
            </a:lvl1pPr>
          </a:lstStyle>
          <a:p>
            <a:pPr algn="just"/>
            <a:r>
              <a:rPr lang="pt-BR" sz="1400" noProof="0" dirty="0"/>
              <a:t>• Dois cenários de modelagem: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400" noProof="0" dirty="0"/>
              <a:t>Explicativo: inclui variáveis do próprio ano; mede a associação máxima com o custo;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400" noProof="0" dirty="0"/>
              <a:t>Preditivo: só atributos + histórico do ano anterior; reproduz o uso real de previsão.</a:t>
            </a:r>
          </a:p>
          <a:p>
            <a:pPr algn="just">
              <a:lnSpc>
                <a:spcPct val="150000"/>
              </a:lnSpc>
            </a:pPr>
            <a:r>
              <a:rPr lang="pt-BR" sz="1400" noProof="0" dirty="0"/>
              <a:t>• Antivazamento: exclui os componentes aritméticos de </a:t>
            </a:r>
            <a:r>
              <a:rPr lang="pt-BR" sz="1400" noProof="0" dirty="0" err="1"/>
              <a:t>Y</a:t>
            </a:r>
            <a:r>
              <a:rPr lang="pt-BR" sz="1400" noProof="0" dirty="0"/>
              <a:t> e proíbe informação do próprio ano no cenário preditivo.</a:t>
            </a:r>
          </a:p>
          <a:p>
            <a:pPr algn="just"/>
            <a:r>
              <a:rPr lang="pt-BR" sz="1400" noProof="0" dirty="0"/>
              <a:t>• Split temporal: treino 2020–2024 / teste 2025 — o modelo nunca é testado no passado.</a:t>
            </a:r>
          </a:p>
          <a:p>
            <a:pPr algn="just"/>
            <a:r>
              <a:rPr lang="pt-BR" sz="1400" noProof="0" dirty="0"/>
              <a:t>• Modelos e métricas: lineares/</a:t>
            </a:r>
            <a:r>
              <a:rPr lang="pt-BR" sz="1400" noProof="0" dirty="0" err="1"/>
              <a:t>ridge</a:t>
            </a:r>
            <a:r>
              <a:rPr lang="pt-BR" sz="1400" noProof="0" dirty="0"/>
              <a:t>, árvore, Random Forest, </a:t>
            </a:r>
            <a:r>
              <a:rPr lang="pt-BR" sz="1400" noProof="0" dirty="0" err="1"/>
              <a:t>Gradient</a:t>
            </a:r>
            <a:r>
              <a:rPr lang="pt-BR" sz="1400" noProof="0" dirty="0"/>
              <a:t> </a:t>
            </a:r>
            <a:r>
              <a:rPr lang="pt-BR" sz="1400" noProof="0" dirty="0" err="1"/>
              <a:t>Boosting</a:t>
            </a:r>
            <a:r>
              <a:rPr lang="pt-BR" sz="1400" noProof="0" dirty="0"/>
              <a:t> e KNN; avaliados por R², RMSE, e MAE, com importância por permutação.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050" b="0" i="1" noProof="0" dirty="0">
                <a:solidFill>
                  <a:srgbClr val="5B636E"/>
                </a:solidFill>
                <a:latin typeface="Calibri"/>
              </a:rPr>
              <a:t>Rigor metodológico: separa 'explicar' de 'prever' e evita o vazamento temporal.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noProof="0" dirty="0">
                <a:solidFill>
                  <a:srgbClr val="E8713A"/>
                </a:solidFill>
              </a:rPr>
              <a:t>14 · </a:t>
            </a:r>
            <a:r>
              <a:rPr lang="pt-BR" sz="1200" b="1" noProof="0" dirty="0">
                <a:solidFill>
                  <a:srgbClr val="E8713A"/>
                </a:solidFill>
                <a:latin typeface="Calibri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700" b="1" noProof="0" dirty="0">
                <a:solidFill>
                  <a:srgbClr val="142B45"/>
                </a:solidFill>
                <a:latin typeface="Calibri"/>
              </a:rPr>
              <a:t>Limitações metodológicas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Fonte única: contrato incorporado na Fase 2; seguem ausentes mão de obra, peças e tipo_contrato (RENTAL/LEASE).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População restrita a MAINT: o ganho de R² do filtro reflete amostra mais homogênea, não melhora de previsão.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km derivado do odômetro nas OS; resets/ruído tratados por regra, com aproximação.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Província parcial (~54%); região usada como proxy geográfica.</a:t>
            </a:r>
          </a:p>
          <a:p>
            <a:pPr>
              <a:spcAft>
                <a:spcPts val="600"/>
              </a:spcAft>
            </a:pP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•  Estornos (custos negativos) excluídos; </a:t>
            </a:r>
            <a:r>
              <a:rPr lang="pt-BR" sz="1500" noProof="0" dirty="0" err="1">
                <a:solidFill>
                  <a:srgbClr val="1C2433"/>
                </a:solidFill>
                <a:latin typeface="Calibri"/>
              </a:rPr>
              <a:t>span</a:t>
            </a:r>
            <a:r>
              <a:rPr lang="pt-BR" sz="1500" noProof="0" dirty="0">
                <a:solidFill>
                  <a:srgbClr val="1C2433"/>
                </a:solidFill>
                <a:latin typeface="Calibri"/>
              </a:rPr>
              <a:t> ativo assume presença entre 1ª e ultima 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1297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pt-BR" sz="1200" b="1" i="0" dirty="0">
                <a:solidFill>
                  <a:srgbClr val="E8713A"/>
                </a:solidFill>
                <a:latin typeface="Calibri"/>
              </a:rPr>
              <a:t>15 · ENTREGAS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pt-BR" sz="2700" b="1" i="0" dirty="0">
                <a:solidFill>
                  <a:srgbClr val="142B45"/>
                </a:solidFill>
                <a:latin typeface="Calibri"/>
              </a:rPr>
              <a:t>Entregas do Projeto</a:t>
            </a:r>
          </a:p>
        </p:txBody>
      </p:sp>
      <p:sp>
        <p:nvSpPr>
          <p:cNvPr id="6" name="Card 6"/>
          <p:cNvSpPr/>
          <p:nvPr/>
        </p:nvSpPr>
        <p:spPr>
          <a:xfrm>
            <a:off x="548640" y="2189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Pill 7"/>
          <p:cNvSpPr/>
          <p:nvPr/>
        </p:nvSpPr>
        <p:spPr>
          <a:xfrm>
            <a:off x="5079536" y="2285386"/>
            <a:ext cx="733000" cy="23600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Concluída</a:t>
            </a:r>
          </a:p>
        </p:txBody>
      </p:sp>
      <p:sp>
        <p:nvSpPr>
          <p:cNvPr id="8" name="Title 8"/>
          <p:cNvSpPr txBox="1"/>
          <p:nvPr/>
        </p:nvSpPr>
        <p:spPr>
          <a:xfrm>
            <a:off x="694944" y="2281386"/>
            <a:ext cx="4294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1 - Dados e qualidade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694944" y="2619386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Inventário das bases: carretas, OS, mão de obra, peças, contratos, odômetro e GPS.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Validação de chaves, datas, custos negativos/zerados, leituras de odômetro e ausentes.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Documentação das regras de tratamento e dos riscos metodológicos.</a:t>
            </a:r>
          </a:p>
        </p:txBody>
      </p:sp>
      <p:sp>
        <p:nvSpPr>
          <p:cNvPr id="10" name="Card 10"/>
          <p:cNvSpPr/>
          <p:nvPr/>
        </p:nvSpPr>
        <p:spPr>
          <a:xfrm>
            <a:off x="6233160" y="2189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Pill 11"/>
          <p:cNvSpPr/>
          <p:nvPr/>
        </p:nvSpPr>
        <p:spPr>
          <a:xfrm>
            <a:off x="10764056" y="2285386"/>
            <a:ext cx="733000" cy="23600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Concluída</a:t>
            </a:r>
          </a:p>
        </p:txBody>
      </p:sp>
      <p:sp>
        <p:nvSpPr>
          <p:cNvPr id="12" name="Title 12"/>
          <p:cNvSpPr txBox="1"/>
          <p:nvPr/>
        </p:nvSpPr>
        <p:spPr>
          <a:xfrm>
            <a:off x="6379464" y="2281386"/>
            <a:ext cx="4294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2 - Base analítica</a:t>
            </a:r>
          </a:p>
        </p:txBody>
      </p:sp>
      <p:sp>
        <p:nvSpPr>
          <p:cNvPr id="13" name="Bullets 13"/>
          <p:cNvSpPr txBox="1"/>
          <p:nvPr/>
        </p:nvSpPr>
        <p:spPr>
          <a:xfrm>
            <a:off x="6379464" y="2619386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Construção da base carreta x ano para custo anual real de manutenção.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Criação de variáveis defasadas para evitar vazamento temporal.</a:t>
            </a:r>
          </a:p>
        </p:txBody>
      </p:sp>
      <p:sp>
        <p:nvSpPr>
          <p:cNvPr id="14" name="Card 14"/>
          <p:cNvSpPr/>
          <p:nvPr/>
        </p:nvSpPr>
        <p:spPr>
          <a:xfrm>
            <a:off x="548640" y="3464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Pill 15"/>
          <p:cNvSpPr/>
          <p:nvPr/>
        </p:nvSpPr>
        <p:spPr>
          <a:xfrm>
            <a:off x="5079536" y="3560386"/>
            <a:ext cx="733000" cy="23600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Concluída</a:t>
            </a:r>
          </a:p>
        </p:txBody>
      </p:sp>
      <p:sp>
        <p:nvSpPr>
          <p:cNvPr id="16" name="Title 16"/>
          <p:cNvSpPr txBox="1"/>
          <p:nvPr/>
        </p:nvSpPr>
        <p:spPr>
          <a:xfrm>
            <a:off x="694944" y="3556386"/>
            <a:ext cx="4294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3 - EDA e hipóteses</a:t>
            </a:r>
          </a:p>
        </p:txBody>
      </p:sp>
      <p:sp>
        <p:nvSpPr>
          <p:cNvPr id="17" name="Bullets 17"/>
          <p:cNvSpPr txBox="1"/>
          <p:nvPr/>
        </p:nvSpPr>
        <p:spPr>
          <a:xfrm>
            <a:off x="694944" y="3894386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Distribuições, outliers, assimetria, correlações, VIF e segmentações.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Custos e OS têm distribuição assimétrica, com poucos casos extremos.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Indícios de efeito de idade, histórico, sistemas VMRS e perfil operacional.</a:t>
            </a:r>
          </a:p>
        </p:txBody>
      </p:sp>
      <p:sp>
        <p:nvSpPr>
          <p:cNvPr id="18" name="Card 18"/>
          <p:cNvSpPr/>
          <p:nvPr/>
        </p:nvSpPr>
        <p:spPr>
          <a:xfrm>
            <a:off x="6233160" y="3464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Title 24"/>
          <p:cNvSpPr txBox="1"/>
          <p:nvPr/>
        </p:nvSpPr>
        <p:spPr>
          <a:xfrm>
            <a:off x="6379464" y="3529924"/>
            <a:ext cx="3426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4 - Modelo anual de custo</a:t>
            </a:r>
          </a:p>
        </p:txBody>
      </p:sp>
      <p:sp>
        <p:nvSpPr>
          <p:cNvPr id="25" name="Bullets 25"/>
          <p:cNvSpPr txBox="1"/>
          <p:nvPr/>
        </p:nvSpPr>
        <p:spPr>
          <a:xfrm>
            <a:off x="6379464" y="3867924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Modelo em grão carreta x ano, com custo anual real deflacionado.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Gradient Boosting: R² 0.4549 (preditivo) e 0.5854 (explicativo) no teste temporal de 2025.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Fatores: refrigeração, histórico defasado, exposição acumulada e subtipo.</a:t>
            </a:r>
          </a:p>
        </p:txBody>
      </p:sp>
      <p:sp>
        <p:nvSpPr>
          <p:cNvPr id="19" name="Pill 27">
            <a:extLst>
              <a:ext uri="{FF2B5EF4-FFF2-40B4-BE49-F238E27FC236}">
                <a16:creationId xmlns:a16="http://schemas.microsoft.com/office/drawing/2014/main" id="{E5060CC7-28F8-C289-7594-CC4F464401B5}"/>
              </a:ext>
            </a:extLst>
          </p:cNvPr>
          <p:cNvSpPr/>
          <p:nvPr/>
        </p:nvSpPr>
        <p:spPr>
          <a:xfrm>
            <a:off x="10392056" y="3548155"/>
            <a:ext cx="1105000" cy="236000"/>
          </a:xfrm>
          <a:prstGeom prst="roundRect">
            <a:avLst>
              <a:gd name="adj" fmla="val 50000"/>
            </a:avLst>
          </a:prstGeom>
          <a:solidFill>
            <a:srgbClr val="142B45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Concluída</a:t>
            </a:r>
          </a:p>
        </p:txBody>
      </p:sp>
      <p:sp>
        <p:nvSpPr>
          <p:cNvPr id="22" name="Card 22"/>
          <p:cNvSpPr/>
          <p:nvPr/>
        </p:nvSpPr>
        <p:spPr>
          <a:xfrm>
            <a:off x="548640" y="4739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Title 32"/>
          <p:cNvSpPr txBox="1"/>
          <p:nvPr/>
        </p:nvSpPr>
        <p:spPr>
          <a:xfrm>
            <a:off x="694944" y="4810294"/>
            <a:ext cx="4384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5 - Validação e robustez</a:t>
            </a:r>
          </a:p>
        </p:txBody>
      </p:sp>
      <p:sp>
        <p:nvSpPr>
          <p:cNvPr id="33" name="Bullets 33"/>
          <p:cNvSpPr txBox="1"/>
          <p:nvPr/>
        </p:nvSpPr>
        <p:spPr>
          <a:xfrm>
            <a:off x="694944" y="5148294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Contrato incorporado e testado: H6a e H6b com efeito fraco (+0.0033 de R²).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PENDENTE: sensibilidade a outliers, seleção de variáveis e hiperparâmetros.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PENDENTE: MERF e modelos hierárquicos — a divisão manual por grupo foi testada e não se sustentou.</a:t>
            </a:r>
          </a:p>
        </p:txBody>
      </p:sp>
      <p:sp>
        <p:nvSpPr>
          <p:cNvPr id="34" name="Pill 31">
            <a:extLst>
              <a:ext uri="{FF2B5EF4-FFF2-40B4-BE49-F238E27FC236}">
                <a16:creationId xmlns:a16="http://schemas.microsoft.com/office/drawing/2014/main" id="{77E2D64C-3F49-8585-ED27-0C95DF03067E}"/>
              </a:ext>
            </a:extLst>
          </p:cNvPr>
          <p:cNvSpPr/>
          <p:nvPr/>
        </p:nvSpPr>
        <p:spPr>
          <a:xfrm>
            <a:off x="4740992" y="4833263"/>
            <a:ext cx="1105000" cy="236000"/>
          </a:xfrm>
          <a:prstGeom prst="roundRect">
            <a:avLst>
              <a:gd name="adj" fmla="val 50000"/>
            </a:avLst>
          </a:prstGeom>
          <a:solidFill>
            <a:srgbClr val="142B45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Parcial</a:t>
            </a:r>
          </a:p>
        </p:txBody>
      </p:sp>
      <p:sp>
        <p:nvSpPr>
          <p:cNvPr id="26" name="Card 26"/>
          <p:cNvSpPr/>
          <p:nvPr/>
        </p:nvSpPr>
        <p:spPr>
          <a:xfrm>
            <a:off x="6233160" y="4739386"/>
            <a:ext cx="5410200" cy="1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Title 28"/>
          <p:cNvSpPr txBox="1"/>
          <p:nvPr/>
        </p:nvSpPr>
        <p:spPr>
          <a:xfrm>
            <a:off x="6379464" y="4831386"/>
            <a:ext cx="3922592" cy="3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lang="pt-BR" sz="1150" b="1" i="0" dirty="0">
                <a:solidFill>
                  <a:srgbClr val="142B45"/>
                </a:solidFill>
                <a:latin typeface="Calibri"/>
              </a:rPr>
              <a:t>Gate 6 - Interpretação de negócio</a:t>
            </a:r>
          </a:p>
        </p:txBody>
      </p:sp>
      <p:sp>
        <p:nvSpPr>
          <p:cNvPr id="29" name="Bullets 29"/>
          <p:cNvSpPr txBox="1"/>
          <p:nvPr/>
        </p:nvSpPr>
        <p:spPr>
          <a:xfrm>
            <a:off x="6379464" y="5169386"/>
            <a:ext cx="5117592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Traduzir resultados em recomendações para orçamento, preventiva e gestão da frota.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Separar fatores de risco operacional das limitações de dados e ruído de medição.</a:t>
            </a:r>
          </a:p>
          <a:p>
            <a:pPr marL="171450" indent="-171450">
              <a:lnSpc>
                <a:spcPct val="96000"/>
              </a:lnSpc>
              <a:spcAft>
                <a:spcPts val="300"/>
              </a:spcAft>
              <a:buFont typeface="Arial"/>
              <a:buChar char="•"/>
            </a:pPr>
            <a:r>
              <a:rPr lang="pt-BR" sz="900" b="0" i="0" dirty="0">
                <a:solidFill>
                  <a:srgbClr val="1C2433"/>
                </a:solidFill>
                <a:latin typeface="Calibri"/>
              </a:rPr>
              <a:t>Reforçar que os achados são preditivos e exploratórios, sem inferência causal.</a:t>
            </a:r>
          </a:p>
        </p:txBody>
      </p:sp>
      <p:sp>
        <p:nvSpPr>
          <p:cNvPr id="27" name="Pill 27"/>
          <p:cNvSpPr/>
          <p:nvPr/>
        </p:nvSpPr>
        <p:spPr>
          <a:xfrm>
            <a:off x="10392056" y="4835386"/>
            <a:ext cx="1105000" cy="236000"/>
          </a:xfrm>
          <a:prstGeom prst="roundRect">
            <a:avLst>
              <a:gd name="adj" fmla="val 50000"/>
            </a:avLst>
          </a:prstGeom>
          <a:solidFill>
            <a:srgbClr val="142B45"/>
          </a:solidFill>
          <a:ln>
            <a:noFill/>
          </a:ln>
          <a:effectLst/>
        </p:spPr>
        <p:txBody>
          <a:bodyPr wrap="none" lIns="45720" tIns="0" rIns="45720" bIns="0" rtlCol="0" anchor="ctr"/>
          <a:lstStyle/>
          <a:p>
            <a:pPr algn="ctr"/>
            <a:r>
              <a:rPr lang="pt-BR" sz="800" b="1" i="0" dirty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FASE 2 · DADOS NOVOS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Contrato: os quatro campos que chegaram à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36E"/>
                </a:solidFill>
                <a:latin typeface="Calibri"/>
              </a:rPr>
              <a:t>H6 estava declarada desde a fase anterior, sem dados para testá-la. Os campos de contrato passaram a integrar a fonte única.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perfil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tempo_contrato_meses_ate_reparo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92,5%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mediana 35,1 meses · sem valores negativos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MODELADA — responde H6a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tipo_manutencao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92,5%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MAINT 89,7% · MIX 1,6% · NET 1,1%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define a população; H6b na EDA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cod_cliente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77,2%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597 clientes distintos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descritiva — fora do 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franquia_km_mensal_contrato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71,6%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99,8% dos preenchidos são ZERO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DESCARTADA — variância nula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38912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A fonte permanece ÚNICA: os campos vieram dentro do próprio CSV consolidado, sem join novo.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Contrato não é atributo fixo do ativo — 51,5% das carretas mudam de regime no período, o que exigiu agregação por carreta-ano.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Retomamos o filtro MAINT do desenho original, agora como flag: a base guarda tudo e a modelagem seleciona.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FASE 2 · EDA DE CONTRATO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Distribuições das variáveis de contrato</a:t>
            </a:r>
          </a:p>
        </p:txBody>
      </p:sp>
      <p:pic>
        <p:nvPicPr>
          <p:cNvPr id="6" name="Picture 5" descr="quant_tempo_contrato_meses_fim_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09129" cy="2194560"/>
          </a:xfrm>
          <a:prstGeom prst="rect">
            <a:avLst/>
          </a:prstGeom>
        </p:spPr>
      </p:pic>
      <p:pic>
        <p:nvPicPr>
          <p:cNvPr id="7" name="Picture 6" descr="quant_share_maint_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809129" cy="2194560"/>
          </a:xfrm>
          <a:prstGeom prst="rect">
            <a:avLst/>
          </a:prstGeom>
        </p:spPr>
      </p:pic>
      <p:pic>
        <p:nvPicPr>
          <p:cNvPr id="8" name="Picture 7" descr="quant_n_clientes_a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360"/>
            <a:ext cx="5809129" cy="2194560"/>
          </a:xfrm>
          <a:prstGeom prst="rect">
            <a:avLst/>
          </a:prstGeom>
        </p:spPr>
      </p:pic>
      <p:pic>
        <p:nvPicPr>
          <p:cNvPr id="9" name="Picture 8" descr="quant_trocou_contrato_an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023360"/>
            <a:ext cx="5809129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FASE 2 · EDA DE CONTRATO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Custo anual por regime contratual — evidência de H6b</a:t>
            </a:r>
          </a:p>
        </p:txBody>
      </p:sp>
      <p:pic>
        <p:nvPicPr>
          <p:cNvPr id="6" name="Picture 5" descr="quali_tipo_manutencao_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952119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eta = 0.183: separação fraca entre regimes.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MAINT concentra 89,7% das OS; NET e MIX somam 2,7% — baixa potência estatística.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Avaliado sobre a base COMPLETA: dentro da população MAINT a variável é constante.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Diferença entre regimes pode refletir quem paga o reparo, não quanto ele custa.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FASE 2 · DESENHO DA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Como isolamos o efeito de cada mudança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36E"/>
                </a:solidFill>
                <a:latin typeface="Calibri"/>
              </a:rPr>
              <a:t>A base foi reextraída E ganhou contrato na mesma rodada. Sem separar as causas, qualquer ganho de R² seria ambíguo.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01168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3886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configuração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população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variáveis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responde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A —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todas as carretas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sem contrato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efeito da nova extração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B — filtro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somente MAINT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sem contrato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efeito do filtro de contrato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C — completa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somente MAINT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com contrato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efeito das variáveis novas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3931920"/>
            <a:ext cx="32004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050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42B45"/>
                </a:solidFill>
                <a:latin typeface="Calibri"/>
              </a:rPr>
              <a:t>0.4323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622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36E"/>
                </a:solidFill>
                <a:latin typeface="Calibri"/>
              </a:rPr>
              <a:t>A · R² preditivo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931920"/>
            <a:ext cx="32004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0050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42B45"/>
                </a:solidFill>
                <a:latin typeface="Calibri"/>
              </a:rPr>
              <a:t>0.4516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4622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36E"/>
                </a:solidFill>
                <a:latin typeface="Calibri"/>
              </a:rPr>
              <a:t>B · R² preditivo (MAINT)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3931920"/>
            <a:ext cx="32004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40050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8713A"/>
                </a:solidFill>
                <a:latin typeface="Calibri"/>
              </a:rPr>
              <a:t>0.4549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4622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36E"/>
                </a:solidFill>
                <a:latin typeface="Calibri"/>
              </a:rPr>
              <a:t>C · R² preditivo (+ contrato)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42B45"/>
                </a:solidFill>
                <a:latin typeface="Calibri"/>
              </a:rPr>
              <a:t>Efeito do filtro MAINT: +0.0193 de R²         Efeito das variáveis de contrato: +0.0033 de 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36E"/>
                </a:solidFill>
                <a:latin typeface="Calibri"/>
              </a:rPr>
              <a:t>O ganho do filtro não é melhora de previsão: as carreta-anos excluídas têm custo médio bem menor e muitas têm custo zero.</a:t>
            </a:r>
          </a:p>
          <a:p>
            <a:r>
              <a:rPr sz="1200" b="0">
                <a:solidFill>
                  <a:srgbClr val="5B636E"/>
                </a:solidFill>
                <a:latin typeface="Calibri"/>
              </a:rPr>
              <a:t>Amostra mais homogênea eleva o R² sem que o modelo preveja melhor.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ITEM 13 · IMPLICAÇÕES GERENCIAIS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O que a empresa faz com estes resultados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tema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recomendação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Orçamento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Usar o custo anual real por carreta como base de orçamento; projetar com o modelo preditivo (histórico defasado + atributos).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Priorização de frota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Priorizar carretas com alto custo/OS no ano anterior e histórico acumulado elevado (fatores de maior importância).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Perfil de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Monitorar subtipos e refrigeradas, que concentram custos anuais mais altos (maior eta).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Incorporar quilometragem esperada ao planejamento: o uso é um dos maiores associados ao custo anual.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População de análise definida por contrato com manutenção inclusa (MAINT). Efeito das variáveis de contrato sobre o poder preditivo: +0.0033 de R² — usar como insumo de precificação apenas na medida desse ganho.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Dados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Integrar mão de obra, peças e tipo_contrato (RENTAL/LEASE) em etapa futura; contrato de manutenção já foi incorporado.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2B45"/>
                </a:solidFill>
                <a:latin typeface="Calibri"/>
              </a:rPr>
              <a:t>MAE = CAD 1.093/ano por carreta — é o erro MÉDIO, não um limite: metade dos casos erra menos e a cauda erra muito mais. Equivale a ~51% do custo médio do ano de teste (CAD 2.151).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ITEM 16 · CONCLUSÕES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Resposta à pergunta de pesquisa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10515600" cy="132588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O custo anual real por carreta é explicado sobretudo por REFRIGERAÇÃO, HISTÓRICO DE MANUTENÇÃO e USO.</a:t>
            </a:r>
          </a:p>
          <a:p>
            <a:r>
              <a:rPr sz="1600" b="1">
                <a:solidFill>
                  <a:srgbClr val="FFFFFF"/>
                </a:solidFill>
                <a:latin typeface="Calibri"/>
              </a:rPr>
              <a:t>O modelo gradient_boosting estima o custo do ano seguinte com R² = 0.4549 e erro médio de CAD $ 1092.7/ano.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O grão anual reduziu a zero-inflação a 3.13%, deixando-a residual para a modelagem.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A idade, isoladamente, tem associação fraca com o custo (ρ = 0,03) e baixa importância no modelo. Não testamos se o efeito da idade é mediado por histórico e uso — é hipótese, não resultado.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As variáveis de contrato, incorporadas nesta fase, mostraram efeito fraco — hipótese testada, não assumida.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O contrato serviu principalmente para DEFINIR a população de análise (MAINT), não para prever o custo.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O erro médio (MAE) é de CAD 1.093/ano, cerca de 51% do custo médio do ano de teste: o modelo serve para PRIORIZAR carretas e para provisionar no agregado da frota, não para estimar o valor de um ativo isolado.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FASE 2 · O QUE MUDOU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Linha do tempo desde a apresentação de agosto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36E"/>
                </a:solidFill>
                <a:latin typeface="Calibri"/>
              </a:rPr>
              <a:t>A Fase 1 encerrou na seleção de variáveis, com a modelagem marcada como Fase 2. Um dado novo mudou o que era possível testar.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quando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 que aconteceu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05/ago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Apresentação da Fase 1 (28 slides)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H6 declarada, sem dados; Gate 4 em aberto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16/ago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Base reextraída, com dados de contrato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25 → 29 colunas · 223.590 → 217.217 OS · 9.859 → 9.585 carretas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16/ago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População redefinida (retomada do filtro MAINT)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41739 carreta-anos sob contrato com manutenção inclusa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16/ago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Modelagem executada em 3 configurações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efeito do filtro +0,0193 de R²; efeito do contrato +0,0033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16/ago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Experimento: modelo único × dividido por refrigeração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validado em 3 anos de teste (2023, 2024,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8463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A fonte permanece ÚNICA: o contrato veio dentro do próprio CSV consolidado, sem join novo.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Todos os slides da apresentação anterior foram mantidos, na mesma ordem — os números é que foram atualizados.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ITEM 12 · RESULTADOS PRELIMINARES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1ª tentativa — sem as variáveis de contrato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36E"/>
                </a:solidFill>
                <a:latin typeface="Calibri"/>
              </a:rPr>
              <a:t>É o desenho da apresentação anterior: um modelo único, sem qualquer informação de contrato. Recalculado sobre a base reextraída.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6858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2621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cenário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random_forest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1762.9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890.3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explicativo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gradient_boosting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0.5684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1766.2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896.6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0.5201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1862.5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957.3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explicativo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arvore_decisao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0.5092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1883.5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971.3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regressao_linear_multipla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-0.215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2963.5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1210.2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explicativo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-0.236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2988.9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1214.4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regressao_polinomial_grau_2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-0.8711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3677.5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1408.5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random_forest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0.4323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2025.7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1063.3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preditivo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0.4215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2044.8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1083.5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gradient_boosting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0.4039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2075.7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1101.4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preditivo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arvore_decisao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0.3964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2088.7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1111.7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regressao_polinomial_grau_2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0.1159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2527.9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1366.9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preditivo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-0.1288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2856.4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1287.2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regressao_linear_multipla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-0.1331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2861.8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  <a:latin typeface="Calibri"/>
                        </a:rPr>
                        <a:t>1288.2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0" y="2103120"/>
            <a:ext cx="38404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1762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8713A"/>
                </a:solidFill>
                <a:latin typeface="Calibri"/>
              </a:rPr>
              <a:t>0.4323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633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36E"/>
                </a:solidFill>
                <a:latin typeface="Calibri"/>
              </a:rPr>
              <a:t>melhor preditivo (random_forest)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337560"/>
            <a:ext cx="38404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4107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42B45"/>
                </a:solidFill>
                <a:latin typeface="Calibri"/>
              </a:rPr>
              <a:t>0.5700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86791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36E"/>
                </a:solidFill>
                <a:latin typeface="Calibri"/>
              </a:rPr>
              <a:t>melhor explicativo (random_forest)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6177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33"/>
                </a:solidFill>
                <a:latin typeface="Calibri"/>
              </a:rPr>
              <a:t>•  Árvores e ensembles superam os lineares.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33"/>
                </a:solidFill>
                <a:latin typeface="Calibri"/>
              </a:rPr>
              <a:t>•  Fatores dominantes: refrigeração, histórico defasado e uso.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ITEM 12 · RESULTADOS PRELIMINARES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2ª tentativa — contrato incluído e divisão por refrigeração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36E"/>
                </a:solidFill>
                <a:latin typeface="Calibri"/>
              </a:rPr>
              <a:t>Duas mudanças testadas nesta fase: (a) incluir as variáveis de contrato; (b) treinar um modelo para refrigeradas e outro para secas.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5740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 que foi testado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R² preditivo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diferença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veredito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(a) incluir variáveis de contrato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0.4516 → 0.4549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+0.0033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efeito desprezível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(b) dividir por refrigeração (teste 2025)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0.4549 → 0.4673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+0.0124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2433"/>
                          </a:solidFill>
                          <a:latin typeface="Calibri"/>
                        </a:rPr>
                        <a:t>promissor — exigiu validação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3749039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As variáveis de contrato quase não acrescentam poder preditivo: +0,0033 de R², contra +0,0193 apenas por restringir a população a MAINT.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Como flag_refrigerado é a variável mais importante do modelo (0,169), testamos tratá-la como grupo — a lógica do MERF de Katreddi (2023).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Testando só em 2025, dividir parecia vencer com folga (bootstrap de 2.000 reamostragens: 99,6% de probabilidade de ganho).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Mas esse bootstrap mede apenas o ruído DENTRO de um ano. A validação em vários anos vem a seguir — e muda a conclusão.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ITEM 12 · RESULTADOS FINAIS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Qual modelo mantemos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36E"/>
                </a:solidFill>
                <a:latin typeface="Calibri"/>
              </a:rPr>
              <a:t>O mesmo confronto repetido com três anos de teste, cada um treinado só com os anos anteriores.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67665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37882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ano de teste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único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dividido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diferença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gradient_boosting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-0.0193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random_forest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0.4745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0.478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0.0035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gradient_boosting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0.0147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random_forest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0.4779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0.4808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0.0029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gradient_boosting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0.4673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0.0124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random_forest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0.4486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0.4652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  <a:latin typeface="Calibri"/>
                        </a:rPr>
                        <a:t>0.0165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2057400"/>
            <a:ext cx="4114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33"/>
                </a:solidFill>
                <a:latin typeface="Calibri"/>
              </a:rPr>
              <a:t>•  No Gradient Boosting o ganho INVERTE de sinal em 2023.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33"/>
                </a:solidFill>
                <a:latin typeface="Calibri"/>
              </a:rPr>
              <a:t>•  No Random Forest é consistente, mas cai para +0,003 em dois dos três anos.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33"/>
                </a:solidFill>
                <a:latin typeface="Calibri"/>
              </a:rPr>
              <a:t>•  A variação entre anos é maior que o ganho medido em 2025.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10972800" cy="15087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MANTEMOS O MODELO ÚNICO — gradient_boosting, R² = 0.4549 · RMSE = 2002.4 · MAE = 1092.7 CAD/ano.</a:t>
            </a: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Dividir por refrigeração não se sustenta fora de 2025, e dobraria o número de modelos a treinar e monitorar.</a:t>
            </a: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As variáveis de contrato permanecem no modelo: o efeito é pequeno, mas registram o teste de H6 e não custam nada.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ITEM 14 · LIMITAÇÕES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O que mudou nas limitações após a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36E"/>
                </a:solidFill>
                <a:latin typeface="Calibri"/>
              </a:rPr>
              <a:t>As limitações declaradas em agosto continuam válidas, exceto as que esta fase resolveu — e há três novas, criadas pelas próprias escolhas da Fase 2.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972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886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limitação declarada em agosto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situação após a Fase 2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Sem dados de contrato — reduz o conjunto 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RESOLVIDA — contrato incorporado e H6 testada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Sem filtro por tipo de manutenção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RESOLVIDA — população MAINT retomada, como flag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km derivado do odômetro; província parcial (~54%)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permanece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37947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B45"/>
                </a:solidFill>
                <a:latin typeface="Calibri"/>
              </a:rPr>
              <a:t>Limitações novas, decorrentes das escolhas desta fase: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A população MAINT é mais homogênea: o ganho de R² do filtro (+0,0193) reflete amostra mais fácil, não previsão melhor.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NET e MIX somam 2,7% das OS — conclusões sobre esses regimes têm baixa potência estatística.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cod_cliente não foi modelado (597 categorias) e franquia_km_mensal_contrato foi descartada (99,8% de zeros).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A avaliação usa um ano de teste por vez; a variação entre anos mostrou-se maior que os ganhos medidos dentro de um ano.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13A"/>
                </a:solidFill>
                <a:latin typeface="Calibri"/>
              </a:rPr>
              <a:t>ITEM 15 · PROJETOS FUTUROS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Recomendações para as próximas etapas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36E"/>
                </a:solidFill>
                <a:latin typeface="Calibri"/>
              </a:rPr>
              <a:t>Contrato sai desta lista: deixou de ser trabalho futuro e virou resultado.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frente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recomendação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Dados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Integrar mão de obra e peças para decompor o custo por origem; incorporar tipo_contrato (RENTAL/LEASE), único campo de contrato ainda ausente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Modelagem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Testar Mixed Effects Random Forest (Katreddi, 2023) como alternativa à divisão manual por grupo, que não se sustentou entre anos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Avaliação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Adotar validação com janelas móveis como padrão — foi ela que evitou adotar um ganho aparente medido em um único 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Alvo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Modelar a cauda de custos extremos: a assimetria de 3,82 é o limite estrutural do R² atual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Exposição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  <a:latin typeface="Calibri"/>
                        </a:rPr>
                        <a:t>Incorporar quilometragem planejada e telemetria (GPS) como medida de uso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2B45"/>
                </a:solidFill>
                <a:latin typeface="Calibri"/>
              </a:rPr>
              <a:t>A prioridade é a decomposição do custo por origem (mão de obra × peças): é o que permitiria dizer não só quanto custa, mas por quê.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4881</Words>
  <Application>Microsoft Macintosh PowerPoint</Application>
  <PresentationFormat>Widescreen</PresentationFormat>
  <Paragraphs>781</Paragraphs>
  <Slides>34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Jeison Lima</cp:lastModifiedBy>
  <cp:revision>11</cp:revision>
  <dcterms:created xsi:type="dcterms:W3CDTF">2013-01-27T09:14:16Z</dcterms:created>
  <dcterms:modified xsi:type="dcterms:W3CDTF">2026-08-05T00:49:59Z</dcterms:modified>
  <cp:category/>
</cp:coreProperties>
</file>