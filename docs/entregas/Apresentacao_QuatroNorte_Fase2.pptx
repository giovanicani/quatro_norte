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4" r:id="rId9"/>
    <p:sldId id="265" r:id="rId10"/>
    <p:sldId id="293" r:id="rId11"/>
    <p:sldId id="266" r:id="rId12"/>
    <p:sldId id="287" r:id="rId13"/>
    <p:sldId id="267" r:id="rId14"/>
    <p:sldId id="288" r:id="rId15"/>
    <p:sldId id="289" r:id="rId16"/>
    <p:sldId id="290" r:id="rId17"/>
    <p:sldId id="268" r:id="rId18"/>
    <p:sldId id="291" r:id="rId19"/>
    <p:sldId id="292" r:id="rId20"/>
    <p:sldId id="269" r:id="rId21"/>
    <p:sldId id="270" r:id="rId22"/>
    <p:sldId id="271" r:id="rId23"/>
    <p:sldId id="272" r:id="rId24"/>
    <p:sldId id="261" r:id="rId25"/>
    <p:sldId id="281" r:id="rId26"/>
    <p:sldId id="273" r:id="rId27"/>
    <p:sldId id="274" r:id="rId28"/>
    <p:sldId id="275" r:id="rId29"/>
    <p:sldId id="283" r:id="rId30"/>
    <p:sldId id="284" r:id="rId31"/>
    <p:sldId id="285" r:id="rId32"/>
    <p:sldId id="286" r:id="rId33"/>
    <p:sldId id="277" r:id="rId34"/>
    <p:sldId id="296" r:id="rId35"/>
    <p:sldId id="304" r:id="rId48"/>
    <p:sldId id="297" r:id="rId41"/>
    <p:sldId id="298" r:id="rId42"/>
    <p:sldId id="299" r:id="rId43"/>
    <p:sldId id="300" r:id="rId44"/>
    <p:sldId id="301" r:id="rId45"/>
    <p:sldId id="305" r:id="rId49"/>
    <p:sldId id="302" r:id="rId46"/>
    <p:sldId id="306" r:id="rId50"/>
    <p:sldId id="307" r:id="rId51"/>
    <p:sldId id="303" r:id="rId4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EEAD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911"/>
    <p:restoredTop sz="94631"/>
  </p:normalViewPr>
  <p:slideViewPr>
    <p:cSldViewPr snapToGrid="0" snapToObjects="1">
      <p:cViewPr>
        <p:scale>
          <a:sx n="120" d="100"/>
          <a:sy n="120" d="100"/>
        </p:scale>
        <p:origin x="-168" y="2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A98E2AA-6898-6B48-BD3F-6EBB08F37CD6}" type="datetimeFigureOut">
              <a:rPr lang="en-BR" smtClean="0"/>
              <a:t>03/08/26</a:t>
            </a:fld>
            <a:endParaRPr lang="en-B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B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B769D2-7A0D-5245-9461-C20EEB7ADB54}" type="slidenum">
              <a:rPr lang="en-BR" smtClean="0"/>
              <a:t>‹#›</a:t>
            </a:fld>
            <a:endParaRPr lang="en-BR"/>
          </a:p>
        </p:txBody>
      </p:sp>
    </p:spTree>
    <p:extLst>
      <p:ext uri="{BB962C8B-B14F-4D97-AF65-F5344CB8AC3E}">
        <p14:creationId xmlns:p14="http://schemas.microsoft.com/office/powerpoint/2010/main" val="10467855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B769D2-7A0D-5245-9461-C20EEB7ADB54}" type="slidenum">
              <a:rPr lang="en-BR" smtClean="0"/>
              <a:t>34</a:t>
            </a:fld>
            <a:endParaRPr lang="en-BR"/>
          </a:p>
        </p:txBody>
      </p:sp>
    </p:spTree>
    <p:extLst>
      <p:ext uri="{BB962C8B-B14F-4D97-AF65-F5344CB8AC3E}">
        <p14:creationId xmlns:p14="http://schemas.microsoft.com/office/powerpoint/2010/main" val="223331723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6070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2000" b="1" noProof="0" dirty="0">
                <a:solidFill>
                  <a:srgbClr val="E8713A"/>
                </a:solidFill>
                <a:latin typeface="Calibri"/>
              </a:rPr>
              <a:t>QUATRO NORTE CONSULTING · GRUPO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60704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4000" b="1" noProof="0" dirty="0">
                <a:solidFill>
                  <a:srgbClr val="FFFFFF"/>
                </a:solidFill>
                <a:latin typeface="Calibri"/>
              </a:rPr>
              <a:t>Custo anual de manutenção por carreta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40480"/>
            <a:ext cx="1060704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1700" b="0" noProof="0" dirty="0">
                <a:solidFill>
                  <a:srgbClr val="F6F1E7"/>
                </a:solidFill>
                <a:latin typeface="Calibri"/>
              </a:rPr>
              <a:t>Fatores determinantes e modelagem do custo anual (CAD $/ano, real) da frota</a:t>
            </a:r>
          </a:p>
          <a:p>
            <a:pPr algn="l"/>
            <a:r>
              <a:rPr lang="pt-BR" sz="1700" b="0" noProof="0" dirty="0">
                <a:solidFill>
                  <a:srgbClr val="F6F1E7"/>
                </a:solidFill>
                <a:latin typeface="Calibri"/>
              </a:rPr>
              <a:t>própria de leasing/rental no Canadá — janela 2020–2025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52160"/>
            <a:ext cx="106070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1400" b="0" noProof="0" dirty="0">
                <a:solidFill>
                  <a:srgbClr val="F6F1E7"/>
                </a:solidFill>
                <a:latin typeface="Calibri"/>
              </a:rPr>
              <a:t>Marlon Wenzel · Jeison Lima · Rodrigo Queiroz · Giovani Cani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59CC271-A2BE-ABDC-8FF5-470BF0371C4C}"/>
              </a:ext>
            </a:extLst>
          </p:cNvPr>
          <p:cNvSpPr txBox="1"/>
          <p:nvPr/>
        </p:nvSpPr>
        <p:spPr>
          <a:xfrm>
            <a:off x="822960" y="3248798"/>
            <a:ext cx="1060704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1700" b="1" noProof="0" dirty="0">
                <a:solidFill>
                  <a:schemeClr val="bg1"/>
                </a:solidFill>
                <a:latin typeface="Calibri"/>
              </a:rPr>
              <a:t>Modelo Preditivo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11723"/>
            <a:ext cx="12191695" cy="6858000"/>
          </a:xfrm>
          <a:prstGeom prst="rect">
            <a:avLst/>
          </a:prstGeom>
          <a:solidFill>
            <a:srgbClr val="F6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46304" cy="822960"/>
          </a:xfrm>
          <a:prstGeom prst="rect">
            <a:avLst/>
          </a:prstGeom>
          <a:solidFill>
            <a:srgbClr val="E87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1200" b="1" noProof="0" dirty="0">
                <a:solidFill>
                  <a:srgbClr val="E8713A"/>
                </a:solidFill>
                <a:latin typeface="Calibri"/>
              </a:rPr>
              <a:t>01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78992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2700" b="1" noProof="0" dirty="0">
                <a:solidFill>
                  <a:srgbClr val="142B45"/>
                </a:solidFill>
                <a:latin typeface="Calibri"/>
              </a:rPr>
              <a:t>A empresa e a operação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6583680" cy="19824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spcAft>
                <a:spcPts val="600"/>
              </a:spcAft>
            </a:pPr>
            <a:r>
              <a:rPr lang="pt-BR" sz="1400" noProof="0" dirty="0">
                <a:solidFill>
                  <a:srgbClr val="1C2433"/>
                </a:solidFill>
                <a:latin typeface="Calibri"/>
              </a:rPr>
              <a:t>•  Empresa de leasing/rental de carretas no Canada (secas e refrigeradas, até 53 pés).</a:t>
            </a:r>
          </a:p>
          <a:p>
            <a:pPr algn="just">
              <a:lnSpc>
                <a:spcPct val="150000"/>
              </a:lnSpc>
              <a:spcAft>
                <a:spcPts val="600"/>
              </a:spcAft>
            </a:pPr>
            <a:r>
              <a:rPr lang="pt-BR" sz="1400" noProof="0" dirty="0">
                <a:solidFill>
                  <a:srgbClr val="1C2433"/>
                </a:solidFill>
                <a:latin typeface="Calibri"/>
              </a:rPr>
              <a:t>•  Manutenção própria: oficinas registram ordens de serviço com mão de obra e peças.</a:t>
            </a:r>
          </a:p>
          <a:p>
            <a:pPr algn="just">
              <a:lnSpc>
                <a:spcPct val="150000"/>
              </a:lnSpc>
              <a:spcAft>
                <a:spcPts val="600"/>
              </a:spcAft>
            </a:pPr>
            <a:r>
              <a:rPr lang="pt-BR" sz="1400" noProof="0" dirty="0">
                <a:solidFill>
                  <a:srgbClr val="1C2433"/>
                </a:solidFill>
                <a:latin typeface="Calibri"/>
              </a:rPr>
              <a:t>•  Todos os custos em dólares canadenses (CAD); operação integralmente no Canadá.</a:t>
            </a:r>
          </a:p>
          <a:p>
            <a:pPr algn="just">
              <a:lnSpc>
                <a:spcPct val="150000"/>
              </a:lnSpc>
              <a:spcAft>
                <a:spcPts val="600"/>
              </a:spcAft>
            </a:pPr>
            <a:r>
              <a:rPr lang="pt-BR" sz="1400" noProof="0" dirty="0">
                <a:solidFill>
                  <a:srgbClr val="1C2433"/>
                </a:solidFill>
                <a:latin typeface="Calibri"/>
              </a:rPr>
              <a:t>•  Objetivo de negócio: apoiar orçamento anual e priorização de manutenção da frota.</a:t>
            </a:r>
          </a:p>
          <a:p>
            <a:pPr algn="just">
              <a:lnSpc>
                <a:spcPct val="150000"/>
              </a:lnSpc>
              <a:spcAft>
                <a:spcPts val="600"/>
              </a:spcAft>
            </a:pPr>
            <a:r>
              <a:rPr lang="pt-BR" sz="1400" noProof="0" dirty="0">
                <a:solidFill>
                  <a:srgbClr val="1C2433"/>
                </a:solidFill>
                <a:latin typeface="Calibri"/>
              </a:rPr>
              <a:t>•  Fonte única do estudo: base consolidada de Ordens de Serviço (2020–2025).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0" y="1737360"/>
            <a:ext cx="3657600" cy="914400"/>
          </a:xfrm>
          <a:prstGeom prst="rect">
            <a:avLst/>
          </a:prstGeom>
          <a:solidFill>
            <a:srgbClr val="FFFFFF"/>
          </a:solidFill>
          <a:ln>
            <a:solidFill>
              <a:srgbClr val="142B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7955279" y="1810512"/>
            <a:ext cx="338328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2200" b="1" noProof="0" dirty="0">
                <a:solidFill>
                  <a:srgbClr val="E8713A"/>
                </a:solidFill>
                <a:latin typeface="Calibri"/>
              </a:rPr>
              <a:t>9.585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2267712"/>
            <a:ext cx="33832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1200" b="0" noProof="0" dirty="0">
                <a:solidFill>
                  <a:srgbClr val="5B636E"/>
                </a:solidFill>
                <a:latin typeface="Calibri"/>
              </a:rPr>
              <a:t>Carretas únicas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2788920"/>
            <a:ext cx="3657600" cy="914400"/>
          </a:xfrm>
          <a:prstGeom prst="rect">
            <a:avLst/>
          </a:prstGeom>
          <a:solidFill>
            <a:srgbClr val="FFFFFF"/>
          </a:solidFill>
          <a:ln>
            <a:solidFill>
              <a:srgbClr val="142B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1" name="TextBox 10"/>
          <p:cNvSpPr txBox="1"/>
          <p:nvPr/>
        </p:nvSpPr>
        <p:spPr>
          <a:xfrm>
            <a:off x="7955279" y="286207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2200" b="1" noProof="0" dirty="0">
                <a:solidFill>
                  <a:srgbClr val="E8713A"/>
                </a:solidFill>
                <a:latin typeface="Calibri"/>
              </a:rPr>
              <a:t>217.217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3319272"/>
            <a:ext cx="33832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1200" b="0" noProof="0" dirty="0">
                <a:solidFill>
                  <a:srgbClr val="5B636E"/>
                </a:solidFill>
                <a:latin typeface="Calibri"/>
              </a:rPr>
              <a:t>Ordens de serviço acumuladas no período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0" y="3840479"/>
            <a:ext cx="3657600" cy="914400"/>
          </a:xfrm>
          <a:prstGeom prst="rect">
            <a:avLst/>
          </a:prstGeom>
          <a:solidFill>
            <a:srgbClr val="FFFFFF"/>
          </a:solidFill>
          <a:ln>
            <a:solidFill>
              <a:srgbClr val="142B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7955279" y="3913631"/>
            <a:ext cx="338328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2200" b="1" noProof="0" dirty="0">
                <a:solidFill>
                  <a:srgbClr val="E8713A"/>
                </a:solidFill>
                <a:latin typeface="Calibri"/>
              </a:rPr>
              <a:t>CAD $ 79.645 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4370831"/>
            <a:ext cx="33832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1200" b="0" noProof="0" dirty="0">
                <a:solidFill>
                  <a:srgbClr val="5B636E"/>
                </a:solidFill>
                <a:latin typeface="Calibri"/>
              </a:rPr>
              <a:t>Custo interno (real) acumulado no período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0" y="4892040"/>
            <a:ext cx="3657600" cy="914400"/>
          </a:xfrm>
          <a:prstGeom prst="rect">
            <a:avLst/>
          </a:prstGeom>
          <a:solidFill>
            <a:srgbClr val="FFFFFF"/>
          </a:solidFill>
          <a:ln>
            <a:solidFill>
              <a:srgbClr val="142B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17" name="TextBox 16"/>
          <p:cNvSpPr txBox="1"/>
          <p:nvPr/>
        </p:nvSpPr>
        <p:spPr>
          <a:xfrm>
            <a:off x="7955279" y="496519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2200" b="1" noProof="0" dirty="0">
                <a:solidFill>
                  <a:srgbClr val="E8713A"/>
                </a:solidFill>
                <a:latin typeface="Calibri"/>
              </a:rPr>
              <a:t>2020–2025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5422392"/>
            <a:ext cx="33832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1200" b="0" noProof="0" dirty="0">
                <a:solidFill>
                  <a:srgbClr val="5B636E"/>
                </a:solidFill>
                <a:latin typeface="Calibri"/>
              </a:rPr>
              <a:t>Período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46304" cy="822960"/>
          </a:xfrm>
          <a:prstGeom prst="rect">
            <a:avLst/>
          </a:prstGeom>
          <a:solidFill>
            <a:srgbClr val="E87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1200" b="1" noProof="0" dirty="0">
                <a:solidFill>
                  <a:srgbClr val="E8713A"/>
                </a:solidFill>
                <a:latin typeface="Calibri"/>
              </a:rPr>
              <a:t>02 ·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2700" b="1" noProof="0" dirty="0">
                <a:solidFill>
                  <a:srgbClr val="142B45"/>
                </a:solidFill>
                <a:latin typeface="Calibri"/>
              </a:rPr>
              <a:t>A pergunta de pesquisa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737360"/>
            <a:ext cx="10515600" cy="1188720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1188720" y="2008554"/>
            <a:ext cx="100584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1800" b="1" noProof="0" dirty="0">
                <a:solidFill>
                  <a:srgbClr val="FFFFFF"/>
                </a:solidFill>
                <a:latin typeface="Calibri"/>
              </a:rPr>
              <a:t>Quais fatores mais influenciam o CUSTO ANUAL INTERNO de manutenção por carreta e como estimá-lo a partir das características operacionais, históricas e estruturais da frota?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00400"/>
            <a:ext cx="10515600" cy="12157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pt-BR" sz="1600" noProof="0" dirty="0">
                <a:solidFill>
                  <a:srgbClr val="1C2433"/>
                </a:solidFill>
                <a:latin typeface="Calibri"/>
              </a:rPr>
              <a:t>•  </a:t>
            </a:r>
            <a:r>
              <a:rPr lang="pt-BR" sz="1600" b="1" noProof="0" dirty="0">
                <a:solidFill>
                  <a:srgbClr val="1C2433"/>
                </a:solidFill>
                <a:latin typeface="Calibri"/>
              </a:rPr>
              <a:t>Variável de interesse: custo anual de manutenção por carreta (CAD $/ano), em valores reais.</a:t>
            </a:r>
          </a:p>
          <a:p>
            <a:pPr>
              <a:spcAft>
                <a:spcPts val="600"/>
              </a:spcAft>
            </a:pPr>
            <a:r>
              <a:rPr lang="pt-BR" sz="1400" noProof="0" dirty="0">
                <a:solidFill>
                  <a:srgbClr val="1C2433"/>
                </a:solidFill>
                <a:latin typeface="Calibri"/>
              </a:rPr>
              <a:t>•  Grão de análise: carreta × ano.</a:t>
            </a:r>
          </a:p>
          <a:p>
            <a:pPr>
              <a:spcAft>
                <a:spcPts val="600"/>
              </a:spcAft>
            </a:pPr>
            <a:r>
              <a:rPr lang="pt-BR" sz="1400" noProof="0" dirty="0">
                <a:solidFill>
                  <a:srgbClr val="1C2433"/>
                </a:solidFill>
                <a:latin typeface="Calibri"/>
              </a:rPr>
              <a:t>•  Escopo do custo: todo o custo interno absorvido pela empresa (preventiva + corretiva). População de modelagem: a frota completa — 47.715 carreta-anos. O tipo de contrato entra como variável do modelo, e não como recorte da amostra.</a:t>
            </a:r>
          </a:p>
          <a:p>
            <a:pPr>
              <a:spcAft>
                <a:spcPts val="600"/>
              </a:spcAft>
            </a:pPr>
            <a:r>
              <a:rPr lang="pt-BR" sz="1400" noProof="0" dirty="0">
                <a:solidFill>
                  <a:srgbClr val="1C2433"/>
                </a:solidFill>
                <a:latin typeface="Calibri"/>
              </a:rPr>
              <a:t>•  Correção monetária obrigatória pela inflação canadense (CPI) para comparar anos em termos reais.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46304" cy="822960"/>
          </a:xfrm>
          <a:prstGeom prst="rect">
            <a:avLst/>
          </a:prstGeom>
          <a:solidFill>
            <a:srgbClr val="E87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1200" b="1" noProof="0" dirty="0">
                <a:solidFill>
                  <a:srgbClr val="E8713A"/>
                </a:solidFill>
                <a:latin typeface="Calibri"/>
              </a:rPr>
              <a:t>03 · OBJETIVOS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78992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2700" b="1" noProof="0" dirty="0">
                <a:solidFill>
                  <a:srgbClr val="142B45"/>
                </a:solidFill>
                <a:latin typeface="Calibri"/>
              </a:rPr>
              <a:t>Objetivos gerais e específicos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91640"/>
            <a:ext cx="1060704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sz="1500" b="1" noProof="0" dirty="0">
                <a:solidFill>
                  <a:srgbClr val="1C2433"/>
                </a:solidFill>
                <a:latin typeface="Calibri"/>
              </a:rPr>
              <a:t>Analisar os fatores que influenciam o custo anual de manutenção por carreta (CAD, corrigido pela inflação), identificando as variáveis de maior capacidade explicativa e desenvolvendo modelos estatísticos e de ML para estimá-lo.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60704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pt-BR" sz="1400" noProof="0" dirty="0">
                <a:solidFill>
                  <a:srgbClr val="1C2433"/>
                </a:solidFill>
                <a:latin typeface="Calibri"/>
              </a:rPr>
              <a:t>•  Consolidar a análise a partir da base única de OS.</a:t>
            </a:r>
          </a:p>
          <a:p>
            <a:pPr>
              <a:spcAft>
                <a:spcPts val="600"/>
              </a:spcAft>
            </a:pPr>
            <a:r>
              <a:rPr lang="pt-BR" sz="1400" noProof="0" dirty="0">
                <a:solidFill>
                  <a:srgbClr val="1C2433"/>
                </a:solidFill>
                <a:latin typeface="Calibri"/>
              </a:rPr>
              <a:t>•  Definir a variável resposta anual e corrigi-la pelo CPI (Canadian </a:t>
            </a:r>
            <a:r>
              <a:rPr lang="pt-BR" sz="1400" noProof="0" dirty="0" err="1">
                <a:solidFill>
                  <a:srgbClr val="1C2433"/>
                </a:solidFill>
                <a:latin typeface="Calibri"/>
              </a:rPr>
              <a:t>Price</a:t>
            </a:r>
            <a:r>
              <a:rPr lang="pt-BR" sz="1400" noProof="0" dirty="0">
                <a:solidFill>
                  <a:srgbClr val="1C2433"/>
                </a:solidFill>
                <a:latin typeface="Calibri"/>
              </a:rPr>
              <a:t> Index) do Canadá.</a:t>
            </a:r>
          </a:p>
          <a:p>
            <a:pPr>
              <a:spcAft>
                <a:spcPts val="600"/>
              </a:spcAft>
            </a:pPr>
            <a:r>
              <a:rPr lang="pt-BR" sz="1400" noProof="0" dirty="0">
                <a:solidFill>
                  <a:srgbClr val="1C2433"/>
                </a:solidFill>
                <a:latin typeface="Calibri"/>
              </a:rPr>
              <a:t>•  Realizar EDA rigorosa (</a:t>
            </a:r>
            <a:r>
              <a:rPr lang="pt-BR" sz="1400" noProof="0" dirty="0" err="1">
                <a:solidFill>
                  <a:srgbClr val="1C2433"/>
                </a:solidFill>
                <a:latin typeface="Calibri"/>
              </a:rPr>
              <a:t>univariada</a:t>
            </a:r>
            <a:r>
              <a:rPr lang="pt-BR" sz="1400" noProof="0" dirty="0">
                <a:solidFill>
                  <a:srgbClr val="1C2433"/>
                </a:solidFill>
                <a:latin typeface="Calibri"/>
              </a:rPr>
              <a:t>, relação com </a:t>
            </a:r>
            <a:r>
              <a:rPr lang="pt-BR" sz="1400" noProof="0" dirty="0" err="1">
                <a:solidFill>
                  <a:srgbClr val="1C2433"/>
                </a:solidFill>
                <a:latin typeface="Calibri"/>
              </a:rPr>
              <a:t>Y</a:t>
            </a:r>
            <a:r>
              <a:rPr lang="pt-BR" sz="1400" noProof="0" dirty="0">
                <a:solidFill>
                  <a:srgbClr val="1C2433"/>
                </a:solidFill>
                <a:latin typeface="Calibri"/>
              </a:rPr>
              <a:t>, ranking) das variáveis candidatas.</a:t>
            </a:r>
          </a:p>
          <a:p>
            <a:pPr>
              <a:spcAft>
                <a:spcPts val="600"/>
              </a:spcAft>
            </a:pPr>
            <a:r>
              <a:rPr lang="pt-BR" sz="1400" noProof="0" dirty="0">
                <a:solidFill>
                  <a:srgbClr val="1C2433"/>
                </a:solidFill>
                <a:latin typeface="Calibri"/>
              </a:rPr>
              <a:t>•  Selecionar variáveis de forma fundamentada (associação, multicolinearidade, domínio).</a:t>
            </a:r>
          </a:p>
          <a:p>
            <a:pPr>
              <a:spcAft>
                <a:spcPts val="600"/>
              </a:spcAft>
            </a:pPr>
            <a:r>
              <a:rPr lang="pt-BR" sz="1400" noProof="0" dirty="0">
                <a:solidFill>
                  <a:srgbClr val="1C2433"/>
                </a:solidFill>
                <a:latin typeface="Calibri"/>
              </a:rPr>
              <a:t>•  Desenvolver e avaliar modelos estatísticos e de Machine Learning (split temporal).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6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46304" cy="822960"/>
          </a:xfrm>
          <a:prstGeom prst="rect">
            <a:avLst/>
          </a:prstGeom>
          <a:solidFill>
            <a:srgbClr val="E87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1200" b="1" noProof="0" dirty="0">
                <a:solidFill>
                  <a:srgbClr val="E8713A"/>
                </a:solidFill>
                <a:latin typeface="Calibri"/>
              </a:rPr>
              <a:t>04 · HIPÓTESES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78992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2700" b="1" noProof="0" dirty="0">
                <a:solidFill>
                  <a:srgbClr val="142B45"/>
                </a:solidFill>
                <a:latin typeface="Calibri"/>
              </a:rPr>
              <a:t>Hipóteses de trabalho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7561944"/>
              </p:ext>
            </p:extLst>
          </p:nvPr>
        </p:nvGraphicFramePr>
        <p:xfrm>
          <a:off x="822960" y="1737360"/>
          <a:ext cx="106070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35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35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35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0891">
                <a:tc>
                  <a:txBody>
                    <a:bodyPr/>
                    <a:lstStyle/>
                    <a:p>
                      <a:pPr algn="ctr"/>
                      <a:r>
                        <a:rPr lang="pt-BR" sz="1200" b="1" noProof="0" dirty="0">
                          <a:solidFill>
                            <a:srgbClr val="FFFFFF"/>
                          </a:solidFill>
                        </a:rPr>
                        <a:t>Hipótese</a:t>
                      </a: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1" noProof="0" dirty="0">
                          <a:solidFill>
                            <a:srgbClr val="FFFFFF"/>
                          </a:solidFill>
                        </a:rPr>
                        <a:t>Descrição</a:t>
                      </a: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1" noProof="0" dirty="0">
                          <a:solidFill>
                            <a:srgbClr val="FFFFFF"/>
                          </a:solidFill>
                        </a:rPr>
                        <a:t>Veredito</a:t>
                      </a: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0891">
                <a:tc>
                  <a:txBody>
                    <a:bodyPr/>
                    <a:lstStyle/>
                    <a:p>
                      <a:pPr algn="ctr"/>
                      <a:r>
                        <a:rPr lang="pt-BR" sz="1200" noProof="0" dirty="0">
                          <a:solidFill>
                            <a:srgbClr val="1C2433"/>
                          </a:solidFill>
                        </a:rPr>
                        <a:t>H1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noProof="0" dirty="0">
                          <a:solidFill>
                            <a:srgbClr val="1C2433"/>
                          </a:solidFill>
                        </a:rPr>
                        <a:t>Idade da carreta eleva o custo anual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noProof="0" dirty="0">
                          <a:solidFill>
                            <a:srgbClr val="1C2433"/>
                          </a:solidFill>
                        </a:rPr>
                        <a:t>Não suportada (efeito direto fraco)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0891">
                <a:tc>
                  <a:txBody>
                    <a:bodyPr/>
                    <a:lstStyle/>
                    <a:p>
                      <a:pPr algn="ctr"/>
                      <a:r>
                        <a:rPr lang="pt-BR" sz="1200" noProof="0" dirty="0">
                          <a:solidFill>
                            <a:srgbClr val="1C2433"/>
                          </a:solidFill>
                        </a:rPr>
                        <a:t>H2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noProof="0" dirty="0">
                          <a:solidFill>
                            <a:srgbClr val="1C2433"/>
                          </a:solidFill>
                        </a:rPr>
                        <a:t>Maior uso/quilometragem eleva o custo anual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noProof="0" dirty="0">
                          <a:solidFill>
                            <a:srgbClr val="1C2433"/>
                          </a:solidFill>
                        </a:rPr>
                        <a:t>Suportada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0891">
                <a:tc>
                  <a:txBody>
                    <a:bodyPr/>
                    <a:lstStyle/>
                    <a:p>
                      <a:pPr algn="ctr"/>
                      <a:r>
                        <a:rPr lang="pt-BR" sz="1200" noProof="0" dirty="0">
                          <a:solidFill>
                            <a:srgbClr val="1C2433"/>
                          </a:solidFill>
                        </a:rPr>
                        <a:t>H3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noProof="0" dirty="0">
                          <a:solidFill>
                            <a:srgbClr val="1C2433"/>
                          </a:solidFill>
                        </a:rPr>
                        <a:t>Histórico de manutenção prevê o custo futuro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noProof="0" dirty="0">
                          <a:solidFill>
                            <a:srgbClr val="1C2433"/>
                          </a:solidFill>
                        </a:rPr>
                        <a:t>Suportada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0891">
                <a:tc>
                  <a:txBody>
                    <a:bodyPr/>
                    <a:lstStyle/>
                    <a:p>
                      <a:pPr algn="ctr"/>
                      <a:r>
                        <a:rPr lang="pt-BR" sz="1200" noProof="0" dirty="0">
                          <a:solidFill>
                            <a:srgbClr val="1C2433"/>
                          </a:solidFill>
                        </a:rPr>
                        <a:t>H4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noProof="0" dirty="0">
                          <a:solidFill>
                            <a:srgbClr val="1C2433"/>
                          </a:solidFill>
                        </a:rPr>
                        <a:t>Características do ativo influenciam o custo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noProof="0" dirty="0">
                          <a:solidFill>
                            <a:srgbClr val="1C2433"/>
                          </a:solidFill>
                        </a:rPr>
                        <a:t>Suportada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0891">
                <a:tc>
                  <a:txBody>
                    <a:bodyPr/>
                    <a:lstStyle/>
                    <a:p>
                      <a:pPr algn="ctr"/>
                      <a:r>
                        <a:rPr lang="pt-BR" sz="1200" noProof="0" dirty="0">
                          <a:solidFill>
                            <a:srgbClr val="1C2433"/>
                          </a:solidFill>
                        </a:rPr>
                        <a:t>H5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noProof="0" dirty="0">
                          <a:solidFill>
                            <a:srgbClr val="1C2433"/>
                          </a:solidFill>
                        </a:rPr>
                        <a:t>Região/operação influencia o custo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noProof="0" dirty="0">
                          <a:solidFill>
                            <a:srgbClr val="1C2433"/>
                          </a:solidFill>
                        </a:rPr>
                        <a:t>Não suportada (fora do modelo desde 2026-09-02)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0894">
                <a:tc>
                  <a:txBody>
                    <a:bodyPr/>
                    <a:lstStyle/>
                    <a:p>
                      <a:pPr algn="ctr"/>
                      <a:r>
                        <a:rPr lang="pt-BR" sz="1200" noProof="0" dirty="0">
                          <a:solidFill>
                            <a:srgbClr val="1C2433"/>
                          </a:solidFill>
                        </a:rPr>
                        <a:t>H6b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noProof="0" dirty="0">
                          <a:solidFill>
                            <a:srgbClr val="1C2433"/>
                          </a:solidFill>
                        </a:rPr>
                        <a:t>Tipo de manutenção contratual (MAINT/NET/MIX) influencia o custo anual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noProof="0" dirty="0">
                          <a:solidFill>
                            <a:srgbClr val="1C2433"/>
                          </a:solidFill>
                        </a:rPr>
                        <a:t>Parcial (efeito fraco)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00891">
                <a:tc>
                  <a:txBody>
                    <a:bodyPr/>
                    <a:lstStyle/>
                    <a:p>
                      <a:pPr algn="ctr"/>
                      <a:r>
                        <a:rPr lang="pt-BR" sz="1200" noProof="0" dirty="0">
                          <a:solidFill>
                            <a:srgbClr val="1C2433"/>
                          </a:solidFill>
                        </a:rPr>
                        <a:t>H7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noProof="0" dirty="0">
                          <a:solidFill>
                            <a:srgbClr val="1C2433"/>
                          </a:solidFill>
                        </a:rPr>
                        <a:t>Tempo de contrato até o reparo influencia o custo anual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noProof="0" dirty="0">
                          <a:solidFill>
                            <a:srgbClr val="1C2433"/>
                          </a:solidFill>
                        </a:rPr>
                        <a:t>Parcial (efeito fraco)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46304" cy="822960"/>
          </a:xfrm>
          <a:prstGeom prst="rect">
            <a:avLst/>
          </a:prstGeom>
          <a:solidFill>
            <a:srgbClr val="E87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1200" b="1" noProof="0" dirty="0">
                <a:solidFill>
                  <a:srgbClr val="E8713A"/>
                </a:solidFill>
                <a:latin typeface="Calibri"/>
              </a:rPr>
              <a:t>05 · BASE DE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78992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2700" b="1" noProof="0" dirty="0">
                <a:solidFill>
                  <a:srgbClr val="142B45"/>
                </a:solidFill>
                <a:latin typeface="Calibri"/>
              </a:rPr>
              <a:t>Base consolidada única (29 colunas)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6400800" cy="1184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pt-BR" sz="1400" noProof="0" dirty="0">
                <a:solidFill>
                  <a:srgbClr val="1C2433"/>
                </a:solidFill>
                <a:latin typeface="Calibri"/>
              </a:rPr>
              <a:t>•  Fonte única: fato_wo_ml_2020-01-01_to_2025-12-31.csv (1 linha = 1 OS).</a:t>
            </a:r>
          </a:p>
          <a:p>
            <a:pPr>
              <a:spcAft>
                <a:spcPts val="600"/>
              </a:spcAft>
            </a:pPr>
            <a:r>
              <a:rPr lang="pt-BR" sz="1400" noProof="0" dirty="0">
                <a:solidFill>
                  <a:srgbClr val="1C2433"/>
                </a:solidFill>
                <a:latin typeface="Calibri"/>
              </a:rPr>
              <a:t>•  Extração SQL, modelo estrela, </a:t>
            </a:r>
            <a:r>
              <a:rPr lang="pt-BR" sz="1400" noProof="0" dirty="0" err="1">
                <a:solidFill>
                  <a:srgbClr val="1C2433"/>
                </a:solidFill>
                <a:latin typeface="Calibri"/>
              </a:rPr>
              <a:t>joins</a:t>
            </a:r>
            <a:r>
              <a:rPr lang="pt-BR" sz="1400" noProof="0" dirty="0">
                <a:solidFill>
                  <a:srgbClr val="1C2433"/>
                </a:solidFill>
                <a:latin typeface="Calibri"/>
              </a:rPr>
              <a:t> e feature </a:t>
            </a:r>
            <a:r>
              <a:rPr lang="pt-BR" sz="1400" noProof="0" dirty="0" err="1">
                <a:solidFill>
                  <a:srgbClr val="1C2433"/>
                </a:solidFill>
                <a:latin typeface="Calibri"/>
              </a:rPr>
              <a:t>engineering</a:t>
            </a:r>
            <a:r>
              <a:rPr lang="pt-BR" sz="1400" dirty="0">
                <a:solidFill>
                  <a:srgbClr val="1C2433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lang="pt-BR" sz="1400" noProof="0" dirty="0">
                <a:solidFill>
                  <a:srgbClr val="1C2433"/>
                </a:solidFill>
                <a:latin typeface="Calibri"/>
              </a:rPr>
              <a:t>•  217.217 OS · 9.585 carretas únicas · 2020–2025.</a:t>
            </a:r>
          </a:p>
          <a:p>
            <a:pPr>
              <a:spcAft>
                <a:spcPts val="600"/>
              </a:spcAft>
            </a:pPr>
            <a:r>
              <a:rPr lang="pt-BR" sz="1400" noProof="0" dirty="0">
                <a:solidFill>
                  <a:srgbClr val="1C2433"/>
                </a:solidFill>
                <a:latin typeface="Calibri"/>
              </a:rPr>
              <a:t>•  VMRS: código padronizado do sistema reparado (PM, freios, pneus, </a:t>
            </a:r>
            <a:r>
              <a:rPr lang="pt-BR" sz="1400" noProof="0" dirty="0" err="1">
                <a:solidFill>
                  <a:srgbClr val="1C2433"/>
                </a:solidFill>
                <a:latin typeface="Calibri"/>
              </a:rPr>
              <a:t>reefer</a:t>
            </a:r>
            <a:r>
              <a:rPr lang="pt-BR" sz="1400" noProof="0" dirty="0">
                <a:solidFill>
                  <a:srgbClr val="1C2433"/>
                </a:solidFill>
                <a:latin typeface="Calibri"/>
              </a:rPr>
              <a:t>...).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6331" y="1737360"/>
            <a:ext cx="3565108" cy="386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</a:pPr>
            <a:r>
              <a:rPr lang="pt-BR" sz="1300" b="1" noProof="0" dirty="0">
                <a:solidFill>
                  <a:srgbClr val="142B45"/>
                </a:solidFill>
                <a:latin typeface="Calibri"/>
              </a:rPr>
              <a:t>Arquitetura metodológica</a:t>
            </a:r>
          </a:p>
          <a:p>
            <a:pPr algn="l">
              <a:spcBef>
                <a:spcPts val="600"/>
              </a:spcBef>
            </a:pPr>
            <a:endParaRPr lang="pt-BR" sz="1300" b="1" noProof="0" dirty="0">
              <a:solidFill>
                <a:srgbClr val="142B45"/>
              </a:solidFill>
              <a:latin typeface="Calibri"/>
            </a:endParaRPr>
          </a:p>
          <a:p>
            <a:pPr algn="l">
              <a:spcBef>
                <a:spcPts val="600"/>
              </a:spcBef>
            </a:pPr>
            <a:r>
              <a:rPr lang="pt-BR" sz="1300" b="1" noProof="0" dirty="0">
                <a:solidFill>
                  <a:srgbClr val="142B45"/>
                </a:solidFill>
                <a:latin typeface="Calibri"/>
              </a:rPr>
              <a:t>Base consolidada (CSV)</a:t>
            </a:r>
          </a:p>
          <a:p>
            <a:pPr algn="l">
              <a:spcBef>
                <a:spcPts val="600"/>
              </a:spcBef>
            </a:pPr>
            <a:r>
              <a:rPr lang="pt-BR" sz="1300" b="1" noProof="0" dirty="0">
                <a:solidFill>
                  <a:srgbClr val="142B45"/>
                </a:solidFill>
                <a:latin typeface="Calibri"/>
              </a:rPr>
              <a:t>↓ Validação de qualidade</a:t>
            </a:r>
          </a:p>
          <a:p>
            <a:pPr algn="l">
              <a:spcBef>
                <a:spcPts val="600"/>
              </a:spcBef>
            </a:pPr>
            <a:r>
              <a:rPr lang="pt-BR" sz="1300" b="1" noProof="0" dirty="0">
                <a:solidFill>
                  <a:srgbClr val="142B45"/>
                </a:solidFill>
                <a:latin typeface="Calibri"/>
              </a:rPr>
              <a:t>↓ Variável resposta anual</a:t>
            </a:r>
          </a:p>
          <a:p>
            <a:pPr algn="l">
              <a:spcBef>
                <a:spcPts val="600"/>
              </a:spcBef>
            </a:pPr>
            <a:r>
              <a:rPr lang="pt-BR" sz="1300" b="1" noProof="0" dirty="0">
                <a:solidFill>
                  <a:srgbClr val="142B45"/>
                </a:solidFill>
                <a:latin typeface="Calibri"/>
              </a:rPr>
              <a:t>↓ Correção CPI Canadá</a:t>
            </a:r>
          </a:p>
          <a:p>
            <a:pPr algn="l">
              <a:spcBef>
                <a:spcPts val="600"/>
              </a:spcBef>
            </a:pPr>
            <a:r>
              <a:rPr lang="pt-BR" sz="1300" b="1" noProof="0" dirty="0">
                <a:solidFill>
                  <a:srgbClr val="142B45"/>
                </a:solidFill>
                <a:latin typeface="Calibri"/>
              </a:rPr>
              <a:t>↓ EDA (uni/bivariada)</a:t>
            </a:r>
          </a:p>
          <a:p>
            <a:pPr algn="l">
              <a:spcBef>
                <a:spcPts val="600"/>
              </a:spcBef>
            </a:pPr>
            <a:r>
              <a:rPr lang="pt-BR" sz="1300" b="1" noProof="0" dirty="0">
                <a:solidFill>
                  <a:srgbClr val="142B45"/>
                </a:solidFill>
                <a:latin typeface="Calibri"/>
              </a:rPr>
              <a:t>↓ Correlação e testes</a:t>
            </a:r>
          </a:p>
          <a:p>
            <a:pPr algn="l">
              <a:spcBef>
                <a:spcPts val="600"/>
              </a:spcBef>
            </a:pPr>
            <a:r>
              <a:rPr lang="pt-BR" sz="1300" b="1" noProof="0" dirty="0">
                <a:solidFill>
                  <a:srgbClr val="142B45"/>
                </a:solidFill>
                <a:latin typeface="Calibri"/>
              </a:rPr>
              <a:t>↓ Multicolinearidade/VIF</a:t>
            </a:r>
          </a:p>
          <a:p>
            <a:pPr algn="l">
              <a:spcBef>
                <a:spcPts val="600"/>
              </a:spcBef>
            </a:pPr>
            <a:r>
              <a:rPr lang="pt-BR" sz="1300" b="1" noProof="0" dirty="0">
                <a:solidFill>
                  <a:srgbClr val="142B45"/>
                </a:solidFill>
                <a:latin typeface="Calibri"/>
              </a:rPr>
              <a:t>↓ Ranking</a:t>
            </a:r>
          </a:p>
          <a:p>
            <a:pPr algn="l">
              <a:spcBef>
                <a:spcPts val="600"/>
              </a:spcBef>
            </a:pPr>
            <a:r>
              <a:rPr lang="pt-BR" sz="1300" b="1" noProof="0" dirty="0">
                <a:solidFill>
                  <a:srgbClr val="142B45"/>
                </a:solidFill>
                <a:latin typeface="Calibri"/>
              </a:rPr>
              <a:t>↓ Seleção de variáveis</a:t>
            </a:r>
          </a:p>
          <a:p>
            <a:pPr algn="l">
              <a:spcBef>
                <a:spcPts val="600"/>
              </a:spcBef>
            </a:pPr>
            <a:r>
              <a:rPr lang="pt-BR" sz="1300" b="1" noProof="0" dirty="0">
                <a:solidFill>
                  <a:schemeClr val="accent5">
                    <a:lumMod val="75000"/>
                  </a:schemeClr>
                </a:solidFill>
                <a:latin typeface="Calibri"/>
              </a:rPr>
              <a:t>↓ Modelagem (</a:t>
            </a:r>
            <a:r>
              <a:rPr lang="pt-BR" sz="1300" b="1" noProof="0" dirty="0" err="1">
                <a:solidFill>
                  <a:schemeClr val="accent5">
                    <a:lumMod val="75000"/>
                  </a:schemeClr>
                </a:solidFill>
                <a:latin typeface="Calibri"/>
              </a:rPr>
              <a:t>estat.+ML</a:t>
            </a:r>
            <a:r>
              <a:rPr lang="pt-BR" sz="1300" b="1" noProof="0" dirty="0">
                <a:solidFill>
                  <a:schemeClr val="accent5">
                    <a:lumMod val="75000"/>
                  </a:schemeClr>
                </a:solidFill>
                <a:latin typeface="Calibri"/>
              </a:rPr>
              <a:t>)*</a:t>
            </a:r>
          </a:p>
          <a:p>
            <a:pPr algn="l">
              <a:spcBef>
                <a:spcPts val="600"/>
              </a:spcBef>
            </a:pPr>
            <a:r>
              <a:rPr lang="pt-BR" sz="1300" b="1" noProof="0" dirty="0">
                <a:solidFill>
                  <a:schemeClr val="accent5">
                    <a:lumMod val="75000"/>
                  </a:schemeClr>
                </a:solidFill>
                <a:latin typeface="Calibri"/>
              </a:rPr>
              <a:t>↓ Avaliação / discussão*</a:t>
            </a:r>
            <a:endParaRPr lang="pt-BR" sz="1300" b="1" dirty="0">
              <a:solidFill>
                <a:schemeClr val="accent5">
                  <a:lumMod val="75000"/>
                </a:schemeClr>
              </a:solidFill>
              <a:latin typeface="Calibri"/>
            </a:endParaRPr>
          </a:p>
          <a:p>
            <a:pPr algn="l">
              <a:spcBef>
                <a:spcPts val="600"/>
              </a:spcBef>
            </a:pPr>
            <a:r>
              <a:rPr lang="pt-BR" sz="1100" b="1" i="1" noProof="0" dirty="0">
                <a:solidFill>
                  <a:schemeClr val="accent5">
                    <a:lumMod val="75000"/>
                  </a:schemeClr>
                </a:solidFill>
                <a:latin typeface="Calibri"/>
              </a:rPr>
              <a:t>✓ concluído na Fase 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46304" cy="822960"/>
          </a:xfrm>
          <a:prstGeom prst="rect">
            <a:avLst/>
          </a:prstGeom>
          <a:solidFill>
            <a:srgbClr val="E87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1200" b="1" noProof="0" dirty="0">
                <a:solidFill>
                  <a:srgbClr val="E8713A"/>
                </a:solidFill>
                <a:latin typeface="Calibri"/>
              </a:rPr>
              <a:t>06 · VARIÁVEL RESPOSTA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78992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2700" b="1" noProof="0" dirty="0" err="1">
                <a:solidFill>
                  <a:srgbClr val="142B45"/>
                </a:solidFill>
                <a:latin typeface="Calibri"/>
              </a:rPr>
              <a:t>Y</a:t>
            </a:r>
            <a:r>
              <a:rPr lang="pt-BR" sz="2700" b="1" noProof="0" dirty="0">
                <a:solidFill>
                  <a:srgbClr val="142B45"/>
                </a:solidFill>
                <a:latin typeface="Calibri"/>
              </a:rPr>
              <a:t> = custo anual de manutenção por carreta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737360"/>
            <a:ext cx="10515600" cy="1051560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1097280" y="1874519"/>
            <a:ext cx="1005840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1700" b="1" noProof="0" dirty="0" err="1">
                <a:solidFill>
                  <a:srgbClr val="FFFFFF"/>
                </a:solidFill>
                <a:latin typeface="Calibri"/>
              </a:rPr>
              <a:t>Y</a:t>
            </a:r>
            <a:r>
              <a:rPr lang="pt-BR" sz="1700" b="1" noProof="0" dirty="0">
                <a:solidFill>
                  <a:srgbClr val="FFFFFF"/>
                </a:solidFill>
                <a:latin typeface="Calibri"/>
              </a:rPr>
              <a:t> = soma do custo interno da carreta no ano (CAD), deflacionado pelo CPI Canada (dez/2025)</a:t>
            </a:r>
          </a:p>
          <a:p>
            <a:pPr algn="l"/>
            <a:r>
              <a:rPr lang="pt-BR" sz="1700" b="1" noProof="0" dirty="0">
                <a:solidFill>
                  <a:srgbClr val="FFFFFF"/>
                </a:solidFill>
                <a:latin typeface="Calibri"/>
              </a:rPr>
              <a:t>Grão: carreta × ano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017520"/>
            <a:ext cx="10607040" cy="1184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pt-BR" sz="1400" noProof="0" dirty="0">
                <a:solidFill>
                  <a:srgbClr val="1C2433"/>
                </a:solidFill>
                <a:latin typeface="Calibri"/>
              </a:rPr>
              <a:t>•  Média CAD $ 1669.18/ano · mediana CAD $ 812.26/ano · p90 CAD $ 4208.49.</a:t>
            </a:r>
          </a:p>
          <a:p>
            <a:pPr>
              <a:spcAft>
                <a:spcPts val="600"/>
              </a:spcAft>
            </a:pPr>
            <a:r>
              <a:rPr lang="pt-BR" sz="1400" noProof="0" dirty="0">
                <a:solidFill>
                  <a:srgbClr val="1C2433"/>
                </a:solidFill>
                <a:latin typeface="Calibri"/>
              </a:rPr>
              <a:t>•  Assimetria 3.82 (cauda longa), tratada por log1p e modelos robustos.</a:t>
            </a:r>
          </a:p>
          <a:p>
            <a:pPr>
              <a:spcAft>
                <a:spcPts val="600"/>
              </a:spcAft>
            </a:pPr>
            <a:r>
              <a:rPr lang="pt-BR" sz="1400" noProof="0" dirty="0">
                <a:solidFill>
                  <a:srgbClr val="1C2433"/>
                </a:solidFill>
                <a:latin typeface="Calibri"/>
              </a:rPr>
              <a:t>•  Apenas 3.13% de carreta-anos com custo zero: o grão anual praticamente elimina a zero-inflação.</a:t>
            </a:r>
          </a:p>
          <a:p>
            <a:pPr>
              <a:spcAft>
                <a:spcPts val="600"/>
              </a:spcAft>
            </a:pPr>
            <a:r>
              <a:rPr lang="pt-BR" sz="1400" noProof="0" dirty="0">
                <a:solidFill>
                  <a:srgbClr val="1C2433"/>
                </a:solidFill>
                <a:latin typeface="Calibri"/>
              </a:rPr>
              <a:t>•  Custo interno total: CAD $ 74.617 mi nominal / CAD $ 79.645 mi real (dez/2025).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46304" cy="822960"/>
          </a:xfrm>
          <a:prstGeom prst="rect">
            <a:avLst/>
          </a:prstGeom>
          <a:solidFill>
            <a:srgbClr val="E87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1200" b="1" noProof="0" dirty="0">
                <a:solidFill>
                  <a:srgbClr val="E8713A"/>
                </a:solidFill>
                <a:latin typeface="Calibri"/>
              </a:rPr>
              <a:t>07 · CORREÇÃO PELA INFLAÇÃO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78992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2700" b="1" noProof="0" dirty="0">
                <a:solidFill>
                  <a:srgbClr val="142B45"/>
                </a:solidFill>
                <a:latin typeface="Calibri"/>
              </a:rPr>
              <a:t>Custos reais pelo CPI do Canadá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5120640" cy="170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pt-BR" sz="1500" noProof="0" dirty="0">
                <a:solidFill>
                  <a:srgbClr val="1C2433"/>
                </a:solidFill>
                <a:latin typeface="Calibri"/>
              </a:rPr>
              <a:t>•  Todos os custos em CAD, corrigidos pelo CPI </a:t>
            </a:r>
            <a:r>
              <a:rPr lang="pt-BR" sz="1500" noProof="0" dirty="0" err="1">
                <a:solidFill>
                  <a:srgbClr val="1C2433"/>
                </a:solidFill>
                <a:latin typeface="Calibri"/>
              </a:rPr>
              <a:t>all-items</a:t>
            </a:r>
            <a:r>
              <a:rPr lang="pt-BR" sz="1500" noProof="0" dirty="0">
                <a:solidFill>
                  <a:srgbClr val="1C2433"/>
                </a:solidFill>
                <a:latin typeface="Calibri"/>
              </a:rPr>
              <a:t> do Canada (</a:t>
            </a:r>
            <a:r>
              <a:rPr lang="pt-BR" sz="1500" noProof="0" dirty="0" err="1">
                <a:solidFill>
                  <a:srgbClr val="1C2433"/>
                </a:solidFill>
                <a:latin typeface="Calibri"/>
              </a:rPr>
              <a:t>StatCan</a:t>
            </a:r>
            <a:r>
              <a:rPr lang="pt-BR" sz="1500" noProof="0" dirty="0">
                <a:solidFill>
                  <a:srgbClr val="1C2433"/>
                </a:solidFill>
                <a:latin typeface="Calibri"/>
              </a:rPr>
              <a:t>, vetor v41690973).</a:t>
            </a:r>
          </a:p>
          <a:p>
            <a:pPr>
              <a:spcAft>
                <a:spcPts val="600"/>
              </a:spcAft>
            </a:pPr>
            <a:r>
              <a:rPr lang="pt-BR" sz="1500" noProof="0" dirty="0">
                <a:solidFill>
                  <a:srgbClr val="1C2433"/>
                </a:solidFill>
                <a:latin typeface="Calibri"/>
              </a:rPr>
              <a:t>•  Base de comparação: dezembro de 2025.</a:t>
            </a:r>
          </a:p>
          <a:p>
            <a:pPr>
              <a:spcAft>
                <a:spcPts val="600"/>
              </a:spcAft>
            </a:pPr>
            <a:r>
              <a:rPr lang="pt-BR" sz="1500" noProof="0" dirty="0">
                <a:solidFill>
                  <a:srgbClr val="1C2433"/>
                </a:solidFill>
                <a:latin typeface="Calibri"/>
              </a:rPr>
              <a:t>•  Inflação acumulada no período: ~20% (2020→2025).</a:t>
            </a:r>
          </a:p>
          <a:p>
            <a:pPr>
              <a:spcAft>
                <a:spcPts val="600"/>
              </a:spcAft>
            </a:pPr>
            <a:r>
              <a:rPr lang="pt-BR" sz="1500" noProof="0" dirty="0">
                <a:solidFill>
                  <a:srgbClr val="1C2433"/>
                </a:solidFill>
                <a:latin typeface="Calibri"/>
              </a:rPr>
              <a:t>•  A correção isola mudanças REAIS de custo da mera perda do poder de compra.</a:t>
            </a:r>
          </a:p>
        </p:txBody>
      </p:sp>
      <p:pic>
        <p:nvPicPr>
          <p:cNvPr id="7" name="Picture 6" descr="04_nominal_vs_deflacion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737360"/>
            <a:ext cx="548640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46304" cy="822960"/>
          </a:xfrm>
          <a:prstGeom prst="rect">
            <a:avLst/>
          </a:prstGeom>
          <a:solidFill>
            <a:srgbClr val="E87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b="1" noProof="0" dirty="0">
                <a:solidFill>
                  <a:srgbClr val="E8713A"/>
                </a:solidFill>
              </a:rPr>
              <a:t>08 · VARIÁVEIS</a:t>
            </a:r>
            <a:endParaRPr lang="pt-BR" sz="1200" b="1" noProof="0" dirty="0">
              <a:solidFill>
                <a:srgbClr val="E8713A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78992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2700" b="1" noProof="0" dirty="0">
                <a:solidFill>
                  <a:srgbClr val="142B45"/>
                </a:solidFill>
                <a:latin typeface="Calibri"/>
              </a:rPr>
              <a:t>Dicionário das variáveis candidatas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98448"/>
            <a:ext cx="106070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sz="1100" b="0" noProof="0" dirty="0">
                <a:solidFill>
                  <a:srgbClr val="5B636E"/>
                </a:solidFill>
                <a:latin typeface="Calibri"/>
              </a:rPr>
              <a:t>São 29 colunas na fonte única, já incluindo o bloco de contrato. A tabela lista ainda id, ano, o alvo Y e os 2 componentes de Y (n_os_ano, </a:t>
            </a:r>
            <a:r>
              <a:rPr lang="pt-BR" sz="1100" b="0" noProof="0" dirty="0" err="1">
                <a:solidFill>
                  <a:srgbClr val="5B636E"/>
                </a:solidFill>
                <a:latin typeface="Calibri"/>
              </a:rPr>
              <a:t>custo_medio_por_os_ano</a:t>
            </a:r>
            <a:r>
              <a:rPr lang="pt-BR" sz="1100" b="0" noProof="0" dirty="0">
                <a:solidFill>
                  <a:srgbClr val="5B636E"/>
                </a:solidFill>
                <a:latin typeface="Calibri"/>
              </a:rPr>
              <a:t>).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6242547"/>
              </p:ext>
            </p:extLst>
          </p:nvPr>
        </p:nvGraphicFramePr>
        <p:xfrm>
          <a:off x="640080" y="1783080"/>
          <a:ext cx="539496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7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97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pt-BR" sz="1000" b="1" noProof="0" dirty="0">
                          <a:solidFill>
                            <a:srgbClr val="FFFFFF"/>
                          </a:solidFill>
                        </a:rPr>
                        <a:t>variável</a:t>
                      </a: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b="1" noProof="0" dirty="0">
                          <a:solidFill>
                            <a:srgbClr val="FFFFFF"/>
                          </a:solidFill>
                        </a:rPr>
                        <a:t>tipo / papel</a:t>
                      </a: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id_carreta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ano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temporal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custo_ano_real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Y (resposta, CAD real)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n_os_ano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componente de Y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custo_medio_por_os_ano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componente de 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n_sistemas_vmrs_distintos_ano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operacional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share_pm_ano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operacional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vmrs_predominante_ano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operacional (cat.)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km_acumulado_fim_ano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exposição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km_rodado_ano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exposição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regiao_operacao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geográfica (cat.)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provincia_estado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geográfica (cat.)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cod_montadora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ativo (cat.)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descricao_carreta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ativo (cat.)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ano_modelo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ativo (quant.)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251697"/>
                  </a:ext>
                </a:extLst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7572767"/>
              </p:ext>
            </p:extLst>
          </p:nvPr>
        </p:nvGraphicFramePr>
        <p:xfrm>
          <a:off x="6217920" y="1783080"/>
          <a:ext cx="539496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7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97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pt-BR" sz="1000" b="1" noProof="0" dirty="0">
                          <a:solidFill>
                            <a:srgbClr val="FFFFFF"/>
                          </a:solidFill>
                        </a:rPr>
                        <a:t>variável</a:t>
                      </a: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b="1" noProof="0" dirty="0">
                          <a:solidFill>
                            <a:srgbClr val="FFFFFF"/>
                          </a:solidFill>
                        </a:rPr>
                        <a:t>tipo / papel</a:t>
                      </a: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eixos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ativo (quant.)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comprimento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ativo (quant.)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flag_refrigerado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ativo (cat.)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unit_subtype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ativo (cat.)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tire_size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ativo (cat.)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suspension_type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ativo (cat.)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new_used_indicator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ativo (cat.)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tailgate_flag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ativo (cat.)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idade_carreta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ativo derivada (quant.)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custo_ano_anterior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histórico defasado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n_os_ano_anterior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histórico defasado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custo_acum_ate_ano_anterior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histórico defasado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n_os_acum_ate_ano_anterior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histórico defasado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41692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anos_ativo_ate_ano_anterior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histórico defasado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41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>
                          <a:solidFill>
                            <a:srgbClr val="1C2433"/>
                          </a:solidFill>
                        </a:rPr>
                        <a:t>km_acumulado_inicio_ano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hist. defasado (preditivo)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231154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6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46304" cy="822960"/>
          </a:xfrm>
          <a:prstGeom prst="rect">
            <a:avLst/>
          </a:prstGeom>
          <a:solidFill>
            <a:srgbClr val="E87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b="1" noProof="0" dirty="0">
                <a:solidFill>
                  <a:srgbClr val="E8713A"/>
                </a:solidFill>
              </a:rPr>
              <a:t>08 · VARIÁVEIS</a:t>
            </a:r>
            <a:endParaRPr lang="pt-BR" sz="1200" b="1" noProof="0" dirty="0">
              <a:solidFill>
                <a:srgbClr val="E8713A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78992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2700" b="1" noProof="0" dirty="0">
                <a:solidFill>
                  <a:srgbClr val="142B45"/>
                </a:solidFill>
                <a:latin typeface="Calibri"/>
              </a:rPr>
              <a:t>Descrição das variáveis candidatas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5349240" cy="4526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Bef>
                <a:spcPts val="600"/>
              </a:spcBef>
              <a:spcAft>
                <a:spcPts val="300"/>
              </a:spcAft>
            </a:pPr>
            <a:r>
              <a:rPr sz="1600" b="1" dirty="0" err="1">
                <a:solidFill>
                  <a:srgbClr val="142B45"/>
                </a:solidFill>
                <a:latin typeface="Calibri"/>
              </a:rPr>
              <a:t>Atributos</a:t>
            </a:r>
            <a:r>
              <a:rPr sz="1600" b="1" dirty="0">
                <a:solidFill>
                  <a:srgbClr val="142B45"/>
                </a:solidFill>
                <a:latin typeface="Calibri"/>
              </a:rPr>
              <a:t> do </a:t>
            </a:r>
            <a:r>
              <a:rPr sz="1600" b="1" dirty="0" err="1">
                <a:solidFill>
                  <a:srgbClr val="142B45"/>
                </a:solidFill>
                <a:latin typeface="Calibri"/>
              </a:rPr>
              <a:t>ativo</a:t>
            </a:r>
            <a:r>
              <a:rPr sz="1600" b="1" dirty="0">
                <a:solidFill>
                  <a:srgbClr val="142B45"/>
                </a:solidFill>
                <a:latin typeface="Calibri"/>
              </a:rPr>
              <a:t> </a:t>
            </a:r>
            <a:endParaRPr lang="pt-BR" sz="1600" b="1" dirty="0">
              <a:solidFill>
                <a:srgbClr val="142B45"/>
              </a:solidFill>
              <a:latin typeface="Calibri"/>
            </a:endParaRPr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sz="1200" b="1" dirty="0" err="1">
                <a:solidFill>
                  <a:srgbClr val="142B45"/>
                </a:solidFill>
                <a:latin typeface="Calibri"/>
              </a:rPr>
              <a:t>cod_montadora</a:t>
            </a:r>
            <a:r>
              <a:rPr sz="1200" dirty="0">
                <a:solidFill>
                  <a:srgbClr val="5B636E"/>
                </a:solidFill>
                <a:latin typeface="Calibri"/>
              </a:rPr>
              <a:t> — </a:t>
            </a:r>
            <a:r>
              <a:rPr sz="1200" dirty="0" err="1">
                <a:solidFill>
                  <a:srgbClr val="5B636E"/>
                </a:solidFill>
                <a:latin typeface="Calibri"/>
              </a:rPr>
              <a:t>fabricante</a:t>
            </a:r>
            <a:r>
              <a:rPr sz="1200" dirty="0">
                <a:solidFill>
                  <a:srgbClr val="5B636E"/>
                </a:solidFill>
                <a:latin typeface="Calibri"/>
              </a:rPr>
              <a:t> da carreta</a:t>
            </a:r>
          </a:p>
          <a:p>
            <a:pPr>
              <a:spcAft>
                <a:spcPts val="200"/>
              </a:spcAft>
            </a:pPr>
            <a:r>
              <a:rPr sz="1200" b="1" dirty="0" err="1">
                <a:solidFill>
                  <a:srgbClr val="142B45"/>
                </a:solidFill>
                <a:latin typeface="Calibri"/>
              </a:rPr>
              <a:t>ano_modelo</a:t>
            </a:r>
            <a:r>
              <a:rPr sz="1200" dirty="0">
                <a:solidFill>
                  <a:srgbClr val="5B636E"/>
                </a:solidFill>
                <a:latin typeface="Calibri"/>
              </a:rPr>
              <a:t> — </a:t>
            </a:r>
            <a:r>
              <a:rPr sz="1200" dirty="0" err="1">
                <a:solidFill>
                  <a:srgbClr val="5B636E"/>
                </a:solidFill>
                <a:latin typeface="Calibri"/>
              </a:rPr>
              <a:t>geração</a:t>
            </a:r>
            <a:r>
              <a:rPr sz="1200" dirty="0">
                <a:solidFill>
                  <a:srgbClr val="5B636E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5B636E"/>
                </a:solidFill>
                <a:latin typeface="Calibri"/>
              </a:rPr>
              <a:t>tecnológica</a:t>
            </a:r>
            <a:r>
              <a:rPr sz="1200" dirty="0">
                <a:solidFill>
                  <a:srgbClr val="5B636E"/>
                </a:solidFill>
                <a:latin typeface="Calibri"/>
              </a:rPr>
              <a:t> do </a:t>
            </a:r>
            <a:r>
              <a:rPr sz="1200" dirty="0" err="1">
                <a:solidFill>
                  <a:srgbClr val="5B636E"/>
                </a:solidFill>
                <a:latin typeface="Calibri"/>
              </a:rPr>
              <a:t>ativo</a:t>
            </a:r>
            <a:endParaRPr sz="1200" dirty="0">
              <a:solidFill>
                <a:srgbClr val="5B636E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1" dirty="0" err="1">
                <a:solidFill>
                  <a:srgbClr val="142B45"/>
                </a:solidFill>
                <a:latin typeface="Calibri"/>
              </a:rPr>
              <a:t>eixos</a:t>
            </a:r>
            <a:r>
              <a:rPr sz="1200" dirty="0">
                <a:solidFill>
                  <a:srgbClr val="5B636E"/>
                </a:solidFill>
                <a:latin typeface="Calibri"/>
              </a:rPr>
              <a:t> — </a:t>
            </a:r>
            <a:r>
              <a:rPr sz="1200" dirty="0" err="1">
                <a:solidFill>
                  <a:srgbClr val="5B636E"/>
                </a:solidFill>
                <a:latin typeface="Calibri"/>
              </a:rPr>
              <a:t>configuração</a:t>
            </a:r>
            <a:r>
              <a:rPr sz="1200" dirty="0">
                <a:solidFill>
                  <a:srgbClr val="5B636E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5B636E"/>
                </a:solidFill>
                <a:latin typeface="Calibri"/>
              </a:rPr>
              <a:t>estrutural</a:t>
            </a:r>
            <a:r>
              <a:rPr sz="1200" dirty="0">
                <a:solidFill>
                  <a:srgbClr val="5B636E"/>
                </a:solidFill>
                <a:latin typeface="Calibri"/>
              </a:rPr>
              <a:t> (nº de </a:t>
            </a:r>
            <a:r>
              <a:rPr sz="1200" dirty="0" err="1">
                <a:solidFill>
                  <a:srgbClr val="5B636E"/>
                </a:solidFill>
                <a:latin typeface="Calibri"/>
              </a:rPr>
              <a:t>eixos</a:t>
            </a:r>
            <a:r>
              <a:rPr sz="1200" dirty="0">
                <a:solidFill>
                  <a:srgbClr val="5B636E"/>
                </a:solidFill>
                <a:latin typeface="Calibri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200" b="1" dirty="0" err="1">
                <a:solidFill>
                  <a:srgbClr val="142B45"/>
                </a:solidFill>
                <a:latin typeface="Calibri"/>
              </a:rPr>
              <a:t>comprimento</a:t>
            </a:r>
            <a:r>
              <a:rPr sz="1200" dirty="0">
                <a:solidFill>
                  <a:srgbClr val="5B636E"/>
                </a:solidFill>
                <a:latin typeface="Calibri"/>
              </a:rPr>
              <a:t> — </a:t>
            </a:r>
            <a:r>
              <a:rPr sz="1200" dirty="0" err="1">
                <a:solidFill>
                  <a:srgbClr val="5B636E"/>
                </a:solidFill>
                <a:latin typeface="Calibri"/>
              </a:rPr>
              <a:t>porte</a:t>
            </a:r>
            <a:r>
              <a:rPr sz="1200" dirty="0">
                <a:solidFill>
                  <a:srgbClr val="5B636E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5B636E"/>
                </a:solidFill>
                <a:latin typeface="Calibri"/>
              </a:rPr>
              <a:t>físico</a:t>
            </a:r>
            <a:r>
              <a:rPr sz="1200" dirty="0">
                <a:solidFill>
                  <a:srgbClr val="5B636E"/>
                </a:solidFill>
                <a:latin typeface="Calibri"/>
              </a:rPr>
              <a:t> (</a:t>
            </a:r>
            <a:r>
              <a:rPr sz="1200" dirty="0" err="1">
                <a:solidFill>
                  <a:srgbClr val="5B636E"/>
                </a:solidFill>
                <a:latin typeface="Calibri"/>
              </a:rPr>
              <a:t>pés</a:t>
            </a:r>
            <a:r>
              <a:rPr sz="1200" dirty="0">
                <a:solidFill>
                  <a:srgbClr val="5B636E"/>
                </a:solidFill>
                <a:latin typeface="Calibri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200" b="1" dirty="0" err="1">
                <a:solidFill>
                  <a:srgbClr val="142B45"/>
                </a:solidFill>
                <a:latin typeface="Calibri"/>
              </a:rPr>
              <a:t>flag_refrigerado</a:t>
            </a:r>
            <a:r>
              <a:rPr sz="1200" dirty="0">
                <a:solidFill>
                  <a:srgbClr val="5B636E"/>
                </a:solidFill>
                <a:latin typeface="Calibri"/>
              </a:rPr>
              <a:t> — </a:t>
            </a:r>
            <a:r>
              <a:rPr sz="1200" dirty="0" err="1">
                <a:solidFill>
                  <a:srgbClr val="5B636E"/>
                </a:solidFill>
                <a:latin typeface="Calibri"/>
              </a:rPr>
              <a:t>refrigerada</a:t>
            </a:r>
            <a:r>
              <a:rPr sz="1200" dirty="0">
                <a:solidFill>
                  <a:srgbClr val="5B636E"/>
                </a:solidFill>
                <a:latin typeface="Calibri"/>
              </a:rPr>
              <a:t> (reefer) × </a:t>
            </a:r>
            <a:r>
              <a:rPr sz="1200" dirty="0" err="1">
                <a:solidFill>
                  <a:srgbClr val="5B636E"/>
                </a:solidFill>
                <a:latin typeface="Calibri"/>
              </a:rPr>
              <a:t>seca</a:t>
            </a:r>
            <a:endParaRPr sz="1200" dirty="0">
              <a:solidFill>
                <a:srgbClr val="5B636E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1" dirty="0" err="1">
                <a:solidFill>
                  <a:srgbClr val="142B45"/>
                </a:solidFill>
                <a:latin typeface="Calibri"/>
              </a:rPr>
              <a:t>unit_subtype</a:t>
            </a:r>
            <a:r>
              <a:rPr sz="1200" dirty="0">
                <a:solidFill>
                  <a:srgbClr val="5B636E"/>
                </a:solidFill>
                <a:latin typeface="Calibri"/>
              </a:rPr>
              <a:t> — </a:t>
            </a:r>
            <a:r>
              <a:rPr sz="1200" dirty="0" err="1">
                <a:solidFill>
                  <a:srgbClr val="5B636E"/>
                </a:solidFill>
                <a:latin typeface="Calibri"/>
              </a:rPr>
              <a:t>subtipo</a:t>
            </a:r>
            <a:r>
              <a:rPr sz="1200" dirty="0">
                <a:solidFill>
                  <a:srgbClr val="5B636E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5B636E"/>
                </a:solidFill>
                <a:latin typeface="Calibri"/>
              </a:rPr>
              <a:t>operacional</a:t>
            </a:r>
            <a:r>
              <a:rPr sz="1200" dirty="0">
                <a:solidFill>
                  <a:srgbClr val="5B636E"/>
                </a:solidFill>
                <a:latin typeface="Calibri"/>
              </a:rPr>
              <a:t> da </a:t>
            </a:r>
            <a:r>
              <a:rPr sz="1200" dirty="0" err="1">
                <a:solidFill>
                  <a:srgbClr val="5B636E"/>
                </a:solidFill>
                <a:latin typeface="Calibri"/>
              </a:rPr>
              <a:t>unidade</a:t>
            </a:r>
            <a:endParaRPr sz="1200" dirty="0">
              <a:solidFill>
                <a:srgbClr val="5B636E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1" dirty="0" err="1">
                <a:solidFill>
                  <a:srgbClr val="142B45"/>
                </a:solidFill>
                <a:latin typeface="Calibri"/>
              </a:rPr>
              <a:t>tire_size</a:t>
            </a:r>
            <a:r>
              <a:rPr sz="1200" dirty="0">
                <a:solidFill>
                  <a:srgbClr val="5B636E"/>
                </a:solidFill>
                <a:latin typeface="Calibri"/>
              </a:rPr>
              <a:t> — </a:t>
            </a:r>
            <a:r>
              <a:rPr sz="1200" dirty="0" err="1">
                <a:solidFill>
                  <a:srgbClr val="5B636E"/>
                </a:solidFill>
                <a:latin typeface="Calibri"/>
              </a:rPr>
              <a:t>dimensão</a:t>
            </a:r>
            <a:r>
              <a:rPr sz="1200" dirty="0">
                <a:solidFill>
                  <a:srgbClr val="5B636E"/>
                </a:solidFill>
                <a:latin typeface="Calibri"/>
              </a:rPr>
              <a:t> dos </a:t>
            </a:r>
            <a:r>
              <a:rPr sz="1200" dirty="0" err="1">
                <a:solidFill>
                  <a:srgbClr val="5B636E"/>
                </a:solidFill>
                <a:latin typeface="Calibri"/>
              </a:rPr>
              <a:t>pneus</a:t>
            </a:r>
            <a:endParaRPr sz="1200" dirty="0">
              <a:solidFill>
                <a:srgbClr val="5B636E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1" dirty="0" err="1">
                <a:solidFill>
                  <a:srgbClr val="142B45"/>
                </a:solidFill>
                <a:latin typeface="Calibri"/>
              </a:rPr>
              <a:t>suspension_type</a:t>
            </a:r>
            <a:r>
              <a:rPr sz="1200" dirty="0">
                <a:solidFill>
                  <a:srgbClr val="5B636E"/>
                </a:solidFill>
                <a:latin typeface="Calibri"/>
              </a:rPr>
              <a:t> — </a:t>
            </a:r>
            <a:r>
              <a:rPr sz="1200" dirty="0" err="1">
                <a:solidFill>
                  <a:srgbClr val="5B636E"/>
                </a:solidFill>
                <a:latin typeface="Calibri"/>
              </a:rPr>
              <a:t>tipo</a:t>
            </a:r>
            <a:r>
              <a:rPr sz="1200" dirty="0">
                <a:solidFill>
                  <a:srgbClr val="5B636E"/>
                </a:solidFill>
                <a:latin typeface="Calibri"/>
              </a:rPr>
              <a:t> de </a:t>
            </a:r>
            <a:r>
              <a:rPr sz="1200" dirty="0" err="1">
                <a:solidFill>
                  <a:srgbClr val="5B636E"/>
                </a:solidFill>
                <a:latin typeface="Calibri"/>
              </a:rPr>
              <a:t>suspensão</a:t>
            </a:r>
            <a:endParaRPr sz="1200" dirty="0">
              <a:solidFill>
                <a:srgbClr val="5B636E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1" dirty="0" err="1">
                <a:solidFill>
                  <a:srgbClr val="142B45"/>
                </a:solidFill>
                <a:latin typeface="Calibri"/>
              </a:rPr>
              <a:t>new_used_indicator</a:t>
            </a:r>
            <a:r>
              <a:rPr sz="1200" dirty="0">
                <a:solidFill>
                  <a:srgbClr val="5B636E"/>
                </a:solidFill>
                <a:latin typeface="Calibri"/>
              </a:rPr>
              <a:t> — nova </a:t>
            </a:r>
            <a:r>
              <a:rPr sz="1200" dirty="0" err="1">
                <a:solidFill>
                  <a:srgbClr val="5B636E"/>
                </a:solidFill>
                <a:latin typeface="Calibri"/>
              </a:rPr>
              <a:t>ou</a:t>
            </a:r>
            <a:r>
              <a:rPr sz="1200" dirty="0">
                <a:solidFill>
                  <a:srgbClr val="5B636E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5B636E"/>
                </a:solidFill>
                <a:latin typeface="Calibri"/>
              </a:rPr>
              <a:t>usada</a:t>
            </a:r>
            <a:r>
              <a:rPr sz="1200" dirty="0">
                <a:solidFill>
                  <a:srgbClr val="5B636E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5B636E"/>
                </a:solidFill>
                <a:latin typeface="Calibri"/>
              </a:rPr>
              <a:t>na</a:t>
            </a:r>
            <a:r>
              <a:rPr sz="1200" dirty="0">
                <a:solidFill>
                  <a:srgbClr val="5B636E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5B636E"/>
                </a:solidFill>
                <a:latin typeface="Calibri"/>
              </a:rPr>
              <a:t>aquisição</a:t>
            </a:r>
            <a:endParaRPr sz="1200" dirty="0">
              <a:solidFill>
                <a:srgbClr val="5B636E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1" dirty="0" err="1">
                <a:solidFill>
                  <a:srgbClr val="142B45"/>
                </a:solidFill>
                <a:latin typeface="Calibri"/>
              </a:rPr>
              <a:t>descricao_carreta</a:t>
            </a:r>
            <a:r>
              <a:rPr sz="1200" dirty="0">
                <a:solidFill>
                  <a:srgbClr val="5B636E"/>
                </a:solidFill>
                <a:latin typeface="Calibri"/>
              </a:rPr>
              <a:t> — </a:t>
            </a:r>
            <a:r>
              <a:rPr sz="1200" dirty="0" err="1">
                <a:solidFill>
                  <a:srgbClr val="5B636E"/>
                </a:solidFill>
                <a:latin typeface="Calibri"/>
              </a:rPr>
              <a:t>tipo</a:t>
            </a:r>
            <a:r>
              <a:rPr sz="1200" dirty="0">
                <a:solidFill>
                  <a:srgbClr val="5B636E"/>
                </a:solidFill>
                <a:latin typeface="Calibri"/>
              </a:rPr>
              <a:t>/</a:t>
            </a:r>
            <a:r>
              <a:rPr sz="1200" dirty="0" err="1">
                <a:solidFill>
                  <a:srgbClr val="5B636E"/>
                </a:solidFill>
                <a:latin typeface="Calibri"/>
              </a:rPr>
              <a:t>classe</a:t>
            </a:r>
            <a:r>
              <a:rPr sz="1200" dirty="0">
                <a:solidFill>
                  <a:srgbClr val="5B636E"/>
                </a:solidFill>
                <a:latin typeface="Calibri"/>
              </a:rPr>
              <a:t> da </a:t>
            </a:r>
            <a:r>
              <a:rPr sz="1200" dirty="0" err="1">
                <a:solidFill>
                  <a:srgbClr val="5B636E"/>
                </a:solidFill>
                <a:latin typeface="Calibri"/>
              </a:rPr>
              <a:t>unidade</a:t>
            </a:r>
            <a:r>
              <a:rPr sz="1200" dirty="0">
                <a:solidFill>
                  <a:srgbClr val="5B636E"/>
                </a:solidFill>
                <a:latin typeface="Calibri"/>
              </a:rPr>
              <a:t> (proxy de </a:t>
            </a:r>
            <a:r>
              <a:rPr sz="1200" dirty="0" err="1">
                <a:solidFill>
                  <a:srgbClr val="5B636E"/>
                </a:solidFill>
                <a:latin typeface="Calibri"/>
              </a:rPr>
              <a:t>modelo</a:t>
            </a:r>
            <a:r>
              <a:rPr sz="1200" dirty="0">
                <a:solidFill>
                  <a:srgbClr val="5B636E"/>
                </a:solidFill>
                <a:latin typeface="Calibri"/>
              </a:rPr>
              <a:t>)</a:t>
            </a:r>
          </a:p>
          <a:p>
            <a:pPr>
              <a:spcBef>
                <a:spcPts val="600"/>
              </a:spcBef>
              <a:spcAft>
                <a:spcPts val="300"/>
              </a:spcAft>
            </a:pPr>
            <a:endParaRPr lang="pt-BR" sz="1600" b="1" dirty="0">
              <a:solidFill>
                <a:srgbClr val="142B45"/>
              </a:solidFill>
              <a:latin typeface="Calibri"/>
            </a:endParaRPr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sz="1600" b="1" dirty="0">
                <a:solidFill>
                  <a:srgbClr val="142B45"/>
                </a:solidFill>
                <a:latin typeface="Calibri"/>
              </a:rPr>
              <a:t>Geografia e </a:t>
            </a:r>
            <a:r>
              <a:rPr sz="1600" b="1" dirty="0" err="1">
                <a:solidFill>
                  <a:srgbClr val="142B45"/>
                </a:solidFill>
                <a:latin typeface="Calibri"/>
              </a:rPr>
              <a:t>idade</a:t>
            </a:r>
            <a:endParaRPr sz="1600" b="1" dirty="0">
              <a:solidFill>
                <a:srgbClr val="142B4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1" dirty="0" err="1">
                <a:solidFill>
                  <a:srgbClr val="142B45"/>
                </a:solidFill>
                <a:latin typeface="Calibri"/>
              </a:rPr>
              <a:t>idade_carreta</a:t>
            </a:r>
            <a:r>
              <a:rPr sz="1200" dirty="0">
                <a:solidFill>
                  <a:srgbClr val="5B636E"/>
                </a:solidFill>
                <a:latin typeface="Calibri"/>
              </a:rPr>
              <a:t> — </a:t>
            </a:r>
            <a:r>
              <a:rPr sz="1200" dirty="0" err="1">
                <a:solidFill>
                  <a:srgbClr val="5B636E"/>
                </a:solidFill>
                <a:latin typeface="Calibri"/>
              </a:rPr>
              <a:t>anos</a:t>
            </a:r>
            <a:r>
              <a:rPr sz="1200" dirty="0">
                <a:solidFill>
                  <a:srgbClr val="5B636E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5B636E"/>
                </a:solidFill>
                <a:latin typeface="Calibri"/>
              </a:rPr>
              <a:t>desde</a:t>
            </a:r>
            <a:r>
              <a:rPr sz="1200" dirty="0">
                <a:solidFill>
                  <a:srgbClr val="5B636E"/>
                </a:solidFill>
                <a:latin typeface="Calibri"/>
              </a:rPr>
              <a:t> a entrada </a:t>
            </a:r>
            <a:r>
              <a:rPr sz="1200" dirty="0" err="1">
                <a:solidFill>
                  <a:srgbClr val="5B636E"/>
                </a:solidFill>
                <a:latin typeface="Calibri"/>
              </a:rPr>
              <a:t>em</a:t>
            </a:r>
            <a:r>
              <a:rPr sz="1200" dirty="0">
                <a:solidFill>
                  <a:srgbClr val="5B636E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5B636E"/>
                </a:solidFill>
                <a:latin typeface="Calibri"/>
              </a:rPr>
              <a:t>servi</a:t>
            </a:r>
            <a:r>
              <a:rPr lang="en-BR" sz="1200" dirty="0">
                <a:solidFill>
                  <a:srgbClr val="5B636E"/>
                </a:solidFill>
                <a:latin typeface="Calibri"/>
              </a:rPr>
              <a:t>ç</a:t>
            </a:r>
            <a:r>
              <a:rPr sz="1200" dirty="0">
                <a:solidFill>
                  <a:srgbClr val="5B636E"/>
                </a:solidFill>
                <a:latin typeface="Calibri"/>
              </a:rPr>
              <a:t>o</a:t>
            </a:r>
          </a:p>
          <a:p>
            <a:pPr>
              <a:spcAft>
                <a:spcPts val="200"/>
              </a:spcAft>
            </a:pPr>
            <a:r>
              <a:rPr sz="1200" b="1" dirty="0" err="1">
                <a:solidFill>
                  <a:srgbClr val="142B45"/>
                </a:solidFill>
                <a:latin typeface="Calibri"/>
              </a:rPr>
              <a:t>regiao_operacao</a:t>
            </a:r>
            <a:r>
              <a:rPr sz="1200" dirty="0">
                <a:solidFill>
                  <a:srgbClr val="5B636E"/>
                </a:solidFill>
                <a:latin typeface="Calibri"/>
              </a:rPr>
              <a:t> — </a:t>
            </a:r>
            <a:r>
              <a:rPr sz="1200" dirty="0" err="1">
                <a:solidFill>
                  <a:srgbClr val="5B636E"/>
                </a:solidFill>
                <a:latin typeface="Calibri"/>
              </a:rPr>
              <a:t>região</a:t>
            </a:r>
            <a:r>
              <a:rPr sz="1200" dirty="0">
                <a:solidFill>
                  <a:srgbClr val="5B636E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5B636E"/>
                </a:solidFill>
                <a:latin typeface="Calibri"/>
              </a:rPr>
              <a:t>predominante</a:t>
            </a:r>
            <a:r>
              <a:rPr sz="1200" dirty="0">
                <a:solidFill>
                  <a:srgbClr val="5B636E"/>
                </a:solidFill>
                <a:latin typeface="Calibri"/>
              </a:rPr>
              <a:t> de </a:t>
            </a:r>
            <a:r>
              <a:rPr sz="1200" dirty="0" err="1">
                <a:solidFill>
                  <a:srgbClr val="5B636E"/>
                </a:solidFill>
                <a:latin typeface="Calibri"/>
              </a:rPr>
              <a:t>operação</a:t>
            </a:r>
            <a:endParaRPr sz="1200" dirty="0">
              <a:solidFill>
                <a:srgbClr val="5B636E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1" dirty="0" err="1">
                <a:solidFill>
                  <a:srgbClr val="142B45"/>
                </a:solidFill>
                <a:latin typeface="Calibri"/>
              </a:rPr>
              <a:t>provincia_estado</a:t>
            </a:r>
            <a:r>
              <a:rPr sz="1200" dirty="0">
                <a:solidFill>
                  <a:srgbClr val="5B636E"/>
                </a:solidFill>
                <a:latin typeface="Calibri"/>
              </a:rPr>
              <a:t> — </a:t>
            </a:r>
            <a:r>
              <a:rPr sz="1200" dirty="0" err="1">
                <a:solidFill>
                  <a:srgbClr val="5B636E"/>
                </a:solidFill>
                <a:latin typeface="Calibri"/>
              </a:rPr>
              <a:t>província</a:t>
            </a:r>
            <a:r>
              <a:rPr sz="1200" dirty="0">
                <a:solidFill>
                  <a:srgbClr val="5B636E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5B636E"/>
                </a:solidFill>
                <a:latin typeface="Calibri"/>
              </a:rPr>
              <a:t>predominante</a:t>
            </a:r>
            <a:r>
              <a:rPr sz="1200" dirty="0">
                <a:solidFill>
                  <a:srgbClr val="5B636E"/>
                </a:solidFill>
                <a:latin typeface="Calibri"/>
              </a:rPr>
              <a:t> (</a:t>
            </a:r>
            <a:r>
              <a:rPr sz="1200" dirty="0" err="1">
                <a:solidFill>
                  <a:srgbClr val="5B636E"/>
                </a:solidFill>
                <a:latin typeface="Calibri"/>
              </a:rPr>
              <a:t>cobertura</a:t>
            </a:r>
            <a:r>
              <a:rPr sz="1200" dirty="0">
                <a:solidFill>
                  <a:srgbClr val="5B636E"/>
                </a:solidFill>
                <a:latin typeface="Calibri"/>
              </a:rPr>
              <a:t> ~54%)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783080"/>
            <a:ext cx="5532120" cy="4526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Bef>
                <a:spcPts val="600"/>
              </a:spcBef>
              <a:spcAft>
                <a:spcPts val="300"/>
              </a:spcAft>
            </a:pPr>
            <a:r>
              <a:rPr sz="1600" b="1" dirty="0">
                <a:solidFill>
                  <a:srgbClr val="142B45"/>
                </a:solidFill>
                <a:latin typeface="Calibri"/>
              </a:rPr>
              <a:t>Uso e </a:t>
            </a:r>
            <a:r>
              <a:rPr sz="1600" b="1" dirty="0" err="1">
                <a:solidFill>
                  <a:srgbClr val="142B45"/>
                </a:solidFill>
                <a:latin typeface="Calibri"/>
              </a:rPr>
              <a:t>operação</a:t>
            </a:r>
            <a:r>
              <a:rPr sz="1600" b="1" dirty="0">
                <a:solidFill>
                  <a:srgbClr val="142B45"/>
                </a:solidFill>
                <a:latin typeface="Calibri"/>
              </a:rPr>
              <a:t> do </a:t>
            </a:r>
            <a:r>
              <a:rPr sz="1600" b="1" dirty="0" err="1">
                <a:solidFill>
                  <a:srgbClr val="142B45"/>
                </a:solidFill>
                <a:latin typeface="Calibri"/>
              </a:rPr>
              <a:t>ano</a:t>
            </a:r>
            <a:r>
              <a:rPr sz="1600" b="1" dirty="0">
                <a:solidFill>
                  <a:srgbClr val="142B45"/>
                </a:solidFill>
                <a:latin typeface="Calibri"/>
              </a:rPr>
              <a:t> </a:t>
            </a:r>
            <a:endParaRPr lang="pt-BR" sz="1600" b="1" dirty="0">
              <a:solidFill>
                <a:srgbClr val="142B45"/>
              </a:solidFill>
              <a:latin typeface="Calibri"/>
            </a:endParaRPr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sz="1200" b="1" dirty="0" err="1">
                <a:solidFill>
                  <a:srgbClr val="142B45"/>
                </a:solidFill>
                <a:latin typeface="Calibri"/>
              </a:rPr>
              <a:t>km_rodado_ano</a:t>
            </a:r>
            <a:r>
              <a:rPr sz="1200" dirty="0">
                <a:solidFill>
                  <a:srgbClr val="5B636E"/>
                </a:solidFill>
                <a:latin typeface="Calibri"/>
              </a:rPr>
              <a:t> — km </a:t>
            </a:r>
            <a:r>
              <a:rPr sz="1200" dirty="0" err="1">
                <a:solidFill>
                  <a:srgbClr val="5B636E"/>
                </a:solidFill>
                <a:latin typeface="Calibri"/>
              </a:rPr>
              <a:t>percorridos</a:t>
            </a:r>
            <a:r>
              <a:rPr sz="1200" dirty="0">
                <a:solidFill>
                  <a:srgbClr val="5B636E"/>
                </a:solidFill>
                <a:latin typeface="Calibri"/>
              </a:rPr>
              <a:t> no </a:t>
            </a:r>
            <a:r>
              <a:rPr sz="1200" dirty="0" err="1">
                <a:solidFill>
                  <a:srgbClr val="5B636E"/>
                </a:solidFill>
                <a:latin typeface="Calibri"/>
              </a:rPr>
              <a:t>ano</a:t>
            </a:r>
            <a:endParaRPr sz="1200" dirty="0">
              <a:solidFill>
                <a:srgbClr val="5B636E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1" dirty="0" err="1">
                <a:solidFill>
                  <a:srgbClr val="142B45"/>
                </a:solidFill>
                <a:latin typeface="Calibri"/>
              </a:rPr>
              <a:t>km_acumulado_fim_ano</a:t>
            </a:r>
            <a:r>
              <a:rPr sz="1200" dirty="0">
                <a:solidFill>
                  <a:srgbClr val="5B636E"/>
                </a:solidFill>
                <a:latin typeface="Calibri"/>
              </a:rPr>
              <a:t> — </a:t>
            </a:r>
            <a:r>
              <a:rPr sz="1200" dirty="0" err="1">
                <a:solidFill>
                  <a:srgbClr val="5B636E"/>
                </a:solidFill>
                <a:latin typeface="Calibri"/>
              </a:rPr>
              <a:t>odômetro</a:t>
            </a:r>
            <a:r>
              <a:rPr sz="1200" dirty="0">
                <a:solidFill>
                  <a:srgbClr val="5B636E"/>
                </a:solidFill>
                <a:latin typeface="Calibri"/>
              </a:rPr>
              <a:t> no </a:t>
            </a:r>
            <a:r>
              <a:rPr sz="1200" dirty="0" err="1">
                <a:solidFill>
                  <a:srgbClr val="5B636E"/>
                </a:solidFill>
                <a:latin typeface="Calibri"/>
              </a:rPr>
              <a:t>fim</a:t>
            </a:r>
            <a:r>
              <a:rPr sz="1200" dirty="0">
                <a:solidFill>
                  <a:srgbClr val="5B636E"/>
                </a:solidFill>
                <a:latin typeface="Calibri"/>
              </a:rPr>
              <a:t> do </a:t>
            </a:r>
            <a:r>
              <a:rPr sz="1200" dirty="0" err="1">
                <a:solidFill>
                  <a:srgbClr val="5B636E"/>
                </a:solidFill>
                <a:latin typeface="Calibri"/>
              </a:rPr>
              <a:t>ano</a:t>
            </a:r>
            <a:endParaRPr sz="1200" dirty="0">
              <a:solidFill>
                <a:srgbClr val="5B636E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1" dirty="0" err="1">
                <a:solidFill>
                  <a:srgbClr val="142B45"/>
                </a:solidFill>
                <a:latin typeface="Calibri"/>
              </a:rPr>
              <a:t>n_sistemas_vmrs_distintos_ano</a:t>
            </a:r>
            <a:r>
              <a:rPr sz="1200" dirty="0">
                <a:solidFill>
                  <a:srgbClr val="5B636E"/>
                </a:solidFill>
                <a:latin typeface="Calibri"/>
              </a:rPr>
              <a:t> — </a:t>
            </a:r>
            <a:r>
              <a:rPr sz="1200" dirty="0" err="1">
                <a:solidFill>
                  <a:srgbClr val="5B636E"/>
                </a:solidFill>
                <a:latin typeface="Calibri"/>
              </a:rPr>
              <a:t>variedade</a:t>
            </a:r>
            <a:r>
              <a:rPr sz="1200" dirty="0">
                <a:solidFill>
                  <a:srgbClr val="5B636E"/>
                </a:solidFill>
                <a:latin typeface="Calibri"/>
              </a:rPr>
              <a:t> de </a:t>
            </a:r>
            <a:r>
              <a:rPr sz="1200" dirty="0" err="1">
                <a:solidFill>
                  <a:srgbClr val="5B636E"/>
                </a:solidFill>
                <a:latin typeface="Calibri"/>
              </a:rPr>
              <a:t>sistemas</a:t>
            </a:r>
            <a:r>
              <a:rPr sz="1200" dirty="0">
                <a:solidFill>
                  <a:srgbClr val="5B636E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5B636E"/>
                </a:solidFill>
                <a:latin typeface="Calibri"/>
              </a:rPr>
              <a:t>reparados</a:t>
            </a:r>
            <a:endParaRPr sz="1200" dirty="0">
              <a:solidFill>
                <a:srgbClr val="5B636E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1" dirty="0" err="1">
                <a:solidFill>
                  <a:srgbClr val="142B45"/>
                </a:solidFill>
                <a:latin typeface="Calibri"/>
              </a:rPr>
              <a:t>share_pm_ano</a:t>
            </a:r>
            <a:r>
              <a:rPr sz="1200" dirty="0">
                <a:solidFill>
                  <a:srgbClr val="5B636E"/>
                </a:solidFill>
                <a:latin typeface="Calibri"/>
              </a:rPr>
              <a:t> — </a:t>
            </a:r>
            <a:r>
              <a:rPr sz="1200" dirty="0" err="1">
                <a:solidFill>
                  <a:srgbClr val="5B636E"/>
                </a:solidFill>
                <a:latin typeface="Calibri"/>
              </a:rPr>
              <a:t>fração</a:t>
            </a:r>
            <a:r>
              <a:rPr sz="1200" dirty="0">
                <a:solidFill>
                  <a:srgbClr val="5B636E"/>
                </a:solidFill>
                <a:latin typeface="Calibri"/>
              </a:rPr>
              <a:t> de OS </a:t>
            </a:r>
            <a:r>
              <a:rPr sz="1200" dirty="0" err="1">
                <a:solidFill>
                  <a:srgbClr val="5B636E"/>
                </a:solidFill>
                <a:latin typeface="Calibri"/>
              </a:rPr>
              <a:t>preventivas</a:t>
            </a:r>
            <a:r>
              <a:rPr sz="1200" dirty="0">
                <a:solidFill>
                  <a:srgbClr val="5B636E"/>
                </a:solidFill>
                <a:latin typeface="Calibri"/>
              </a:rPr>
              <a:t> (PM)</a:t>
            </a:r>
          </a:p>
          <a:p>
            <a:pPr>
              <a:spcAft>
                <a:spcPts val="200"/>
              </a:spcAft>
            </a:pPr>
            <a:r>
              <a:rPr sz="1200" b="1" dirty="0" err="1">
                <a:solidFill>
                  <a:srgbClr val="142B45"/>
                </a:solidFill>
                <a:latin typeface="Calibri"/>
              </a:rPr>
              <a:t>vmrs_predominante_ano</a:t>
            </a:r>
            <a:r>
              <a:rPr sz="1200" dirty="0">
                <a:solidFill>
                  <a:srgbClr val="5B636E"/>
                </a:solidFill>
                <a:latin typeface="Calibri"/>
              </a:rPr>
              <a:t> — </a:t>
            </a:r>
            <a:r>
              <a:rPr sz="1200" dirty="0" err="1">
                <a:solidFill>
                  <a:srgbClr val="5B636E"/>
                </a:solidFill>
                <a:latin typeface="Calibri"/>
              </a:rPr>
              <a:t>sistema</a:t>
            </a:r>
            <a:r>
              <a:rPr sz="1200" dirty="0">
                <a:solidFill>
                  <a:srgbClr val="5B636E"/>
                </a:solidFill>
                <a:latin typeface="Calibri"/>
              </a:rPr>
              <a:t> VMRS </a:t>
            </a:r>
            <a:r>
              <a:rPr sz="1200" dirty="0" err="1">
                <a:solidFill>
                  <a:srgbClr val="5B636E"/>
                </a:solidFill>
                <a:latin typeface="Calibri"/>
              </a:rPr>
              <a:t>mais</a:t>
            </a:r>
            <a:r>
              <a:rPr sz="1200" dirty="0">
                <a:solidFill>
                  <a:srgbClr val="5B636E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5B636E"/>
                </a:solidFill>
                <a:latin typeface="Calibri"/>
              </a:rPr>
              <a:t>reparado</a:t>
            </a:r>
            <a:r>
              <a:rPr sz="1200" dirty="0">
                <a:solidFill>
                  <a:srgbClr val="5B636E"/>
                </a:solidFill>
                <a:latin typeface="Calibri"/>
              </a:rPr>
              <a:t> no </a:t>
            </a:r>
            <a:r>
              <a:rPr sz="1200" dirty="0" err="1">
                <a:solidFill>
                  <a:srgbClr val="5B636E"/>
                </a:solidFill>
                <a:latin typeface="Calibri"/>
              </a:rPr>
              <a:t>ano</a:t>
            </a:r>
            <a:endParaRPr lang="en-BR" sz="1600" b="1" dirty="0">
              <a:solidFill>
                <a:srgbClr val="142B45"/>
              </a:solidFill>
              <a:latin typeface="Calibri"/>
            </a:endParaRPr>
          </a:p>
          <a:p>
            <a:pPr>
              <a:spcBef>
                <a:spcPts val="600"/>
              </a:spcBef>
              <a:spcAft>
                <a:spcPts val="300"/>
              </a:spcAft>
            </a:pPr>
            <a:endParaRPr lang="en-BR" sz="1600" b="1" dirty="0">
              <a:solidFill>
                <a:srgbClr val="142B45"/>
              </a:solidFill>
              <a:latin typeface="Calibri"/>
            </a:endParaRPr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sz="1600" b="1" dirty="0">
                <a:solidFill>
                  <a:srgbClr val="142B45"/>
                </a:solidFill>
                <a:latin typeface="Calibri"/>
              </a:rPr>
              <a:t>Histórico </a:t>
            </a:r>
            <a:r>
              <a:rPr sz="1600" b="1" dirty="0" err="1">
                <a:solidFill>
                  <a:srgbClr val="142B45"/>
                </a:solidFill>
                <a:latin typeface="Calibri"/>
              </a:rPr>
              <a:t>defasado</a:t>
            </a:r>
            <a:r>
              <a:rPr sz="1600" b="1" dirty="0">
                <a:solidFill>
                  <a:srgbClr val="142B45"/>
                </a:solidFill>
                <a:latin typeface="Calibri"/>
              </a:rPr>
              <a:t> (</a:t>
            </a:r>
            <a:r>
              <a:rPr sz="1600" b="1" dirty="0" err="1">
                <a:solidFill>
                  <a:srgbClr val="142B45"/>
                </a:solidFill>
                <a:latin typeface="Calibri"/>
              </a:rPr>
              <a:t>cenário</a:t>
            </a:r>
            <a:r>
              <a:rPr sz="1600" b="1" dirty="0">
                <a:solidFill>
                  <a:srgbClr val="142B45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42B45"/>
                </a:solidFill>
                <a:latin typeface="Calibri"/>
              </a:rPr>
              <a:t>preditivo</a:t>
            </a:r>
            <a:r>
              <a:rPr sz="1600" b="1" dirty="0">
                <a:solidFill>
                  <a:srgbClr val="142B45"/>
                </a:solidFill>
                <a:latin typeface="Calibri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200" b="1" dirty="0" err="1">
                <a:solidFill>
                  <a:srgbClr val="142B45"/>
                </a:solidFill>
                <a:latin typeface="Calibri"/>
              </a:rPr>
              <a:t>custo_ano_anterior</a:t>
            </a:r>
            <a:r>
              <a:rPr sz="1200" dirty="0">
                <a:solidFill>
                  <a:srgbClr val="5B636E"/>
                </a:solidFill>
                <a:latin typeface="Calibri"/>
              </a:rPr>
              <a:t> — </a:t>
            </a:r>
            <a:r>
              <a:rPr sz="1200" dirty="0" err="1">
                <a:solidFill>
                  <a:srgbClr val="5B636E"/>
                </a:solidFill>
                <a:latin typeface="Calibri"/>
              </a:rPr>
              <a:t>custo</a:t>
            </a:r>
            <a:r>
              <a:rPr sz="1200" dirty="0">
                <a:solidFill>
                  <a:srgbClr val="5B636E"/>
                </a:solidFill>
                <a:latin typeface="Calibri"/>
              </a:rPr>
              <a:t> real do </a:t>
            </a:r>
            <a:r>
              <a:rPr sz="1200" dirty="0" err="1">
                <a:solidFill>
                  <a:srgbClr val="5B636E"/>
                </a:solidFill>
                <a:latin typeface="Calibri"/>
              </a:rPr>
              <a:t>ano</a:t>
            </a:r>
            <a:r>
              <a:rPr sz="1200" dirty="0">
                <a:solidFill>
                  <a:srgbClr val="5B636E"/>
                </a:solidFill>
                <a:latin typeface="Calibri"/>
              </a:rPr>
              <a:t> t−1</a:t>
            </a:r>
          </a:p>
          <a:p>
            <a:pPr>
              <a:spcAft>
                <a:spcPts val="200"/>
              </a:spcAft>
            </a:pPr>
            <a:r>
              <a:rPr sz="1200" b="1" dirty="0" err="1">
                <a:solidFill>
                  <a:srgbClr val="142B45"/>
                </a:solidFill>
                <a:latin typeface="Calibri"/>
              </a:rPr>
              <a:t>n_os_ano_anterior</a:t>
            </a:r>
            <a:r>
              <a:rPr sz="1200" dirty="0">
                <a:solidFill>
                  <a:srgbClr val="5B636E"/>
                </a:solidFill>
                <a:latin typeface="Calibri"/>
              </a:rPr>
              <a:t> — nº de OS </a:t>
            </a:r>
            <a:r>
              <a:rPr sz="1200" dirty="0" err="1">
                <a:solidFill>
                  <a:srgbClr val="5B636E"/>
                </a:solidFill>
                <a:latin typeface="Calibri"/>
              </a:rPr>
              <a:t>em</a:t>
            </a:r>
            <a:r>
              <a:rPr sz="1200" dirty="0">
                <a:solidFill>
                  <a:srgbClr val="5B636E"/>
                </a:solidFill>
                <a:latin typeface="Calibri"/>
              </a:rPr>
              <a:t> t−1</a:t>
            </a:r>
          </a:p>
          <a:p>
            <a:pPr>
              <a:spcAft>
                <a:spcPts val="200"/>
              </a:spcAft>
            </a:pPr>
            <a:r>
              <a:rPr sz="1200" b="1" dirty="0" err="1">
                <a:solidFill>
                  <a:srgbClr val="142B45"/>
                </a:solidFill>
                <a:latin typeface="Calibri"/>
              </a:rPr>
              <a:t>custo_acum_ate_ano_anterior</a:t>
            </a:r>
            <a:r>
              <a:rPr sz="1200" dirty="0">
                <a:solidFill>
                  <a:srgbClr val="5B636E"/>
                </a:solidFill>
                <a:latin typeface="Calibri"/>
              </a:rPr>
              <a:t> — </a:t>
            </a:r>
            <a:r>
              <a:rPr sz="1200" dirty="0" err="1">
                <a:solidFill>
                  <a:srgbClr val="5B636E"/>
                </a:solidFill>
                <a:latin typeface="Calibri"/>
              </a:rPr>
              <a:t>custo</a:t>
            </a:r>
            <a:r>
              <a:rPr sz="1200" dirty="0">
                <a:solidFill>
                  <a:srgbClr val="5B636E"/>
                </a:solidFill>
                <a:latin typeface="Calibri"/>
              </a:rPr>
              <a:t> real </a:t>
            </a:r>
            <a:r>
              <a:rPr sz="1200" dirty="0" err="1">
                <a:solidFill>
                  <a:srgbClr val="5B636E"/>
                </a:solidFill>
                <a:latin typeface="Calibri"/>
              </a:rPr>
              <a:t>acumulado</a:t>
            </a:r>
            <a:r>
              <a:rPr sz="1200" dirty="0">
                <a:solidFill>
                  <a:srgbClr val="5B636E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5B636E"/>
                </a:solidFill>
                <a:latin typeface="Calibri"/>
              </a:rPr>
              <a:t>até</a:t>
            </a:r>
            <a:r>
              <a:rPr sz="1200" dirty="0">
                <a:solidFill>
                  <a:srgbClr val="5B636E"/>
                </a:solidFill>
                <a:latin typeface="Calibri"/>
              </a:rPr>
              <a:t> t−1</a:t>
            </a:r>
          </a:p>
          <a:p>
            <a:pPr>
              <a:spcAft>
                <a:spcPts val="200"/>
              </a:spcAft>
            </a:pPr>
            <a:r>
              <a:rPr sz="1200" b="1" dirty="0" err="1">
                <a:solidFill>
                  <a:srgbClr val="142B45"/>
                </a:solidFill>
                <a:latin typeface="Calibri"/>
              </a:rPr>
              <a:t>n_os_acum_ate_ano_anterior</a:t>
            </a:r>
            <a:r>
              <a:rPr sz="1200" dirty="0">
                <a:solidFill>
                  <a:srgbClr val="5B636E"/>
                </a:solidFill>
                <a:latin typeface="Calibri"/>
              </a:rPr>
              <a:t> — OS </a:t>
            </a:r>
            <a:r>
              <a:rPr sz="1200" dirty="0" err="1">
                <a:solidFill>
                  <a:srgbClr val="5B636E"/>
                </a:solidFill>
                <a:latin typeface="Calibri"/>
              </a:rPr>
              <a:t>acumuladas</a:t>
            </a:r>
            <a:r>
              <a:rPr sz="1200" dirty="0">
                <a:solidFill>
                  <a:srgbClr val="5B636E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5B636E"/>
                </a:solidFill>
                <a:latin typeface="Calibri"/>
              </a:rPr>
              <a:t>até</a:t>
            </a:r>
            <a:r>
              <a:rPr sz="1200" dirty="0">
                <a:solidFill>
                  <a:srgbClr val="5B636E"/>
                </a:solidFill>
                <a:latin typeface="Calibri"/>
              </a:rPr>
              <a:t> t−1</a:t>
            </a:r>
          </a:p>
          <a:p>
            <a:pPr>
              <a:spcAft>
                <a:spcPts val="200"/>
              </a:spcAft>
            </a:pPr>
            <a:r>
              <a:rPr sz="1200" b="1" dirty="0" err="1">
                <a:solidFill>
                  <a:srgbClr val="142B45"/>
                </a:solidFill>
                <a:latin typeface="Calibri"/>
              </a:rPr>
              <a:t>anos_ativo_ate_ano_anterior</a:t>
            </a:r>
            <a:r>
              <a:rPr sz="1200" dirty="0">
                <a:solidFill>
                  <a:srgbClr val="5B636E"/>
                </a:solidFill>
                <a:latin typeface="Calibri"/>
              </a:rPr>
              <a:t> — </a:t>
            </a:r>
            <a:r>
              <a:rPr sz="1200" dirty="0" err="1">
                <a:solidFill>
                  <a:srgbClr val="5B636E"/>
                </a:solidFill>
                <a:latin typeface="Calibri"/>
              </a:rPr>
              <a:t>anos</a:t>
            </a:r>
            <a:r>
              <a:rPr sz="1200" dirty="0">
                <a:solidFill>
                  <a:srgbClr val="5B636E"/>
                </a:solidFill>
                <a:latin typeface="Calibri"/>
              </a:rPr>
              <a:t> de histórico </a:t>
            </a:r>
            <a:r>
              <a:rPr sz="1200" dirty="0" err="1">
                <a:solidFill>
                  <a:srgbClr val="5B636E"/>
                </a:solidFill>
                <a:latin typeface="Calibri"/>
              </a:rPr>
              <a:t>disponível</a:t>
            </a:r>
            <a:endParaRPr sz="1200" dirty="0">
              <a:solidFill>
                <a:srgbClr val="5B636E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1" dirty="0" err="1">
                <a:solidFill>
                  <a:srgbClr val="142B45"/>
                </a:solidFill>
                <a:latin typeface="Calibri"/>
              </a:rPr>
              <a:t>km_acumulado_inicio_ano</a:t>
            </a:r>
            <a:r>
              <a:rPr sz="1200" dirty="0">
                <a:solidFill>
                  <a:srgbClr val="5B636E"/>
                </a:solidFill>
                <a:latin typeface="Calibri"/>
              </a:rPr>
              <a:t> — </a:t>
            </a:r>
            <a:r>
              <a:rPr sz="1200" dirty="0" err="1">
                <a:solidFill>
                  <a:srgbClr val="5B636E"/>
                </a:solidFill>
                <a:latin typeface="Calibri"/>
              </a:rPr>
              <a:t>odômetro</a:t>
            </a:r>
            <a:r>
              <a:rPr sz="1200" dirty="0">
                <a:solidFill>
                  <a:srgbClr val="5B636E"/>
                </a:solidFill>
                <a:latin typeface="Calibri"/>
              </a:rPr>
              <a:t> no </a:t>
            </a:r>
            <a:r>
              <a:rPr sz="1200" dirty="0" err="1">
                <a:solidFill>
                  <a:srgbClr val="5B636E"/>
                </a:solidFill>
                <a:latin typeface="Calibri"/>
              </a:rPr>
              <a:t>início</a:t>
            </a:r>
            <a:r>
              <a:rPr sz="1200" dirty="0">
                <a:solidFill>
                  <a:srgbClr val="5B636E"/>
                </a:solidFill>
                <a:latin typeface="Calibri"/>
              </a:rPr>
              <a:t> do </a:t>
            </a:r>
            <a:r>
              <a:rPr sz="1200" dirty="0" err="1">
                <a:solidFill>
                  <a:srgbClr val="5B636E"/>
                </a:solidFill>
                <a:latin typeface="Calibri"/>
              </a:rPr>
              <a:t>ano</a:t>
            </a:r>
            <a:endParaRPr sz="1200" dirty="0">
              <a:solidFill>
                <a:srgbClr val="5B63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46304" cy="822960"/>
          </a:xfrm>
          <a:prstGeom prst="rect">
            <a:avLst/>
          </a:prstGeom>
          <a:solidFill>
            <a:srgbClr val="E87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b="1" noProof="0" dirty="0">
                <a:solidFill>
                  <a:srgbClr val="E8713A"/>
                </a:solidFill>
              </a:rPr>
              <a:t>09 · EDA</a:t>
            </a:r>
            <a:endParaRPr lang="pt-BR" sz="1200" b="1" noProof="0" dirty="0">
              <a:solidFill>
                <a:srgbClr val="E8713A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78992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2700" b="1" noProof="0" dirty="0">
                <a:solidFill>
                  <a:srgbClr val="142B45"/>
                </a:solidFill>
                <a:latin typeface="Calibri"/>
              </a:rPr>
              <a:t>Estatísticas descritivas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6707834"/>
              </p:ext>
            </p:extLst>
          </p:nvPr>
        </p:nvGraphicFramePr>
        <p:xfrm>
          <a:off x="640080" y="1691640"/>
          <a:ext cx="1097280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34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25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1379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1379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083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3481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9277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2325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pt-BR" sz="1000" b="1" noProof="0" dirty="0">
                          <a:solidFill>
                            <a:srgbClr val="FFFFFF"/>
                          </a:solidFill>
                        </a:rPr>
                        <a:t>variável</a:t>
                      </a: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b="1" noProof="0" dirty="0">
                          <a:solidFill>
                            <a:srgbClr val="FFFFFF"/>
                          </a:solidFill>
                        </a:rPr>
                        <a:t>N</a:t>
                      </a: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b="1" noProof="0" dirty="0">
                          <a:solidFill>
                            <a:srgbClr val="FFFFFF"/>
                          </a:solidFill>
                        </a:rPr>
                        <a:t>media</a:t>
                      </a: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b="1" noProof="0" dirty="0">
                          <a:solidFill>
                            <a:srgbClr val="FFFFFF"/>
                          </a:solidFill>
                        </a:rPr>
                        <a:t>mediana</a:t>
                      </a: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b="1" noProof="0" dirty="0">
                          <a:solidFill>
                            <a:srgbClr val="FFFFFF"/>
                          </a:solidFill>
                        </a:rPr>
                        <a:t>desvio padrão</a:t>
                      </a: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b="1" noProof="0" dirty="0">
                          <a:solidFill>
                            <a:srgbClr val="FFFFFF"/>
                          </a:solidFill>
                        </a:rPr>
                        <a:t>min</a:t>
                      </a: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b="1" noProof="0" dirty="0" err="1">
                          <a:solidFill>
                            <a:srgbClr val="FFFFFF"/>
                          </a:solidFill>
                        </a:rPr>
                        <a:t>max</a:t>
                      </a:r>
                      <a:endParaRPr lang="pt-BR" sz="1000" b="1" noProof="0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b="1" noProof="0" dirty="0">
                          <a:solidFill>
                            <a:srgbClr val="FFFFFF"/>
                          </a:solidFill>
                        </a:rPr>
                        <a:t>assimetria</a:t>
                      </a: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custo_ano_real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47715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1669.184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812.262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2390.597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0.0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62230.924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3.819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ano_modelo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47709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2014.769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2016.0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5.79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1982.0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2026.0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-0.471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eixos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47624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2.078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2.0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0.277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1.0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4.0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3.199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comprimento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47055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52.242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53.0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3.722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28.0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60.0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-4.969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idade_carreta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47709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8.181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7.0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5.7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0.0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39.0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0.542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km_acumulado_fim_ano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47448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176040.697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110322.0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197125.394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0.0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3479389.0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2.204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km_rodado_ano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37822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24050.571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13016.5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29246.383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0.0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249676.0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2.339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n_sistemas_vmrs_distintos_ano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47715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2.501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2.0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1.548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0.0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12.0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1.097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share_pm_ano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47715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0.322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0.25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0.332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0.0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1.0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0.942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n_os_ano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47715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4.549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3.0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4.268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0.0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59.0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2.407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custo_medio_por_os_ano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47715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338.104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242.725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354.465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0.0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19177.732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7.452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n_os_ano_anterior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38130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4.484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3.0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4.251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0.0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59.0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2.424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n_os_acum_ate_ano_anterior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47715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9.668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6.0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12.9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0.0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131.0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2.881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anos_ativo_ate_ano_anterior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47715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2.254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2.0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1.68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0.0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5.0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0.173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975344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custo_ano_anterior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38130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1602.186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764.094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2317.646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0.0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62230.924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3.917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47424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custo_acum_ate_ano_anterior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47715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3368.169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1328.33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5923.511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0.0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123769.413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4.292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4623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46304" cy="822960"/>
          </a:xfrm>
          <a:prstGeom prst="rect">
            <a:avLst/>
          </a:prstGeom>
          <a:solidFill>
            <a:srgbClr val="E87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b="1" noProof="0" dirty="0">
                <a:solidFill>
                  <a:srgbClr val="E8713A"/>
                </a:solidFill>
              </a:rPr>
              <a:t>09 · </a:t>
            </a:r>
            <a:r>
              <a:rPr lang="pt-BR" sz="1200" b="1" noProof="0" dirty="0">
                <a:solidFill>
                  <a:srgbClr val="E8713A"/>
                </a:solidFill>
                <a:latin typeface="Calibri"/>
              </a:rPr>
              <a:t>EDA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78992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2700" b="1" noProof="0" dirty="0">
                <a:solidFill>
                  <a:srgbClr val="142B45"/>
                </a:solidFill>
                <a:latin typeface="Calibri"/>
              </a:rPr>
              <a:t>Evolução do custo anual real (2020–2025)</a:t>
            </a:r>
          </a:p>
        </p:txBody>
      </p:sp>
      <p:pic>
        <p:nvPicPr>
          <p:cNvPr id="6" name="Picture 5" descr="evolucao_y_an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2304" y="1874519"/>
            <a:ext cx="7315200" cy="389534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33DC310-81FC-0235-90CE-FF174FACACF5}"/>
              </a:ext>
            </a:extLst>
          </p:cNvPr>
          <p:cNvSpPr txBox="1"/>
          <p:nvPr/>
        </p:nvSpPr>
        <p:spPr>
          <a:xfrm>
            <a:off x="2432303" y="5806100"/>
            <a:ext cx="7315199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900" dirty="0" err="1"/>
              <a:t>Crescimento</a:t>
            </a:r>
            <a:r>
              <a:rPr lang="en-US" sz="900" dirty="0"/>
              <a:t> </a:t>
            </a:r>
            <a:r>
              <a:rPr lang="en-US" sz="900" dirty="0" err="1"/>
              <a:t>consistente</a:t>
            </a:r>
            <a:r>
              <a:rPr lang="en-US" sz="900" dirty="0"/>
              <a:t> do </a:t>
            </a:r>
            <a:r>
              <a:rPr lang="en-US" sz="900" dirty="0" err="1"/>
              <a:t>custo</a:t>
            </a:r>
            <a:r>
              <a:rPr lang="en-US" sz="900" dirty="0"/>
              <a:t> </a:t>
            </a:r>
            <a:r>
              <a:rPr lang="en-US" sz="900" dirty="0" err="1"/>
              <a:t>anual</a:t>
            </a:r>
            <a:r>
              <a:rPr lang="en-US" sz="900" dirty="0"/>
              <a:t> real de </a:t>
            </a:r>
            <a:r>
              <a:rPr lang="en-US" sz="900" dirty="0" err="1"/>
              <a:t>manutenção</a:t>
            </a:r>
            <a:r>
              <a:rPr lang="en-US" sz="900" dirty="0"/>
              <a:t> </a:t>
            </a:r>
            <a:r>
              <a:rPr lang="en-US" sz="900" dirty="0" err="1"/>
              <a:t>ao</a:t>
            </a:r>
            <a:r>
              <a:rPr lang="en-US" sz="900" dirty="0"/>
              <a:t> </a:t>
            </a:r>
            <a:r>
              <a:rPr lang="en-US" sz="900" dirty="0" err="1"/>
              <a:t>longo</a:t>
            </a:r>
            <a:r>
              <a:rPr lang="en-US" sz="900" dirty="0"/>
              <a:t> do </a:t>
            </a:r>
            <a:r>
              <a:rPr lang="en-US" sz="900" dirty="0" err="1"/>
              <a:t>período</a:t>
            </a:r>
            <a:r>
              <a:rPr lang="en-US" sz="900" dirty="0"/>
              <a:t> </a:t>
            </a:r>
            <a:r>
              <a:rPr lang="en-US" sz="900" dirty="0" err="1"/>
              <a:t>analisado</a:t>
            </a:r>
            <a:r>
              <a:rPr lang="en-US" sz="900" dirty="0"/>
              <a:t>, </a:t>
            </a:r>
            <a:r>
              <a:rPr lang="en-US" sz="900" dirty="0" err="1"/>
              <a:t>mesmo</a:t>
            </a:r>
            <a:r>
              <a:rPr lang="en-US" sz="900" dirty="0"/>
              <a:t> </a:t>
            </a:r>
            <a:r>
              <a:rPr lang="en-US" sz="900" dirty="0" err="1"/>
              <a:t>após</a:t>
            </a:r>
            <a:r>
              <a:rPr lang="en-US" sz="900" dirty="0"/>
              <a:t> a </a:t>
            </a:r>
            <a:r>
              <a:rPr lang="en-US" sz="900" dirty="0" err="1"/>
              <a:t>correção</a:t>
            </a:r>
            <a:r>
              <a:rPr lang="en-US" sz="900" dirty="0"/>
              <a:t> pela </a:t>
            </a:r>
            <a:r>
              <a:rPr lang="en-US" sz="900" dirty="0" err="1"/>
              <a:t>inflação</a:t>
            </a:r>
            <a:r>
              <a:rPr lang="en-US" sz="900" dirty="0"/>
              <a:t>. </a:t>
            </a:r>
            <a:r>
              <a:rPr lang="en-US" sz="900" dirty="0" err="1"/>
              <a:t>Média</a:t>
            </a:r>
            <a:r>
              <a:rPr lang="en-US" sz="900" dirty="0"/>
              <a:t> e </a:t>
            </a:r>
            <a:r>
              <a:rPr lang="en-US" sz="900" dirty="0" err="1"/>
              <a:t>mediana</a:t>
            </a:r>
            <a:r>
              <a:rPr lang="en-US" sz="900" dirty="0"/>
              <a:t> </a:t>
            </a:r>
            <a:r>
              <a:rPr lang="en-US" sz="900" dirty="0" err="1"/>
              <a:t>apresentam</a:t>
            </a:r>
            <a:r>
              <a:rPr lang="en-US" sz="900" dirty="0"/>
              <a:t> </a:t>
            </a:r>
            <a:r>
              <a:rPr lang="en-US" sz="900" dirty="0" err="1"/>
              <a:t>tendência</a:t>
            </a:r>
            <a:r>
              <a:rPr lang="en-US" sz="900" dirty="0"/>
              <a:t> de </a:t>
            </a:r>
            <a:r>
              <a:rPr lang="en-US" sz="900" dirty="0" err="1"/>
              <a:t>alta</a:t>
            </a:r>
            <a:r>
              <a:rPr lang="en-US" sz="900" dirty="0"/>
              <a:t>, </a:t>
            </a:r>
            <a:r>
              <a:rPr lang="en-US" sz="900" dirty="0" err="1"/>
              <a:t>indicando</a:t>
            </a:r>
            <a:r>
              <a:rPr lang="en-US" sz="900" dirty="0"/>
              <a:t> </a:t>
            </a:r>
            <a:r>
              <a:rPr lang="en-US" sz="900" dirty="0" err="1"/>
              <a:t>que</a:t>
            </a:r>
            <a:r>
              <a:rPr lang="en-US" sz="900" dirty="0"/>
              <a:t> o </a:t>
            </a:r>
            <a:r>
              <a:rPr lang="en-US" sz="900" dirty="0" err="1"/>
              <a:t>aumento</a:t>
            </a:r>
            <a:r>
              <a:rPr lang="en-US" sz="900" dirty="0"/>
              <a:t> dos custos </a:t>
            </a:r>
            <a:r>
              <a:rPr lang="en-US" sz="900" dirty="0" err="1"/>
              <a:t>ocorre</a:t>
            </a:r>
            <a:r>
              <a:rPr lang="en-US" sz="900" dirty="0"/>
              <a:t> de forma </a:t>
            </a:r>
            <a:r>
              <a:rPr lang="en-US" sz="900" dirty="0" err="1"/>
              <a:t>disseminada</a:t>
            </a:r>
            <a:r>
              <a:rPr lang="en-US" sz="900" dirty="0"/>
              <a:t> </a:t>
            </a:r>
            <a:r>
              <a:rPr lang="en-US" sz="900" dirty="0" err="1"/>
              <a:t>na</a:t>
            </a:r>
            <a:r>
              <a:rPr lang="en-US" sz="900" dirty="0"/>
              <a:t> </a:t>
            </a:r>
            <a:r>
              <a:rPr lang="en-US" sz="900" dirty="0" err="1"/>
              <a:t>frota</a:t>
            </a:r>
            <a:r>
              <a:rPr lang="en-US" sz="900" dirty="0"/>
              <a:t>. A </a:t>
            </a:r>
            <a:r>
              <a:rPr lang="en-US" sz="900" dirty="0" err="1"/>
              <a:t>diferença</a:t>
            </a:r>
            <a:r>
              <a:rPr lang="en-US" sz="900" dirty="0"/>
              <a:t> entre </a:t>
            </a:r>
            <a:r>
              <a:rPr lang="en-US" sz="900" dirty="0" err="1"/>
              <a:t>média</a:t>
            </a:r>
            <a:r>
              <a:rPr lang="en-US" sz="900" dirty="0"/>
              <a:t> e </a:t>
            </a:r>
            <a:r>
              <a:rPr lang="en-US" sz="900" dirty="0" err="1"/>
              <a:t>mediana</a:t>
            </a:r>
            <a:r>
              <a:rPr lang="en-US" sz="900" dirty="0"/>
              <a:t> </a:t>
            </a:r>
            <a:r>
              <a:rPr lang="en-US" sz="900" dirty="0" err="1"/>
              <a:t>evidencia</a:t>
            </a:r>
            <a:r>
              <a:rPr lang="en-US" sz="900" dirty="0"/>
              <a:t> a </a:t>
            </a:r>
            <a:r>
              <a:rPr lang="en-US" sz="900" dirty="0" err="1"/>
              <a:t>presença</a:t>
            </a:r>
            <a:r>
              <a:rPr lang="en-US" sz="900" dirty="0"/>
              <a:t> de </a:t>
            </a:r>
            <a:r>
              <a:rPr lang="en-US" sz="900" dirty="0" err="1"/>
              <a:t>ativos</a:t>
            </a:r>
            <a:r>
              <a:rPr lang="en-US" sz="900" dirty="0"/>
              <a:t> com custos </a:t>
            </a:r>
            <a:r>
              <a:rPr lang="en-US" sz="900" dirty="0" err="1"/>
              <a:t>excepcionalmente</a:t>
            </a:r>
            <a:r>
              <a:rPr lang="en-US" sz="900" dirty="0"/>
              <a:t> </a:t>
            </a:r>
            <a:r>
              <a:rPr lang="en-US" sz="900" dirty="0" err="1"/>
              <a:t>elevados</a:t>
            </a:r>
            <a:r>
              <a:rPr lang="en-US" sz="900" dirty="0"/>
              <a:t>, </a:t>
            </a:r>
            <a:r>
              <a:rPr lang="en-US" sz="900" dirty="0" err="1"/>
              <a:t>característicos</a:t>
            </a:r>
            <a:r>
              <a:rPr lang="en-US" sz="900" dirty="0"/>
              <a:t> de </a:t>
            </a:r>
            <a:r>
              <a:rPr lang="en-US" sz="900" dirty="0" err="1"/>
              <a:t>uma</a:t>
            </a:r>
            <a:r>
              <a:rPr lang="en-US" sz="900" dirty="0"/>
              <a:t> </a:t>
            </a:r>
            <a:r>
              <a:rPr lang="en-US" sz="900" dirty="0" err="1"/>
              <a:t>distribuição</a:t>
            </a:r>
            <a:r>
              <a:rPr lang="en-US" sz="900" dirty="0"/>
              <a:t> </a:t>
            </a:r>
            <a:r>
              <a:rPr lang="en-US" sz="900" dirty="0" err="1"/>
              <a:t>assimétrica</a:t>
            </a:r>
            <a:r>
              <a:rPr lang="en-US" sz="900" dirty="0"/>
              <a:t>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46304" cy="822960"/>
          </a:xfrm>
          <a:prstGeom prst="rect">
            <a:avLst/>
          </a:prstGeom>
          <a:solidFill>
            <a:srgbClr val="E87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b="1" noProof="0" dirty="0">
                <a:solidFill>
                  <a:srgbClr val="E8713A"/>
                </a:solidFill>
              </a:rPr>
              <a:t>09 · </a:t>
            </a:r>
            <a:r>
              <a:rPr lang="pt-BR" sz="1200" b="1" noProof="0" dirty="0">
                <a:solidFill>
                  <a:srgbClr val="E8713A"/>
                </a:solidFill>
                <a:latin typeface="Calibri"/>
              </a:rPr>
              <a:t>EDA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78992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2700" b="1" noProof="0" dirty="0">
                <a:solidFill>
                  <a:srgbClr val="142B45"/>
                </a:solidFill>
                <a:latin typeface="Calibri"/>
              </a:rPr>
              <a:t>Histogramas e distribuições</a:t>
            </a:r>
          </a:p>
        </p:txBody>
      </p:sp>
      <p:pic>
        <p:nvPicPr>
          <p:cNvPr id="6" name="Picture 5" descr="quant_custo_ano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78431"/>
            <a:ext cx="5394960" cy="2038096"/>
          </a:xfrm>
          <a:prstGeom prst="rect">
            <a:avLst/>
          </a:prstGeom>
        </p:spPr>
      </p:pic>
      <p:pic>
        <p:nvPicPr>
          <p:cNvPr id="7" name="Picture 6" descr="quant_km_rodado_an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78431"/>
            <a:ext cx="5394960" cy="2038096"/>
          </a:xfrm>
          <a:prstGeom prst="rect">
            <a:avLst/>
          </a:prstGeom>
        </p:spPr>
      </p:pic>
      <p:pic>
        <p:nvPicPr>
          <p:cNvPr id="8" name="Picture 7" descr="quant_custo_ano_anteri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147312"/>
            <a:ext cx="5394960" cy="2038096"/>
          </a:xfrm>
          <a:prstGeom prst="rect">
            <a:avLst/>
          </a:prstGeom>
        </p:spPr>
      </p:pic>
      <p:pic>
        <p:nvPicPr>
          <p:cNvPr id="9" name="Picture 8" descr="quant_n_os_ano_anteri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0" y="4147312"/>
            <a:ext cx="5394960" cy="203809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50130D4-3531-5B16-D863-4459F22AA963}"/>
              </a:ext>
            </a:extLst>
          </p:cNvPr>
          <p:cNvSpPr txBox="1"/>
          <p:nvPr/>
        </p:nvSpPr>
        <p:spPr>
          <a:xfrm>
            <a:off x="640080" y="3715398"/>
            <a:ext cx="53949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800" dirty="0" err="1"/>
              <a:t>Distribuição fortemente assimétrica à direita — a maioria das carretas custa pouco (mediana CAD 812/ano). O eixo do gráfico é cortado em ~CAD 12.000 (p99 = 11.804), mas a cauda real vai até CAD 62.231.</a:t>
            </a:r>
            <a:r>
              <a:rPr lang="en-US" sz="800" dirty="0"/>
              <a:t/>
            </a:r>
            <a:r>
              <a:rPr lang="en-US" sz="800" dirty="0" err="1"/>
              <a:t/>
            </a:r>
            <a:r>
              <a:rPr lang="en-US" sz="800" dirty="0"/>
              <a:t/>
            </a:r>
            <a:r>
              <a:rPr lang="en-US" sz="800" dirty="0" err="1"/>
              <a:t/>
            </a:r>
            <a:r>
              <a:rPr lang="en-US" sz="800" dirty="0"/>
              <a:t/>
            </a:r>
            <a:r>
              <a:rPr lang="en-US" sz="800" dirty="0" err="1"/>
              <a:t/>
            </a:r>
            <a:r>
              <a:rPr lang="en-US" sz="800" dirty="0"/>
              <a:t/>
            </a:r>
            <a:r>
              <a:rPr lang="en-US" sz="800" dirty="0" err="1"/>
              <a:t/>
            </a:r>
            <a:r>
              <a:rPr lang="en-US" sz="800" dirty="0"/>
              <a:t/>
            </a:r>
            <a:r>
              <a:rPr lang="en-US" sz="800" dirty="0" err="1"/>
              <a:t/>
            </a:r>
            <a:r>
              <a:rPr lang="en-US" sz="800" dirty="0"/>
              <a:t/>
            </a:r>
            <a:r>
              <a:rPr lang="en-US" sz="800" dirty="0" err="1"/>
              <a:t/>
            </a:r>
            <a:r>
              <a:rPr lang="en-US" sz="800" dirty="0"/>
              <a:t/>
            </a:r>
            <a:r>
              <a:rPr lang="en-US" sz="800" dirty="0" err="1"/>
              <a:t/>
            </a:r>
            <a:r>
              <a:rPr lang="en-US" sz="800" dirty="0"/>
              <a:t/>
            </a:r>
            <a:r>
              <a:rPr lang="en-US" sz="800" dirty="0" err="1"/>
              <a:t/>
            </a:r>
            <a:r>
              <a:rPr lang="en-US" sz="800" dirty="0"/>
              <a:t/>
            </a:r>
            <a:r>
              <a:rPr lang="en-US" sz="800" dirty="0" err="1"/>
              <a:t/>
            </a:r>
            <a:r>
              <a:rPr lang="en-US" sz="800" dirty="0"/>
              <a:t/>
            </a:r>
            <a:endParaRPr lang="en-BR" sz="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DF35E46-A3ED-54C8-812D-18BFD4A11662}"/>
              </a:ext>
            </a:extLst>
          </p:cNvPr>
          <p:cNvSpPr txBox="1"/>
          <p:nvPr/>
        </p:nvSpPr>
        <p:spPr>
          <a:xfrm>
            <a:off x="6217920" y="3716527"/>
            <a:ext cx="53949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800" dirty="0" err="1"/>
              <a:t>Mesmo</a:t>
            </a:r>
            <a:r>
              <a:rPr lang="en-US" sz="800" dirty="0"/>
              <a:t> </a:t>
            </a:r>
            <a:r>
              <a:rPr lang="en-US" sz="800" dirty="0" err="1"/>
              <a:t>padrão</a:t>
            </a:r>
            <a:r>
              <a:rPr lang="en-US" sz="800" dirty="0"/>
              <a:t> </a:t>
            </a:r>
            <a:r>
              <a:rPr lang="en-US" sz="800" dirty="0" err="1"/>
              <a:t>assimétrico</a:t>
            </a:r>
            <a:r>
              <a:rPr lang="en-US" sz="800" dirty="0"/>
              <a:t> — a </a:t>
            </a:r>
            <a:r>
              <a:rPr lang="en-US" sz="800" dirty="0" err="1"/>
              <a:t>maior</a:t>
            </a:r>
            <a:r>
              <a:rPr lang="en-US" sz="800" dirty="0"/>
              <a:t> </a:t>
            </a:r>
            <a:r>
              <a:rPr lang="en-US" sz="800" dirty="0" err="1"/>
              <a:t>parte</a:t>
            </a:r>
            <a:r>
              <a:rPr lang="en-US" sz="800" dirty="0"/>
              <a:t> da </a:t>
            </a:r>
            <a:r>
              <a:rPr lang="en-US" sz="800" dirty="0" err="1"/>
              <a:t>frota</a:t>
            </a:r>
            <a:r>
              <a:rPr lang="en-US" sz="800" dirty="0"/>
              <a:t> </a:t>
            </a:r>
            <a:r>
              <a:rPr lang="en-US" sz="800" dirty="0" err="1"/>
              <a:t>roda</a:t>
            </a:r>
            <a:r>
              <a:rPr lang="en-US" sz="800" dirty="0"/>
              <a:t> </a:t>
            </a:r>
            <a:r>
              <a:rPr lang="en-US" sz="800" dirty="0" err="1"/>
              <a:t>menos</a:t>
            </a:r>
            <a:r>
              <a:rPr lang="en-US" sz="800" dirty="0"/>
              <a:t> de 20.000 km/</a:t>
            </a:r>
            <a:r>
              <a:rPr lang="en-US" sz="800" dirty="0" err="1"/>
              <a:t>ano</a:t>
            </a:r>
            <a:r>
              <a:rPr lang="en-US" sz="800" dirty="0"/>
              <a:t>, com outliers </a:t>
            </a:r>
            <a:r>
              <a:rPr lang="en-US" sz="800" dirty="0" err="1"/>
              <a:t>acima</a:t>
            </a:r>
            <a:r>
              <a:rPr lang="en-US" sz="800" dirty="0"/>
              <a:t> de 75.000 km. </a:t>
            </a:r>
            <a:endParaRPr lang="en-BR" sz="8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9C800E6-2A9A-1248-CD15-0489E511C6E8}"/>
              </a:ext>
            </a:extLst>
          </p:cNvPr>
          <p:cNvSpPr txBox="1"/>
          <p:nvPr/>
        </p:nvSpPr>
        <p:spPr>
          <a:xfrm>
            <a:off x="640080" y="6183150"/>
            <a:ext cx="53949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800" dirty="0" err="1"/>
              <a:t>Distribuição</a:t>
            </a:r>
            <a:r>
              <a:rPr lang="en-US" sz="800" dirty="0"/>
              <a:t> </a:t>
            </a:r>
            <a:r>
              <a:rPr lang="en-US" sz="800" dirty="0" err="1"/>
              <a:t>quase</a:t>
            </a:r>
            <a:r>
              <a:rPr lang="en-US" sz="800" dirty="0"/>
              <a:t> </a:t>
            </a:r>
            <a:r>
              <a:rPr lang="en-US" sz="800" dirty="0" err="1"/>
              <a:t>idêntica</a:t>
            </a:r>
            <a:r>
              <a:rPr lang="en-US" sz="800" dirty="0"/>
              <a:t> à do </a:t>
            </a:r>
            <a:r>
              <a:rPr lang="en-US" sz="800" dirty="0" err="1"/>
              <a:t>custo</a:t>
            </a:r>
            <a:r>
              <a:rPr lang="en-US" sz="800" dirty="0"/>
              <a:t> </a:t>
            </a:r>
            <a:r>
              <a:rPr lang="en-US" sz="800" dirty="0" err="1"/>
              <a:t>atual</a:t>
            </a:r>
            <a:r>
              <a:rPr lang="en-US" sz="800" dirty="0"/>
              <a:t>, o </a:t>
            </a:r>
            <a:r>
              <a:rPr lang="en-US" sz="800" dirty="0" err="1"/>
              <a:t>que</a:t>
            </a:r>
            <a:r>
              <a:rPr lang="en-US" sz="800" dirty="0"/>
              <a:t> indica forte </a:t>
            </a:r>
            <a:r>
              <a:rPr lang="en-US" sz="800" dirty="0" err="1"/>
              <a:t>potencial</a:t>
            </a:r>
            <a:r>
              <a:rPr lang="en-US" sz="800" dirty="0"/>
              <a:t> </a:t>
            </a:r>
            <a:r>
              <a:rPr lang="en-US" sz="800" dirty="0" err="1"/>
              <a:t>preditivo</a:t>
            </a:r>
            <a:r>
              <a:rPr lang="en-US" sz="800" dirty="0"/>
              <a:t> — </a:t>
            </a:r>
            <a:r>
              <a:rPr lang="en-US" sz="800" dirty="0" err="1"/>
              <a:t>custo</a:t>
            </a:r>
            <a:r>
              <a:rPr lang="en-US" sz="800" dirty="0"/>
              <a:t> passado </a:t>
            </a:r>
            <a:r>
              <a:rPr lang="en-US" sz="800" dirty="0" err="1"/>
              <a:t>tende</a:t>
            </a:r>
            <a:r>
              <a:rPr lang="en-US" sz="800" dirty="0"/>
              <a:t> a ser o </a:t>
            </a:r>
            <a:r>
              <a:rPr lang="en-US" sz="800" dirty="0" err="1"/>
              <a:t>melhor</a:t>
            </a:r>
            <a:r>
              <a:rPr lang="en-US" sz="800" dirty="0"/>
              <a:t> </a:t>
            </a:r>
            <a:r>
              <a:rPr lang="en-US" sz="800" dirty="0" err="1"/>
              <a:t>previsor</a:t>
            </a:r>
            <a:r>
              <a:rPr lang="en-US" sz="800" dirty="0"/>
              <a:t> do </a:t>
            </a:r>
            <a:r>
              <a:rPr lang="en-US" sz="800" dirty="0" err="1"/>
              <a:t>custo</a:t>
            </a:r>
            <a:r>
              <a:rPr lang="en-US" sz="800" dirty="0"/>
              <a:t> </a:t>
            </a:r>
            <a:r>
              <a:rPr lang="en-US" sz="800" dirty="0" err="1"/>
              <a:t>futuro</a:t>
            </a:r>
            <a:r>
              <a:rPr lang="en-US" sz="800" dirty="0"/>
              <a:t>. </a:t>
            </a:r>
            <a:endParaRPr lang="en-BR" sz="8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5017C92-C222-260D-093F-C3902A1D7A89}"/>
              </a:ext>
            </a:extLst>
          </p:cNvPr>
          <p:cNvSpPr txBox="1"/>
          <p:nvPr/>
        </p:nvSpPr>
        <p:spPr>
          <a:xfrm>
            <a:off x="6217920" y="6183150"/>
            <a:ext cx="53949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800" dirty="0" err="1"/>
              <a:t>Variável</a:t>
            </a:r>
            <a:r>
              <a:rPr lang="en-US" sz="800" dirty="0"/>
              <a:t> de </a:t>
            </a:r>
            <a:r>
              <a:rPr lang="en-US" sz="800" dirty="0" err="1"/>
              <a:t>contagem</a:t>
            </a:r>
            <a:r>
              <a:rPr lang="en-US" sz="800" dirty="0"/>
              <a:t> com </a:t>
            </a:r>
            <a:r>
              <a:rPr lang="en-US" sz="800" dirty="0" err="1"/>
              <a:t>moda</a:t>
            </a:r>
            <a:r>
              <a:rPr lang="en-US" sz="800" dirty="0"/>
              <a:t> </a:t>
            </a:r>
            <a:r>
              <a:rPr lang="en-US" sz="800" dirty="0" err="1"/>
              <a:t>em</a:t>
            </a:r>
            <a:r>
              <a:rPr lang="en-US" sz="800" dirty="0"/>
              <a:t> 1–2 </a:t>
            </a:r>
            <a:r>
              <a:rPr lang="en-US" sz="800" dirty="0" err="1"/>
              <a:t>ordens</a:t>
            </a:r>
            <a:r>
              <a:rPr lang="en-US" sz="800" dirty="0"/>
              <a:t> de </a:t>
            </a:r>
            <a:r>
              <a:rPr lang="en-US" sz="800" dirty="0" err="1"/>
              <a:t>serviço</a:t>
            </a:r>
            <a:r>
              <a:rPr lang="en-US" sz="800" dirty="0"/>
              <a:t> e cauda </a:t>
            </a:r>
            <a:r>
              <a:rPr lang="en-US" sz="800" dirty="0" err="1"/>
              <a:t>até</a:t>
            </a:r>
            <a:r>
              <a:rPr lang="en-US" sz="800" dirty="0"/>
              <a:t> ~20, </a:t>
            </a:r>
            <a:r>
              <a:rPr lang="en-US" sz="800" dirty="0" err="1"/>
              <a:t>padrão</a:t>
            </a:r>
            <a:r>
              <a:rPr lang="en-US" sz="800" dirty="0"/>
              <a:t> </a:t>
            </a:r>
            <a:r>
              <a:rPr lang="en-US" sz="800" dirty="0" err="1"/>
              <a:t>típico</a:t>
            </a:r>
            <a:r>
              <a:rPr lang="en-US" sz="800" dirty="0"/>
              <a:t> Poisson. </a:t>
            </a:r>
            <a:r>
              <a:rPr lang="en-US" sz="800" dirty="0" err="1"/>
              <a:t>Os</a:t>
            </a:r>
            <a:r>
              <a:rPr lang="en-US" sz="800" dirty="0"/>
              <a:t> outliers </a:t>
            </a:r>
            <a:r>
              <a:rPr lang="en-US" sz="800" dirty="0" err="1"/>
              <a:t>acima</a:t>
            </a:r>
            <a:r>
              <a:rPr lang="en-US" sz="800" dirty="0"/>
              <a:t> de 12 OS </a:t>
            </a:r>
            <a:r>
              <a:rPr lang="en-US" sz="800" dirty="0" err="1"/>
              <a:t>indicam</a:t>
            </a:r>
            <a:r>
              <a:rPr lang="en-US" sz="800" dirty="0"/>
              <a:t> </a:t>
            </a:r>
            <a:r>
              <a:rPr lang="en-US" sz="800" dirty="0" err="1"/>
              <a:t>veículos</a:t>
            </a:r>
            <a:r>
              <a:rPr lang="en-US" sz="800" dirty="0"/>
              <a:t> com </a:t>
            </a:r>
            <a:r>
              <a:rPr lang="en-US" sz="800" dirty="0" err="1"/>
              <a:t>manutenção</a:t>
            </a:r>
            <a:r>
              <a:rPr lang="en-US" sz="800" dirty="0"/>
              <a:t> </a:t>
            </a:r>
            <a:r>
              <a:rPr lang="en-US" sz="800" dirty="0" err="1"/>
              <a:t>recorrente</a:t>
            </a:r>
            <a:r>
              <a:rPr lang="en-US" sz="800" dirty="0"/>
              <a:t>, </a:t>
            </a:r>
            <a:r>
              <a:rPr lang="en-US" sz="800" dirty="0" err="1"/>
              <a:t>que</a:t>
            </a:r>
            <a:r>
              <a:rPr lang="en-US" sz="800" dirty="0"/>
              <a:t> </a:t>
            </a:r>
            <a:r>
              <a:rPr lang="en-US" sz="800" dirty="0" err="1"/>
              <a:t>merecem</a:t>
            </a:r>
            <a:r>
              <a:rPr lang="en-US" sz="800" dirty="0"/>
              <a:t> </a:t>
            </a:r>
            <a:r>
              <a:rPr lang="en-US" sz="800" dirty="0" err="1"/>
              <a:t>atenção</a:t>
            </a:r>
            <a:r>
              <a:rPr lang="en-US" sz="800" dirty="0"/>
              <a:t> especial.</a:t>
            </a:r>
            <a:endParaRPr lang="en-BR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46304" cy="822960"/>
          </a:xfrm>
          <a:prstGeom prst="rect">
            <a:avLst/>
          </a:prstGeom>
          <a:solidFill>
            <a:srgbClr val="E87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b="1" noProof="0" dirty="0">
                <a:solidFill>
                  <a:srgbClr val="E8713A"/>
                </a:solidFill>
              </a:rPr>
              <a:t>09 · </a:t>
            </a:r>
            <a:r>
              <a:rPr lang="pt-BR" sz="1200" b="1" noProof="0" dirty="0">
                <a:solidFill>
                  <a:srgbClr val="E8713A"/>
                </a:solidFill>
                <a:latin typeface="Calibri"/>
              </a:rPr>
              <a:t>EDA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78992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2700" b="1" noProof="0" dirty="0">
                <a:solidFill>
                  <a:srgbClr val="142B45"/>
                </a:solidFill>
                <a:latin typeface="Calibri"/>
              </a:rPr>
              <a:t>Histogramas — atributos do ativo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82496"/>
            <a:ext cx="5394960" cy="2039112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82496"/>
            <a:ext cx="5394960" cy="2039112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151376"/>
            <a:ext cx="5394960" cy="2039112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0" y="4151376"/>
            <a:ext cx="5394960" cy="203911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A0F57A5-F4E3-5A25-6797-4F2BCF6CA802}"/>
              </a:ext>
            </a:extLst>
          </p:cNvPr>
          <p:cNvSpPr txBox="1"/>
          <p:nvPr/>
        </p:nvSpPr>
        <p:spPr>
          <a:xfrm>
            <a:off x="640080" y="3715398"/>
            <a:ext cx="53949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800" dirty="0"/>
              <a:t>Frota </a:t>
            </a:r>
            <a:r>
              <a:rPr lang="en-US" sz="800" dirty="0" err="1"/>
              <a:t>concentrada</a:t>
            </a:r>
            <a:r>
              <a:rPr lang="en-US" sz="800" dirty="0"/>
              <a:t> entre 2005 e 2024, com </a:t>
            </a:r>
            <a:r>
              <a:rPr lang="en-US" sz="800" dirty="0" err="1"/>
              <a:t>mediana</a:t>
            </a:r>
            <a:r>
              <a:rPr lang="en-US" sz="800" dirty="0"/>
              <a:t> </a:t>
            </a:r>
            <a:r>
              <a:rPr lang="en-US" sz="800" dirty="0" err="1"/>
              <a:t>em</a:t>
            </a:r>
            <a:r>
              <a:rPr lang="en-US" sz="800" dirty="0"/>
              <a:t> </a:t>
            </a:r>
            <a:r>
              <a:rPr lang="en-US" sz="800" dirty="0" err="1"/>
              <a:t>torno</a:t>
            </a:r>
            <a:r>
              <a:rPr lang="en-US" sz="800" dirty="0"/>
              <a:t> de 2015 e um </a:t>
            </a:r>
            <a:r>
              <a:rPr lang="en-US" sz="800" dirty="0" err="1"/>
              <a:t>pico</a:t>
            </a:r>
            <a:r>
              <a:rPr lang="en-US" sz="800" dirty="0"/>
              <a:t> </a:t>
            </a:r>
            <a:r>
              <a:rPr lang="en-US" sz="800" dirty="0" err="1"/>
              <a:t>expressivo</a:t>
            </a:r>
            <a:r>
              <a:rPr lang="en-US" sz="800" dirty="0"/>
              <a:t> </a:t>
            </a:r>
            <a:r>
              <a:rPr lang="en-US" sz="800" dirty="0" err="1"/>
              <a:t>em</a:t>
            </a:r>
            <a:r>
              <a:rPr lang="en-US" sz="800" dirty="0"/>
              <a:t> ~2020. </a:t>
            </a:r>
            <a:r>
              <a:rPr lang="en-US" sz="800" dirty="0" err="1"/>
              <a:t>Os</a:t>
            </a:r>
            <a:r>
              <a:rPr lang="en-US" sz="800" dirty="0"/>
              <a:t> outliers </a:t>
            </a:r>
            <a:r>
              <a:rPr lang="en-US" sz="800" dirty="0" err="1"/>
              <a:t>abaixo</a:t>
            </a:r>
            <a:r>
              <a:rPr lang="en-US" sz="800" dirty="0"/>
              <a:t> de 1999 </a:t>
            </a:r>
            <a:r>
              <a:rPr lang="en-US" sz="800" dirty="0" err="1"/>
              <a:t>são</a:t>
            </a:r>
            <a:r>
              <a:rPr lang="en-US" sz="800" dirty="0"/>
              <a:t> </a:t>
            </a:r>
            <a:r>
              <a:rPr lang="en-US" sz="800" dirty="0" err="1"/>
              <a:t>poucos</a:t>
            </a:r>
            <a:r>
              <a:rPr lang="en-US" sz="800" dirty="0"/>
              <a:t> </a:t>
            </a:r>
            <a:r>
              <a:rPr lang="en-US" sz="800" dirty="0" err="1"/>
              <a:t>veículos</a:t>
            </a:r>
            <a:r>
              <a:rPr lang="en-US" sz="800" dirty="0"/>
              <a:t> </a:t>
            </a:r>
            <a:r>
              <a:rPr lang="en-US" sz="800" dirty="0" err="1"/>
              <a:t>muito</a:t>
            </a:r>
            <a:r>
              <a:rPr lang="en-US" sz="800" dirty="0"/>
              <a:t> </a:t>
            </a:r>
            <a:r>
              <a:rPr lang="en-US" sz="800" dirty="0" err="1"/>
              <a:t>antigos</a:t>
            </a:r>
            <a:r>
              <a:rPr lang="en-US" sz="800" dirty="0"/>
              <a:t>, </a:t>
            </a:r>
            <a:r>
              <a:rPr lang="en-US" sz="800" dirty="0" err="1"/>
              <a:t>que</a:t>
            </a:r>
            <a:r>
              <a:rPr lang="en-US" sz="800" dirty="0"/>
              <a:t> </a:t>
            </a:r>
            <a:r>
              <a:rPr lang="en-US" sz="800" dirty="0" err="1"/>
              <a:t>merecem</a:t>
            </a:r>
            <a:r>
              <a:rPr lang="en-US" sz="800" dirty="0"/>
              <a:t> </a:t>
            </a:r>
            <a:r>
              <a:rPr lang="en-US" sz="800" dirty="0" err="1"/>
              <a:t>verificação</a:t>
            </a:r>
            <a:r>
              <a:rPr lang="en-US" sz="800" dirty="0"/>
              <a:t> se </a:t>
            </a:r>
            <a:r>
              <a:rPr lang="en-US" sz="800" dirty="0" err="1"/>
              <a:t>ainda</a:t>
            </a:r>
            <a:r>
              <a:rPr lang="en-US" sz="800" dirty="0"/>
              <a:t> </a:t>
            </a:r>
            <a:r>
              <a:rPr lang="en-US" sz="800" dirty="0" err="1"/>
              <a:t>estão</a:t>
            </a:r>
            <a:r>
              <a:rPr lang="en-US" sz="800" dirty="0"/>
              <a:t> </a:t>
            </a:r>
            <a:r>
              <a:rPr lang="en-US" sz="800" dirty="0" err="1"/>
              <a:t>ativos</a:t>
            </a:r>
            <a:r>
              <a:rPr lang="en-US" sz="800" dirty="0"/>
              <a:t>.</a:t>
            </a:r>
            <a:endParaRPr lang="en-BR" sz="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0E3C120-95B0-EA6B-176B-CEF04A0C75B0}"/>
              </a:ext>
            </a:extLst>
          </p:cNvPr>
          <p:cNvSpPr txBox="1"/>
          <p:nvPr/>
        </p:nvSpPr>
        <p:spPr>
          <a:xfrm>
            <a:off x="6217920" y="3716527"/>
            <a:ext cx="53949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800" dirty="0" err="1"/>
              <a:t>Variável</a:t>
            </a:r>
            <a:r>
              <a:rPr lang="en-US" sz="800" dirty="0"/>
              <a:t> </a:t>
            </a:r>
            <a:r>
              <a:rPr lang="en-US" sz="800" dirty="0" err="1"/>
              <a:t>quase</a:t>
            </a:r>
            <a:r>
              <a:rPr lang="en-US" sz="800" dirty="0"/>
              <a:t> </a:t>
            </a:r>
            <a:r>
              <a:rPr lang="en-US" sz="800" dirty="0" err="1"/>
              <a:t>constante</a:t>
            </a:r>
            <a:r>
              <a:rPr lang="en-US" sz="800" dirty="0"/>
              <a:t> — a </a:t>
            </a:r>
            <a:r>
              <a:rPr lang="en-US" sz="800" dirty="0" err="1"/>
              <a:t>esmagadora</a:t>
            </a:r>
            <a:r>
              <a:rPr lang="en-US" sz="800" dirty="0"/>
              <a:t> </a:t>
            </a:r>
            <a:r>
              <a:rPr lang="en-US" sz="800" dirty="0" err="1"/>
              <a:t>maioria</a:t>
            </a:r>
            <a:r>
              <a:rPr lang="en-US" sz="800" dirty="0"/>
              <a:t> das carretas </a:t>
            </a:r>
            <a:r>
              <a:rPr lang="en-US" sz="800" dirty="0" err="1"/>
              <a:t>tem</a:t>
            </a:r>
            <a:r>
              <a:rPr lang="en-US" sz="800" dirty="0"/>
              <a:t> 2 </a:t>
            </a:r>
            <a:r>
              <a:rPr lang="en-US" sz="800" dirty="0" err="1"/>
              <a:t>eixos</a:t>
            </a:r>
            <a:r>
              <a:rPr lang="en-US" sz="800" dirty="0"/>
              <a:t>, com </a:t>
            </a:r>
            <a:r>
              <a:rPr lang="en-US" sz="800" dirty="0" err="1"/>
              <a:t>uma</a:t>
            </a:r>
            <a:r>
              <a:rPr lang="en-US" sz="800" dirty="0"/>
              <a:t> </a:t>
            </a:r>
            <a:r>
              <a:rPr lang="en-US" sz="800" dirty="0" err="1"/>
              <a:t>pequena</a:t>
            </a:r>
            <a:r>
              <a:rPr lang="en-US" sz="800" dirty="0"/>
              <a:t> </a:t>
            </a:r>
            <a:r>
              <a:rPr lang="en-US" sz="800" dirty="0" err="1"/>
              <a:t>fração</a:t>
            </a:r>
            <a:r>
              <a:rPr lang="en-US" sz="800" dirty="0"/>
              <a:t> de 3 e </a:t>
            </a:r>
            <a:r>
              <a:rPr lang="en-US" sz="800" dirty="0" err="1"/>
              <a:t>casos</a:t>
            </a:r>
            <a:r>
              <a:rPr lang="en-US" sz="800" dirty="0"/>
              <a:t> </a:t>
            </a:r>
            <a:r>
              <a:rPr lang="en-US" sz="800" dirty="0" err="1"/>
              <a:t>raros</a:t>
            </a:r>
            <a:r>
              <a:rPr lang="en-US" sz="800" dirty="0"/>
              <a:t> de 1 e 4. Com </a:t>
            </a:r>
            <a:r>
              <a:rPr lang="en-US" sz="800" dirty="0" err="1"/>
              <a:t>tão</a:t>
            </a:r>
            <a:r>
              <a:rPr lang="en-US" sz="800" dirty="0"/>
              <a:t> </a:t>
            </a:r>
            <a:r>
              <a:rPr lang="en-US" sz="800" dirty="0" err="1"/>
              <a:t>pouca</a:t>
            </a:r>
            <a:r>
              <a:rPr lang="en-US" sz="800" dirty="0"/>
              <a:t> </a:t>
            </a:r>
            <a:r>
              <a:rPr lang="en-US" sz="800" dirty="0" err="1"/>
              <a:t>variabilidade</a:t>
            </a:r>
            <a:r>
              <a:rPr lang="en-US" sz="800" dirty="0"/>
              <a:t>, </a:t>
            </a:r>
            <a:r>
              <a:rPr lang="en-US" sz="800" dirty="0" err="1"/>
              <a:t>tende</a:t>
            </a:r>
            <a:r>
              <a:rPr lang="en-US" sz="800" dirty="0"/>
              <a:t> a ter </a:t>
            </a:r>
            <a:r>
              <a:rPr lang="en-US" sz="800" dirty="0" err="1"/>
              <a:t>baixo</a:t>
            </a:r>
            <a:r>
              <a:rPr lang="en-US" sz="800" dirty="0"/>
              <a:t> </a:t>
            </a:r>
            <a:r>
              <a:rPr lang="en-US" sz="800" dirty="0" err="1"/>
              <a:t>poder</a:t>
            </a:r>
            <a:r>
              <a:rPr lang="en-US" sz="800" dirty="0"/>
              <a:t> </a:t>
            </a:r>
            <a:r>
              <a:rPr lang="en-US" sz="800" dirty="0" err="1"/>
              <a:t>preditivo</a:t>
            </a:r>
            <a:r>
              <a:rPr lang="en-US" sz="800" dirty="0"/>
              <a:t> no </a:t>
            </a:r>
            <a:r>
              <a:rPr lang="en-US" sz="800" dirty="0" err="1"/>
              <a:t>modelo</a:t>
            </a:r>
            <a:r>
              <a:rPr lang="en-US" sz="800" dirty="0"/>
              <a:t>.</a:t>
            </a:r>
            <a:endParaRPr lang="en-BR" sz="8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7FFDE60-4C0E-1B65-C7CB-D094462EAA8F}"/>
              </a:ext>
            </a:extLst>
          </p:cNvPr>
          <p:cNvSpPr txBox="1"/>
          <p:nvPr/>
        </p:nvSpPr>
        <p:spPr>
          <a:xfrm>
            <a:off x="640080" y="6183150"/>
            <a:ext cx="53949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800" dirty="0"/>
              <a:t>Fortemente </a:t>
            </a:r>
            <a:r>
              <a:rPr lang="en-US" sz="800" dirty="0" err="1"/>
              <a:t>concentrado</a:t>
            </a:r>
            <a:r>
              <a:rPr lang="en-US" sz="800" dirty="0"/>
              <a:t> num </a:t>
            </a:r>
            <a:r>
              <a:rPr lang="en-US" sz="800" dirty="0" err="1"/>
              <a:t>único</a:t>
            </a:r>
            <a:r>
              <a:rPr lang="en-US" sz="800" dirty="0"/>
              <a:t> valor (~53 </a:t>
            </a:r>
            <a:r>
              <a:rPr lang="en-US" sz="800" dirty="0" err="1"/>
              <a:t>pés</a:t>
            </a:r>
            <a:r>
              <a:rPr lang="en-US" sz="800" dirty="0"/>
              <a:t>, o </a:t>
            </a:r>
            <a:r>
              <a:rPr lang="en-US" sz="800" dirty="0" err="1"/>
              <a:t>padrão</a:t>
            </a:r>
            <a:r>
              <a:rPr lang="en-US" sz="800" dirty="0"/>
              <a:t> do mercado), com </a:t>
            </a:r>
            <a:r>
              <a:rPr lang="en-US" sz="800" dirty="0" err="1"/>
              <a:t>os</a:t>
            </a:r>
            <a:r>
              <a:rPr lang="en-US" sz="800" dirty="0"/>
              <a:t> </a:t>
            </a:r>
            <a:r>
              <a:rPr lang="en-US" sz="800" dirty="0" err="1"/>
              <a:t>demais</a:t>
            </a:r>
            <a:r>
              <a:rPr lang="en-US" sz="800" dirty="0"/>
              <a:t> </a:t>
            </a:r>
            <a:r>
              <a:rPr lang="en-US" sz="800" dirty="0" err="1"/>
              <a:t>comprimentos</a:t>
            </a:r>
            <a:r>
              <a:rPr lang="en-US" sz="800" dirty="0"/>
              <a:t> </a:t>
            </a:r>
            <a:r>
              <a:rPr lang="en-US" sz="800" dirty="0" err="1"/>
              <a:t>aparecendo</a:t>
            </a:r>
            <a:r>
              <a:rPr lang="en-US" sz="800" dirty="0"/>
              <a:t> </a:t>
            </a:r>
            <a:r>
              <a:rPr lang="en-US" sz="800" dirty="0" err="1"/>
              <a:t>como</a:t>
            </a:r>
            <a:r>
              <a:rPr lang="en-US" sz="800" dirty="0"/>
              <a:t> outliers no boxplot. Assim </a:t>
            </a:r>
            <a:r>
              <a:rPr lang="en-US" sz="800" dirty="0" err="1"/>
              <a:t>como</a:t>
            </a:r>
            <a:r>
              <a:rPr lang="en-US" sz="800" dirty="0"/>
              <a:t> </a:t>
            </a:r>
            <a:r>
              <a:rPr lang="en-US" sz="800" dirty="0" err="1"/>
              <a:t>eixos</a:t>
            </a:r>
            <a:r>
              <a:rPr lang="en-US" sz="800" dirty="0"/>
              <a:t>, </a:t>
            </a:r>
            <a:r>
              <a:rPr lang="en-US" sz="800" dirty="0" err="1"/>
              <a:t>é</a:t>
            </a:r>
            <a:r>
              <a:rPr lang="en-US" sz="800" dirty="0"/>
              <a:t> </a:t>
            </a:r>
            <a:r>
              <a:rPr lang="en-US" sz="800" dirty="0" err="1"/>
              <a:t>uma</a:t>
            </a:r>
            <a:r>
              <a:rPr lang="en-US" sz="800" dirty="0"/>
              <a:t> </a:t>
            </a:r>
            <a:r>
              <a:rPr lang="en-US" sz="800" dirty="0" err="1"/>
              <a:t>variável</a:t>
            </a:r>
            <a:r>
              <a:rPr lang="en-US" sz="800" dirty="0"/>
              <a:t> de </a:t>
            </a:r>
            <a:r>
              <a:rPr lang="en-US" sz="800" dirty="0" err="1"/>
              <a:t>baixa</a:t>
            </a:r>
            <a:r>
              <a:rPr lang="en-US" sz="800" dirty="0"/>
              <a:t> </a:t>
            </a:r>
            <a:r>
              <a:rPr lang="en-US" sz="800" dirty="0" err="1"/>
              <a:t>variância</a:t>
            </a:r>
            <a:r>
              <a:rPr lang="en-US" sz="800" dirty="0"/>
              <a:t> — </a:t>
            </a:r>
            <a:r>
              <a:rPr lang="en-US" sz="800" dirty="0" err="1"/>
              <a:t>os</a:t>
            </a:r>
            <a:r>
              <a:rPr lang="en-US" sz="800" dirty="0"/>
              <a:t> </a:t>
            </a:r>
            <a:r>
              <a:rPr lang="en-US" sz="800" dirty="0" err="1"/>
              <a:t>poucos</a:t>
            </a:r>
            <a:r>
              <a:rPr lang="en-US" sz="800" dirty="0"/>
              <a:t> </a:t>
            </a:r>
            <a:r>
              <a:rPr lang="en-US" sz="800" dirty="0" err="1"/>
              <a:t>comprimentos</a:t>
            </a:r>
            <a:r>
              <a:rPr lang="en-US" sz="800" dirty="0"/>
              <a:t> </a:t>
            </a:r>
            <a:r>
              <a:rPr lang="en-US" sz="800" dirty="0" err="1"/>
              <a:t>atípicos</a:t>
            </a:r>
            <a:r>
              <a:rPr lang="en-US" sz="800" dirty="0"/>
              <a:t> </a:t>
            </a:r>
            <a:r>
              <a:rPr lang="en-US" sz="800" dirty="0" err="1"/>
              <a:t>podem</a:t>
            </a:r>
            <a:r>
              <a:rPr lang="en-US" sz="800" dirty="0"/>
              <a:t>, </a:t>
            </a:r>
            <a:r>
              <a:rPr lang="en-US" sz="800" dirty="0" err="1"/>
              <a:t>porém</a:t>
            </a:r>
            <a:r>
              <a:rPr lang="en-US" sz="800" dirty="0"/>
              <a:t>, </a:t>
            </a:r>
            <a:r>
              <a:rPr lang="en-US" sz="800" dirty="0" err="1"/>
              <a:t>sinalizar</a:t>
            </a:r>
            <a:r>
              <a:rPr lang="en-US" sz="800" dirty="0"/>
              <a:t> </a:t>
            </a:r>
            <a:r>
              <a:rPr lang="en-US" sz="800" dirty="0" err="1"/>
              <a:t>equipamentos</a:t>
            </a:r>
            <a:r>
              <a:rPr lang="en-US" sz="800" dirty="0"/>
              <a:t> </a:t>
            </a:r>
            <a:r>
              <a:rPr lang="en-US" sz="800" dirty="0" err="1"/>
              <a:t>especiais</a:t>
            </a:r>
            <a:r>
              <a:rPr lang="en-US" sz="800" dirty="0"/>
              <a:t> com </a:t>
            </a:r>
            <a:r>
              <a:rPr lang="en-US" sz="800" dirty="0" err="1"/>
              <a:t>perfil</a:t>
            </a:r>
            <a:r>
              <a:rPr lang="en-US" sz="800" dirty="0"/>
              <a:t> de </a:t>
            </a:r>
            <a:r>
              <a:rPr lang="en-US" sz="800" dirty="0" err="1"/>
              <a:t>custo</a:t>
            </a:r>
            <a:r>
              <a:rPr lang="en-US" sz="800" dirty="0"/>
              <a:t> </a:t>
            </a:r>
            <a:r>
              <a:rPr lang="en-US" sz="800" dirty="0" err="1"/>
              <a:t>diferente</a:t>
            </a:r>
            <a:r>
              <a:rPr lang="en-US" sz="800" dirty="0"/>
              <a:t>.</a:t>
            </a:r>
            <a:endParaRPr lang="en-BR" sz="8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CB621FB-CE03-D9E0-993C-9BE84B7E63FC}"/>
              </a:ext>
            </a:extLst>
          </p:cNvPr>
          <p:cNvSpPr txBox="1"/>
          <p:nvPr/>
        </p:nvSpPr>
        <p:spPr>
          <a:xfrm>
            <a:off x="6217920" y="6183150"/>
            <a:ext cx="53949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800" dirty="0" err="1"/>
              <a:t>Distribuição</a:t>
            </a:r>
            <a:r>
              <a:rPr lang="en-US" sz="800" dirty="0"/>
              <a:t> </a:t>
            </a:r>
            <a:r>
              <a:rPr lang="en-US" sz="800" dirty="0" err="1"/>
              <a:t>bem</a:t>
            </a:r>
            <a:r>
              <a:rPr lang="en-US" sz="800" dirty="0"/>
              <a:t> </a:t>
            </a:r>
            <a:r>
              <a:rPr lang="en-US" sz="800" dirty="0" err="1"/>
              <a:t>mais</a:t>
            </a:r>
            <a:r>
              <a:rPr lang="en-US" sz="800" dirty="0"/>
              <a:t> </a:t>
            </a:r>
            <a:r>
              <a:rPr lang="en-US" sz="800" dirty="0" err="1"/>
              <a:t>equilibrada</a:t>
            </a:r>
            <a:r>
              <a:rPr lang="en-US" sz="800" dirty="0"/>
              <a:t>, com </a:t>
            </a:r>
            <a:r>
              <a:rPr lang="en-US" sz="800" dirty="0" err="1"/>
              <a:t>platô</a:t>
            </a:r>
            <a:r>
              <a:rPr lang="en-US" sz="800" dirty="0"/>
              <a:t> entre 0 e 8 </a:t>
            </a:r>
            <a:r>
              <a:rPr lang="en-US" sz="800" dirty="0" err="1"/>
              <a:t>anos</a:t>
            </a:r>
            <a:r>
              <a:rPr lang="en-US" sz="800" dirty="0"/>
              <a:t> e </a:t>
            </a:r>
            <a:r>
              <a:rPr lang="en-US" sz="800" dirty="0" err="1"/>
              <a:t>decaimento</a:t>
            </a:r>
            <a:r>
              <a:rPr lang="en-US" sz="800" dirty="0"/>
              <a:t> gradual </a:t>
            </a:r>
            <a:r>
              <a:rPr lang="en-US" sz="800" dirty="0" err="1"/>
              <a:t>até</a:t>
            </a:r>
            <a:r>
              <a:rPr lang="en-US" sz="800" dirty="0"/>
              <a:t> ~23 </a:t>
            </a:r>
            <a:r>
              <a:rPr lang="en-US" sz="800" dirty="0" err="1"/>
              <a:t>anos</a:t>
            </a:r>
            <a:r>
              <a:rPr lang="en-US" sz="800" dirty="0"/>
              <a:t>; </a:t>
            </a:r>
            <a:r>
              <a:rPr lang="en-US" sz="800" dirty="0" err="1"/>
              <a:t>mediana</a:t>
            </a:r>
            <a:r>
              <a:rPr lang="en-US" sz="800" dirty="0"/>
              <a:t> de ~7 </a:t>
            </a:r>
            <a:r>
              <a:rPr lang="en-US" sz="800" dirty="0" err="1"/>
              <a:t>anos</a:t>
            </a:r>
            <a:r>
              <a:rPr lang="en-US" sz="800" dirty="0"/>
              <a:t>. </a:t>
            </a:r>
            <a:r>
              <a:rPr lang="en-US" sz="800" dirty="0" err="1"/>
              <a:t>É</a:t>
            </a:r>
            <a:r>
              <a:rPr lang="en-US" sz="800" dirty="0"/>
              <a:t> a </a:t>
            </a:r>
            <a:r>
              <a:rPr lang="en-US" sz="800" dirty="0" err="1"/>
              <a:t>versão</a:t>
            </a:r>
            <a:r>
              <a:rPr lang="en-US" sz="800" dirty="0"/>
              <a:t> </a:t>
            </a:r>
            <a:r>
              <a:rPr lang="en-US" sz="800" dirty="0" err="1"/>
              <a:t>mais</a:t>
            </a:r>
            <a:r>
              <a:rPr lang="en-US" sz="800" dirty="0"/>
              <a:t> "</a:t>
            </a:r>
            <a:r>
              <a:rPr lang="en-US" sz="800" dirty="0" err="1"/>
              <a:t>utilizável</a:t>
            </a:r>
            <a:r>
              <a:rPr lang="en-US" sz="800" dirty="0"/>
              <a:t>" de </a:t>
            </a:r>
            <a:r>
              <a:rPr lang="en-US" sz="800" dirty="0" err="1"/>
              <a:t>ano_modelo</a:t>
            </a:r>
            <a:r>
              <a:rPr lang="en-US" sz="800" dirty="0"/>
              <a:t> para o </a:t>
            </a:r>
            <a:r>
              <a:rPr lang="en-US" sz="800" dirty="0" err="1"/>
              <a:t>modelo</a:t>
            </a:r>
            <a:r>
              <a:rPr lang="en-US" sz="800" dirty="0"/>
              <a:t>, com boa </a:t>
            </a:r>
            <a:r>
              <a:rPr lang="en-US" sz="800" dirty="0" err="1"/>
              <a:t>dispersão</a:t>
            </a:r>
            <a:r>
              <a:rPr lang="en-US" sz="800" dirty="0"/>
              <a:t> e </a:t>
            </a:r>
            <a:r>
              <a:rPr lang="en-US" sz="800" dirty="0" err="1"/>
              <a:t>leitura</a:t>
            </a:r>
            <a:r>
              <a:rPr lang="en-US" sz="800" dirty="0"/>
              <a:t> </a:t>
            </a:r>
            <a:r>
              <a:rPr lang="en-US" sz="800" dirty="0" err="1"/>
              <a:t>direta</a:t>
            </a:r>
            <a:endParaRPr lang="en-BR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46304" cy="822960"/>
          </a:xfrm>
          <a:prstGeom prst="rect">
            <a:avLst/>
          </a:prstGeom>
          <a:solidFill>
            <a:srgbClr val="E87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b="1" noProof="0" dirty="0">
                <a:solidFill>
                  <a:srgbClr val="E8713A"/>
                </a:solidFill>
              </a:rPr>
              <a:t>09 · </a:t>
            </a:r>
            <a:r>
              <a:rPr lang="pt-BR" sz="1200" b="1" noProof="0" dirty="0">
                <a:solidFill>
                  <a:srgbClr val="E8713A"/>
                </a:solidFill>
                <a:latin typeface="Calibri"/>
              </a:rPr>
              <a:t>EDA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78992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2700" b="1" noProof="0" dirty="0">
                <a:solidFill>
                  <a:srgbClr val="142B45"/>
                </a:solidFill>
                <a:latin typeface="Calibri"/>
              </a:rPr>
              <a:t>Histogramas — uso e operação no ano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82496"/>
            <a:ext cx="5394960" cy="2039112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82496"/>
            <a:ext cx="5394960" cy="2039112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151376"/>
            <a:ext cx="5394960" cy="2039112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0" y="4151376"/>
            <a:ext cx="5394960" cy="203911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6AC43E0-D2E6-D450-B2DB-EAC8C935CE54}"/>
              </a:ext>
            </a:extLst>
          </p:cNvPr>
          <p:cNvSpPr txBox="1"/>
          <p:nvPr/>
        </p:nvSpPr>
        <p:spPr>
          <a:xfrm>
            <a:off x="640080" y="3715398"/>
            <a:ext cx="53949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800" dirty="0" err="1"/>
              <a:t>Assimetria</a:t>
            </a:r>
            <a:r>
              <a:rPr lang="en-US" sz="800" dirty="0"/>
              <a:t> à </a:t>
            </a:r>
            <a:r>
              <a:rPr lang="en-US" sz="800" dirty="0" err="1"/>
              <a:t>direita</a:t>
            </a:r>
            <a:r>
              <a:rPr lang="en-US" sz="800" dirty="0"/>
              <a:t> </a:t>
            </a:r>
            <a:r>
              <a:rPr lang="en-US" sz="800" dirty="0" err="1"/>
              <a:t>típica</a:t>
            </a:r>
            <a:r>
              <a:rPr lang="en-US" sz="800" dirty="0"/>
              <a:t> de </a:t>
            </a:r>
            <a:r>
              <a:rPr lang="en-US" sz="800" dirty="0" err="1"/>
              <a:t>quilometragem</a:t>
            </a:r>
            <a:r>
              <a:rPr lang="en-US" sz="800" dirty="0"/>
              <a:t> </a:t>
            </a:r>
            <a:r>
              <a:rPr lang="en-US" sz="800" dirty="0" err="1"/>
              <a:t>acumulada</a:t>
            </a:r>
            <a:r>
              <a:rPr lang="en-US" sz="800" dirty="0"/>
              <a:t> — a </a:t>
            </a:r>
            <a:r>
              <a:rPr lang="en-US" sz="800" dirty="0" err="1"/>
              <a:t>maioria</a:t>
            </a:r>
            <a:r>
              <a:rPr lang="en-US" sz="800" dirty="0"/>
              <a:t> dos </a:t>
            </a:r>
            <a:r>
              <a:rPr lang="en-US" sz="800" dirty="0" err="1"/>
              <a:t>veículos</a:t>
            </a:r>
            <a:r>
              <a:rPr lang="en-US" sz="800" dirty="0"/>
              <a:t> </a:t>
            </a:r>
            <a:r>
              <a:rPr lang="en-US" sz="800" dirty="0" err="1"/>
              <a:t>tem</a:t>
            </a:r>
            <a:r>
              <a:rPr lang="en-US" sz="800" dirty="0"/>
              <a:t> </a:t>
            </a:r>
            <a:r>
              <a:rPr lang="en-US" sz="800" dirty="0" err="1"/>
              <a:t>menos</a:t>
            </a:r>
            <a:r>
              <a:rPr lang="en-US" sz="800" dirty="0"/>
              <a:t> de 200.000 km, com cauda longa </a:t>
            </a:r>
            <a:r>
              <a:rPr lang="en-US" sz="800" dirty="0" err="1"/>
              <a:t>até</a:t>
            </a:r>
            <a:r>
              <a:rPr lang="en-US" sz="800" dirty="0"/>
              <a:t> ~850.000 km e </a:t>
            </a:r>
            <a:r>
              <a:rPr lang="en-US" sz="800" dirty="0" err="1"/>
              <a:t>muitos</a:t>
            </a:r>
            <a:r>
              <a:rPr lang="en-US" sz="800" dirty="0"/>
              <a:t> outliers </a:t>
            </a:r>
            <a:r>
              <a:rPr lang="en-US" sz="800" dirty="0" err="1"/>
              <a:t>acima</a:t>
            </a:r>
            <a:r>
              <a:rPr lang="en-US" sz="800" dirty="0"/>
              <a:t> de ~530.000 km. A </a:t>
            </a:r>
            <a:r>
              <a:rPr lang="en-US" sz="800" dirty="0" err="1"/>
              <a:t>mediana</a:t>
            </a:r>
            <a:r>
              <a:rPr lang="en-US" sz="800" dirty="0"/>
              <a:t> </a:t>
            </a:r>
            <a:r>
              <a:rPr lang="en-US" sz="800" dirty="0" err="1"/>
              <a:t>em</a:t>
            </a:r>
            <a:r>
              <a:rPr lang="en-US" sz="800" dirty="0"/>
              <a:t> </a:t>
            </a:r>
            <a:r>
              <a:rPr lang="en-US" sz="800" dirty="0" err="1"/>
              <a:t>torno</a:t>
            </a:r>
            <a:r>
              <a:rPr lang="en-US" sz="800" dirty="0"/>
              <a:t> de 120.000 km </a:t>
            </a:r>
            <a:r>
              <a:rPr lang="en-US" sz="800" dirty="0" err="1"/>
              <a:t>reflete</a:t>
            </a:r>
            <a:r>
              <a:rPr lang="en-US" sz="800" dirty="0"/>
              <a:t> </a:t>
            </a:r>
            <a:r>
              <a:rPr lang="en-US" sz="800" dirty="0" err="1"/>
              <a:t>uma</a:t>
            </a:r>
            <a:r>
              <a:rPr lang="en-US" sz="800" dirty="0"/>
              <a:t> </a:t>
            </a:r>
            <a:r>
              <a:rPr lang="en-US" sz="800" dirty="0" err="1"/>
              <a:t>frota</a:t>
            </a:r>
            <a:r>
              <a:rPr lang="en-US" sz="800" dirty="0"/>
              <a:t> </a:t>
            </a:r>
            <a:r>
              <a:rPr lang="en-US" sz="800" dirty="0" err="1"/>
              <a:t>relativamente</a:t>
            </a:r>
            <a:r>
              <a:rPr lang="en-US" sz="800" dirty="0"/>
              <a:t> </a:t>
            </a:r>
            <a:r>
              <a:rPr lang="en-US" sz="800" dirty="0" err="1"/>
              <a:t>jovem</a:t>
            </a:r>
            <a:r>
              <a:rPr lang="en-US" sz="800" dirty="0"/>
              <a:t>, </a:t>
            </a:r>
            <a:r>
              <a:rPr lang="en-US" sz="800" dirty="0" err="1"/>
              <a:t>coerente</a:t>
            </a:r>
            <a:r>
              <a:rPr lang="en-US" sz="800" dirty="0"/>
              <a:t> com a </a:t>
            </a:r>
            <a:r>
              <a:rPr lang="en-US" sz="800" dirty="0" err="1"/>
              <a:t>idade</a:t>
            </a:r>
            <a:r>
              <a:rPr lang="en-US" sz="800" dirty="0"/>
              <a:t> </a:t>
            </a:r>
            <a:r>
              <a:rPr lang="en-US" sz="800" dirty="0" err="1"/>
              <a:t>mediana</a:t>
            </a:r>
            <a:r>
              <a:rPr lang="en-US" sz="800" dirty="0"/>
              <a:t> de ~7 </a:t>
            </a:r>
            <a:r>
              <a:rPr lang="en-US" sz="800" dirty="0" err="1"/>
              <a:t>anos</a:t>
            </a:r>
            <a:r>
              <a:rPr lang="en-US" sz="800" dirty="0"/>
              <a:t> vista antes.</a:t>
            </a:r>
            <a:endParaRPr lang="en-BR" sz="8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76AD6C0-AD2D-30B7-7892-C60A6D11FFAA}"/>
              </a:ext>
            </a:extLst>
          </p:cNvPr>
          <p:cNvSpPr txBox="1"/>
          <p:nvPr/>
        </p:nvSpPr>
        <p:spPr>
          <a:xfrm>
            <a:off x="6217920" y="3716527"/>
            <a:ext cx="53949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800" dirty="0" err="1"/>
              <a:t>Distribuição</a:t>
            </a:r>
            <a:r>
              <a:rPr lang="en-US" sz="800" dirty="0"/>
              <a:t> de </a:t>
            </a:r>
            <a:r>
              <a:rPr lang="en-US" sz="800" dirty="0" err="1"/>
              <a:t>contagem</a:t>
            </a:r>
            <a:r>
              <a:rPr lang="en-US" sz="800" dirty="0"/>
              <a:t> com </a:t>
            </a:r>
            <a:r>
              <a:rPr lang="en-US" sz="800" dirty="0" err="1"/>
              <a:t>moda</a:t>
            </a:r>
            <a:r>
              <a:rPr lang="en-US" sz="800" dirty="0"/>
              <a:t> </a:t>
            </a:r>
            <a:r>
              <a:rPr lang="en-US" sz="800" dirty="0" err="1"/>
              <a:t>em</a:t>
            </a:r>
            <a:r>
              <a:rPr lang="en-US" sz="800" dirty="0"/>
              <a:t> 2 </a:t>
            </a:r>
            <a:r>
              <a:rPr lang="en-US" sz="800" dirty="0" err="1"/>
              <a:t>sistemas</a:t>
            </a:r>
            <a:r>
              <a:rPr lang="en-US" sz="800" dirty="0"/>
              <a:t> </a:t>
            </a:r>
            <a:r>
              <a:rPr lang="en-US" sz="800" dirty="0" err="1"/>
              <a:t>distintos</a:t>
            </a:r>
            <a:r>
              <a:rPr lang="en-US" sz="800" dirty="0"/>
              <a:t> </a:t>
            </a:r>
            <a:r>
              <a:rPr lang="en-US" sz="800" dirty="0" err="1"/>
              <a:t>afetados</a:t>
            </a:r>
            <a:r>
              <a:rPr lang="en-US" sz="800" dirty="0"/>
              <a:t> </a:t>
            </a:r>
            <a:r>
              <a:rPr lang="en-US" sz="800" dirty="0" err="1"/>
              <a:t>por</a:t>
            </a:r>
            <a:r>
              <a:rPr lang="en-US" sz="800" dirty="0"/>
              <a:t> </a:t>
            </a:r>
            <a:r>
              <a:rPr lang="en-US" sz="800" dirty="0" err="1"/>
              <a:t>ano</a:t>
            </a:r>
            <a:r>
              <a:rPr lang="en-US" sz="800" dirty="0"/>
              <a:t> e </a:t>
            </a:r>
            <a:r>
              <a:rPr lang="en-US" sz="800" dirty="0" err="1"/>
              <a:t>decaimento</a:t>
            </a:r>
            <a:r>
              <a:rPr lang="en-US" sz="800" dirty="0"/>
              <a:t> </a:t>
            </a:r>
            <a:r>
              <a:rPr lang="en-US" sz="800" dirty="0" err="1"/>
              <a:t>rápido</a:t>
            </a:r>
            <a:r>
              <a:rPr lang="en-US" sz="800" dirty="0"/>
              <a:t>, com outliers </a:t>
            </a:r>
            <a:r>
              <a:rPr lang="en-US" sz="800" dirty="0" err="1"/>
              <a:t>acima</a:t>
            </a:r>
            <a:r>
              <a:rPr lang="en-US" sz="800" dirty="0"/>
              <a:t> de 6. </a:t>
            </a:r>
            <a:r>
              <a:rPr lang="en-US" sz="800" dirty="0" err="1"/>
              <a:t>Veículos</a:t>
            </a:r>
            <a:r>
              <a:rPr lang="en-US" sz="800" dirty="0"/>
              <a:t> </a:t>
            </a:r>
            <a:r>
              <a:rPr lang="en-US" sz="800" dirty="0" err="1"/>
              <a:t>que</a:t>
            </a:r>
            <a:r>
              <a:rPr lang="en-US" sz="800" dirty="0"/>
              <a:t> </a:t>
            </a:r>
            <a:r>
              <a:rPr lang="en-US" sz="800" dirty="0" err="1"/>
              <a:t>acionam</a:t>
            </a:r>
            <a:r>
              <a:rPr lang="en-US" sz="800" dirty="0"/>
              <a:t> </a:t>
            </a:r>
            <a:r>
              <a:rPr lang="en-US" sz="800" dirty="0" err="1"/>
              <a:t>muitos</a:t>
            </a:r>
            <a:r>
              <a:rPr lang="en-US" sz="800" dirty="0"/>
              <a:t> </a:t>
            </a:r>
            <a:r>
              <a:rPr lang="en-US" sz="800" dirty="0" err="1"/>
              <a:t>sistemas</a:t>
            </a:r>
            <a:r>
              <a:rPr lang="en-US" sz="800" dirty="0"/>
              <a:t> </a:t>
            </a:r>
            <a:r>
              <a:rPr lang="en-US" sz="800" dirty="0" err="1"/>
              <a:t>diferentes</a:t>
            </a:r>
            <a:r>
              <a:rPr lang="en-US" sz="800" dirty="0"/>
              <a:t> no </a:t>
            </a:r>
            <a:r>
              <a:rPr lang="en-US" sz="800" dirty="0" err="1"/>
              <a:t>mesmo</a:t>
            </a:r>
            <a:r>
              <a:rPr lang="en-US" sz="800" dirty="0"/>
              <a:t> </a:t>
            </a:r>
            <a:r>
              <a:rPr lang="en-US" sz="800" dirty="0" err="1"/>
              <a:t>ano</a:t>
            </a:r>
            <a:r>
              <a:rPr lang="en-US" sz="800" dirty="0"/>
              <a:t> </a:t>
            </a:r>
            <a:r>
              <a:rPr lang="en-US" sz="800" dirty="0" err="1"/>
              <a:t>são</a:t>
            </a:r>
            <a:r>
              <a:rPr lang="en-US" sz="800" dirty="0"/>
              <a:t> </a:t>
            </a:r>
            <a:r>
              <a:rPr lang="en-US" sz="800" dirty="0" err="1"/>
              <a:t>candidatos</a:t>
            </a:r>
            <a:r>
              <a:rPr lang="en-US" sz="800" dirty="0"/>
              <a:t> a </a:t>
            </a:r>
            <a:r>
              <a:rPr lang="en-US" sz="800" dirty="0" err="1"/>
              <a:t>problema</a:t>
            </a:r>
            <a:r>
              <a:rPr lang="en-US" sz="800" dirty="0"/>
              <a:t> </a:t>
            </a:r>
            <a:r>
              <a:rPr lang="en-US" sz="800" dirty="0" err="1"/>
              <a:t>crônico</a:t>
            </a:r>
            <a:r>
              <a:rPr lang="en-US" sz="800" dirty="0"/>
              <a:t> — e </a:t>
            </a:r>
            <a:r>
              <a:rPr lang="en-US" sz="800" dirty="0" err="1"/>
              <a:t>essa</a:t>
            </a:r>
            <a:r>
              <a:rPr lang="en-US" sz="800" dirty="0"/>
              <a:t> </a:t>
            </a:r>
            <a:r>
              <a:rPr lang="en-US" sz="800" dirty="0" err="1"/>
              <a:t>variável</a:t>
            </a:r>
            <a:r>
              <a:rPr lang="en-US" sz="800" dirty="0"/>
              <a:t> </a:t>
            </a:r>
            <a:r>
              <a:rPr lang="en-US" sz="800" dirty="0" err="1"/>
              <a:t>apareceu</a:t>
            </a:r>
            <a:r>
              <a:rPr lang="en-US" sz="800" dirty="0"/>
              <a:t> </a:t>
            </a:r>
            <a:r>
              <a:rPr lang="en-US" sz="800" dirty="0" err="1"/>
              <a:t>como</a:t>
            </a:r>
            <a:r>
              <a:rPr lang="en-US" sz="800" dirty="0"/>
              <a:t> </a:t>
            </a:r>
            <a:r>
              <a:rPr lang="en-US" sz="800" dirty="0" err="1"/>
              <a:t>uma</a:t>
            </a:r>
            <a:r>
              <a:rPr lang="en-US" sz="800" dirty="0"/>
              <a:t> das </a:t>
            </a:r>
            <a:r>
              <a:rPr lang="en-US" sz="800" dirty="0" err="1"/>
              <a:t>explicativas</a:t>
            </a:r>
            <a:r>
              <a:rPr lang="en-US" sz="800" dirty="0"/>
              <a:t> </a:t>
            </a:r>
            <a:r>
              <a:rPr lang="en-US" sz="800" dirty="0" err="1"/>
              <a:t>mais</a:t>
            </a:r>
            <a:r>
              <a:rPr lang="en-US" sz="800" dirty="0"/>
              <a:t> fortes (Spearman 0.70), o </a:t>
            </a:r>
            <a:r>
              <a:rPr lang="en-US" sz="800" dirty="0" err="1"/>
              <a:t>que</a:t>
            </a:r>
            <a:r>
              <a:rPr lang="en-US" sz="800" dirty="0"/>
              <a:t> </a:t>
            </a:r>
            <a:r>
              <a:rPr lang="en-US" sz="800" dirty="0" err="1"/>
              <a:t>faz</a:t>
            </a:r>
            <a:r>
              <a:rPr lang="en-US" sz="800" dirty="0"/>
              <a:t> </a:t>
            </a:r>
            <a:r>
              <a:rPr lang="en-US" sz="800" dirty="0" err="1"/>
              <a:t>sentido</a:t>
            </a:r>
            <a:r>
              <a:rPr lang="en-US" sz="800" dirty="0"/>
              <a:t>: </a:t>
            </a:r>
            <a:r>
              <a:rPr lang="en-US" sz="800" dirty="0" err="1"/>
              <a:t>mais</a:t>
            </a:r>
            <a:r>
              <a:rPr lang="en-US" sz="800" dirty="0"/>
              <a:t> </a:t>
            </a:r>
            <a:r>
              <a:rPr lang="en-US" sz="800" dirty="0" err="1"/>
              <a:t>sistemas</a:t>
            </a:r>
            <a:r>
              <a:rPr lang="en-US" sz="800" dirty="0"/>
              <a:t> </a:t>
            </a:r>
            <a:r>
              <a:rPr lang="en-US" sz="800" dirty="0" err="1"/>
              <a:t>afetados</a:t>
            </a:r>
            <a:r>
              <a:rPr lang="en-US" sz="800" dirty="0"/>
              <a:t>, </a:t>
            </a:r>
            <a:r>
              <a:rPr lang="en-US" sz="800" dirty="0" err="1"/>
              <a:t>mais</a:t>
            </a:r>
            <a:r>
              <a:rPr lang="en-US" sz="800" dirty="0"/>
              <a:t> </a:t>
            </a:r>
            <a:r>
              <a:rPr lang="en-US" sz="800" dirty="0" err="1"/>
              <a:t>custo</a:t>
            </a:r>
            <a:r>
              <a:rPr lang="en-US" sz="800" dirty="0"/>
              <a:t>.</a:t>
            </a:r>
            <a:endParaRPr lang="en-BR" sz="8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5B78145-653E-83A6-0668-2B28CB4722E2}"/>
              </a:ext>
            </a:extLst>
          </p:cNvPr>
          <p:cNvSpPr txBox="1"/>
          <p:nvPr/>
        </p:nvSpPr>
        <p:spPr>
          <a:xfrm>
            <a:off x="640080" y="6183150"/>
            <a:ext cx="53949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800" dirty="0" err="1"/>
              <a:t>Distribuição</a:t>
            </a:r>
            <a:r>
              <a:rPr lang="en-US" sz="800" dirty="0"/>
              <a:t> peculiar, com </a:t>
            </a:r>
            <a:r>
              <a:rPr lang="en-US" sz="800" dirty="0" err="1"/>
              <a:t>três</a:t>
            </a:r>
            <a:r>
              <a:rPr lang="en-US" sz="800" dirty="0"/>
              <a:t> </a:t>
            </a:r>
            <a:r>
              <a:rPr lang="en-US" sz="800" dirty="0" err="1"/>
              <a:t>picos</a:t>
            </a:r>
            <a:r>
              <a:rPr lang="en-US" sz="800" dirty="0"/>
              <a:t> claros: 0 (</a:t>
            </a:r>
            <a:r>
              <a:rPr lang="en-US" sz="800" dirty="0" err="1"/>
              <a:t>nenhuma</a:t>
            </a:r>
            <a:r>
              <a:rPr lang="en-US" sz="800" dirty="0"/>
              <a:t> </a:t>
            </a:r>
            <a:r>
              <a:rPr lang="en-US" sz="800" dirty="0" err="1"/>
              <a:t>manutenção</a:t>
            </a:r>
            <a:r>
              <a:rPr lang="en-US" sz="800" dirty="0"/>
              <a:t> </a:t>
            </a:r>
            <a:r>
              <a:rPr lang="en-US" sz="800" dirty="0" err="1"/>
              <a:t>preventiva</a:t>
            </a:r>
            <a:r>
              <a:rPr lang="en-US" sz="800" dirty="0"/>
              <a:t>), ~0.5 e 1.0 (</a:t>
            </a:r>
            <a:r>
              <a:rPr lang="en-US" sz="800" dirty="0" err="1"/>
              <a:t>só</a:t>
            </a:r>
            <a:r>
              <a:rPr lang="en-US" sz="800" dirty="0"/>
              <a:t> </a:t>
            </a:r>
            <a:r>
              <a:rPr lang="en-US" sz="800" dirty="0" err="1"/>
              <a:t>preventiva</a:t>
            </a:r>
            <a:r>
              <a:rPr lang="en-US" sz="800" dirty="0"/>
              <a:t>) — </a:t>
            </a:r>
            <a:r>
              <a:rPr lang="en-US" sz="800" dirty="0" err="1"/>
              <a:t>comportamento</a:t>
            </a:r>
            <a:r>
              <a:rPr lang="en-US" sz="800" dirty="0"/>
              <a:t> </a:t>
            </a:r>
            <a:r>
              <a:rPr lang="en-US" sz="800" dirty="0" err="1"/>
              <a:t>típico</a:t>
            </a:r>
            <a:r>
              <a:rPr lang="en-US" sz="800" dirty="0"/>
              <a:t> de </a:t>
            </a:r>
            <a:r>
              <a:rPr lang="en-US" sz="800" dirty="0" err="1"/>
              <a:t>proporção</a:t>
            </a:r>
            <a:r>
              <a:rPr lang="en-US" sz="800" dirty="0"/>
              <a:t> com </a:t>
            </a:r>
            <a:r>
              <a:rPr lang="en-US" sz="800" dirty="0" err="1"/>
              <a:t>poucos</a:t>
            </a:r>
            <a:r>
              <a:rPr lang="en-US" sz="800" dirty="0"/>
              <a:t> </a:t>
            </a:r>
            <a:r>
              <a:rPr lang="en-US" sz="800" dirty="0" err="1"/>
              <a:t>eventos</a:t>
            </a:r>
            <a:r>
              <a:rPr lang="en-US" sz="800" dirty="0"/>
              <a:t> no </a:t>
            </a:r>
            <a:r>
              <a:rPr lang="en-US" sz="800" dirty="0" err="1"/>
              <a:t>denominador</a:t>
            </a:r>
            <a:r>
              <a:rPr lang="en-US" sz="800" dirty="0"/>
              <a:t> (com 2 OS, o share </a:t>
            </a:r>
            <a:r>
              <a:rPr lang="en-US" sz="800" dirty="0" err="1"/>
              <a:t>só</a:t>
            </a:r>
            <a:r>
              <a:rPr lang="en-US" sz="800" dirty="0"/>
              <a:t> </a:t>
            </a:r>
            <a:r>
              <a:rPr lang="en-US" sz="800" dirty="0" err="1"/>
              <a:t>pode</a:t>
            </a:r>
            <a:r>
              <a:rPr lang="en-US" sz="800" dirty="0"/>
              <a:t> ser 0, 0.5 </a:t>
            </a:r>
            <a:r>
              <a:rPr lang="en-US" sz="800" dirty="0" err="1"/>
              <a:t>ou</a:t>
            </a:r>
            <a:r>
              <a:rPr lang="en-US" sz="800" dirty="0"/>
              <a:t> 1). A </a:t>
            </a:r>
            <a:r>
              <a:rPr lang="en-US" sz="800" dirty="0" err="1"/>
              <a:t>correlação</a:t>
            </a:r>
            <a:r>
              <a:rPr lang="en-US" sz="800" dirty="0"/>
              <a:t> </a:t>
            </a:r>
            <a:r>
              <a:rPr lang="en-US" sz="800" dirty="0" err="1"/>
              <a:t>negativa</a:t>
            </a:r>
            <a:r>
              <a:rPr lang="en-US" sz="800" dirty="0"/>
              <a:t> com </a:t>
            </a:r>
            <a:r>
              <a:rPr lang="en-US" sz="800" dirty="0" err="1"/>
              <a:t>custo</a:t>
            </a:r>
            <a:r>
              <a:rPr lang="en-US" sz="800" dirty="0"/>
              <a:t> vista antes </a:t>
            </a:r>
            <a:r>
              <a:rPr lang="en-US" sz="800" dirty="0" err="1"/>
              <a:t>sugere</a:t>
            </a:r>
            <a:r>
              <a:rPr lang="en-US" sz="800" dirty="0"/>
              <a:t> </a:t>
            </a:r>
            <a:r>
              <a:rPr lang="en-US" sz="800" dirty="0" err="1"/>
              <a:t>que</a:t>
            </a:r>
            <a:r>
              <a:rPr lang="en-US" sz="800" dirty="0"/>
              <a:t> </a:t>
            </a:r>
            <a:r>
              <a:rPr lang="en-US" sz="800" dirty="0" err="1"/>
              <a:t>veículos</a:t>
            </a:r>
            <a:r>
              <a:rPr lang="en-US" sz="800" dirty="0"/>
              <a:t> com </a:t>
            </a:r>
            <a:r>
              <a:rPr lang="en-US" sz="800" dirty="0" err="1"/>
              <a:t>mais</a:t>
            </a:r>
            <a:r>
              <a:rPr lang="en-US" sz="800" dirty="0"/>
              <a:t> </a:t>
            </a:r>
            <a:r>
              <a:rPr lang="en-US" sz="800" dirty="0" err="1"/>
              <a:t>preventiva</a:t>
            </a:r>
            <a:r>
              <a:rPr lang="en-US" sz="800" dirty="0"/>
              <a:t> </a:t>
            </a:r>
            <a:r>
              <a:rPr lang="en-US" sz="800" dirty="0" err="1"/>
              <a:t>custam</a:t>
            </a:r>
            <a:r>
              <a:rPr lang="en-US" sz="800" dirty="0"/>
              <a:t> </a:t>
            </a:r>
            <a:r>
              <a:rPr lang="en-US" sz="800" dirty="0" err="1"/>
              <a:t>menos</a:t>
            </a:r>
            <a:r>
              <a:rPr lang="en-US" sz="800" dirty="0"/>
              <a:t>.</a:t>
            </a:r>
            <a:endParaRPr lang="en-BR" sz="8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89EE58F-334D-BF8D-0FD2-DC9023BF3E9C}"/>
              </a:ext>
            </a:extLst>
          </p:cNvPr>
          <p:cNvSpPr txBox="1"/>
          <p:nvPr/>
        </p:nvSpPr>
        <p:spPr>
          <a:xfrm>
            <a:off x="6217920" y="6183150"/>
            <a:ext cx="53949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800" dirty="0" err="1"/>
              <a:t>Contagem</a:t>
            </a:r>
            <a:r>
              <a:rPr lang="en-US" sz="800" dirty="0"/>
              <a:t> com </a:t>
            </a:r>
            <a:r>
              <a:rPr lang="en-US" sz="800" dirty="0" err="1"/>
              <a:t>moda</a:t>
            </a:r>
            <a:r>
              <a:rPr lang="en-US" sz="800" dirty="0"/>
              <a:t> </a:t>
            </a:r>
            <a:r>
              <a:rPr lang="en-US" sz="800" dirty="0" err="1"/>
              <a:t>em</a:t>
            </a:r>
            <a:r>
              <a:rPr lang="en-US" sz="800" dirty="0"/>
              <a:t> 2 OS/</a:t>
            </a:r>
            <a:r>
              <a:rPr lang="en-US" sz="800" dirty="0" err="1"/>
              <a:t>ano</a:t>
            </a:r>
            <a:r>
              <a:rPr lang="en-US" sz="800" dirty="0"/>
              <a:t>, </a:t>
            </a:r>
            <a:r>
              <a:rPr lang="en-US" sz="800" dirty="0" err="1"/>
              <a:t>mediana</a:t>
            </a:r>
            <a:r>
              <a:rPr lang="en-US" sz="800" dirty="0"/>
              <a:t> de ~3 e cauda </a:t>
            </a:r>
            <a:r>
              <a:rPr lang="en-US" sz="800" dirty="0" err="1"/>
              <a:t>até</a:t>
            </a:r>
            <a:r>
              <a:rPr lang="en-US" sz="800" dirty="0"/>
              <a:t> 20+, com outliers </a:t>
            </a:r>
            <a:r>
              <a:rPr lang="en-US" sz="800" dirty="0" err="1"/>
              <a:t>acima</a:t>
            </a:r>
            <a:r>
              <a:rPr lang="en-US" sz="800" dirty="0"/>
              <a:t> de 12. Como </a:t>
            </a:r>
            <a:r>
              <a:rPr lang="en-US" sz="800" dirty="0" err="1"/>
              <a:t>é</a:t>
            </a:r>
            <a:r>
              <a:rPr lang="en-US" sz="800" dirty="0"/>
              <a:t> </a:t>
            </a:r>
            <a:r>
              <a:rPr lang="en-US" sz="800" dirty="0" err="1"/>
              <a:t>componente</a:t>
            </a:r>
            <a:r>
              <a:rPr lang="en-US" sz="800" dirty="0"/>
              <a:t> </a:t>
            </a:r>
            <a:r>
              <a:rPr lang="en-US" sz="800" dirty="0" err="1"/>
              <a:t>direto</a:t>
            </a:r>
            <a:r>
              <a:rPr lang="en-US" sz="800" dirty="0"/>
              <a:t> do Y (</a:t>
            </a:r>
            <a:r>
              <a:rPr lang="en-US" sz="800" dirty="0" err="1"/>
              <a:t>custo</a:t>
            </a:r>
            <a:r>
              <a:rPr lang="en-US" sz="800" dirty="0"/>
              <a:t> = nº OS × </a:t>
            </a:r>
            <a:r>
              <a:rPr lang="en-US" sz="800" dirty="0" err="1"/>
              <a:t>custo</a:t>
            </a:r>
            <a:r>
              <a:rPr lang="en-US" sz="800" dirty="0"/>
              <a:t> </a:t>
            </a:r>
            <a:r>
              <a:rPr lang="en-US" sz="800" dirty="0" err="1"/>
              <a:t>médio</a:t>
            </a:r>
            <a:r>
              <a:rPr lang="en-US" sz="800" dirty="0"/>
              <a:t>), serve para </a:t>
            </a:r>
            <a:r>
              <a:rPr lang="en-US" sz="800" dirty="0" err="1"/>
              <a:t>entender</a:t>
            </a:r>
            <a:r>
              <a:rPr lang="en-US" sz="800" dirty="0"/>
              <a:t> o </a:t>
            </a:r>
            <a:r>
              <a:rPr lang="en-US" sz="800" dirty="0" err="1"/>
              <a:t>comportamento</a:t>
            </a:r>
            <a:r>
              <a:rPr lang="en-US" sz="800" dirty="0"/>
              <a:t> da </a:t>
            </a:r>
            <a:r>
              <a:rPr lang="en-US" sz="800" dirty="0" err="1"/>
              <a:t>frota</a:t>
            </a:r>
            <a:r>
              <a:rPr lang="en-US" sz="800" dirty="0"/>
              <a:t>, mas </a:t>
            </a:r>
            <a:r>
              <a:rPr lang="en-US" sz="800" dirty="0" err="1"/>
              <a:t>não</a:t>
            </a:r>
            <a:r>
              <a:rPr lang="en-US" sz="800" dirty="0"/>
              <a:t> </a:t>
            </a:r>
            <a:r>
              <a:rPr lang="en-US" sz="800" dirty="0" err="1"/>
              <a:t>pode</a:t>
            </a:r>
            <a:r>
              <a:rPr lang="en-US" sz="800" dirty="0"/>
              <a:t> </a:t>
            </a:r>
            <a:r>
              <a:rPr lang="en-US" sz="800" dirty="0" err="1"/>
              <a:t>entrar</a:t>
            </a:r>
            <a:r>
              <a:rPr lang="en-US" sz="800" dirty="0"/>
              <a:t> </a:t>
            </a:r>
            <a:r>
              <a:rPr lang="en-US" sz="800" dirty="0" err="1"/>
              <a:t>como</a:t>
            </a:r>
            <a:r>
              <a:rPr lang="en-US" sz="800" dirty="0"/>
              <a:t> </a:t>
            </a:r>
            <a:r>
              <a:rPr lang="en-US" sz="800" dirty="0" err="1"/>
              <a:t>preditora</a:t>
            </a:r>
            <a:r>
              <a:rPr lang="en-US" sz="800" dirty="0"/>
              <a:t> no </a:t>
            </a:r>
            <a:r>
              <a:rPr lang="en-US" sz="800" dirty="0" err="1"/>
              <a:t>modelo</a:t>
            </a:r>
            <a:r>
              <a:rPr lang="en-US" sz="800" dirty="0"/>
              <a:t>.</a:t>
            </a:r>
            <a:endParaRPr lang="en-BR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46304" cy="822960"/>
          </a:xfrm>
          <a:prstGeom prst="rect">
            <a:avLst/>
          </a:prstGeom>
          <a:solidFill>
            <a:srgbClr val="E87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b="1" noProof="0" dirty="0">
                <a:solidFill>
                  <a:srgbClr val="E8713A"/>
                </a:solidFill>
              </a:rPr>
              <a:t>09 · </a:t>
            </a:r>
            <a:r>
              <a:rPr lang="pt-BR" sz="1200" b="1" noProof="0" dirty="0">
                <a:solidFill>
                  <a:srgbClr val="E8713A"/>
                </a:solidFill>
                <a:latin typeface="Calibri"/>
              </a:rPr>
              <a:t>EDA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78992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2700" b="1" noProof="0" dirty="0">
                <a:solidFill>
                  <a:srgbClr val="142B45"/>
                </a:solidFill>
                <a:latin typeface="Calibri"/>
              </a:rPr>
              <a:t>Histogramas — histórico defasado e custo por OS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82496"/>
            <a:ext cx="5394960" cy="2039112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82496"/>
            <a:ext cx="5394960" cy="2039112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151376"/>
            <a:ext cx="5394960" cy="2039112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0" y="4151376"/>
            <a:ext cx="5394960" cy="203911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81B7047-5BAA-39F5-6B6D-71B5DD8C7820}"/>
              </a:ext>
            </a:extLst>
          </p:cNvPr>
          <p:cNvSpPr txBox="1"/>
          <p:nvPr/>
        </p:nvSpPr>
        <p:spPr>
          <a:xfrm>
            <a:off x="640080" y="3715398"/>
            <a:ext cx="53949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800" dirty="0"/>
              <a:t>Forte </a:t>
            </a:r>
            <a:r>
              <a:rPr lang="en-US" sz="800" dirty="0" err="1"/>
              <a:t>assimetria</a:t>
            </a:r>
            <a:r>
              <a:rPr lang="en-US" sz="800" dirty="0"/>
              <a:t> à </a:t>
            </a:r>
            <a:r>
              <a:rPr lang="en-US" sz="800" dirty="0" err="1"/>
              <a:t>direita</a:t>
            </a:r>
            <a:r>
              <a:rPr lang="en-US" sz="800" dirty="0"/>
              <a:t>, com </a:t>
            </a:r>
            <a:r>
              <a:rPr lang="en-US" sz="800" dirty="0" err="1"/>
              <a:t>concentração</a:t>
            </a:r>
            <a:r>
              <a:rPr lang="en-US" sz="800" dirty="0"/>
              <a:t> de carretas </a:t>
            </a:r>
            <a:r>
              <a:rPr lang="en-US" sz="800" dirty="0" err="1"/>
              <a:t>em</a:t>
            </a:r>
            <a:r>
              <a:rPr lang="en-US" sz="800" dirty="0"/>
              <a:t> </a:t>
            </a:r>
            <a:r>
              <a:rPr lang="en-US" sz="800" dirty="0" err="1"/>
              <a:t>baixos</a:t>
            </a:r>
            <a:r>
              <a:rPr lang="en-US" sz="800" dirty="0"/>
              <a:t> custos </a:t>
            </a:r>
            <a:r>
              <a:rPr lang="en-US" sz="800" dirty="0" err="1"/>
              <a:t>acumulados</a:t>
            </a:r>
            <a:r>
              <a:rPr lang="en-US" sz="800" dirty="0"/>
              <a:t> e </a:t>
            </a:r>
            <a:r>
              <a:rPr lang="en-US" sz="800" dirty="0" err="1"/>
              <a:t>poucos</a:t>
            </a:r>
            <a:r>
              <a:rPr lang="en-US" sz="800" dirty="0"/>
              <a:t> </a:t>
            </a:r>
            <a:r>
              <a:rPr lang="en-US" sz="800" dirty="0" err="1"/>
              <a:t>ativos</a:t>
            </a:r>
            <a:r>
              <a:rPr lang="en-US" sz="800" dirty="0"/>
              <a:t> </a:t>
            </a:r>
            <a:r>
              <a:rPr lang="en-US" sz="800" dirty="0" err="1"/>
              <a:t>concentrando</a:t>
            </a:r>
            <a:r>
              <a:rPr lang="en-US" sz="800" dirty="0"/>
              <a:t> </a:t>
            </a:r>
            <a:r>
              <a:rPr lang="en-US" sz="800" dirty="0" err="1"/>
              <a:t>gastos</a:t>
            </a:r>
            <a:r>
              <a:rPr lang="en-US" sz="800" dirty="0"/>
              <a:t> </a:t>
            </a:r>
            <a:r>
              <a:rPr lang="en-US" sz="800" dirty="0" err="1"/>
              <a:t>muito</a:t>
            </a:r>
            <a:r>
              <a:rPr lang="en-US" sz="800" dirty="0"/>
              <a:t> </a:t>
            </a:r>
            <a:r>
              <a:rPr lang="en-US" sz="800" dirty="0" err="1"/>
              <a:t>elevados</a:t>
            </a:r>
            <a:r>
              <a:rPr lang="en-US" sz="800" dirty="0"/>
              <a:t>. A grande </a:t>
            </a:r>
            <a:r>
              <a:rPr lang="en-US" sz="800" dirty="0" err="1"/>
              <a:t>quantidade</a:t>
            </a:r>
            <a:r>
              <a:rPr lang="en-US" sz="800" dirty="0"/>
              <a:t> de outliers </a:t>
            </a:r>
            <a:r>
              <a:rPr lang="en-US" sz="800" dirty="0" err="1"/>
              <a:t>evidencia</a:t>
            </a:r>
            <a:r>
              <a:rPr lang="en-US" sz="800" dirty="0"/>
              <a:t> </a:t>
            </a:r>
            <a:r>
              <a:rPr lang="en-US" sz="800" dirty="0" err="1"/>
              <a:t>uma</a:t>
            </a:r>
            <a:r>
              <a:rPr lang="en-US" sz="800" dirty="0"/>
              <a:t> </a:t>
            </a:r>
            <a:r>
              <a:rPr lang="en-US" sz="800" dirty="0" err="1"/>
              <a:t>parcela</a:t>
            </a:r>
            <a:r>
              <a:rPr lang="en-US" sz="800" dirty="0"/>
              <a:t> </a:t>
            </a:r>
            <a:r>
              <a:rPr lang="en-US" sz="800" dirty="0" err="1"/>
              <a:t>reduzida</a:t>
            </a:r>
            <a:r>
              <a:rPr lang="en-US" sz="800" dirty="0"/>
              <a:t> da </a:t>
            </a:r>
            <a:r>
              <a:rPr lang="en-US" sz="800" dirty="0" err="1"/>
              <a:t>frota</a:t>
            </a:r>
            <a:r>
              <a:rPr lang="en-US" sz="800" dirty="0"/>
              <a:t> com histórico de </a:t>
            </a:r>
            <a:r>
              <a:rPr lang="en-US" sz="800" dirty="0" err="1"/>
              <a:t>manutenção</a:t>
            </a:r>
            <a:r>
              <a:rPr lang="en-US" sz="800" dirty="0"/>
              <a:t> </a:t>
            </a:r>
            <a:r>
              <a:rPr lang="en-US" sz="800" dirty="0" err="1"/>
              <a:t>significativamente</a:t>
            </a:r>
            <a:r>
              <a:rPr lang="en-US" sz="800" dirty="0"/>
              <a:t> superior </a:t>
            </a:r>
            <a:r>
              <a:rPr lang="en-US" sz="800" dirty="0" err="1"/>
              <a:t>ao</a:t>
            </a:r>
            <a:r>
              <a:rPr lang="en-US" sz="800" dirty="0"/>
              <a:t> restante.</a:t>
            </a:r>
            <a:endParaRPr lang="en-BR" sz="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4F3EA5F-E451-D95F-490C-3BA4D4D2E27B}"/>
              </a:ext>
            </a:extLst>
          </p:cNvPr>
          <p:cNvSpPr txBox="1"/>
          <p:nvPr/>
        </p:nvSpPr>
        <p:spPr>
          <a:xfrm>
            <a:off x="6217920" y="3716527"/>
            <a:ext cx="53949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800" dirty="0"/>
              <a:t>A </a:t>
            </a:r>
            <a:r>
              <a:rPr lang="en-US" sz="800" dirty="0" err="1"/>
              <a:t>maioria</a:t>
            </a:r>
            <a:r>
              <a:rPr lang="en-US" sz="800" dirty="0"/>
              <a:t> das carretas </a:t>
            </a:r>
            <a:r>
              <a:rPr lang="en-US" sz="800" dirty="0" err="1"/>
              <a:t>acumula</a:t>
            </a:r>
            <a:r>
              <a:rPr lang="en-US" sz="800" dirty="0"/>
              <a:t> </a:t>
            </a:r>
            <a:r>
              <a:rPr lang="en-US" sz="800" dirty="0" err="1"/>
              <a:t>poucas</a:t>
            </a:r>
            <a:r>
              <a:rPr lang="en-US" sz="800" dirty="0"/>
              <a:t> </a:t>
            </a:r>
            <a:r>
              <a:rPr lang="en-US" sz="800" dirty="0" err="1"/>
              <a:t>ordens</a:t>
            </a:r>
            <a:r>
              <a:rPr lang="en-US" sz="800" dirty="0"/>
              <a:t> de </a:t>
            </a:r>
            <a:r>
              <a:rPr lang="en-US" sz="800" dirty="0" err="1"/>
              <a:t>serviço</a:t>
            </a:r>
            <a:r>
              <a:rPr lang="en-US" sz="800" dirty="0"/>
              <a:t> </a:t>
            </a:r>
            <a:r>
              <a:rPr lang="en-US" sz="800" dirty="0" err="1"/>
              <a:t>ao</a:t>
            </a:r>
            <a:r>
              <a:rPr lang="en-US" sz="800" dirty="0"/>
              <a:t> </a:t>
            </a:r>
            <a:r>
              <a:rPr lang="en-US" sz="800" dirty="0" err="1"/>
              <a:t>longo</a:t>
            </a:r>
            <a:r>
              <a:rPr lang="en-US" sz="800" dirty="0"/>
              <a:t> do histórico, </a:t>
            </a:r>
            <a:r>
              <a:rPr lang="en-US" sz="800" dirty="0" err="1"/>
              <a:t>enquanto</a:t>
            </a:r>
            <a:r>
              <a:rPr lang="en-US" sz="800" dirty="0"/>
              <a:t> </a:t>
            </a:r>
            <a:r>
              <a:rPr lang="en-US" sz="800" dirty="0" err="1"/>
              <a:t>uma</a:t>
            </a:r>
            <a:r>
              <a:rPr lang="en-US" sz="800" dirty="0"/>
              <a:t> </a:t>
            </a:r>
            <a:r>
              <a:rPr lang="en-US" sz="800" dirty="0" err="1"/>
              <a:t>pequena</a:t>
            </a:r>
            <a:r>
              <a:rPr lang="en-US" sz="800" dirty="0"/>
              <a:t> </a:t>
            </a:r>
            <a:r>
              <a:rPr lang="en-US" sz="800" dirty="0" err="1"/>
              <a:t>parcela</a:t>
            </a:r>
            <a:r>
              <a:rPr lang="en-US" sz="800" dirty="0"/>
              <a:t> </a:t>
            </a:r>
            <a:r>
              <a:rPr lang="en-US" sz="800" dirty="0" err="1"/>
              <a:t>apresenta</a:t>
            </a:r>
            <a:r>
              <a:rPr lang="en-US" sz="800" dirty="0"/>
              <a:t> </a:t>
            </a:r>
            <a:r>
              <a:rPr lang="en-US" sz="800" dirty="0" err="1"/>
              <a:t>recorrência</a:t>
            </a:r>
            <a:r>
              <a:rPr lang="en-US" sz="800" dirty="0"/>
              <a:t> </a:t>
            </a:r>
            <a:r>
              <a:rPr lang="en-US" sz="800" dirty="0" err="1"/>
              <a:t>elevada</a:t>
            </a:r>
            <a:r>
              <a:rPr lang="en-US" sz="800" dirty="0"/>
              <a:t> de </a:t>
            </a:r>
            <a:r>
              <a:rPr lang="en-US" sz="800" dirty="0" err="1"/>
              <a:t>intervenções</a:t>
            </a:r>
            <a:r>
              <a:rPr lang="en-US" sz="800" dirty="0"/>
              <a:t>. O </a:t>
            </a:r>
            <a:r>
              <a:rPr lang="en-US" sz="800" dirty="0" err="1"/>
              <a:t>comportamento</a:t>
            </a:r>
            <a:r>
              <a:rPr lang="en-US" sz="800" dirty="0"/>
              <a:t> </a:t>
            </a:r>
            <a:r>
              <a:rPr lang="en-US" sz="800" dirty="0" err="1"/>
              <a:t>reforça</a:t>
            </a:r>
            <a:r>
              <a:rPr lang="en-US" sz="800" dirty="0"/>
              <a:t> </a:t>
            </a:r>
            <a:r>
              <a:rPr lang="en-US" sz="800" dirty="0" err="1"/>
              <a:t>que</a:t>
            </a:r>
            <a:r>
              <a:rPr lang="en-US" sz="800" dirty="0"/>
              <a:t> </a:t>
            </a:r>
            <a:r>
              <a:rPr lang="en-US" sz="800" dirty="0" err="1"/>
              <a:t>existem</a:t>
            </a:r>
            <a:r>
              <a:rPr lang="en-US" sz="800" dirty="0"/>
              <a:t> </a:t>
            </a:r>
            <a:r>
              <a:rPr lang="en-US" sz="800" dirty="0" err="1"/>
              <a:t>ativos</a:t>
            </a:r>
            <a:r>
              <a:rPr lang="en-US" sz="800" dirty="0"/>
              <a:t> com </a:t>
            </a:r>
            <a:r>
              <a:rPr lang="en-US" sz="800" dirty="0" err="1"/>
              <a:t>maior</a:t>
            </a:r>
            <a:r>
              <a:rPr lang="en-US" sz="800" dirty="0"/>
              <a:t> </a:t>
            </a:r>
            <a:r>
              <a:rPr lang="en-US" sz="800" dirty="0" err="1"/>
              <a:t>intensidade</a:t>
            </a:r>
            <a:r>
              <a:rPr lang="en-US" sz="800" dirty="0"/>
              <a:t> de </a:t>
            </a:r>
            <a:r>
              <a:rPr lang="en-US" sz="800" dirty="0" err="1"/>
              <a:t>manutenção</a:t>
            </a:r>
            <a:r>
              <a:rPr lang="en-US" sz="800" dirty="0"/>
              <a:t>, </a:t>
            </a:r>
            <a:r>
              <a:rPr lang="en-US" sz="800" dirty="0" err="1"/>
              <a:t>refletindo</a:t>
            </a:r>
            <a:r>
              <a:rPr lang="en-US" sz="800" dirty="0"/>
              <a:t> </a:t>
            </a:r>
            <a:r>
              <a:rPr lang="en-US" sz="800" dirty="0" err="1"/>
              <a:t>diferentes</a:t>
            </a:r>
            <a:r>
              <a:rPr lang="en-US" sz="800" dirty="0"/>
              <a:t> </a:t>
            </a:r>
            <a:r>
              <a:rPr lang="en-US" sz="800" dirty="0" err="1"/>
              <a:t>perfis</a:t>
            </a:r>
            <a:r>
              <a:rPr lang="en-US" sz="800" dirty="0"/>
              <a:t> de </a:t>
            </a:r>
            <a:r>
              <a:rPr lang="en-US" sz="800" dirty="0" err="1"/>
              <a:t>utilização</a:t>
            </a:r>
            <a:r>
              <a:rPr lang="en-US" sz="800" dirty="0"/>
              <a:t> e </a:t>
            </a:r>
            <a:r>
              <a:rPr lang="en-US" sz="800" dirty="0" err="1"/>
              <a:t>desgaste</a:t>
            </a:r>
            <a:r>
              <a:rPr lang="en-US" sz="800" dirty="0"/>
              <a:t>.</a:t>
            </a:r>
            <a:endParaRPr lang="en-BR" sz="8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D3070E6-B16C-207E-D961-619DFD3CBC66}"/>
              </a:ext>
            </a:extLst>
          </p:cNvPr>
          <p:cNvSpPr txBox="1"/>
          <p:nvPr/>
        </p:nvSpPr>
        <p:spPr>
          <a:xfrm>
            <a:off x="640080" y="6183150"/>
            <a:ext cx="53949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800" dirty="0"/>
              <a:t>A </a:t>
            </a:r>
            <a:r>
              <a:rPr lang="en-US" sz="800" dirty="0" err="1"/>
              <a:t>distribuição</a:t>
            </a:r>
            <a:r>
              <a:rPr lang="en-US" sz="800" dirty="0"/>
              <a:t> </a:t>
            </a:r>
            <a:r>
              <a:rPr lang="en-US" sz="800" dirty="0" err="1"/>
              <a:t>é</a:t>
            </a:r>
            <a:r>
              <a:rPr lang="en-US" sz="800" dirty="0"/>
              <a:t> </a:t>
            </a:r>
            <a:r>
              <a:rPr lang="en-US" sz="800" dirty="0" err="1"/>
              <a:t>relativamente</a:t>
            </a:r>
            <a:r>
              <a:rPr lang="en-US" sz="800" dirty="0"/>
              <a:t> </a:t>
            </a:r>
            <a:r>
              <a:rPr lang="en-US" sz="800" dirty="0" err="1"/>
              <a:t>equilibrada</a:t>
            </a:r>
            <a:r>
              <a:rPr lang="en-US" sz="800" dirty="0"/>
              <a:t> entre </a:t>
            </a:r>
            <a:r>
              <a:rPr lang="en-US" sz="800" dirty="0" err="1"/>
              <a:t>os</a:t>
            </a:r>
            <a:r>
              <a:rPr lang="en-US" sz="800" dirty="0"/>
              <a:t> </a:t>
            </a:r>
            <a:r>
              <a:rPr lang="en-US" sz="800" dirty="0" err="1"/>
              <a:t>anos</a:t>
            </a:r>
            <a:r>
              <a:rPr lang="en-US" sz="800" dirty="0"/>
              <a:t> </a:t>
            </a:r>
            <a:r>
              <a:rPr lang="en-US" sz="800" dirty="0" err="1"/>
              <a:t>disponíveis</a:t>
            </a:r>
            <a:r>
              <a:rPr lang="en-US" sz="800" dirty="0"/>
              <a:t> de histórico, </a:t>
            </a:r>
            <a:r>
              <a:rPr lang="en-US" sz="800" dirty="0" err="1"/>
              <a:t>sem</a:t>
            </a:r>
            <a:r>
              <a:rPr lang="en-US" sz="800" dirty="0"/>
              <a:t> </a:t>
            </a:r>
            <a:r>
              <a:rPr lang="en-US" sz="800" dirty="0" err="1"/>
              <a:t>concentração</a:t>
            </a:r>
            <a:r>
              <a:rPr lang="en-US" sz="800" dirty="0"/>
              <a:t> </a:t>
            </a:r>
            <a:r>
              <a:rPr lang="en-US" sz="800" dirty="0" err="1"/>
              <a:t>relevante</a:t>
            </a:r>
            <a:r>
              <a:rPr lang="en-US" sz="800" dirty="0"/>
              <a:t> de outliers. O histórico </a:t>
            </a:r>
            <a:r>
              <a:rPr lang="en-US" sz="800" dirty="0" err="1"/>
              <a:t>contempla</a:t>
            </a:r>
            <a:r>
              <a:rPr lang="en-US" sz="800" dirty="0"/>
              <a:t> </a:t>
            </a:r>
            <a:r>
              <a:rPr lang="en-US" sz="800" dirty="0" err="1"/>
              <a:t>ativos</a:t>
            </a:r>
            <a:r>
              <a:rPr lang="en-US" sz="800" dirty="0"/>
              <a:t> </a:t>
            </a:r>
            <a:r>
              <a:rPr lang="en-US" sz="800" dirty="0" err="1"/>
              <a:t>em</a:t>
            </a:r>
            <a:r>
              <a:rPr lang="en-US" sz="800" dirty="0"/>
              <a:t> </a:t>
            </a:r>
            <a:r>
              <a:rPr lang="en-US" sz="800" dirty="0" err="1"/>
              <a:t>diferentes</a:t>
            </a:r>
            <a:r>
              <a:rPr lang="en-US" sz="800" dirty="0"/>
              <a:t> </a:t>
            </a:r>
            <a:r>
              <a:rPr lang="en-US" sz="800" dirty="0" err="1"/>
              <a:t>estágios</a:t>
            </a:r>
            <a:r>
              <a:rPr lang="en-US" sz="800" dirty="0"/>
              <a:t> de </a:t>
            </a:r>
            <a:r>
              <a:rPr lang="en-US" sz="800" dirty="0" err="1"/>
              <a:t>acompanhamento</a:t>
            </a:r>
            <a:r>
              <a:rPr lang="en-US" sz="800" dirty="0"/>
              <a:t>, </a:t>
            </a:r>
            <a:r>
              <a:rPr lang="en-US" sz="800" dirty="0" err="1"/>
              <a:t>permitindo</a:t>
            </a:r>
            <a:r>
              <a:rPr lang="en-US" sz="800" dirty="0"/>
              <a:t> </a:t>
            </a:r>
            <a:r>
              <a:rPr lang="en-US" sz="800" dirty="0" err="1"/>
              <a:t>avaliar</a:t>
            </a:r>
            <a:r>
              <a:rPr lang="en-US" sz="800" dirty="0"/>
              <a:t> a </a:t>
            </a:r>
            <a:r>
              <a:rPr lang="en-US" sz="800" dirty="0" err="1"/>
              <a:t>influência</a:t>
            </a:r>
            <a:r>
              <a:rPr lang="en-US" sz="800" dirty="0"/>
              <a:t> da </a:t>
            </a:r>
            <a:r>
              <a:rPr lang="en-US" sz="800" dirty="0" err="1"/>
              <a:t>experiência</a:t>
            </a:r>
            <a:r>
              <a:rPr lang="en-US" sz="800" dirty="0"/>
              <a:t> </a:t>
            </a:r>
            <a:r>
              <a:rPr lang="en-US" sz="800" dirty="0" err="1"/>
              <a:t>operacional</a:t>
            </a:r>
            <a:r>
              <a:rPr lang="en-US" sz="800" dirty="0"/>
              <a:t> </a:t>
            </a:r>
            <a:r>
              <a:rPr lang="en-US" sz="800" dirty="0" err="1"/>
              <a:t>ao</a:t>
            </a:r>
            <a:r>
              <a:rPr lang="en-US" sz="800" dirty="0"/>
              <a:t> </a:t>
            </a:r>
            <a:r>
              <a:rPr lang="en-US" sz="800" dirty="0" err="1"/>
              <a:t>longo</a:t>
            </a:r>
            <a:r>
              <a:rPr lang="en-US" sz="800" dirty="0"/>
              <a:t> do tempo.</a:t>
            </a:r>
            <a:endParaRPr lang="en-BR" sz="8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B25854-17E9-D5D5-9B08-754A6C064617}"/>
              </a:ext>
            </a:extLst>
          </p:cNvPr>
          <p:cNvSpPr txBox="1"/>
          <p:nvPr/>
        </p:nvSpPr>
        <p:spPr>
          <a:xfrm>
            <a:off x="6217920" y="6183150"/>
            <a:ext cx="53949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800" dirty="0" err="1"/>
              <a:t>Distribuição</a:t>
            </a:r>
            <a:r>
              <a:rPr lang="en-US" sz="800" dirty="0"/>
              <a:t> </a:t>
            </a:r>
            <a:r>
              <a:rPr lang="en-US" sz="800" dirty="0" err="1"/>
              <a:t>assimétrica</a:t>
            </a:r>
            <a:r>
              <a:rPr lang="en-US" sz="800" dirty="0"/>
              <a:t>, </a:t>
            </a:r>
            <a:r>
              <a:rPr lang="en-US" sz="800" dirty="0" err="1"/>
              <a:t>concentrando</a:t>
            </a:r>
            <a:r>
              <a:rPr lang="en-US" sz="800" dirty="0"/>
              <a:t> </a:t>
            </a:r>
            <a:r>
              <a:rPr lang="en-US" sz="800" dirty="0" err="1"/>
              <a:t>ordens</a:t>
            </a:r>
            <a:r>
              <a:rPr lang="en-US" sz="800" dirty="0"/>
              <a:t> de </a:t>
            </a:r>
            <a:r>
              <a:rPr lang="en-US" sz="800" dirty="0" err="1"/>
              <a:t>serviço</a:t>
            </a:r>
            <a:r>
              <a:rPr lang="en-US" sz="800" dirty="0"/>
              <a:t> de </a:t>
            </a:r>
            <a:r>
              <a:rPr lang="en-US" sz="800" dirty="0" err="1"/>
              <a:t>menor</a:t>
            </a:r>
            <a:r>
              <a:rPr lang="en-US" sz="800" dirty="0"/>
              <a:t> </a:t>
            </a:r>
            <a:r>
              <a:rPr lang="en-US" sz="800" dirty="0" err="1"/>
              <a:t>custo</a:t>
            </a:r>
            <a:r>
              <a:rPr lang="en-US" sz="800" dirty="0"/>
              <a:t> e </a:t>
            </a:r>
            <a:r>
              <a:rPr lang="en-US" sz="800" dirty="0" err="1"/>
              <a:t>poucos</a:t>
            </a:r>
            <a:r>
              <a:rPr lang="en-US" sz="800" dirty="0"/>
              <a:t> </a:t>
            </a:r>
            <a:r>
              <a:rPr lang="en-US" sz="800" dirty="0" err="1"/>
              <a:t>reparos</a:t>
            </a:r>
            <a:r>
              <a:rPr lang="en-US" sz="800" dirty="0"/>
              <a:t> com </a:t>
            </a:r>
            <a:r>
              <a:rPr lang="en-US" sz="800" dirty="0" err="1"/>
              <a:t>valores</a:t>
            </a:r>
            <a:r>
              <a:rPr lang="en-US" sz="800" dirty="0"/>
              <a:t> </a:t>
            </a:r>
            <a:r>
              <a:rPr lang="en-US" sz="800" dirty="0" err="1"/>
              <a:t>significativamente</a:t>
            </a:r>
            <a:r>
              <a:rPr lang="en-US" sz="800" dirty="0"/>
              <a:t> </a:t>
            </a:r>
            <a:r>
              <a:rPr lang="en-US" sz="800" dirty="0" err="1"/>
              <a:t>mais</a:t>
            </a:r>
            <a:r>
              <a:rPr lang="en-US" sz="800" dirty="0"/>
              <a:t> </a:t>
            </a:r>
            <a:r>
              <a:rPr lang="en-US" sz="800" dirty="0" err="1"/>
              <a:t>elevados</a:t>
            </a:r>
            <a:r>
              <a:rPr lang="en-US" sz="800" dirty="0"/>
              <a:t>. A </a:t>
            </a:r>
            <a:r>
              <a:rPr lang="en-US" sz="800" dirty="0" err="1"/>
              <a:t>presença</a:t>
            </a:r>
            <a:r>
              <a:rPr lang="en-US" sz="800" dirty="0"/>
              <a:t> de </a:t>
            </a:r>
            <a:r>
              <a:rPr lang="en-US" sz="800" dirty="0" err="1"/>
              <a:t>diversos</a:t>
            </a:r>
            <a:r>
              <a:rPr lang="en-US" sz="800" dirty="0"/>
              <a:t> outliers indica </a:t>
            </a:r>
            <a:r>
              <a:rPr lang="en-US" sz="800" dirty="0" err="1"/>
              <a:t>eventos</a:t>
            </a:r>
            <a:r>
              <a:rPr lang="en-US" sz="800" dirty="0"/>
              <a:t> de </a:t>
            </a:r>
            <a:r>
              <a:rPr lang="en-US" sz="800" dirty="0" err="1"/>
              <a:t>manutenção</a:t>
            </a:r>
            <a:r>
              <a:rPr lang="en-US" sz="800" dirty="0"/>
              <a:t> de alto </a:t>
            </a:r>
            <a:r>
              <a:rPr lang="en-US" sz="800" dirty="0" err="1"/>
              <a:t>impacto</a:t>
            </a:r>
            <a:r>
              <a:rPr lang="en-US" sz="800" dirty="0"/>
              <a:t> </a:t>
            </a:r>
            <a:r>
              <a:rPr lang="en-US" sz="800" dirty="0" err="1"/>
              <a:t>financeiro</a:t>
            </a:r>
            <a:r>
              <a:rPr lang="en-US" sz="800" dirty="0"/>
              <a:t>, </a:t>
            </a:r>
            <a:r>
              <a:rPr lang="en-US" sz="800" dirty="0" err="1"/>
              <a:t>característicos</a:t>
            </a:r>
            <a:r>
              <a:rPr lang="en-US" sz="800" dirty="0"/>
              <a:t> de </a:t>
            </a:r>
            <a:r>
              <a:rPr lang="en-US" sz="800" dirty="0" err="1"/>
              <a:t>operações</a:t>
            </a:r>
            <a:r>
              <a:rPr lang="en-US" sz="800" dirty="0"/>
              <a:t> de </a:t>
            </a:r>
            <a:r>
              <a:rPr lang="en-US" sz="800" dirty="0" err="1"/>
              <a:t>manutenção</a:t>
            </a:r>
            <a:r>
              <a:rPr lang="en-US" sz="800" dirty="0"/>
              <a:t> </a:t>
            </a:r>
            <a:r>
              <a:rPr lang="en-US" sz="800" dirty="0" err="1"/>
              <a:t>pesada</a:t>
            </a:r>
            <a:r>
              <a:rPr lang="en-US" sz="800" dirty="0"/>
              <a:t>.</a:t>
            </a:r>
            <a:endParaRPr lang="en-BR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46304" cy="822960"/>
          </a:xfrm>
          <a:prstGeom prst="rect">
            <a:avLst/>
          </a:prstGeom>
          <a:solidFill>
            <a:srgbClr val="E87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b="1" noProof="0" dirty="0">
                <a:solidFill>
                  <a:srgbClr val="E8713A"/>
                </a:solidFill>
              </a:rPr>
              <a:t>09 · </a:t>
            </a:r>
            <a:r>
              <a:rPr lang="pt-BR" sz="1200" b="1" noProof="0" dirty="0">
                <a:solidFill>
                  <a:srgbClr val="E8713A"/>
                </a:solidFill>
                <a:latin typeface="Calibri"/>
              </a:rPr>
              <a:t>EDA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2700" b="1" noProof="0" dirty="0" err="1">
                <a:solidFill>
                  <a:srgbClr val="142B45"/>
                </a:solidFill>
                <a:latin typeface="Calibri"/>
              </a:rPr>
              <a:t>Boxplots</a:t>
            </a:r>
            <a:r>
              <a:rPr lang="pt-BR" sz="2700" b="1" noProof="0" dirty="0">
                <a:solidFill>
                  <a:srgbClr val="142B45"/>
                </a:solidFill>
                <a:latin typeface="Calibri"/>
              </a:rPr>
              <a:t> do custo anual por categoria</a:t>
            </a:r>
          </a:p>
        </p:txBody>
      </p:sp>
      <p:pic>
        <p:nvPicPr>
          <p:cNvPr id="6" name="Picture 5" descr="quali_flag_refriger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685" y="1490682"/>
            <a:ext cx="4857750" cy="2286000"/>
          </a:xfrm>
          <a:prstGeom prst="rect">
            <a:avLst/>
          </a:prstGeom>
        </p:spPr>
      </p:pic>
      <p:pic>
        <p:nvPicPr>
          <p:cNvPr id="7" name="Picture 6" descr="quali_unit_subty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6525" y="1490682"/>
            <a:ext cx="4857750" cy="2286000"/>
          </a:xfrm>
          <a:prstGeom prst="rect">
            <a:avLst/>
          </a:prstGeom>
        </p:spPr>
      </p:pic>
      <p:pic>
        <p:nvPicPr>
          <p:cNvPr id="8" name="Picture 7" descr="quali_cod_montado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8685" y="4129690"/>
            <a:ext cx="4857750" cy="2286000"/>
          </a:xfrm>
          <a:prstGeom prst="rect">
            <a:avLst/>
          </a:prstGeom>
        </p:spPr>
      </p:pic>
      <p:pic>
        <p:nvPicPr>
          <p:cNvPr id="9" name="Picture 8" descr="quali_vmrs_predominante_an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6525" y="4129690"/>
            <a:ext cx="4857750" cy="2286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3E9EC61-56A5-1744-7FEF-90001A338135}"/>
              </a:ext>
            </a:extLst>
          </p:cNvPr>
          <p:cNvSpPr txBox="1"/>
          <p:nvPr/>
        </p:nvSpPr>
        <p:spPr>
          <a:xfrm>
            <a:off x="908685" y="3776682"/>
            <a:ext cx="4857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800" dirty="0"/>
              <a:t>As carretas </a:t>
            </a:r>
            <a:r>
              <a:rPr lang="en-US" sz="800" dirty="0" err="1"/>
              <a:t>refrigeradas</a:t>
            </a:r>
            <a:r>
              <a:rPr lang="en-US" sz="800" dirty="0"/>
              <a:t> </a:t>
            </a:r>
            <a:r>
              <a:rPr lang="en-US" sz="800" dirty="0" err="1"/>
              <a:t>apresentam</a:t>
            </a:r>
            <a:r>
              <a:rPr lang="en-US" sz="800" dirty="0"/>
              <a:t> </a:t>
            </a:r>
            <a:r>
              <a:rPr lang="en-US" sz="800" dirty="0" err="1"/>
              <a:t>mediana</a:t>
            </a:r>
            <a:r>
              <a:rPr lang="en-US" sz="800" dirty="0"/>
              <a:t> de </a:t>
            </a:r>
            <a:r>
              <a:rPr lang="en-US" sz="800" dirty="0" err="1"/>
              <a:t>custo</a:t>
            </a:r>
            <a:r>
              <a:rPr lang="en-US" sz="800" dirty="0"/>
              <a:t> </a:t>
            </a:r>
            <a:r>
              <a:rPr lang="en-US" sz="800" dirty="0" err="1"/>
              <a:t>mais</a:t>
            </a:r>
            <a:r>
              <a:rPr lang="en-US" sz="800" dirty="0"/>
              <a:t> </a:t>
            </a:r>
            <a:r>
              <a:rPr lang="en-US" sz="800" dirty="0" err="1"/>
              <a:t>alta</a:t>
            </a:r>
            <a:r>
              <a:rPr lang="en-US" sz="800" dirty="0"/>
              <a:t> e </a:t>
            </a:r>
            <a:r>
              <a:rPr lang="en-US" sz="800" dirty="0" err="1"/>
              <a:t>dispersão</a:t>
            </a:r>
            <a:r>
              <a:rPr lang="en-US" sz="800" dirty="0"/>
              <a:t> </a:t>
            </a:r>
            <a:r>
              <a:rPr lang="en-US" sz="800" dirty="0" err="1"/>
              <a:t>muito</a:t>
            </a:r>
            <a:r>
              <a:rPr lang="en-US" sz="800" dirty="0"/>
              <a:t> </a:t>
            </a:r>
            <a:r>
              <a:rPr lang="en-US" sz="800" dirty="0" err="1"/>
              <a:t>maior</a:t>
            </a:r>
            <a:r>
              <a:rPr lang="en-US" sz="800" dirty="0"/>
              <a:t> do </a:t>
            </a:r>
            <a:r>
              <a:rPr lang="en-US" sz="800" dirty="0" err="1"/>
              <a:t>que</a:t>
            </a:r>
            <a:r>
              <a:rPr lang="en-US" sz="800" dirty="0"/>
              <a:t> as </a:t>
            </a:r>
            <a:r>
              <a:rPr lang="en-US" sz="800" dirty="0" err="1"/>
              <a:t>não</a:t>
            </a:r>
            <a:r>
              <a:rPr lang="en-US" sz="800" dirty="0"/>
              <a:t> </a:t>
            </a:r>
            <a:r>
              <a:rPr lang="en-US" sz="800" dirty="0" err="1"/>
              <a:t>refrigeradas</a:t>
            </a:r>
            <a:r>
              <a:rPr lang="en-US" sz="800" dirty="0"/>
              <a:t>.</a:t>
            </a:r>
            <a:endParaRPr lang="en-BR" sz="1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5ED79CD-2954-ACA9-F3D3-E14FC7D03C9B}"/>
              </a:ext>
            </a:extLst>
          </p:cNvPr>
          <p:cNvSpPr txBox="1"/>
          <p:nvPr/>
        </p:nvSpPr>
        <p:spPr>
          <a:xfrm>
            <a:off x="6486525" y="3791136"/>
            <a:ext cx="4857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800" dirty="0"/>
              <a:t>RC2, RHM2 e HC3 </a:t>
            </a:r>
            <a:r>
              <a:rPr lang="en-US" sz="800" dirty="0" err="1"/>
              <a:t>concentram</a:t>
            </a:r>
            <a:r>
              <a:rPr lang="en-US" sz="800" dirty="0"/>
              <a:t> </a:t>
            </a:r>
            <a:r>
              <a:rPr lang="en-US" sz="800" dirty="0" err="1"/>
              <a:t>os</a:t>
            </a:r>
            <a:r>
              <a:rPr lang="en-US" sz="800" dirty="0"/>
              <a:t> </a:t>
            </a:r>
            <a:r>
              <a:rPr lang="en-US" sz="800" dirty="0" err="1"/>
              <a:t>maiores</a:t>
            </a:r>
            <a:r>
              <a:rPr lang="en-US" sz="800" dirty="0"/>
              <a:t> custos </a:t>
            </a:r>
            <a:r>
              <a:rPr lang="en-US" sz="800" dirty="0" err="1"/>
              <a:t>medianos</a:t>
            </a:r>
            <a:r>
              <a:rPr lang="en-US" sz="800" dirty="0"/>
              <a:t> e a </a:t>
            </a:r>
            <a:r>
              <a:rPr lang="en-US" sz="800" dirty="0" err="1"/>
              <a:t>maior</a:t>
            </a:r>
            <a:r>
              <a:rPr lang="en-US" sz="800" dirty="0"/>
              <a:t> </a:t>
            </a:r>
            <a:r>
              <a:rPr lang="en-US" sz="800" dirty="0" err="1"/>
              <a:t>variabilidade</a:t>
            </a:r>
            <a:r>
              <a:rPr lang="en-US" sz="800" dirty="0"/>
              <a:t>; </a:t>
            </a:r>
            <a:r>
              <a:rPr lang="en-US" sz="800" dirty="0" err="1"/>
              <a:t>os</a:t>
            </a:r>
            <a:r>
              <a:rPr lang="en-US" sz="800" dirty="0"/>
              <a:t> </a:t>
            </a:r>
            <a:r>
              <a:rPr lang="en-US" sz="800" dirty="0" err="1"/>
              <a:t>demais</a:t>
            </a:r>
            <a:r>
              <a:rPr lang="en-US" sz="800" dirty="0"/>
              <a:t> </a:t>
            </a:r>
            <a:r>
              <a:rPr lang="en-US" sz="800" dirty="0" err="1"/>
              <a:t>subtipos</a:t>
            </a:r>
            <a:r>
              <a:rPr lang="en-US" sz="800" dirty="0"/>
              <a:t> </a:t>
            </a:r>
            <a:r>
              <a:rPr lang="en-US" sz="800" dirty="0" err="1"/>
              <a:t>ficam</a:t>
            </a:r>
            <a:r>
              <a:rPr lang="en-US" sz="800" dirty="0"/>
              <a:t> </a:t>
            </a:r>
            <a:r>
              <a:rPr lang="en-US" sz="800" dirty="0" err="1"/>
              <a:t>em</a:t>
            </a:r>
            <a:r>
              <a:rPr lang="en-US" sz="800" dirty="0"/>
              <a:t> </a:t>
            </a:r>
            <a:r>
              <a:rPr lang="en-US" sz="800" dirty="0" err="1"/>
              <a:t>níveis</a:t>
            </a:r>
            <a:r>
              <a:rPr lang="en-US" sz="800" dirty="0"/>
              <a:t> </a:t>
            </a:r>
            <a:r>
              <a:rPr lang="en-US" sz="800" dirty="0" err="1"/>
              <a:t>inferiores</a:t>
            </a:r>
            <a:r>
              <a:rPr lang="en-US" sz="800" dirty="0"/>
              <a:t>.</a:t>
            </a:r>
            <a:r>
              <a:rPr lang="en-BR" sz="800" dirty="0"/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8600BFC-8E51-4C39-1BEE-25EA7B3A8657}"/>
              </a:ext>
            </a:extLst>
          </p:cNvPr>
          <p:cNvSpPr txBox="1"/>
          <p:nvPr/>
        </p:nvSpPr>
        <p:spPr>
          <a:xfrm>
            <a:off x="908685" y="6413981"/>
            <a:ext cx="4857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800" dirty="0"/>
              <a:t>As </a:t>
            </a:r>
            <a:r>
              <a:rPr lang="en-US" sz="800" dirty="0" err="1"/>
              <a:t>medianas</a:t>
            </a:r>
            <a:r>
              <a:rPr lang="en-US" sz="800" dirty="0"/>
              <a:t> </a:t>
            </a:r>
            <a:r>
              <a:rPr lang="en-US" sz="800" dirty="0" err="1"/>
              <a:t>são</a:t>
            </a:r>
            <a:r>
              <a:rPr lang="en-US" sz="800" dirty="0"/>
              <a:t> </a:t>
            </a:r>
            <a:r>
              <a:rPr lang="en-US" sz="800" dirty="0" err="1"/>
              <a:t>relativamente</a:t>
            </a:r>
            <a:r>
              <a:rPr lang="en-US" sz="800" dirty="0"/>
              <a:t> </a:t>
            </a:r>
            <a:r>
              <a:rPr lang="en-US" sz="800" dirty="0" err="1"/>
              <a:t>próximas</a:t>
            </a:r>
            <a:r>
              <a:rPr lang="en-US" sz="800" dirty="0"/>
              <a:t>, mas Utility </a:t>
            </a:r>
            <a:r>
              <a:rPr lang="en-US" sz="800" dirty="0" err="1"/>
              <a:t>apresenta</a:t>
            </a:r>
            <a:r>
              <a:rPr lang="en-US" sz="800" dirty="0"/>
              <a:t> a </a:t>
            </a:r>
            <a:r>
              <a:rPr lang="en-US" sz="800" dirty="0" err="1"/>
              <a:t>maior</a:t>
            </a:r>
            <a:r>
              <a:rPr lang="en-US" sz="800" dirty="0"/>
              <a:t> </a:t>
            </a:r>
            <a:r>
              <a:rPr lang="en-US" sz="800" dirty="0" err="1"/>
              <a:t>dispersão</a:t>
            </a:r>
            <a:r>
              <a:rPr lang="en-US" sz="800" dirty="0"/>
              <a:t>; Mond </a:t>
            </a:r>
            <a:r>
              <a:rPr lang="en-US" sz="800" dirty="0" err="1"/>
              <a:t>concentra</a:t>
            </a:r>
            <a:r>
              <a:rPr lang="en-US" sz="800" dirty="0"/>
              <a:t> </a:t>
            </a:r>
            <a:r>
              <a:rPr lang="en-US" sz="800" dirty="0" err="1"/>
              <a:t>os</a:t>
            </a:r>
            <a:r>
              <a:rPr lang="en-US" sz="800" dirty="0"/>
              <a:t> </a:t>
            </a:r>
            <a:r>
              <a:rPr lang="en-US" sz="800" dirty="0" err="1"/>
              <a:t>menores</a:t>
            </a:r>
            <a:r>
              <a:rPr lang="en-US" sz="800" dirty="0"/>
              <a:t> custos.</a:t>
            </a:r>
            <a:r>
              <a:rPr lang="en-BR" sz="800" dirty="0"/>
              <a:t>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A49A106-4ECD-979B-6181-B85929E92D70}"/>
              </a:ext>
            </a:extLst>
          </p:cNvPr>
          <p:cNvSpPr txBox="1"/>
          <p:nvPr/>
        </p:nvSpPr>
        <p:spPr>
          <a:xfrm>
            <a:off x="6486525" y="6413981"/>
            <a:ext cx="4857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800" dirty="0"/>
              <a:t>A </a:t>
            </a:r>
            <a:r>
              <a:rPr lang="en-US" sz="800" dirty="0" err="1"/>
              <a:t>categoria</a:t>
            </a:r>
            <a:r>
              <a:rPr lang="en-US" sz="800" dirty="0"/>
              <a:t> 10 </a:t>
            </a:r>
            <a:r>
              <a:rPr lang="en-US" sz="800" dirty="0" err="1"/>
              <a:t>possui</a:t>
            </a:r>
            <a:r>
              <a:rPr lang="en-US" sz="800" dirty="0"/>
              <a:t> a </a:t>
            </a:r>
            <a:r>
              <a:rPr lang="en-US" sz="800" dirty="0" err="1"/>
              <a:t>maior</a:t>
            </a:r>
            <a:r>
              <a:rPr lang="en-US" sz="800" dirty="0"/>
              <a:t> </a:t>
            </a:r>
            <a:r>
              <a:rPr lang="en-US" sz="800" dirty="0" err="1"/>
              <a:t>mediana</a:t>
            </a:r>
            <a:r>
              <a:rPr lang="en-US" sz="800" dirty="0"/>
              <a:t> e a </a:t>
            </a:r>
            <a:r>
              <a:rPr lang="en-US" sz="800" dirty="0" err="1"/>
              <a:t>maior</a:t>
            </a:r>
            <a:r>
              <a:rPr lang="en-US" sz="800" dirty="0"/>
              <a:t> amplitude de custos; a </a:t>
            </a:r>
            <a:r>
              <a:rPr lang="en-US" sz="800" dirty="0" err="1"/>
              <a:t>categoria</a:t>
            </a:r>
            <a:r>
              <a:rPr lang="en-US" sz="800" dirty="0"/>
              <a:t> SEM_OS </a:t>
            </a:r>
            <a:r>
              <a:rPr lang="en-US" sz="800" dirty="0" err="1"/>
              <a:t>permanece</a:t>
            </a:r>
            <a:r>
              <a:rPr lang="en-US" sz="800" dirty="0"/>
              <a:t> </a:t>
            </a:r>
            <a:r>
              <a:rPr lang="en-US" sz="800" dirty="0" err="1"/>
              <a:t>próxima</a:t>
            </a:r>
            <a:r>
              <a:rPr lang="en-US" sz="800" dirty="0"/>
              <a:t> de zero.</a:t>
            </a:r>
            <a:r>
              <a:rPr lang="en-BR" sz="800" dirty="0"/>
              <a:t> 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46304" cy="822960"/>
          </a:xfrm>
          <a:prstGeom prst="rect">
            <a:avLst/>
          </a:prstGeom>
          <a:solidFill>
            <a:srgbClr val="E87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b="1" noProof="0" dirty="0">
                <a:solidFill>
                  <a:srgbClr val="E8713A"/>
                </a:solidFill>
              </a:rPr>
              <a:t>09 · </a:t>
            </a:r>
            <a:r>
              <a:rPr lang="pt-BR" sz="1200" b="1" noProof="0" dirty="0">
                <a:solidFill>
                  <a:srgbClr val="E8713A"/>
                </a:solidFill>
                <a:latin typeface="Calibri"/>
              </a:rPr>
              <a:t>EDA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2700" b="1" noProof="0" dirty="0" err="1">
                <a:solidFill>
                  <a:srgbClr val="142B45"/>
                </a:solidFill>
                <a:latin typeface="Calibri"/>
              </a:rPr>
              <a:t>Boxplots por categoria — configuração e tipo do ativo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" y="1501315"/>
            <a:ext cx="4855464" cy="22860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1501315"/>
            <a:ext cx="4855464" cy="22860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" y="4108424"/>
            <a:ext cx="4855464" cy="22860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3096" y="4108424"/>
            <a:ext cx="4855464" cy="22860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2D2BFE8-675D-17C0-D8F0-0592C1402E53}"/>
              </a:ext>
            </a:extLst>
          </p:cNvPr>
          <p:cNvSpPr txBox="1"/>
          <p:nvPr/>
        </p:nvSpPr>
        <p:spPr>
          <a:xfrm>
            <a:off x="908685" y="3776682"/>
            <a:ext cx="4857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800" dirty="0"/>
              <a:t>As </a:t>
            </a:r>
            <a:r>
              <a:rPr lang="en-US" sz="800" dirty="0" err="1"/>
              <a:t>configurações</a:t>
            </a:r>
            <a:r>
              <a:rPr lang="en-US" sz="800" dirty="0"/>
              <a:t> 53' T/A Reefer e 53' Tridem HEA </a:t>
            </a:r>
            <a:r>
              <a:rPr lang="en-US" sz="800" dirty="0" err="1"/>
              <a:t>apresentam</a:t>
            </a:r>
            <a:r>
              <a:rPr lang="en-US" sz="800" dirty="0"/>
              <a:t> </a:t>
            </a:r>
            <a:r>
              <a:rPr lang="en-US" sz="800" dirty="0" err="1"/>
              <a:t>os</a:t>
            </a:r>
            <a:r>
              <a:rPr lang="en-US" sz="800" dirty="0"/>
              <a:t> </a:t>
            </a:r>
            <a:r>
              <a:rPr lang="en-US" sz="800" dirty="0" err="1"/>
              <a:t>maiores</a:t>
            </a:r>
            <a:r>
              <a:rPr lang="en-US" sz="800" dirty="0"/>
              <a:t> custos </a:t>
            </a:r>
            <a:r>
              <a:rPr lang="en-US" sz="800" dirty="0" err="1"/>
              <a:t>medianos</a:t>
            </a:r>
            <a:r>
              <a:rPr lang="en-US" sz="800" dirty="0"/>
              <a:t> e a </a:t>
            </a:r>
            <a:r>
              <a:rPr lang="en-US" sz="800" dirty="0" err="1"/>
              <a:t>maior</a:t>
            </a:r>
            <a:r>
              <a:rPr lang="en-US" sz="800" dirty="0"/>
              <a:t> </a:t>
            </a:r>
            <a:r>
              <a:rPr lang="en-US" sz="800" dirty="0" err="1"/>
              <a:t>variabilidade</a:t>
            </a:r>
            <a:r>
              <a:rPr lang="en-US" sz="800" dirty="0"/>
              <a:t>.</a:t>
            </a:r>
            <a:r>
              <a:rPr lang="en-BR" sz="800" dirty="0"/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F756B43-EDF4-7834-EB34-8EBB08524189}"/>
              </a:ext>
            </a:extLst>
          </p:cNvPr>
          <p:cNvSpPr txBox="1"/>
          <p:nvPr/>
        </p:nvSpPr>
        <p:spPr>
          <a:xfrm>
            <a:off x="6486525" y="3791136"/>
            <a:ext cx="4857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800" dirty="0"/>
              <a:t>A </a:t>
            </a:r>
            <a:r>
              <a:rPr lang="en-US" sz="800" dirty="0" err="1"/>
              <a:t>medida</a:t>
            </a:r>
            <a:r>
              <a:rPr lang="en-US" sz="800" dirty="0"/>
              <a:t> 275/80R22.5 se </a:t>
            </a:r>
            <a:r>
              <a:rPr lang="en-US" sz="800" dirty="0" err="1"/>
              <a:t>destaca</a:t>
            </a:r>
            <a:r>
              <a:rPr lang="en-US" sz="800" dirty="0"/>
              <a:t> pela </a:t>
            </a:r>
            <a:r>
              <a:rPr lang="en-US" sz="800" dirty="0" err="1"/>
              <a:t>maior</a:t>
            </a:r>
            <a:r>
              <a:rPr lang="en-US" sz="800" dirty="0"/>
              <a:t> </a:t>
            </a:r>
            <a:r>
              <a:rPr lang="en-US" sz="800" dirty="0" err="1"/>
              <a:t>mediana</a:t>
            </a:r>
            <a:r>
              <a:rPr lang="en-US" sz="800" dirty="0"/>
              <a:t> e </a:t>
            </a:r>
            <a:r>
              <a:rPr lang="en-US" sz="800" dirty="0" err="1"/>
              <a:t>dispersão</a:t>
            </a:r>
            <a:r>
              <a:rPr lang="en-US" sz="800" dirty="0"/>
              <a:t>; as </a:t>
            </a:r>
            <a:r>
              <a:rPr lang="en-US" sz="800" dirty="0" err="1"/>
              <a:t>demais</a:t>
            </a:r>
            <a:r>
              <a:rPr lang="en-US" sz="800" dirty="0"/>
              <a:t> </a:t>
            </a:r>
            <a:r>
              <a:rPr lang="en-US" sz="800" dirty="0" err="1"/>
              <a:t>medidas</a:t>
            </a:r>
            <a:r>
              <a:rPr lang="en-US" sz="800" dirty="0"/>
              <a:t> </a:t>
            </a:r>
            <a:r>
              <a:rPr lang="en-US" sz="800" dirty="0" err="1"/>
              <a:t>apresentam</a:t>
            </a:r>
            <a:r>
              <a:rPr lang="en-US" sz="800" dirty="0"/>
              <a:t> </a:t>
            </a:r>
            <a:r>
              <a:rPr lang="en-US" sz="800" dirty="0" err="1"/>
              <a:t>distribuições</a:t>
            </a:r>
            <a:r>
              <a:rPr lang="en-US" sz="800" dirty="0"/>
              <a:t> </a:t>
            </a:r>
            <a:r>
              <a:rPr lang="en-US" sz="800" dirty="0" err="1"/>
              <a:t>mais</a:t>
            </a:r>
            <a:r>
              <a:rPr lang="en-US" sz="800" dirty="0"/>
              <a:t> </a:t>
            </a:r>
            <a:r>
              <a:rPr lang="en-US" sz="800" dirty="0" err="1"/>
              <a:t>próximas</a:t>
            </a:r>
            <a:r>
              <a:rPr lang="en-US" sz="800" dirty="0"/>
              <a:t>.</a:t>
            </a:r>
            <a:r>
              <a:rPr lang="en-BR" sz="800" dirty="0"/>
              <a:t>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1C310E0-6015-AF66-6B25-C28EC91589EE}"/>
              </a:ext>
            </a:extLst>
          </p:cNvPr>
          <p:cNvSpPr txBox="1"/>
          <p:nvPr/>
        </p:nvSpPr>
        <p:spPr>
          <a:xfrm>
            <a:off x="908685" y="6413981"/>
            <a:ext cx="485775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800" dirty="0"/>
              <a:t>Hendrickson </a:t>
            </a:r>
            <a:r>
              <a:rPr lang="en-US" sz="800" dirty="0" err="1"/>
              <a:t>apresenta</a:t>
            </a:r>
            <a:r>
              <a:rPr lang="en-US" sz="800" dirty="0"/>
              <a:t> a </a:t>
            </a:r>
            <a:r>
              <a:rPr lang="en-US" sz="800" dirty="0" err="1"/>
              <a:t>maior</a:t>
            </a:r>
            <a:r>
              <a:rPr lang="en-US" sz="800" dirty="0"/>
              <a:t> </a:t>
            </a:r>
            <a:r>
              <a:rPr lang="en-US" sz="800" dirty="0" err="1"/>
              <a:t>mediana</a:t>
            </a:r>
            <a:r>
              <a:rPr lang="en-US" sz="800" dirty="0"/>
              <a:t> e </a:t>
            </a:r>
            <a:r>
              <a:rPr lang="en-US" sz="800" dirty="0" err="1"/>
              <a:t>ampla</a:t>
            </a:r>
            <a:r>
              <a:rPr lang="en-US" sz="800" dirty="0"/>
              <a:t> </a:t>
            </a:r>
            <a:r>
              <a:rPr lang="en-US" sz="800" dirty="0" err="1"/>
              <a:t>dispersão</a:t>
            </a:r>
            <a:r>
              <a:rPr lang="en-US" sz="800" dirty="0"/>
              <a:t>, </a:t>
            </a:r>
            <a:r>
              <a:rPr lang="en-US" sz="800" dirty="0" err="1"/>
              <a:t>enquanto</a:t>
            </a:r>
            <a:r>
              <a:rPr lang="en-US" sz="800" dirty="0"/>
              <a:t> Chalmers </a:t>
            </a:r>
            <a:r>
              <a:rPr lang="en-US" sz="800" dirty="0" err="1"/>
              <a:t>concentra</a:t>
            </a:r>
            <a:r>
              <a:rPr lang="en-US" sz="800" dirty="0"/>
              <a:t> </a:t>
            </a:r>
            <a:r>
              <a:rPr lang="en-US" sz="800" dirty="0" err="1"/>
              <a:t>os</a:t>
            </a:r>
            <a:r>
              <a:rPr lang="en-US" sz="800" dirty="0"/>
              <a:t> </a:t>
            </a:r>
            <a:r>
              <a:rPr lang="en-US" sz="800" dirty="0" err="1"/>
              <a:t>menores</a:t>
            </a:r>
            <a:r>
              <a:rPr lang="en-US" sz="800" dirty="0"/>
              <a:t> custos.</a:t>
            </a:r>
            <a:r>
              <a:rPr lang="en-BR" sz="800" dirty="0"/>
              <a:t>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870EDB1-8955-4B6D-7946-5F2B9EE0E6C0}"/>
              </a:ext>
            </a:extLst>
          </p:cNvPr>
          <p:cNvSpPr txBox="1"/>
          <p:nvPr/>
        </p:nvSpPr>
        <p:spPr>
          <a:xfrm>
            <a:off x="6486525" y="6413981"/>
            <a:ext cx="4857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800" dirty="0"/>
              <a:t>As </a:t>
            </a:r>
            <a:r>
              <a:rPr lang="en-US" sz="800" dirty="0" err="1"/>
              <a:t>unidades</a:t>
            </a:r>
            <a:r>
              <a:rPr lang="en-US" sz="800" dirty="0"/>
              <a:t> </a:t>
            </a:r>
            <a:r>
              <a:rPr lang="en-US" sz="800" dirty="0" err="1"/>
              <a:t>novas</a:t>
            </a:r>
            <a:r>
              <a:rPr lang="en-US" sz="800" dirty="0"/>
              <a:t> </a:t>
            </a:r>
            <a:r>
              <a:rPr lang="en-US" sz="800" dirty="0" err="1"/>
              <a:t>têm</a:t>
            </a:r>
            <a:r>
              <a:rPr lang="en-US" sz="800" dirty="0"/>
              <a:t> </a:t>
            </a:r>
            <a:r>
              <a:rPr lang="en-US" sz="800" dirty="0" err="1"/>
              <a:t>mediana</a:t>
            </a:r>
            <a:r>
              <a:rPr lang="en-US" sz="800" dirty="0"/>
              <a:t> </a:t>
            </a:r>
            <a:r>
              <a:rPr lang="en-US" sz="800" dirty="0" err="1"/>
              <a:t>ligeiramente</a:t>
            </a:r>
            <a:r>
              <a:rPr lang="en-US" sz="800" dirty="0"/>
              <a:t> superior e </a:t>
            </a:r>
            <a:r>
              <a:rPr lang="en-US" sz="800" dirty="0" err="1"/>
              <a:t>maior</a:t>
            </a:r>
            <a:r>
              <a:rPr lang="en-US" sz="800" dirty="0"/>
              <a:t> </a:t>
            </a:r>
            <a:r>
              <a:rPr lang="en-US" sz="800" dirty="0" err="1"/>
              <a:t>dispersão</a:t>
            </a:r>
            <a:r>
              <a:rPr lang="en-US" sz="800" dirty="0"/>
              <a:t>, </a:t>
            </a:r>
            <a:r>
              <a:rPr lang="en-US" sz="800" dirty="0" err="1"/>
              <a:t>embora</a:t>
            </a:r>
            <a:r>
              <a:rPr lang="en-US" sz="800" dirty="0"/>
              <a:t> </a:t>
            </a:r>
            <a:r>
              <a:rPr lang="en-US" sz="800" dirty="0" err="1"/>
              <a:t>exista</a:t>
            </a:r>
            <a:r>
              <a:rPr lang="en-US" sz="800" dirty="0"/>
              <a:t> forte </a:t>
            </a:r>
            <a:r>
              <a:rPr lang="en-US" sz="800" dirty="0" err="1"/>
              <a:t>sobreposição</a:t>
            </a:r>
            <a:r>
              <a:rPr lang="en-US" sz="800" dirty="0"/>
              <a:t> com as </a:t>
            </a:r>
            <a:r>
              <a:rPr lang="en-US" sz="800" dirty="0" err="1"/>
              <a:t>usadas</a:t>
            </a:r>
            <a:r>
              <a:rPr lang="en-US" sz="800" dirty="0"/>
              <a:t>.</a:t>
            </a:r>
            <a:r>
              <a:rPr lang="en-BR" sz="800" dirty="0"/>
              <a:t> 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46304" cy="822960"/>
          </a:xfrm>
          <a:prstGeom prst="rect">
            <a:avLst/>
          </a:prstGeom>
          <a:solidFill>
            <a:srgbClr val="E87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b="1" noProof="0" dirty="0">
                <a:solidFill>
                  <a:srgbClr val="E8713A"/>
                </a:solidFill>
              </a:rPr>
              <a:t>09 · </a:t>
            </a:r>
            <a:r>
              <a:rPr lang="pt-BR" sz="1200" b="1" noProof="0" dirty="0">
                <a:solidFill>
                  <a:srgbClr val="E8713A"/>
                </a:solidFill>
                <a:latin typeface="Calibri"/>
              </a:rPr>
              <a:t>EDA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2700" b="1" noProof="0" dirty="0" err="1">
                <a:solidFill>
                  <a:srgbClr val="142B45"/>
                </a:solidFill>
                <a:latin typeface="Calibri"/>
              </a:rPr>
              <a:t>Boxplots por categoria — geografia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" y="1501315"/>
            <a:ext cx="4855464" cy="22860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1501315"/>
            <a:ext cx="4855464" cy="2286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C3E5327-2480-856F-A454-E90DD5C76E37}"/>
              </a:ext>
            </a:extLst>
          </p:cNvPr>
          <p:cNvSpPr txBox="1"/>
          <p:nvPr/>
        </p:nvSpPr>
        <p:spPr>
          <a:xfrm>
            <a:off x="908685" y="3776682"/>
            <a:ext cx="4857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800" dirty="0"/>
              <a:t>Balzac e Langley </a:t>
            </a:r>
            <a:r>
              <a:rPr lang="en-US" sz="800" dirty="0" err="1"/>
              <a:t>apresentam</a:t>
            </a:r>
            <a:r>
              <a:rPr lang="en-US" sz="800" dirty="0"/>
              <a:t> </a:t>
            </a:r>
            <a:r>
              <a:rPr lang="en-US" sz="800" dirty="0" err="1"/>
              <a:t>os</a:t>
            </a:r>
            <a:r>
              <a:rPr lang="en-US" sz="800" dirty="0"/>
              <a:t> </a:t>
            </a:r>
            <a:r>
              <a:rPr lang="en-US" sz="800" dirty="0" err="1"/>
              <a:t>maiores</a:t>
            </a:r>
            <a:r>
              <a:rPr lang="en-US" sz="800" dirty="0"/>
              <a:t> custos </a:t>
            </a:r>
            <a:r>
              <a:rPr lang="en-US" sz="800" dirty="0" err="1"/>
              <a:t>medianos</a:t>
            </a:r>
            <a:r>
              <a:rPr lang="en-US" sz="800" dirty="0"/>
              <a:t> e </a:t>
            </a:r>
            <a:r>
              <a:rPr lang="en-US" sz="800" dirty="0" err="1"/>
              <a:t>maior</a:t>
            </a:r>
            <a:r>
              <a:rPr lang="en-US" sz="800" dirty="0"/>
              <a:t> </a:t>
            </a:r>
            <a:r>
              <a:rPr lang="en-US" sz="800" dirty="0" err="1"/>
              <a:t>dispersão</a:t>
            </a:r>
            <a:r>
              <a:rPr lang="en-US" sz="800" dirty="0"/>
              <a:t>; Winnipeg01 </a:t>
            </a:r>
            <a:r>
              <a:rPr lang="en-US" sz="800" dirty="0" err="1"/>
              <a:t>permanece</a:t>
            </a:r>
            <a:r>
              <a:rPr lang="en-US" sz="800" dirty="0"/>
              <a:t> </a:t>
            </a:r>
            <a:r>
              <a:rPr lang="en-US" sz="800" dirty="0" err="1"/>
              <a:t>concentrada</a:t>
            </a:r>
            <a:r>
              <a:rPr lang="en-US" sz="800" dirty="0"/>
              <a:t> </a:t>
            </a:r>
            <a:r>
              <a:rPr lang="en-US" sz="800" dirty="0" err="1"/>
              <a:t>próxima</a:t>
            </a:r>
            <a:r>
              <a:rPr lang="en-US" sz="800" dirty="0"/>
              <a:t> de zero.</a:t>
            </a:r>
            <a:r>
              <a:rPr lang="en-BR" sz="800" dirty="0"/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D09AC5B-770F-D298-7B59-06836D6EDC43}"/>
              </a:ext>
            </a:extLst>
          </p:cNvPr>
          <p:cNvSpPr txBox="1"/>
          <p:nvPr/>
        </p:nvSpPr>
        <p:spPr>
          <a:xfrm>
            <a:off x="6486525" y="3791136"/>
            <a:ext cx="4857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800" dirty="0"/>
              <a:t>New Brunswick, Manitoba e Saskatchewan </a:t>
            </a:r>
            <a:r>
              <a:rPr lang="en-US" sz="800" dirty="0" err="1"/>
              <a:t>apresentam</a:t>
            </a:r>
            <a:r>
              <a:rPr lang="en-US" sz="800" dirty="0"/>
              <a:t> </a:t>
            </a:r>
            <a:r>
              <a:rPr lang="en-US" sz="800" dirty="0" err="1"/>
              <a:t>medianas</a:t>
            </a:r>
            <a:r>
              <a:rPr lang="en-US" sz="800" dirty="0"/>
              <a:t> </a:t>
            </a:r>
            <a:r>
              <a:rPr lang="en-US" sz="800" dirty="0" err="1"/>
              <a:t>mais</a:t>
            </a:r>
            <a:r>
              <a:rPr lang="en-US" sz="800" dirty="0"/>
              <a:t> </a:t>
            </a:r>
            <a:r>
              <a:rPr lang="en-US" sz="800" dirty="0" err="1"/>
              <a:t>elevadas</a:t>
            </a:r>
            <a:r>
              <a:rPr lang="en-US" sz="800" dirty="0"/>
              <a:t>; New Brunswick e Manitoba </a:t>
            </a:r>
            <a:r>
              <a:rPr lang="en-US" sz="800" dirty="0" err="1"/>
              <a:t>também</a:t>
            </a:r>
            <a:r>
              <a:rPr lang="en-US" sz="800" dirty="0"/>
              <a:t> </a:t>
            </a:r>
            <a:r>
              <a:rPr lang="en-US" sz="800" dirty="0" err="1"/>
              <a:t>exibem</a:t>
            </a:r>
            <a:r>
              <a:rPr lang="en-US" sz="800" dirty="0"/>
              <a:t> </a:t>
            </a:r>
            <a:r>
              <a:rPr lang="en-US" sz="800" dirty="0" err="1"/>
              <a:t>maior</a:t>
            </a:r>
            <a:r>
              <a:rPr lang="en-US" sz="800" dirty="0"/>
              <a:t> </a:t>
            </a:r>
            <a:r>
              <a:rPr lang="en-US" sz="800" dirty="0" err="1"/>
              <a:t>variabilidade</a:t>
            </a:r>
            <a:r>
              <a:rPr lang="en-US" sz="800" dirty="0"/>
              <a:t>.</a:t>
            </a:r>
            <a:r>
              <a:rPr lang="en-BR" sz="800" dirty="0"/>
              <a:t> 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46304" cy="822960"/>
          </a:xfrm>
          <a:prstGeom prst="rect">
            <a:avLst/>
          </a:prstGeom>
          <a:solidFill>
            <a:srgbClr val="E87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b="1" noProof="0" dirty="0">
                <a:solidFill>
                  <a:srgbClr val="E8713A"/>
                </a:solidFill>
              </a:rPr>
              <a:t>09 · </a:t>
            </a:r>
            <a:r>
              <a:rPr lang="pt-BR" sz="1200" b="1" noProof="0" dirty="0">
                <a:solidFill>
                  <a:srgbClr val="E8713A"/>
                </a:solidFill>
                <a:latin typeface="Calibri"/>
              </a:rPr>
              <a:t>EDA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78992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2700" b="1" noProof="0" dirty="0">
                <a:solidFill>
                  <a:srgbClr val="142B45"/>
                </a:solidFill>
                <a:latin typeface="Calibri"/>
              </a:rPr>
              <a:t>Relação individual de cada variável com </a:t>
            </a:r>
            <a:r>
              <a:rPr lang="pt-BR" sz="2700" b="1" noProof="0" dirty="0" err="1">
                <a:solidFill>
                  <a:srgbClr val="142B45"/>
                </a:solidFill>
                <a:latin typeface="Calibri"/>
              </a:rPr>
              <a:t>Y</a:t>
            </a:r>
            <a:endParaRPr lang="pt-BR" sz="2700" b="1" noProof="0" dirty="0">
              <a:solidFill>
                <a:srgbClr val="142B45"/>
              </a:solidFill>
              <a:latin typeface="Calibri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1416552"/>
              </p:ext>
            </p:extLst>
          </p:nvPr>
        </p:nvGraphicFramePr>
        <p:xfrm>
          <a:off x="944878" y="1737360"/>
          <a:ext cx="4319752" cy="44613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27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348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22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5730">
                <a:tc>
                  <a:txBody>
                    <a:bodyPr/>
                    <a:lstStyle/>
                    <a:p>
                      <a:pPr algn="ctr"/>
                      <a:r>
                        <a:rPr lang="pt-BR" sz="900" b="1" noProof="0" dirty="0">
                          <a:solidFill>
                            <a:srgbClr val="FFFFFF"/>
                          </a:solidFill>
                        </a:rPr>
                        <a:t>variável</a:t>
                      </a: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b="1" noProof="0" dirty="0" err="1">
                          <a:solidFill>
                            <a:srgbClr val="FFFFFF"/>
                          </a:solidFill>
                        </a:rPr>
                        <a:t>spearman</a:t>
                      </a:r>
                      <a:endParaRPr lang="pt-BR" sz="900" b="1" noProof="0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b="1" noProof="0" dirty="0">
                          <a:solidFill>
                            <a:srgbClr val="FFFFFF"/>
                          </a:solidFill>
                        </a:rPr>
                        <a:t>papel</a:t>
                      </a: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3508"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 err="1">
                          <a:solidFill>
                            <a:srgbClr val="1C2433"/>
                          </a:solidFill>
                        </a:rPr>
                        <a:t>custo_medio_por_os_ano</a:t>
                      </a:r>
                      <a:endParaRPr lang="pt-BR" sz="9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0.786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componente de Y</a:t>
                      </a:r>
                      <a:r>
                        <a:rPr lang="pt-BR" sz="900" noProof="0" dirty="0" err="1">
                          <a:solidFill>
                            <a:srgbClr val="1C2433"/>
                          </a:solidFill>
                        </a:rPr>
                        <a:t/>
                      </a:r>
                      <a:endParaRPr lang="pt-BR" sz="9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3508"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 err="1">
                          <a:solidFill>
                            <a:srgbClr val="1C2433"/>
                          </a:solidFill>
                        </a:rPr>
                        <a:t>n_os_ano</a:t>
                      </a:r>
                      <a:endParaRPr lang="pt-BR" sz="9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0.768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componente de Y</a:t>
                      </a:r>
                      <a:r>
                        <a:rPr lang="pt-BR" sz="900" noProof="0" dirty="0" err="1">
                          <a:solidFill>
                            <a:srgbClr val="1C2433"/>
                          </a:solidFill>
                        </a:rPr>
                        <a:t/>
                      </a:r>
                      <a:endParaRPr lang="pt-BR" sz="9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3508"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 err="1">
                          <a:solidFill>
                            <a:srgbClr val="1C2433"/>
                          </a:solidFill>
                        </a:rPr>
                        <a:t>n_sistemas_vmrs_distintos_ano</a:t>
                      </a:r>
                      <a:endParaRPr lang="pt-BR" sz="9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0.702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explicativa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3508"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 err="1">
                          <a:solidFill>
                            <a:srgbClr val="1C2433"/>
                          </a:solidFill>
                        </a:rPr>
                        <a:t>n_os_ano_anterior</a:t>
                      </a:r>
                      <a:endParaRPr lang="pt-BR" sz="9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0.539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explicativa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3508"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 err="1">
                          <a:solidFill>
                            <a:srgbClr val="1C2433"/>
                          </a:solidFill>
                        </a:rPr>
                        <a:t>custo_ano_anterior</a:t>
                      </a:r>
                      <a:endParaRPr lang="pt-BR" sz="9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0.538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explicativa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3508"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 err="1">
                          <a:solidFill>
                            <a:srgbClr val="1C2433"/>
                          </a:solidFill>
                        </a:rPr>
                        <a:t>km_rodado_ano</a:t>
                      </a:r>
                      <a:endParaRPr lang="pt-BR" sz="9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0.527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explicativa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3508"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 err="1">
                          <a:solidFill>
                            <a:srgbClr val="1C2433"/>
                          </a:solidFill>
                        </a:rPr>
                        <a:t>n_os_acum_ate_ano_anterior</a:t>
                      </a:r>
                      <a:endParaRPr lang="pt-BR" sz="9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0.465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explicativa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3508"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 err="1">
                          <a:solidFill>
                            <a:srgbClr val="1C2433"/>
                          </a:solidFill>
                        </a:rPr>
                        <a:t>custo_acum_ate_ano_anterior</a:t>
                      </a:r>
                      <a:endParaRPr lang="pt-BR" sz="9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0.457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explicativa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3508"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 err="1">
                          <a:solidFill>
                            <a:srgbClr val="1C2433"/>
                          </a:solidFill>
                        </a:rPr>
                        <a:t>km_acumulado_fim_ano</a:t>
                      </a:r>
                      <a:endParaRPr lang="pt-BR" sz="9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0.435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explicativa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3508"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 err="1">
                          <a:solidFill>
                            <a:srgbClr val="1C2433"/>
                          </a:solidFill>
                        </a:rPr>
                        <a:t>anos_ativo_ate_ano_anterior</a:t>
                      </a:r>
                      <a:endParaRPr lang="pt-BR" sz="9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0.26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explicativa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3508"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 err="1">
                          <a:solidFill>
                            <a:srgbClr val="1C2433"/>
                          </a:solidFill>
                        </a:rPr>
                        <a:t>n_clientes_ano</a:t>
                      </a:r>
                      <a:endParaRPr lang="pt-BR" sz="9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0.23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explicativa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13508"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share_maint_ano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0.23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explicativa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13516"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 err="1">
                          <a:solidFill>
                            <a:srgbClr val="1C2433"/>
                          </a:solidFill>
                        </a:rPr>
                        <a:t>share_pm_ano</a:t>
                      </a:r>
                      <a:endParaRPr lang="pt-BR" sz="9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-0.172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explicativa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13508"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 err="1">
                          <a:solidFill>
                            <a:srgbClr val="1C2433"/>
                          </a:solidFill>
                        </a:rPr>
                        <a:t>tempo_contrato_meses_fim_ano</a:t>
                      </a:r>
                      <a:endParaRPr lang="pt-BR" sz="9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0.14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explicativa</a:t>
                      </a:r>
                      <a:r>
                        <a:rPr lang="pt-BR" sz="900" noProof="0" dirty="0" err="1">
                          <a:solidFill>
                            <a:srgbClr val="1C2433"/>
                          </a:solidFill>
                        </a:rPr>
                        <a:t/>
                      </a:r>
                      <a:endParaRPr lang="pt-BR" sz="9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3508"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 err="1">
                          <a:solidFill>
                            <a:srgbClr val="1C2433"/>
                          </a:solidFill>
                        </a:rPr>
                        <a:t>tempo_contrato_meses_inicio_ano</a:t>
                      </a:r>
                      <a:endParaRPr lang="pt-BR" sz="9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0.116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explicativa</a:t>
                      </a:r>
                      <a:r>
                        <a:rPr lang="pt-BR" sz="900" noProof="0" dirty="0" err="1">
                          <a:solidFill>
                            <a:srgbClr val="1C2433"/>
                          </a:solidFill>
                        </a:rPr>
                        <a:t/>
                      </a:r>
                      <a:endParaRPr lang="pt-BR" sz="9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4176622"/>
              </p:ext>
            </p:extLst>
          </p:nvPr>
        </p:nvGraphicFramePr>
        <p:xfrm>
          <a:off x="6166340" y="1737360"/>
          <a:ext cx="5212080" cy="43653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5219">
                <a:tc>
                  <a:txBody>
                    <a:bodyPr/>
                    <a:lstStyle/>
                    <a:p>
                      <a:pPr algn="ctr"/>
                      <a:r>
                        <a:rPr lang="pt-BR" sz="900" b="1" noProof="0" dirty="0">
                          <a:solidFill>
                            <a:srgbClr val="FFFFFF"/>
                          </a:solidFill>
                        </a:rPr>
                        <a:t>variável</a:t>
                      </a: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b="1" noProof="0" dirty="0" err="1">
                          <a:solidFill>
                            <a:srgbClr val="FFFFFF"/>
                          </a:solidFill>
                        </a:rPr>
                        <a:t>eta</a:t>
                      </a:r>
                      <a:endParaRPr lang="pt-BR" sz="900" b="1" noProof="0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b="1" noProof="0" dirty="0" err="1">
                          <a:solidFill>
                            <a:srgbClr val="FFFFFF"/>
                          </a:solidFill>
                        </a:rPr>
                        <a:t>n_categorias</a:t>
                      </a:r>
                      <a:endParaRPr lang="pt-BR" sz="900" b="1" noProof="0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9010"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 err="1">
                          <a:solidFill>
                            <a:srgbClr val="1C2433"/>
                          </a:solidFill>
                        </a:rPr>
                        <a:t>descricao_carreta</a:t>
                      </a:r>
                      <a:endParaRPr lang="pt-BR" sz="9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0.5918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248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9010"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 err="1">
                          <a:solidFill>
                            <a:srgbClr val="1C2433"/>
                          </a:solidFill>
                        </a:rPr>
                        <a:t>unit_subtype</a:t>
                      </a:r>
                      <a:endParaRPr lang="pt-BR" sz="9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0.5438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26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9010"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flag_refrigerado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0.4246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9010"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 err="1">
                          <a:solidFill>
                            <a:srgbClr val="1C2433"/>
                          </a:solidFill>
                        </a:rPr>
                        <a:t>vmrs_predominante_ano</a:t>
                      </a:r>
                      <a:endParaRPr lang="pt-BR" sz="9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0.3357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23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9010"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 err="1">
                          <a:solidFill>
                            <a:srgbClr val="1C2433"/>
                          </a:solidFill>
                        </a:rPr>
                        <a:t>cod_montadora</a:t>
                      </a:r>
                      <a:endParaRPr lang="pt-BR" sz="9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0.2301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26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9010"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 err="1">
                          <a:solidFill>
                            <a:srgbClr val="1C2433"/>
                          </a:solidFill>
                        </a:rPr>
                        <a:t>tipo_manutencao_ano</a:t>
                      </a:r>
                      <a:endParaRPr lang="pt-BR" sz="9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0.1828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5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9010"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 err="1">
                          <a:solidFill>
                            <a:srgbClr val="1C2433"/>
                          </a:solidFill>
                        </a:rPr>
                        <a:t>suspension_type</a:t>
                      </a:r>
                      <a:endParaRPr lang="pt-BR" sz="9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0.1409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9010"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 err="1">
                          <a:solidFill>
                            <a:srgbClr val="1C2433"/>
                          </a:solidFill>
                        </a:rPr>
                        <a:t>provincia_estado</a:t>
                      </a:r>
                      <a:endParaRPr lang="pt-BR" sz="9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0.1399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24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99010"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 err="1">
                          <a:solidFill>
                            <a:srgbClr val="1C2433"/>
                          </a:solidFill>
                        </a:rPr>
                        <a:t>tire_size</a:t>
                      </a:r>
                      <a:endParaRPr lang="pt-BR" sz="9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0.125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99020"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 err="1">
                          <a:solidFill>
                            <a:srgbClr val="1C2433"/>
                          </a:solidFill>
                        </a:rPr>
                        <a:t>new_used_indicator</a:t>
                      </a:r>
                      <a:endParaRPr lang="pt-BR" sz="9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0.1146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99010"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 err="1">
                          <a:solidFill>
                            <a:srgbClr val="1C2433"/>
                          </a:solidFill>
                        </a:rPr>
                        <a:t>regiao_operacao</a:t>
                      </a:r>
                      <a:endParaRPr lang="pt-BR" sz="9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0.0759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11723"/>
            <a:ext cx="12191695" cy="6858000"/>
          </a:xfrm>
          <a:prstGeom prst="rect">
            <a:avLst/>
          </a:prstGeom>
          <a:solidFill>
            <a:srgbClr val="F6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46304" cy="822960"/>
          </a:xfrm>
          <a:prstGeom prst="rect">
            <a:avLst/>
          </a:prstGeom>
          <a:solidFill>
            <a:srgbClr val="E87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b="1" noProof="0" dirty="0">
                <a:solidFill>
                  <a:srgbClr val="E8713A"/>
                </a:solidFill>
              </a:rPr>
              <a:t>09 · </a:t>
            </a:r>
            <a:r>
              <a:rPr lang="pt-BR" sz="1200" b="1" noProof="0" dirty="0">
                <a:solidFill>
                  <a:srgbClr val="E8713A"/>
                </a:solidFill>
                <a:latin typeface="Calibri"/>
              </a:rPr>
              <a:t>EDA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78992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2700" b="1" noProof="0" dirty="0">
                <a:solidFill>
                  <a:srgbClr val="142B45"/>
                </a:solidFill>
                <a:latin typeface="Calibri"/>
              </a:rPr>
              <a:t>Ranking de associação com o custo anual</a:t>
            </a:r>
          </a:p>
        </p:txBody>
      </p:sp>
      <p:pic>
        <p:nvPicPr>
          <p:cNvPr id="6" name="Picture 5" descr="ranking_associacao_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554480"/>
            <a:ext cx="6736080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80960" y="1828800"/>
            <a:ext cx="3840480" cy="18312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Aft>
                <a:spcPts val="600"/>
              </a:spcAft>
            </a:pPr>
            <a:r>
              <a:rPr lang="pt-BR" sz="1400" noProof="0" dirty="0">
                <a:solidFill>
                  <a:srgbClr val="1C2433"/>
                </a:solidFill>
                <a:latin typeface="Calibri"/>
              </a:rPr>
              <a:t>•  Uso (km) e histórico defasado lideram entre as quantitativas.</a:t>
            </a:r>
          </a:p>
          <a:p>
            <a:pPr algn="just">
              <a:spcAft>
                <a:spcPts val="600"/>
              </a:spcAft>
            </a:pPr>
            <a:r>
              <a:rPr lang="pt-BR" sz="1400" noProof="0" dirty="0">
                <a:solidFill>
                  <a:srgbClr val="1C2433"/>
                </a:solidFill>
                <a:latin typeface="Calibri"/>
              </a:rPr>
              <a:t>• Refrigerado e subtipo lideram entre as categóricas.</a:t>
            </a:r>
          </a:p>
          <a:p>
            <a:pPr algn="just">
              <a:spcAft>
                <a:spcPts val="600"/>
              </a:spcAft>
            </a:pPr>
            <a:r>
              <a:rPr lang="pt-BR" sz="1400" noProof="0" dirty="0">
                <a:solidFill>
                  <a:srgbClr val="1C2433"/>
                </a:solidFill>
                <a:latin typeface="Calibri"/>
              </a:rPr>
              <a:t>•  Idade tem efeito direto fraco.</a:t>
            </a:r>
          </a:p>
          <a:p>
            <a:pPr algn="just">
              <a:spcAft>
                <a:spcPts val="600"/>
              </a:spcAft>
            </a:pPr>
            <a:r>
              <a:rPr lang="pt-BR" sz="1400" noProof="0" dirty="0">
                <a:solidFill>
                  <a:srgbClr val="1C2433"/>
                </a:solidFill>
                <a:latin typeface="Calibri"/>
              </a:rPr>
              <a:t>•  Componentes aritméticos de </a:t>
            </a:r>
            <a:r>
              <a:rPr lang="pt-BR" sz="1400" noProof="0" dirty="0" err="1">
                <a:solidFill>
                  <a:srgbClr val="1C2433"/>
                </a:solidFill>
                <a:latin typeface="Calibri"/>
              </a:rPr>
              <a:t>Y</a:t>
            </a:r>
            <a:r>
              <a:rPr lang="pt-BR" sz="1400" noProof="0" dirty="0">
                <a:solidFill>
                  <a:srgbClr val="1C2433"/>
                </a:solidFill>
                <a:latin typeface="Calibri"/>
              </a:rPr>
              <a:t> são excluídos do ranking de explicadores.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46304" cy="822960"/>
          </a:xfrm>
          <a:prstGeom prst="rect">
            <a:avLst/>
          </a:prstGeom>
          <a:solidFill>
            <a:srgbClr val="E87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b="1" noProof="0" dirty="0">
                <a:solidFill>
                  <a:srgbClr val="E8713A"/>
                </a:solidFill>
              </a:rPr>
              <a:t>09 · </a:t>
            </a:r>
            <a:r>
              <a:rPr lang="pt-BR" sz="1200" b="1" noProof="0" dirty="0">
                <a:solidFill>
                  <a:srgbClr val="E8713A"/>
                </a:solidFill>
                <a:latin typeface="Calibri"/>
              </a:rPr>
              <a:t>EDA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2700" b="1" noProof="0" dirty="0">
                <a:solidFill>
                  <a:srgbClr val="142B45"/>
                </a:solidFill>
                <a:latin typeface="Calibri"/>
              </a:rPr>
              <a:t>Multicolinearidade — matriz e VIF</a:t>
            </a:r>
          </a:p>
        </p:txBody>
      </p:sp>
      <p:pic>
        <p:nvPicPr>
          <p:cNvPr id="6" name="Picture 5" descr="matriz_spearm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121" y="1518668"/>
            <a:ext cx="6248702" cy="5207252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1114363"/>
              </p:ext>
            </p:extLst>
          </p:nvPr>
        </p:nvGraphicFramePr>
        <p:xfrm>
          <a:off x="7498079" y="1530440"/>
          <a:ext cx="402336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37624">
                <a:tc>
                  <a:txBody>
                    <a:bodyPr/>
                    <a:lstStyle/>
                    <a:p>
                      <a:pPr algn="ctr"/>
                      <a:r>
                        <a:rPr lang="pt-BR" sz="1000" b="1" noProof="0" dirty="0">
                          <a:solidFill>
                            <a:srgbClr val="FFFFFF"/>
                          </a:solidFill>
                        </a:rPr>
                        <a:t>variável</a:t>
                      </a: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b="1" noProof="0" dirty="0" err="1">
                          <a:solidFill>
                            <a:srgbClr val="FFFFFF"/>
                          </a:solidFill>
                        </a:rPr>
                        <a:t>vif</a:t>
                      </a:r>
                      <a:endParaRPr lang="pt-BR" sz="1000" b="1" noProof="0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7624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idade_carreta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14.13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7624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n_os_acum_ate_ano_anterior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12.98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7624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ano_modelo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12.75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7624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custo_acum_ate_ano_anterior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9.48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7624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n_os_ano_anterior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5.99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7624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custo_ano_anterior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4.84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7624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tempo_contrato_meses_fim_ano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4.04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7624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n_os_ano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3.97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7624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anos_ativo_ate_ano_anterior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3.44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37624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tempo_contrato_meses_inicio_ano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3.41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37624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n_sistemas_vmrs_distintos_ano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2.82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37632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km_rodado_ano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1.61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37624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trocou_contrato_ano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1.59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7624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km_acumulado_fim_ano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1.52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7624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share_maint_ano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1.41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7624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n_clientes_ano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1.32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7624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share_pm_ano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1.27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7624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comprimento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1.14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7624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custo_medio_por_os_ano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1.12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7624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eixos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1.06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46304" cy="822960"/>
          </a:xfrm>
          <a:prstGeom prst="rect">
            <a:avLst/>
          </a:prstGeom>
          <a:solidFill>
            <a:srgbClr val="E87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b="1" noProof="0" dirty="0">
                <a:solidFill>
                  <a:srgbClr val="E8713A"/>
                </a:solidFill>
              </a:rPr>
              <a:t>10 · </a:t>
            </a:r>
            <a:r>
              <a:rPr lang="pt-BR" sz="1200" b="1" noProof="0" dirty="0">
                <a:solidFill>
                  <a:srgbClr val="E8713A"/>
                </a:solidFill>
                <a:latin typeface="Calibri"/>
              </a:rPr>
              <a:t>SELEÇÃO DAS VARIÁVEIS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78992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2700" b="1" noProof="0" dirty="0">
                <a:solidFill>
                  <a:srgbClr val="142B45"/>
                </a:solidFill>
                <a:latin typeface="Calibri"/>
              </a:rPr>
              <a:t>Seleção das variáveis do modelo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3520766"/>
              </p:ext>
            </p:extLst>
          </p:nvPr>
        </p:nvGraphicFramePr>
        <p:xfrm>
          <a:off x="640080" y="1737360"/>
          <a:ext cx="54864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8704">
                <a:tc>
                  <a:txBody>
                    <a:bodyPr/>
                    <a:lstStyle/>
                    <a:p>
                      <a:pPr algn="ctr"/>
                      <a:r>
                        <a:rPr lang="pt-BR" sz="900" b="1" noProof="0" dirty="0">
                          <a:solidFill>
                            <a:srgbClr val="FFFFFF"/>
                          </a:solidFill>
                        </a:rPr>
                        <a:t>variável</a:t>
                      </a: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b="1" noProof="0" dirty="0">
                          <a:solidFill>
                            <a:srgbClr val="FFFFFF"/>
                          </a:solidFill>
                        </a:rPr>
                        <a:t>decisão</a:t>
                      </a: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8704"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 err="1">
                          <a:solidFill>
                            <a:srgbClr val="1C2433"/>
                          </a:solidFill>
                        </a:rPr>
                        <a:t>tailgate_flag</a:t>
                      </a:r>
                      <a:endParaRPr lang="pt-BR" sz="9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removida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8704"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 err="1">
                          <a:solidFill>
                            <a:srgbClr val="1C2433"/>
                          </a:solidFill>
                        </a:rPr>
                        <a:t>franquia_km_mensal_contrato</a:t>
                      </a:r>
                      <a:endParaRPr lang="pt-BR" sz="9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removida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8704"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 err="1">
                          <a:solidFill>
                            <a:srgbClr val="1C2433"/>
                          </a:solidFill>
                        </a:rPr>
                        <a:t>cod_cliente_predominante_ano</a:t>
                      </a:r>
                      <a:endParaRPr lang="pt-BR" sz="9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removida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8704"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 err="1">
                          <a:solidFill>
                            <a:srgbClr val="1C2433"/>
                          </a:solidFill>
                        </a:rPr>
                        <a:t>populacao_maint_flag</a:t>
                      </a:r>
                      <a:endParaRPr lang="pt-BR" sz="9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removida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8704"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 err="1">
                          <a:solidFill>
                            <a:srgbClr val="1C2433"/>
                          </a:solidFill>
                        </a:rPr>
                        <a:t>tipo_manutencao_ano</a:t>
                      </a:r>
                      <a:endParaRPr lang="pt-BR" sz="9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mantida (DUMMY)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8704"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 err="1">
                          <a:solidFill>
                            <a:srgbClr val="1C2433"/>
                          </a:solidFill>
                        </a:rPr>
                        <a:t>share_maint_ano</a:t>
                      </a:r>
                      <a:endParaRPr lang="pt-BR" sz="9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mantida (só explicativo)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8704"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tempo_contrato_meses_inicio_ano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mantida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8704"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tempo_contrato_meses_fim_ano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mantida (só explicativo)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8704"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n_clientes_ano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mantida (só explicativo)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98704"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 err="1">
                          <a:solidFill>
                            <a:srgbClr val="1C2433"/>
                          </a:solidFill>
                        </a:rPr>
                        <a:t>trocou_contrato_ano</a:t>
                      </a:r>
                      <a:endParaRPr lang="pt-BR" sz="9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mantida (só explicativo)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98704"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 err="1">
                          <a:solidFill>
                            <a:srgbClr val="1C2433"/>
                          </a:solidFill>
                        </a:rPr>
                        <a:t>n_os_ano</a:t>
                      </a:r>
                      <a:endParaRPr lang="pt-BR" sz="9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ALVO Y2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98704"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 err="1">
                          <a:solidFill>
                            <a:srgbClr val="1C2433"/>
                          </a:solidFill>
                        </a:rPr>
                        <a:t>custo_medio_por_os_ano</a:t>
                      </a:r>
                      <a:endParaRPr lang="pt-BR" sz="9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ALVO Y3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98704"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 err="1">
                          <a:solidFill>
                            <a:srgbClr val="1C2433"/>
                          </a:solidFill>
                        </a:rPr>
                        <a:t>descricao_carreta</a:t>
                      </a:r>
                      <a:endParaRPr lang="pt-BR" sz="9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mantida (DUMMY)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98704"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 err="1">
                          <a:solidFill>
                            <a:srgbClr val="1C2433"/>
                          </a:solidFill>
                        </a:rPr>
                        <a:t>unit_subtype</a:t>
                      </a:r>
                      <a:endParaRPr lang="pt-BR" sz="9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mantida (DUMMY)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98704"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 err="1">
                          <a:solidFill>
                            <a:srgbClr val="1C2433"/>
                          </a:solidFill>
                        </a:rPr>
                        <a:t>flag_refrigerado</a:t>
                      </a:r>
                      <a:endParaRPr lang="pt-BR" sz="9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mantida (DUMMY)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8704"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 err="1">
                          <a:solidFill>
                            <a:srgbClr val="1C2433"/>
                          </a:solidFill>
                        </a:rPr>
                        <a:t>vmrs_predominante_ano</a:t>
                      </a:r>
                      <a:endParaRPr lang="pt-BR" sz="9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mantida (DUMMY, so explicativo)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8704"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 err="1">
                          <a:solidFill>
                            <a:srgbClr val="1C2433"/>
                          </a:solidFill>
                        </a:rPr>
                        <a:t>n_sistemas_vmrs_distintos_ano</a:t>
                      </a:r>
                      <a:endParaRPr lang="pt-BR" sz="9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mantida (só explicativo)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8704"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 err="1">
                          <a:solidFill>
                            <a:srgbClr val="1C2433"/>
                          </a:solidFill>
                        </a:rPr>
                        <a:t>vmrs_dist_media_5a</a:t>
                      </a:r>
                      <a:endParaRPr lang="pt-BR" sz="9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mantida (preditivo)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1846367"/>
              </p:ext>
            </p:extLst>
          </p:nvPr>
        </p:nvGraphicFramePr>
        <p:xfrm>
          <a:off x="6309360" y="1737360"/>
          <a:ext cx="54864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4658">
                <a:tc>
                  <a:txBody>
                    <a:bodyPr/>
                    <a:lstStyle/>
                    <a:p>
                      <a:pPr algn="ctr"/>
                      <a:r>
                        <a:rPr lang="pt-BR" sz="900" b="1" noProof="0" dirty="0">
                          <a:solidFill>
                            <a:srgbClr val="FFFFFF"/>
                          </a:solidFill>
                        </a:rPr>
                        <a:t>variável</a:t>
                      </a: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b="1" noProof="0" dirty="0">
                          <a:solidFill>
                            <a:srgbClr val="FFFFFF"/>
                          </a:solidFill>
                        </a:rPr>
                        <a:t>decisão</a:t>
                      </a: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4658"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 err="1">
                          <a:solidFill>
                            <a:srgbClr val="1C2433"/>
                          </a:solidFill>
                        </a:rPr>
                        <a:t>km_rodado_ano</a:t>
                      </a:r>
                      <a:endParaRPr lang="pt-BR" sz="9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mantida (só explicativo)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4658"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 err="1">
                          <a:solidFill>
                            <a:srgbClr val="1C2433"/>
                          </a:solidFill>
                        </a:rPr>
                        <a:t>km_acumulado_fim_ano</a:t>
                      </a:r>
                      <a:endParaRPr lang="pt-BR" sz="9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explicativo / início de ano no preditivo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4658"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 err="1">
                          <a:solidFill>
                            <a:srgbClr val="1C2433"/>
                          </a:solidFill>
                        </a:rPr>
                        <a:t>n_os_ano_anterior</a:t>
                      </a:r>
                      <a:endParaRPr lang="pt-BR" sz="9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mantida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4658"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 err="1">
                          <a:solidFill>
                            <a:srgbClr val="1C2433"/>
                          </a:solidFill>
                        </a:rPr>
                        <a:t>custo_ano_anterior</a:t>
                      </a:r>
                      <a:endParaRPr lang="pt-BR" sz="9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mantida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4658"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 err="1">
                          <a:solidFill>
                            <a:srgbClr val="1C2433"/>
                          </a:solidFill>
                        </a:rPr>
                        <a:t>n_os_acum_ate_ano_anterior</a:t>
                      </a:r>
                      <a:endParaRPr lang="pt-BR" sz="9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mantida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4658"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 err="1">
                          <a:solidFill>
                            <a:srgbClr val="1C2433"/>
                          </a:solidFill>
                        </a:rPr>
                        <a:t>custo_acum_ate_ano_anterior</a:t>
                      </a:r>
                      <a:endParaRPr lang="pt-BR" sz="9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mantida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4658"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 err="1">
                          <a:solidFill>
                            <a:srgbClr val="1C2433"/>
                          </a:solidFill>
                        </a:rPr>
                        <a:t>anos_ativo_ate_ano_anterior</a:t>
                      </a:r>
                      <a:endParaRPr lang="pt-BR" sz="9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mantida</a:t>
                      </a:r>
                      <a:r>
                        <a:rPr lang="pt-BR" sz="900" noProof="0" dirty="0" err="1">
                          <a:solidFill>
                            <a:srgbClr val="1C2433"/>
                          </a:solidFill>
                        </a:rPr>
                        <a:t/>
                      </a:r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4658"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 err="1">
                          <a:solidFill>
                            <a:srgbClr val="1C2433"/>
                          </a:solidFill>
                        </a:rPr>
                        <a:t>idade_carreta</a:t>
                      </a:r>
                      <a:endParaRPr lang="pt-BR" sz="9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mantida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4658"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 err="1">
                          <a:solidFill>
                            <a:srgbClr val="1C2433"/>
                          </a:solidFill>
                        </a:rPr>
                        <a:t>eixos</a:t>
                      </a:r>
                      <a:endParaRPr lang="pt-BR" sz="9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mantida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4658"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 err="1">
                          <a:solidFill>
                            <a:srgbClr val="1C2433"/>
                          </a:solidFill>
                        </a:rPr>
                        <a:t>regiao_operacao</a:t>
                      </a:r>
                      <a:endParaRPr lang="pt-BR" sz="9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removida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44658"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 err="1">
                          <a:solidFill>
                            <a:srgbClr val="1C2433"/>
                          </a:solidFill>
                        </a:rPr>
                        <a:t>provincia_estado</a:t>
                      </a:r>
                      <a:endParaRPr lang="pt-BR" sz="9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removida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44664"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 err="1">
                          <a:solidFill>
                            <a:srgbClr val="1C2433"/>
                          </a:solidFill>
                        </a:rPr>
                        <a:t>cod_montadora</a:t>
                      </a:r>
                      <a:endParaRPr lang="pt-BR" sz="9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removida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44658"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 err="1">
                          <a:solidFill>
                            <a:srgbClr val="1C2433"/>
                          </a:solidFill>
                        </a:rPr>
                        <a:t>suspension_type</a:t>
                      </a:r>
                      <a:endParaRPr lang="pt-BR" sz="9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removida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4658"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 err="1">
                          <a:solidFill>
                            <a:srgbClr val="1C2433"/>
                          </a:solidFill>
                        </a:rPr>
                        <a:t>new_used_indicator</a:t>
                      </a:r>
                      <a:endParaRPr lang="pt-BR" sz="9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removida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4658"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 err="1">
                          <a:solidFill>
                            <a:srgbClr val="1C2433"/>
                          </a:solidFill>
                        </a:rPr>
                        <a:t>tire_size</a:t>
                      </a:r>
                      <a:endParaRPr lang="pt-BR" sz="9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removida (PENDENTE)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4658"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 err="1">
                          <a:solidFill>
                            <a:srgbClr val="1C2433"/>
                          </a:solidFill>
                        </a:rPr>
                        <a:t>ano_modelo</a:t>
                      </a:r>
                      <a:endParaRPr lang="pt-BR" sz="9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removida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4658"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 err="1">
                          <a:solidFill>
                            <a:srgbClr val="1C2433"/>
                          </a:solidFill>
                        </a:rPr>
                        <a:t>comprimento</a:t>
                      </a:r>
                      <a:endParaRPr lang="pt-BR" sz="9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removida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4658"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 err="1">
                          <a:solidFill>
                            <a:srgbClr val="1C2433"/>
                          </a:solidFill>
                        </a:rPr>
                        <a:t>share_pm_ano</a:t>
                      </a:r>
                      <a:endParaRPr lang="pt-BR" sz="9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900" noProof="0" dirty="0">
                          <a:solidFill>
                            <a:srgbClr val="1C2433"/>
                          </a:solidFill>
                        </a:rPr>
                        <a:t>removida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6263640"/>
            <a:ext cx="109728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1000" b="0" noProof="0" dirty="0">
                <a:solidFill>
                  <a:srgbClr val="5B636E"/>
                </a:solidFill>
                <a:latin typeface="Calibri"/>
              </a:rPr>
              <a:t>Seleção conforme a curadoria de variáveis do Grupo (02/set), confrontada com a evidência: ranking de associação, VIF, redundância, vazamento temporal e coerência de domínio.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46304" cy="822960"/>
          </a:xfrm>
          <a:prstGeom prst="rect">
            <a:avLst/>
          </a:prstGeom>
          <a:solidFill>
            <a:srgbClr val="E87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1200" b="1" noProof="0" dirty="0">
                <a:solidFill>
                  <a:srgbClr val="E8713A"/>
                </a:solidFill>
                <a:latin typeface="Calibri"/>
              </a:rPr>
              <a:t>11 · REFERENCIAL TEÓRICO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78992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2700" b="1" noProof="0" dirty="0">
                <a:solidFill>
                  <a:srgbClr val="142B45"/>
                </a:solidFill>
                <a:latin typeface="Calibri"/>
              </a:rPr>
              <a:t>Estudos selecionados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60704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Aft>
                <a:spcPts val="600"/>
              </a:spcAft>
            </a:pPr>
            <a:r>
              <a:rPr lang="pt-BR" sz="1500" noProof="0" dirty="0">
                <a:solidFill>
                  <a:srgbClr val="1C2433"/>
                </a:solidFill>
                <a:latin typeface="Calibri"/>
              </a:rPr>
              <a:t>•  </a:t>
            </a:r>
            <a:r>
              <a:rPr lang="pt-BR" sz="1500" noProof="0" dirty="0" err="1">
                <a:solidFill>
                  <a:srgbClr val="1C2433"/>
                </a:solidFill>
                <a:latin typeface="Calibri"/>
              </a:rPr>
              <a:t>Katreddi</a:t>
            </a:r>
            <a:r>
              <a:rPr lang="pt-BR" sz="1500" noProof="0" dirty="0">
                <a:solidFill>
                  <a:srgbClr val="1C2433"/>
                </a:solidFill>
                <a:latin typeface="Calibri"/>
              </a:rPr>
              <a:t> et al. (2023) — ML para custo de manutenção por milha em caminhões (Super </a:t>
            </a:r>
            <a:r>
              <a:rPr lang="pt-BR" sz="1500" noProof="0" dirty="0" err="1">
                <a:solidFill>
                  <a:srgbClr val="1C2433"/>
                </a:solidFill>
                <a:latin typeface="Calibri"/>
              </a:rPr>
              <a:t>Learner</a:t>
            </a:r>
            <a:r>
              <a:rPr lang="pt-BR" sz="1500" noProof="0" dirty="0">
                <a:solidFill>
                  <a:srgbClr val="1C2433"/>
                </a:solidFill>
                <a:latin typeface="Calibri"/>
              </a:rPr>
              <a:t>, R²=97%); variáveis operacionais e ensembles capturam relações não lineares.</a:t>
            </a:r>
          </a:p>
          <a:p>
            <a:pPr algn="just">
              <a:spcAft>
                <a:spcPts val="600"/>
              </a:spcAft>
            </a:pPr>
            <a:r>
              <a:rPr lang="pt-BR" sz="1500" noProof="0" dirty="0">
                <a:solidFill>
                  <a:srgbClr val="1C2433"/>
                </a:solidFill>
                <a:latin typeface="Calibri"/>
              </a:rPr>
              <a:t>•  </a:t>
            </a:r>
            <a:r>
              <a:rPr lang="pt-BR" sz="1500" noProof="0" dirty="0" err="1">
                <a:solidFill>
                  <a:srgbClr val="1C2433"/>
                </a:solidFill>
                <a:latin typeface="Calibri"/>
              </a:rPr>
              <a:t>Katreddi</a:t>
            </a:r>
            <a:r>
              <a:rPr lang="pt-BR" sz="1500" noProof="0" dirty="0">
                <a:solidFill>
                  <a:srgbClr val="1C2433"/>
                </a:solidFill>
                <a:latin typeface="Calibri"/>
              </a:rPr>
              <a:t> et al. (2023) — </a:t>
            </a:r>
            <a:r>
              <a:rPr lang="pt-BR" sz="1500" noProof="0" dirty="0" err="1">
                <a:solidFill>
                  <a:srgbClr val="1C2433"/>
                </a:solidFill>
                <a:latin typeface="Calibri"/>
              </a:rPr>
              <a:t>Mixed</a:t>
            </a:r>
            <a:r>
              <a:rPr lang="pt-BR" sz="1500" noProof="0" dirty="0">
                <a:solidFill>
                  <a:srgbClr val="1C2433"/>
                </a:solidFill>
                <a:latin typeface="Calibri"/>
              </a:rPr>
              <a:t> </a:t>
            </a:r>
            <a:r>
              <a:rPr lang="pt-BR" sz="1500" noProof="0" dirty="0" err="1">
                <a:solidFill>
                  <a:srgbClr val="1C2433"/>
                </a:solidFill>
                <a:latin typeface="Calibri"/>
              </a:rPr>
              <a:t>Effects</a:t>
            </a:r>
            <a:r>
              <a:rPr lang="pt-BR" sz="1500" noProof="0" dirty="0">
                <a:solidFill>
                  <a:srgbClr val="1C2433"/>
                </a:solidFill>
                <a:latin typeface="Calibri"/>
              </a:rPr>
              <a:t> Random Forest: captura diferenças sistemáticas entre grupos de ativos; motiva incluir categóricas (subtipo, montadora, </a:t>
            </a:r>
            <a:r>
              <a:rPr lang="pt-BR" sz="1500" noProof="0" dirty="0" err="1">
                <a:solidFill>
                  <a:srgbClr val="1C2433"/>
                </a:solidFill>
                <a:latin typeface="Calibri"/>
              </a:rPr>
              <a:t>reefer</a:t>
            </a:r>
            <a:r>
              <a:rPr lang="pt-BR" sz="1500" noProof="0" dirty="0">
                <a:solidFill>
                  <a:srgbClr val="1C2433"/>
                </a:solidFill>
                <a:latin typeface="Calibri"/>
              </a:rPr>
              <a:t>).</a:t>
            </a:r>
          </a:p>
          <a:p>
            <a:pPr algn="just">
              <a:spcAft>
                <a:spcPts val="600"/>
              </a:spcAft>
            </a:pPr>
            <a:r>
              <a:rPr lang="pt-BR" sz="1500" noProof="0" dirty="0">
                <a:solidFill>
                  <a:srgbClr val="1C2433"/>
                </a:solidFill>
                <a:latin typeface="Calibri"/>
              </a:rPr>
              <a:t>•  Sun et al. (2024) — previsão por dados históricos de manutenção; reforça que o histórico e insumo suficiente para prever custos futuros.</a:t>
            </a:r>
          </a:p>
          <a:p>
            <a:pPr algn="just">
              <a:spcAft>
                <a:spcPts val="600"/>
              </a:spcAft>
            </a:pPr>
            <a:r>
              <a:rPr lang="pt-BR" sz="1500" noProof="0" dirty="0">
                <a:solidFill>
                  <a:srgbClr val="1C2433"/>
                </a:solidFill>
                <a:latin typeface="Calibri"/>
              </a:rPr>
              <a:t>•  </a:t>
            </a:r>
            <a:r>
              <a:rPr lang="pt-BR" sz="1500" noProof="0" dirty="0" err="1">
                <a:solidFill>
                  <a:srgbClr val="1C2433"/>
                </a:solidFill>
                <a:latin typeface="Calibri"/>
              </a:rPr>
              <a:t>Adekitan</a:t>
            </a:r>
            <a:r>
              <a:rPr lang="pt-BR" sz="1500" noProof="0" dirty="0">
                <a:solidFill>
                  <a:srgbClr val="1C2433"/>
                </a:solidFill>
                <a:latin typeface="Calibri"/>
              </a:rPr>
              <a:t> et al. (2018) — ANN com </a:t>
            </a:r>
            <a:r>
              <a:rPr lang="pt-BR" sz="1500" noProof="0" dirty="0" err="1">
                <a:solidFill>
                  <a:srgbClr val="1C2433"/>
                </a:solidFill>
                <a:latin typeface="Calibri"/>
              </a:rPr>
              <a:t>R</a:t>
            </a:r>
            <a:r>
              <a:rPr lang="pt-BR" sz="1500" noProof="0" dirty="0">
                <a:solidFill>
                  <a:srgbClr val="1C2433"/>
                </a:solidFill>
                <a:latin typeface="Calibri"/>
              </a:rPr>
              <a:t>=0,766; sinal preditivo de variáveis de uso mesmo com dados limitados.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264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1100" b="0" noProof="0" dirty="0">
                <a:solidFill>
                  <a:srgbClr val="5B636E"/>
                </a:solidFill>
                <a:latin typeface="Calibri"/>
              </a:rPr>
              <a:t>As referencias favorecem modelos de arvore/ensemble, coerente com os resultados deste estudo.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46304" cy="822960"/>
          </a:xfrm>
          <a:prstGeom prst="rect">
            <a:avLst/>
          </a:prstGeom>
          <a:solidFill>
            <a:srgbClr val="E87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90892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pt-BR" sz="1200" b="1" i="0" noProof="0" dirty="0">
                <a:solidFill>
                  <a:srgbClr val="E8713A"/>
                </a:solidFill>
                <a:latin typeface="Calibri"/>
              </a:rPr>
              <a:t>11 · REFERENCIAL TEÓRICO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78992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700" b="1" dirty="0">
                <a:solidFill>
                  <a:srgbClr val="142B45"/>
                </a:solidFill>
              </a:rPr>
              <a:t>Estudos selecionados e </a:t>
            </a:r>
            <a:r>
              <a:rPr lang="pt-BR" sz="2700" b="1" i="0" noProof="0" dirty="0">
                <a:solidFill>
                  <a:srgbClr val="142B45"/>
                </a:solidFill>
                <a:latin typeface="Calibri"/>
              </a:rPr>
              <a:t>trabalhos-base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0540133"/>
              </p:ext>
            </p:extLst>
          </p:nvPr>
        </p:nvGraphicFramePr>
        <p:xfrm>
          <a:off x="822960" y="1783080"/>
          <a:ext cx="105156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86384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150" b="1" i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Autor (ano)</a:t>
                      </a:r>
                    </a:p>
                  </a:txBody>
                  <a:tcPr marL="82296" marR="64008" marT="36576" marB="36576" anchor="ctr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150" b="1" i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Tema do estudo</a:t>
                      </a:r>
                    </a:p>
                  </a:txBody>
                  <a:tcPr marL="82296" marR="64008" marT="36576" marB="36576" anchor="ctr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150" b="1" i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Método / achado principal</a:t>
                      </a:r>
                    </a:p>
                  </a:txBody>
                  <a:tcPr marL="82296" marR="64008" marT="36576" marB="36576" anchor="ctr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150" b="1" i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Contribuição para o projeto</a:t>
                      </a:r>
                    </a:p>
                  </a:txBody>
                  <a:tcPr marL="82296" marR="64008" marT="36576" marB="36576" anchor="ctr">
                    <a:solidFill>
                      <a:srgbClr val="142B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050" b="1" i="0" noProof="0" dirty="0" err="1">
                          <a:solidFill>
                            <a:srgbClr val="1C2433"/>
                          </a:solidFill>
                          <a:latin typeface="Calibri"/>
                        </a:rPr>
                        <a:t>Katreddi</a:t>
                      </a:r>
                      <a:r>
                        <a:rPr lang="pt-BR" sz="1050" b="1" i="0" noProof="0" dirty="0">
                          <a:solidFill>
                            <a:srgbClr val="1C2433"/>
                          </a:solidFill>
                          <a:latin typeface="Calibri"/>
                        </a:rPr>
                        <a:t>, </a:t>
                      </a:r>
                      <a:r>
                        <a:rPr lang="pt-BR" sz="1050" b="1" i="0" noProof="0" dirty="0" err="1">
                          <a:solidFill>
                            <a:srgbClr val="1C2433"/>
                          </a:solidFill>
                          <a:latin typeface="Calibri"/>
                        </a:rPr>
                        <a:t>Thiruvengadam</a:t>
                      </a:r>
                      <a:r>
                        <a:rPr lang="pt-BR" sz="1050" b="1" i="0" noProof="0" dirty="0">
                          <a:solidFill>
                            <a:srgbClr val="1C2433"/>
                          </a:solidFill>
                          <a:latin typeface="Calibri"/>
                        </a:rPr>
                        <a:t>,</a:t>
                      </a:r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050" b="1" i="0" noProof="0" dirty="0">
                          <a:solidFill>
                            <a:srgbClr val="1C2433"/>
                          </a:solidFill>
                          <a:latin typeface="Calibri"/>
                        </a:rPr>
                        <a:t>Thompson, Schmid e</a:t>
                      </a:r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050" b="1" i="0" noProof="0" dirty="0" err="1">
                          <a:solidFill>
                            <a:srgbClr val="1C2433"/>
                          </a:solidFill>
                          <a:latin typeface="Calibri"/>
                        </a:rPr>
                        <a:t>Padmanaban</a:t>
                      </a:r>
                      <a:r>
                        <a:rPr lang="pt-BR" sz="1050" b="1" i="0" noProof="0" dirty="0">
                          <a:solidFill>
                            <a:srgbClr val="1C2433"/>
                          </a:solidFill>
                          <a:latin typeface="Calibri"/>
                        </a:rPr>
                        <a:t> (2023)</a:t>
                      </a:r>
                    </a:p>
                  </a:txBody>
                  <a:tcPr marL="82296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050" b="0" i="0" noProof="0" dirty="0">
                          <a:solidFill>
                            <a:srgbClr val="1C2433"/>
                          </a:solidFill>
                          <a:latin typeface="Calibri"/>
                        </a:rPr>
                        <a:t>Custo de manutenção de caminhões de entrega (diesel/GNV)</a:t>
                      </a:r>
                    </a:p>
                  </a:txBody>
                  <a:tcPr marL="82296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050" b="0" i="0" noProof="0" dirty="0">
                          <a:solidFill>
                            <a:srgbClr val="1C2433"/>
                          </a:solidFill>
                          <a:latin typeface="Calibri"/>
                        </a:rPr>
                        <a:t>RF, </a:t>
                      </a:r>
                      <a:r>
                        <a:rPr lang="pt-BR" sz="1050" b="0" i="0" noProof="0" dirty="0" err="1">
                          <a:solidFill>
                            <a:srgbClr val="1C2433"/>
                          </a:solidFill>
                          <a:latin typeface="Calibri"/>
                        </a:rPr>
                        <a:t>XGBoost</a:t>
                      </a:r>
                      <a:r>
                        <a:rPr lang="pt-BR" sz="1050" b="0" i="0" noProof="0" dirty="0">
                          <a:solidFill>
                            <a:srgbClr val="1C2433"/>
                          </a:solidFill>
                          <a:latin typeface="Calibri"/>
                        </a:rPr>
                        <a:t>, ANN e Super </a:t>
                      </a:r>
                      <a:r>
                        <a:rPr lang="pt-BR" sz="1050" b="0" i="0" noProof="0" dirty="0" err="1">
                          <a:solidFill>
                            <a:srgbClr val="1C2433"/>
                          </a:solidFill>
                          <a:latin typeface="Calibri"/>
                        </a:rPr>
                        <a:t>Learner</a:t>
                      </a:r>
                      <a:r>
                        <a:rPr lang="pt-BR" sz="1050" b="0" i="0" noProof="0" dirty="0">
                          <a:solidFill>
                            <a:srgbClr val="1C2433"/>
                          </a:solidFill>
                          <a:latin typeface="Calibri"/>
                        </a:rPr>
                        <a:t>; Super </a:t>
                      </a:r>
                      <a:r>
                        <a:rPr lang="pt-BR" sz="1050" b="0" i="0" noProof="0" dirty="0" err="1">
                          <a:solidFill>
                            <a:srgbClr val="1C2433"/>
                          </a:solidFill>
                          <a:latin typeface="Calibri"/>
                        </a:rPr>
                        <a:t>Learner</a:t>
                      </a:r>
                      <a:r>
                        <a:rPr lang="pt-BR" sz="1050" b="0" i="0" noProof="0" dirty="0">
                          <a:solidFill>
                            <a:srgbClr val="1C2433"/>
                          </a:solidFill>
                          <a:latin typeface="Calibri"/>
                        </a:rPr>
                        <a:t> o melhor (R²=97,28%)</a:t>
                      </a:r>
                    </a:p>
                  </a:txBody>
                  <a:tcPr marL="82296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050" b="0" i="0" noProof="0" dirty="0">
                          <a:solidFill>
                            <a:srgbClr val="1C2433"/>
                          </a:solidFill>
                          <a:latin typeface="Calibri"/>
                        </a:rPr>
                        <a:t>Fundamenta o uso de árvores e ensembles para capturar a relação não linear entre operação e custo.</a:t>
                      </a:r>
                    </a:p>
                  </a:txBody>
                  <a:tcPr marL="82296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050" b="1" i="0" noProof="0" dirty="0" err="1">
                          <a:solidFill>
                            <a:srgbClr val="1C2433"/>
                          </a:solidFill>
                          <a:latin typeface="Calibri"/>
                        </a:rPr>
                        <a:t>Katreddi</a:t>
                      </a:r>
                      <a:r>
                        <a:rPr lang="pt-BR" sz="1050" b="1" i="0" noProof="0" dirty="0">
                          <a:solidFill>
                            <a:srgbClr val="1C2433"/>
                          </a:solidFill>
                          <a:latin typeface="Calibri"/>
                        </a:rPr>
                        <a:t>, </a:t>
                      </a:r>
                      <a:r>
                        <a:rPr lang="pt-BR" sz="1050" b="1" i="0" noProof="0" dirty="0" err="1">
                          <a:solidFill>
                            <a:srgbClr val="1C2433"/>
                          </a:solidFill>
                          <a:latin typeface="Calibri"/>
                        </a:rPr>
                        <a:t>Thiruvengadam</a:t>
                      </a:r>
                      <a:r>
                        <a:rPr lang="pt-BR" sz="1050" b="1" i="0" noProof="0" dirty="0">
                          <a:solidFill>
                            <a:srgbClr val="1C2433"/>
                          </a:solidFill>
                          <a:latin typeface="Calibri"/>
                        </a:rPr>
                        <a:t>,</a:t>
                      </a:r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050" b="1" i="0" noProof="0" dirty="0">
                          <a:solidFill>
                            <a:srgbClr val="1C2433"/>
                          </a:solidFill>
                          <a:latin typeface="Calibri"/>
                        </a:rPr>
                        <a:t>Thompson e Schmid (2023)</a:t>
                      </a:r>
                    </a:p>
                  </a:txBody>
                  <a:tcPr marL="82296" marR="64008" marT="36576" marB="36576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050" b="0" i="0" noProof="0" dirty="0">
                          <a:solidFill>
                            <a:srgbClr val="1C2433"/>
                          </a:solidFill>
                          <a:latin typeface="Calibri"/>
                        </a:rPr>
                        <a:t>Custo em veículos pesados; frotas heterogêneas</a:t>
                      </a:r>
                    </a:p>
                  </a:txBody>
                  <a:tcPr marL="82296" marR="64008" marT="36576" marB="36576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050" b="0" i="0" noProof="0" dirty="0" err="1">
                          <a:solidFill>
                            <a:srgbClr val="1C2433"/>
                          </a:solidFill>
                          <a:latin typeface="Calibri"/>
                        </a:rPr>
                        <a:t>Mixed-Effects</a:t>
                      </a:r>
                      <a:r>
                        <a:rPr lang="pt-BR" sz="1050" b="0" i="0" noProof="0" dirty="0">
                          <a:solidFill>
                            <a:srgbClr val="1C2433"/>
                          </a:solidFill>
                          <a:latin typeface="Calibri"/>
                        </a:rPr>
                        <a:t> Random Forest (MERF)</a:t>
                      </a:r>
                    </a:p>
                  </a:txBody>
                  <a:tcPr marL="82296" marR="64008" marT="36576" marB="36576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050" b="0" i="0" noProof="0" dirty="0">
                          <a:solidFill>
                            <a:srgbClr val="1C2433"/>
                          </a:solidFill>
                          <a:latin typeface="Calibri"/>
                        </a:rPr>
                        <a:t>Apoia o uso de variáveis categóricas de agrupamento (montadora, subtipo, refrigeração) como preditoras.</a:t>
                      </a:r>
                    </a:p>
                  </a:txBody>
                  <a:tcPr marL="82296" marR="64008" marT="36576" marB="36576" anchor="ctr">
                    <a:solidFill>
                      <a:srgbClr val="F6F1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050" b="1" i="0" noProof="0" dirty="0">
                          <a:solidFill>
                            <a:srgbClr val="1C2433"/>
                          </a:solidFill>
                          <a:latin typeface="Calibri"/>
                        </a:rPr>
                        <a:t>Sun, </a:t>
                      </a:r>
                      <a:r>
                        <a:rPr lang="pt-BR" sz="1050" b="1" i="0" noProof="0" dirty="0" err="1">
                          <a:solidFill>
                            <a:srgbClr val="1C2433"/>
                          </a:solidFill>
                          <a:latin typeface="Calibri"/>
                        </a:rPr>
                        <a:t>Guo</a:t>
                      </a:r>
                      <a:r>
                        <a:rPr lang="pt-BR" sz="1050" b="1" i="0" noProof="0" dirty="0">
                          <a:solidFill>
                            <a:srgbClr val="1C2433"/>
                          </a:solidFill>
                          <a:latin typeface="Calibri"/>
                        </a:rPr>
                        <a:t>, Sun,</a:t>
                      </a:r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050" b="1" i="0" noProof="0" dirty="0">
                          <a:solidFill>
                            <a:srgbClr val="1C2433"/>
                          </a:solidFill>
                          <a:latin typeface="Calibri"/>
                        </a:rPr>
                        <a:t>Yang e </a:t>
                      </a:r>
                      <a:r>
                        <a:rPr lang="pt-BR" sz="1050" b="1" i="0" noProof="0" dirty="0" err="1">
                          <a:solidFill>
                            <a:srgbClr val="1C2433"/>
                          </a:solidFill>
                          <a:latin typeface="Calibri"/>
                        </a:rPr>
                        <a:t>Hao</a:t>
                      </a:r>
                      <a:r>
                        <a:rPr lang="pt-BR" sz="1050" b="1" i="0" noProof="0" dirty="0">
                          <a:solidFill>
                            <a:srgbClr val="1C2433"/>
                          </a:solidFill>
                          <a:latin typeface="Calibri"/>
                        </a:rPr>
                        <a:t> (2024)</a:t>
                      </a:r>
                    </a:p>
                  </a:txBody>
                  <a:tcPr marL="82296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050" b="0" i="0" noProof="0" dirty="0">
                          <a:solidFill>
                            <a:srgbClr val="1C2433"/>
                          </a:solidFill>
                          <a:latin typeface="Calibri"/>
                        </a:rPr>
                        <a:t>Previsão de custo a partir de dados de manutenção</a:t>
                      </a:r>
                    </a:p>
                  </a:txBody>
                  <a:tcPr marL="82296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050" b="0" i="0" noProof="0" dirty="0" err="1">
                          <a:solidFill>
                            <a:srgbClr val="1C2433"/>
                          </a:solidFill>
                          <a:latin typeface="Calibri"/>
                        </a:rPr>
                        <a:t>Mixed</a:t>
                      </a:r>
                      <a:r>
                        <a:rPr lang="pt-BR" sz="1050" b="0" i="0" noProof="0" dirty="0">
                          <a:solidFill>
                            <a:srgbClr val="1C2433"/>
                          </a:solidFill>
                          <a:latin typeface="Calibri"/>
                        </a:rPr>
                        <a:t> </a:t>
                      </a:r>
                      <a:r>
                        <a:rPr lang="pt-BR" sz="1050" b="0" i="0" noProof="0" dirty="0" err="1">
                          <a:solidFill>
                            <a:srgbClr val="1C2433"/>
                          </a:solidFill>
                          <a:latin typeface="Calibri"/>
                        </a:rPr>
                        <a:t>Weibull</a:t>
                      </a:r>
                      <a:r>
                        <a:rPr lang="pt-BR" sz="1050" b="0" i="0" noProof="0" dirty="0">
                          <a:solidFill>
                            <a:srgbClr val="1C2433"/>
                          </a:solidFill>
                          <a:latin typeface="Calibri"/>
                        </a:rPr>
                        <a:t> + estimativa iterativa sobre o histórico</a:t>
                      </a:r>
                    </a:p>
                  </a:txBody>
                  <a:tcPr marL="82296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050" b="0" i="0" noProof="0" dirty="0">
                          <a:solidFill>
                            <a:srgbClr val="1C2433"/>
                          </a:solidFill>
                          <a:latin typeface="Calibri"/>
                        </a:rPr>
                        <a:t>Mostra que o próprio histórico de manutenção já prevê o custo futuro — base para as variáveis históricas defasadas.</a:t>
                      </a:r>
                    </a:p>
                  </a:txBody>
                  <a:tcPr marL="82296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050" b="1" i="0" noProof="0" dirty="0" err="1">
                          <a:solidFill>
                            <a:srgbClr val="1C2433"/>
                          </a:solidFill>
                          <a:latin typeface="Calibri"/>
                        </a:rPr>
                        <a:t>Adekitan</a:t>
                      </a:r>
                      <a:r>
                        <a:rPr lang="pt-BR" sz="1050" b="1" i="0" noProof="0" dirty="0">
                          <a:solidFill>
                            <a:srgbClr val="1C2433"/>
                          </a:solidFill>
                          <a:latin typeface="Calibri"/>
                        </a:rPr>
                        <a:t>, </a:t>
                      </a:r>
                      <a:r>
                        <a:rPr lang="pt-BR" sz="1050" b="1" i="0" noProof="0" dirty="0" err="1">
                          <a:solidFill>
                            <a:srgbClr val="1C2433"/>
                          </a:solidFill>
                          <a:latin typeface="Calibri"/>
                        </a:rPr>
                        <a:t>Adetokun</a:t>
                      </a:r>
                      <a:endParaRPr lang="pt-BR" sz="1050" b="1" i="0" noProof="0" dirty="0">
                        <a:solidFill>
                          <a:srgbClr val="1C2433"/>
                        </a:solidFill>
                        <a:latin typeface="Calibri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050" b="1" i="0" noProof="0" dirty="0">
                          <a:solidFill>
                            <a:srgbClr val="1C2433"/>
                          </a:solidFill>
                          <a:latin typeface="Calibri"/>
                        </a:rPr>
                        <a:t>e </a:t>
                      </a:r>
                      <a:r>
                        <a:rPr lang="pt-BR" sz="1050" b="1" i="0" noProof="0" dirty="0" err="1">
                          <a:solidFill>
                            <a:srgbClr val="1C2433"/>
                          </a:solidFill>
                          <a:latin typeface="Calibri"/>
                        </a:rPr>
                        <a:t>Okokpujie</a:t>
                      </a:r>
                      <a:r>
                        <a:rPr lang="pt-BR" sz="1050" b="1" i="0" noProof="0" dirty="0">
                          <a:solidFill>
                            <a:srgbClr val="1C2433"/>
                          </a:solidFill>
                          <a:latin typeface="Calibri"/>
                        </a:rPr>
                        <a:t> (2018)</a:t>
                      </a:r>
                    </a:p>
                  </a:txBody>
                  <a:tcPr marL="82296" marR="64008" marT="36576" marB="36576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050" b="0" i="0" noProof="0" dirty="0">
                          <a:solidFill>
                            <a:srgbClr val="1C2433"/>
                          </a:solidFill>
                          <a:latin typeface="Calibri"/>
                        </a:rPr>
                        <a:t>Componentes de custo de manutenção veicular</a:t>
                      </a:r>
                    </a:p>
                  </a:txBody>
                  <a:tcPr marL="82296" marR="64008" marT="36576" marB="36576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050" b="0" i="0" noProof="0" dirty="0">
                          <a:solidFill>
                            <a:srgbClr val="1C2433"/>
                          </a:solidFill>
                          <a:latin typeface="Calibri"/>
                        </a:rPr>
                        <a:t>Rede neural artificial (ANN); </a:t>
                      </a:r>
                      <a:r>
                        <a:rPr lang="pt-BR" sz="1050" b="0" i="0" noProof="0" dirty="0" err="1">
                          <a:solidFill>
                            <a:srgbClr val="1C2433"/>
                          </a:solidFill>
                          <a:latin typeface="Calibri"/>
                        </a:rPr>
                        <a:t>R</a:t>
                      </a:r>
                      <a:r>
                        <a:rPr lang="pt-BR" sz="1050" b="0" i="0" noProof="0" dirty="0">
                          <a:solidFill>
                            <a:srgbClr val="1C2433"/>
                          </a:solidFill>
                          <a:latin typeface="Calibri"/>
                        </a:rPr>
                        <a:t>=0,766</a:t>
                      </a:r>
                    </a:p>
                  </a:txBody>
                  <a:tcPr marL="82296" marR="64008" marT="36576" marB="36576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050" b="0" i="0" noProof="0" dirty="0">
                          <a:solidFill>
                            <a:srgbClr val="1C2433"/>
                          </a:solidFill>
                          <a:latin typeface="Calibri"/>
                        </a:rPr>
                        <a:t>Confirma sinal preditivo em uso e histórico, mas indica que redes neurais não superam os métodos de árvore.</a:t>
                      </a:r>
                    </a:p>
                  </a:txBody>
                  <a:tcPr marL="82296" marR="64008" marT="36576" marB="36576" anchor="ctr">
                    <a:solidFill>
                      <a:srgbClr val="F6F1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C9A5679B-CE47-00CB-FF3B-1A40ADD7068F}"/>
              </a:ext>
            </a:extLst>
          </p:cNvPr>
          <p:cNvSpPr txBox="1"/>
          <p:nvPr/>
        </p:nvSpPr>
        <p:spPr>
          <a:xfrm>
            <a:off x="822960" y="6126480"/>
            <a:ext cx="106070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1100" b="0" noProof="0" dirty="0">
                <a:solidFill>
                  <a:srgbClr val="5B636E"/>
                </a:solidFill>
                <a:latin typeface="Calibri"/>
              </a:rPr>
              <a:t>As referências favorecem modelos de árvore/ensemble, coerente com os resultados destes estudos.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46304" cy="822960"/>
          </a:xfrm>
          <a:prstGeom prst="rect">
            <a:avLst/>
          </a:prstGeom>
          <a:solidFill>
            <a:srgbClr val="E87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1200" b="1" noProof="0" dirty="0">
                <a:solidFill>
                  <a:srgbClr val="E8713A"/>
                </a:solidFill>
                <a:latin typeface="Calibri"/>
              </a:rPr>
              <a:t>12 · MODELAGEM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78992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2700" b="1" noProof="0" dirty="0">
                <a:solidFill>
                  <a:srgbClr val="142B45"/>
                </a:solidFill>
                <a:latin typeface="Calibri"/>
              </a:rPr>
              <a:t>Técnicas e desenho experimental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607040" cy="19543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pt-BR" sz="1600" noProof="0" dirty="0">
                <a:solidFill>
                  <a:srgbClr val="1C2433"/>
                </a:solidFill>
                <a:latin typeface="Calibri"/>
              </a:rPr>
              <a:t>•  Estatística: regressão linear múltipla, </a:t>
            </a:r>
            <a:r>
              <a:rPr lang="pt-BR" sz="1600" noProof="0" dirty="0" err="1">
                <a:solidFill>
                  <a:srgbClr val="1C2433"/>
                </a:solidFill>
                <a:latin typeface="Calibri"/>
              </a:rPr>
              <a:t>ridge</a:t>
            </a:r>
            <a:r>
              <a:rPr lang="pt-BR" sz="1600" noProof="0" dirty="0">
                <a:solidFill>
                  <a:srgbClr val="1C2433"/>
                </a:solidFill>
                <a:latin typeface="Calibri"/>
              </a:rPr>
              <a:t>, regressão polinomial.</a:t>
            </a:r>
          </a:p>
          <a:p>
            <a:pPr>
              <a:spcAft>
                <a:spcPts val="600"/>
              </a:spcAft>
            </a:pPr>
            <a:r>
              <a:rPr lang="pt-BR" sz="1600" noProof="0" dirty="0">
                <a:solidFill>
                  <a:srgbClr val="1C2433"/>
                </a:solidFill>
                <a:latin typeface="Calibri"/>
              </a:rPr>
              <a:t>•  Machine Learning: árvore de decisão, Random Forest, Gradient Boosting e KNN.</a:t>
            </a:r>
            <a:r>
              <a:rPr lang="pt-BR" sz="1600" noProof="0" dirty="0" err="1">
                <a:solidFill>
                  <a:srgbClr val="1C2433"/>
                </a:solidFill>
                <a:latin typeface="Calibri"/>
              </a:rPr>
              <a:t/>
            </a:r>
            <a:r>
              <a:rPr lang="pt-BR" sz="1600" noProof="0" dirty="0">
                <a:solidFill>
                  <a:srgbClr val="1C2433"/>
                </a:solidFill>
                <a:latin typeface="Calibri"/>
              </a:rPr>
              <a:t/>
            </a:r>
            <a:r>
              <a:rPr lang="pt-BR" sz="1600" noProof="0" dirty="0" err="1">
                <a:solidFill>
                  <a:srgbClr val="1C2433"/>
                </a:solidFill>
                <a:latin typeface="Calibri"/>
              </a:rPr>
              <a:t/>
            </a:r>
            <a:r>
              <a:rPr lang="pt-BR" sz="1600" noProof="0" dirty="0">
                <a:solidFill>
                  <a:srgbClr val="1C2433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lang="pt-BR" sz="1600" noProof="0" dirty="0">
                <a:solidFill>
                  <a:srgbClr val="1C2433"/>
                </a:solidFill>
                <a:latin typeface="Calibri"/>
              </a:rPr>
              <a:t>•  Alvo transformado por log1p (assimetria); métricas na escala original (CAD/ano).</a:t>
            </a:r>
          </a:p>
          <a:p>
            <a:pPr>
              <a:spcAft>
                <a:spcPts val="600"/>
              </a:spcAft>
            </a:pPr>
            <a:r>
              <a:rPr lang="pt-BR" sz="1600" noProof="0" dirty="0">
                <a:solidFill>
                  <a:srgbClr val="1C2433"/>
                </a:solidFill>
                <a:latin typeface="Calibri"/>
              </a:rPr>
              <a:t>•  Split temporal: treino 2020–2024, teste 2025 (evita vazamento entre períodos).</a:t>
            </a:r>
          </a:p>
          <a:p>
            <a:pPr>
              <a:spcAft>
                <a:spcPts val="600"/>
              </a:spcAft>
            </a:pPr>
            <a:r>
              <a:rPr lang="pt-BR" sz="1600" noProof="0" dirty="0">
                <a:solidFill>
                  <a:srgbClr val="1C2433"/>
                </a:solidFill>
                <a:latin typeface="Calibri"/>
              </a:rPr>
              <a:t>•  Dois cenários: explicativo (inclui uso do ano) e preditivo (histórico defasado + atributos).</a:t>
            </a:r>
          </a:p>
          <a:p>
            <a:pPr>
              <a:spcAft>
                <a:spcPts val="600"/>
              </a:spcAft>
            </a:pPr>
            <a:r>
              <a:rPr lang="pt-BR" sz="1600" noProof="0" dirty="0">
                <a:solidFill>
                  <a:srgbClr val="1C2433"/>
                </a:solidFill>
                <a:latin typeface="Calibri"/>
              </a:rPr>
              <a:t>•  Métricas: R², RMSE e MAE.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46304" cy="822960"/>
          </a:xfrm>
          <a:prstGeom prst="rect">
            <a:avLst/>
          </a:prstGeom>
          <a:solidFill>
            <a:srgbClr val="E87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1200" b="1" noProof="0" dirty="0">
                <a:solidFill>
                  <a:srgbClr val="E8713A"/>
                </a:solidFill>
                <a:latin typeface="Calibri"/>
              </a:rPr>
              <a:t>12 · MODELAGEM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78992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2700" b="1" noProof="0" dirty="0">
                <a:solidFill>
                  <a:srgbClr val="142B45"/>
                </a:solidFill>
                <a:latin typeface="Calibri"/>
              </a:rPr>
              <a:t>Comparação dos modelos (teste 2025)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5642414"/>
              </p:ext>
            </p:extLst>
          </p:nvPr>
        </p:nvGraphicFramePr>
        <p:xfrm>
          <a:off x="640080" y="1645920"/>
          <a:ext cx="676656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07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5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771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1379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7910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algn="ctr"/>
                      <a:r>
                        <a:rPr lang="pt-BR" sz="1000" b="1" noProof="0" dirty="0">
                          <a:solidFill>
                            <a:srgbClr val="FFFFFF"/>
                          </a:solidFill>
                        </a:rPr>
                        <a:t>cenário</a:t>
                      </a: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b="1" noProof="0" dirty="0">
                          <a:solidFill>
                            <a:srgbClr val="FFFFFF"/>
                          </a:solidFill>
                        </a:rPr>
                        <a:t>modelo</a:t>
                      </a: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b="1" noProof="0" dirty="0">
                          <a:solidFill>
                            <a:srgbClr val="FFFFFF"/>
                          </a:solidFill>
                        </a:rPr>
                        <a:t>r2</a:t>
                      </a: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b="1" noProof="0" dirty="0" err="1">
                          <a:solidFill>
                            <a:srgbClr val="FFFFFF"/>
                          </a:solidFill>
                        </a:rPr>
                        <a:t>rmse</a:t>
                      </a:r>
                      <a:endParaRPr lang="pt-BR" sz="1000" b="1" noProof="0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b="1" noProof="0" dirty="0" err="1">
                          <a:solidFill>
                            <a:srgbClr val="FFFFFF"/>
                          </a:solidFill>
                        </a:rPr>
                        <a:t>mae</a:t>
                      </a:r>
                      <a:endParaRPr lang="pt-BR" sz="1000" b="1" noProof="0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explicativo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regressao_linear_multipla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-0.1149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2838.7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1191.9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explicativo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ridge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-0.1179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2842.6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1193.4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explicativo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arvore_decisao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0.5099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1882.1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958.0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explicativo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random_forest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0.5654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1772.5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907.0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explicativo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gradient_boosting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0.5776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1747.4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912.5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explicativo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knn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0.5198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1863.1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958.2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explicativo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regressao_polinomial_grau_2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-9.7209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8802.9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1696.6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preditivo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regressao_linear_multipla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0.3118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2230.4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1183.1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preditivo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ridge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0.3148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2225.5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1181.9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preditivo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arvore_decisao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0.3944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2092.2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1128.6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preditivo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random_forest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0.4359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2019.3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1069.3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preditivo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gradient_boosting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0.4418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2008.7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1074.3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preditivo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knn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0.4317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2026.8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1080.4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preditivo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regressao_polinomial_grau_2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-46170.7899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577691.3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7572.7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680960" y="1828800"/>
            <a:ext cx="384048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pt-BR" sz="1400" noProof="0" dirty="0">
                <a:solidFill>
                  <a:srgbClr val="1C2433"/>
                </a:solidFill>
                <a:latin typeface="Calibri"/>
              </a:rPr>
              <a:t>•  Preditivo recomendado: gradient_boosting</a:t>
            </a:r>
            <a:r>
              <a:rPr lang="pt-BR" sz="1400" noProof="0" dirty="0" err="1">
                <a:solidFill>
                  <a:srgbClr val="1C2433"/>
                </a:solidFill>
                <a:latin typeface="Calibri"/>
              </a:rPr>
              <a:t/>
            </a:r>
            <a:endParaRPr lang="pt-BR" sz="1400" noProof="0" dirty="0">
              <a:solidFill>
                <a:srgbClr val="1C2433"/>
              </a:solidFill>
              <a:latin typeface="Calibri"/>
            </a:endParaRPr>
          </a:p>
          <a:p>
            <a:r>
              <a:rPr sz="1300">
                <a:solidFill>
                  <a:srgbClr val="1C2433"/>
                </a:solidFill>
                <a:latin typeface="Calibri"/>
              </a:rPr>
              <a:t>•  R² = 0.4418 · RMSE = 2008.7</a:t>
            </a:r>
          </a:p>
          <a:p>
            <a:r>
              <a:rPr sz="1300">
                <a:solidFill>
                  <a:srgbClr val="1C2433"/>
                </a:solidFill>
                <a:latin typeface="Calibri"/>
              </a:rPr>
              <a:t>•  MAE = 1074.3 CAD/ano</a:t>
            </a:r>
          </a:p>
          <a:p>
            <a:r>
              <a:rPr sz="1300">
                <a:solidFill>
                  <a:srgbClr val="1C2433"/>
                </a:solidFill>
                <a:latin typeface="Calibri"/>
              </a:rPr>
              <a:t>•  Explicativo (melhor): R² = 0.5776</a:t>
            </a:r>
          </a:p>
          <a:p>
            <a:r>
              <a:rPr sz="1300">
                <a:solidFill>
                  <a:srgbClr val="1C2433"/>
                </a:solidFill>
                <a:latin typeface="Calibri"/>
              </a:rPr>
              <a:t>•  Árvores/ensembles superam modelos lineares.</a:t>
            </a:r>
          </a:p>
          <a:p>
            <a:r>
              <a:rPr sz="1300">
                <a:solidFill>
                  <a:srgbClr val="1C2433"/>
                </a:solidFill>
                <a:latin typeface="Calibri"/>
              </a:rPr>
              <a:t>•  Efeito das variáveis de contrato: +0,0359 de R².</a:t>
            </a:r>
          </a:p>
          <a:p>
            <a:r>
              <a:rPr sz="1300">
                <a:solidFill>
                  <a:srgbClr val="1C2433"/>
                </a:solidFill>
                <a:latin typeface="Calibri"/>
              </a:rPr>
              <a:t>•  Caminho decomposto (nº de OS × custo médio): R² = 0,4713.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46304" cy="822960"/>
          </a:xfrm>
          <a:prstGeom prst="rect">
            <a:avLst/>
          </a:prstGeom>
          <a:solidFill>
            <a:srgbClr val="E87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1200" b="1" noProof="0" dirty="0">
                <a:solidFill>
                  <a:srgbClr val="E8713A"/>
                </a:solidFill>
                <a:latin typeface="Calibri"/>
              </a:rPr>
              <a:t>12 · MODELAGEM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78992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2700" b="1" noProof="0" dirty="0">
                <a:solidFill>
                  <a:srgbClr val="142B45"/>
                </a:solidFill>
                <a:latin typeface="Calibri"/>
              </a:rPr>
              <a:t>Variáveis mais importantes (permutação)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2887814"/>
              </p:ext>
            </p:extLst>
          </p:nvPr>
        </p:nvGraphicFramePr>
        <p:xfrm>
          <a:off x="7802881" y="1645920"/>
          <a:ext cx="3749039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7360">
                <a:tc>
                  <a:txBody>
                    <a:bodyPr/>
                    <a:lstStyle/>
                    <a:p>
                      <a:pPr algn="ctr"/>
                      <a:r>
                        <a:rPr lang="pt-BR" sz="1000" b="1" noProof="0" dirty="0">
                          <a:solidFill>
                            <a:srgbClr val="FFFFFF"/>
                          </a:solidFill>
                        </a:rPr>
                        <a:t>variável</a:t>
                      </a: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b="1" noProof="0" dirty="0">
                          <a:solidFill>
                            <a:srgbClr val="FFFFFF"/>
                          </a:solidFill>
                        </a:rPr>
                        <a:t>importância</a:t>
                      </a:r>
                    </a:p>
                  </a:txBody>
                  <a:tcPr anchor="ctr">
                    <a:solidFill>
                      <a:srgbClr val="142B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7360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flag_refrigerado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0.2089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7360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custo_acum_ate_ano_anterior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0.1002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7360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n_os_ano_anterior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0.0923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7360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tipo_manutencao_ano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0.0583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7360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km_acumulado_inicio_ano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0.056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7360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idade_carreta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0.0393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67360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descricao_carreta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0.0389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67360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 err="1">
                          <a:solidFill>
                            <a:srgbClr val="1C2433"/>
                          </a:solidFill>
                        </a:rPr>
                        <a:t>n_os_acum_ate_ano_anterior</a:t>
                      </a:r>
                      <a:endParaRPr lang="pt-BR" sz="1000" noProof="0" dirty="0">
                        <a:solidFill>
                          <a:srgbClr val="1C2433"/>
                        </a:solidFill>
                      </a:endParaRP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0.0338</a:t>
                      </a:r>
                    </a:p>
                  </a:txBody>
                  <a:tcPr anchor="ctr">
                    <a:solidFill>
                      <a:srgbClr val="EEEA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67360"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custo_ano_anterior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000" noProof="0" dirty="0">
                          <a:solidFill>
                            <a:srgbClr val="1C2433"/>
                          </a:solidFill>
                        </a:rPr>
                        <a:t>0.0211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8" name="Picture 7" descr="05_importancia_permutac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54480"/>
            <a:ext cx="694944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46304" cy="822960"/>
          </a:xfrm>
          <a:prstGeom prst="rect">
            <a:avLst/>
          </a:prstGeom>
          <a:solidFill>
            <a:srgbClr val="E87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90892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pt-BR" sz="1200" b="1" i="0" noProof="0" dirty="0">
                <a:solidFill>
                  <a:srgbClr val="E8713A"/>
                </a:solidFill>
                <a:latin typeface="Calibri"/>
              </a:rPr>
              <a:t>13 · REFERENCIAL TEÓRICO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78992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2700" b="1" i="0" noProof="0" dirty="0">
                <a:solidFill>
                  <a:srgbClr val="142B45"/>
                </a:solidFill>
                <a:latin typeface="Calibri"/>
              </a:rPr>
              <a:t>O que </a:t>
            </a:r>
            <a:r>
              <a:rPr lang="pt-BR" sz="2700" b="1" dirty="0">
                <a:solidFill>
                  <a:srgbClr val="142B45"/>
                </a:solidFill>
                <a:latin typeface="Calibri"/>
              </a:rPr>
              <a:t>dizem os dados</a:t>
            </a:r>
            <a:endParaRPr lang="pt-BR" sz="2700" b="1" i="0" noProof="0" dirty="0">
              <a:solidFill>
                <a:srgbClr val="142B45"/>
              </a:solidFill>
              <a:latin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22960" y="1828800"/>
            <a:ext cx="521208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28016" rIns="146304" bIns="91440" rtlCol="0" anchor="t"/>
          <a:lstStyle/>
          <a:p>
            <a:pPr algn="l">
              <a:spcAft>
                <a:spcPts val="500"/>
              </a:spcAft>
            </a:pPr>
            <a:r>
              <a:rPr lang="pt-BR" sz="1350" b="1" i="0" noProof="0" dirty="0">
                <a:solidFill>
                  <a:srgbClr val="E8713A"/>
                </a:solidFill>
                <a:latin typeface="Calibri"/>
              </a:rPr>
              <a:t>Modelos</a:t>
            </a:r>
          </a:p>
          <a:p>
            <a:pPr algn="l">
              <a:spcAft>
                <a:spcPts val="300"/>
              </a:spcAft>
            </a:pPr>
            <a:r>
              <a:rPr lang="pt-BR" sz="1200" b="1" i="0" noProof="0" dirty="0">
                <a:solidFill>
                  <a:srgbClr val="1C2433"/>
                </a:solidFill>
                <a:latin typeface="Calibri"/>
              </a:rPr>
              <a:t>Árvores/ensembles: </a:t>
            </a:r>
            <a:r>
              <a:rPr lang="pt-BR" sz="1200" b="0" i="0" noProof="0" dirty="0">
                <a:solidFill>
                  <a:srgbClr val="1C2433"/>
                </a:solidFill>
                <a:latin typeface="Calibri"/>
              </a:rPr>
              <a:t>R² 0.44 (preditivo) a 0.58 (explicativo) no teste 2025; regressões lineares ficam muito atrás (R² ~ 0,27).</a:t>
            </a:r>
          </a:p>
          <a:p>
            <a:pPr algn="l">
              <a:spcAft>
                <a:spcPts val="300"/>
              </a:spcAft>
            </a:pPr>
            <a:r>
              <a:rPr lang="pt-BR" sz="1200" b="0" i="0" noProof="0" dirty="0">
                <a:solidFill>
                  <a:srgbClr val="2E7D4F"/>
                </a:solidFill>
                <a:latin typeface="Calibri"/>
              </a:rPr>
              <a:t>→ a relação custo × operação é não linear, como reporta Katreddi (2023). O R² de 97% daquele estudo não é comparável ao nosso: outra frota, outro alvo e outra unidade.</a:t>
            </a:r>
            <a:r>
              <a:rPr lang="pt-BR" sz="1200" b="0" i="0" noProof="0" dirty="0" err="1">
                <a:solidFill>
                  <a:srgbClr val="2E7D4F"/>
                </a:solidFill>
                <a:latin typeface="Calibri"/>
              </a:rPr>
              <a:t/>
            </a:r>
            <a:r>
              <a:rPr lang="pt-BR" sz="1200" b="0" i="0" noProof="0" dirty="0">
                <a:solidFill>
                  <a:srgbClr val="2E7D4F"/>
                </a:solidFill>
                <a:latin typeface="Calibri"/>
              </a:rPr>
              <a:t/>
            </a:r>
            <a:r>
              <a:rPr lang="pt-BR" sz="1200" b="0" i="0" noProof="0" dirty="0" err="1">
                <a:solidFill>
                  <a:srgbClr val="2E7D4F"/>
                </a:solidFill>
                <a:latin typeface="Calibri"/>
              </a:rPr>
              <a:t/>
            </a:r>
            <a:r>
              <a:rPr lang="pt-BR" sz="1200" b="0" i="0" noProof="0" dirty="0">
                <a:solidFill>
                  <a:srgbClr val="2E7D4F"/>
                </a:solidFill>
                <a:latin typeface="Calibr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6172200" y="1828800"/>
            <a:ext cx="521208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28016" rIns="146304" bIns="91440" rtlCol="0" anchor="t"/>
          <a:lstStyle/>
          <a:p>
            <a:pPr algn="l">
              <a:spcAft>
                <a:spcPts val="500"/>
              </a:spcAft>
            </a:pPr>
            <a:r>
              <a:rPr lang="pt-BR" sz="1350" b="1" i="0" noProof="0" dirty="0">
                <a:solidFill>
                  <a:srgbClr val="E8713A"/>
                </a:solidFill>
                <a:latin typeface="Calibri"/>
              </a:rPr>
              <a:t>Variáveis</a:t>
            </a:r>
          </a:p>
          <a:p>
            <a:pPr algn="l">
              <a:spcAft>
                <a:spcPts val="300"/>
              </a:spcAft>
            </a:pPr>
            <a:r>
              <a:rPr lang="pt-BR" sz="1200" b="1" i="0" noProof="0" dirty="0">
                <a:solidFill>
                  <a:srgbClr val="1C2433"/>
                </a:solidFill>
                <a:latin typeface="Calibri"/>
              </a:rPr>
              <a:t>Histórico e uso lideram: </a:t>
            </a:r>
            <a:r>
              <a:rPr lang="pt-BR" sz="1200" b="0" i="0" noProof="0" dirty="0">
                <a:solidFill>
                  <a:srgbClr val="1C2433"/>
                </a:solidFill>
                <a:latin typeface="Calibri"/>
              </a:rPr>
              <a:t>OS e custo do ano anterior ρ≈0,54; km rodado </a:t>
            </a:r>
            <a:r>
              <a:rPr lang="pt-BR" sz="1200" b="0" i="0" noProof="0" dirty="0" err="1">
                <a:solidFill>
                  <a:srgbClr val="1C2433"/>
                </a:solidFill>
                <a:latin typeface="Calibri"/>
              </a:rPr>
              <a:t>ρ</a:t>
            </a:r>
            <a:r>
              <a:rPr lang="pt-BR" sz="1200" b="0" i="0" noProof="0" dirty="0">
                <a:solidFill>
                  <a:srgbClr val="1C2433"/>
                </a:solidFill>
                <a:latin typeface="Calibri"/>
              </a:rPr>
              <a:t>=0,53; idade isolada </a:t>
            </a:r>
            <a:r>
              <a:rPr lang="pt-BR" sz="1200" b="0" i="0" noProof="0" dirty="0" err="1">
                <a:solidFill>
                  <a:srgbClr val="1C2433"/>
                </a:solidFill>
                <a:latin typeface="Calibri"/>
              </a:rPr>
              <a:t>ρ</a:t>
            </a:r>
            <a:r>
              <a:rPr lang="pt-BR" sz="1200" b="0" i="0" noProof="0" dirty="0">
                <a:solidFill>
                  <a:srgbClr val="1C2433"/>
                </a:solidFill>
                <a:latin typeface="Calibri"/>
              </a:rPr>
              <a:t>=0,02.</a:t>
            </a:r>
          </a:p>
          <a:p>
            <a:pPr algn="l">
              <a:spcAft>
                <a:spcPts val="300"/>
              </a:spcAft>
            </a:pPr>
            <a:r>
              <a:rPr lang="pt-BR" sz="1200" b="0" i="0" noProof="0" dirty="0">
                <a:solidFill>
                  <a:srgbClr val="2E7D4F"/>
                </a:solidFill>
                <a:latin typeface="Calibri"/>
              </a:rPr>
              <a:t>→ resultado consistente com Sun (2024), que usa o histórico para prever custo; aqui a idade, isolada, tem associação fraca.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822191"/>
            <a:ext cx="521208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28016" rIns="146304" bIns="91440" rtlCol="0" anchor="t"/>
          <a:lstStyle/>
          <a:p>
            <a:pPr algn="l">
              <a:spcAft>
                <a:spcPts val="500"/>
              </a:spcAft>
            </a:pPr>
            <a:r>
              <a:rPr lang="pt-BR" sz="1350" b="1" i="0" noProof="0" dirty="0">
                <a:solidFill>
                  <a:srgbClr val="E8713A"/>
                </a:solidFill>
                <a:latin typeface="Calibri"/>
              </a:rPr>
              <a:t>Grupos</a:t>
            </a:r>
          </a:p>
          <a:p>
            <a:pPr algn="l">
              <a:spcAft>
                <a:spcPts val="300"/>
              </a:spcAft>
            </a:pPr>
            <a:r>
              <a:rPr lang="pt-BR" sz="1200" b="1" i="0" noProof="0" dirty="0">
                <a:solidFill>
                  <a:srgbClr val="1C2433"/>
                </a:solidFill>
                <a:latin typeface="Calibri"/>
              </a:rPr>
              <a:t>Refrigeração é a variável nº 1 do modelo: embaralhar seus valores reduz o R² em 0,21 (importância por permutação) — mais que todas as outras somadas. Isso mede a dependência do modelo ajustado, não equivale a retreinar sem a variável.</a:t>
            </a:r>
            <a:r>
              <a:rPr lang="pt-BR" sz="1200" b="0" i="0" noProof="0" dirty="0">
                <a:solidFill>
                  <a:srgbClr val="1C2433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lang="pt-BR" sz="1200" b="0" i="0" noProof="0" dirty="0">
                <a:solidFill>
                  <a:srgbClr val="2E7D4F"/>
                </a:solidFill>
                <a:latin typeface="Calibri"/>
              </a:rPr>
              <a:t>→ a refrigeração é a variável nº 1 do modelo; ela entra como atributo, não como critério de separação da frota.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3822191"/>
            <a:ext cx="521208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28016" rIns="146304" bIns="91440" rtlCol="0" anchor="t"/>
          <a:lstStyle/>
          <a:p>
            <a:pPr algn="l">
              <a:spcAft>
                <a:spcPts val="500"/>
              </a:spcAft>
            </a:pPr>
            <a:r>
              <a:rPr lang="pt-BR" sz="1350" b="1" i="0" noProof="0" dirty="0">
                <a:solidFill>
                  <a:srgbClr val="E8713A"/>
                </a:solidFill>
                <a:latin typeface="Calibri"/>
              </a:rPr>
              <a:t>Avaliação</a:t>
            </a:r>
          </a:p>
          <a:p>
            <a:pPr algn="l">
              <a:spcAft>
                <a:spcPts val="300"/>
              </a:spcAft>
            </a:pPr>
            <a:r>
              <a:rPr lang="pt-BR" sz="1200" b="1" i="0" noProof="0" dirty="0">
                <a:solidFill>
                  <a:srgbClr val="1C2433"/>
                </a:solidFill>
                <a:latin typeface="Calibri"/>
              </a:rPr>
              <a:t>Sem vazamento: </a:t>
            </a:r>
            <a:r>
              <a:rPr lang="pt-BR" sz="1200" b="0" i="0" noProof="0" dirty="0">
                <a:solidFill>
                  <a:srgbClr val="1C2433"/>
                </a:solidFill>
                <a:latin typeface="Calibri"/>
              </a:rPr>
              <a:t>ao remover variáveis do próprio ano e testar em 2025, o R² cai de 0.58 para 0.44.</a:t>
            </a:r>
          </a:p>
          <a:p>
            <a:pPr algn="l">
              <a:spcAft>
                <a:spcPts val="300"/>
              </a:spcAft>
            </a:pPr>
            <a:r>
              <a:rPr lang="pt-BR" sz="1200" b="0" i="0" noProof="0" dirty="0">
                <a:solidFill>
                  <a:srgbClr val="2E7D4F"/>
                </a:solidFill>
                <a:latin typeface="Calibri"/>
              </a:rPr>
              <a:t>→ a queda mostra quanto do R² explicativo vinha de variáveis do próprio ano; a avaliação temporal segue a prática recomendada na literatura.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46304" cy="822960"/>
          </a:xfrm>
          <a:prstGeom prst="rect">
            <a:avLst/>
          </a:prstGeom>
          <a:solidFill>
            <a:srgbClr val="E87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442639" cy="276999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lang="pt-BR" sz="1200" b="1" i="0" dirty="0">
                <a:solidFill>
                  <a:srgbClr val="E8713A"/>
                </a:solidFill>
                <a:latin typeface="Calibri"/>
              </a:rPr>
              <a:t>14 · METODOLOGIA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789920" cy="5078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pt-BR" sz="2700" b="1" i="0" dirty="0">
                <a:solidFill>
                  <a:srgbClr val="142B45"/>
                </a:solidFill>
                <a:latin typeface="Calibri"/>
              </a:rPr>
              <a:t>Procedimento passo a passo</a:t>
            </a:r>
          </a:p>
        </p:txBody>
      </p:sp>
      <p:sp>
        <p:nvSpPr>
          <p:cNvPr id="6" name="Connector"/>
          <p:cNvSpPr/>
          <p:nvPr/>
        </p:nvSpPr>
        <p:spPr>
          <a:xfrm>
            <a:off x="1133856" y="1895000"/>
            <a:ext cx="36576" cy="4450000"/>
          </a:xfrm>
          <a:prstGeom prst="rect">
            <a:avLst/>
          </a:prstGeom>
          <a:solidFill>
            <a:srgbClr val="E87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Oval 0"/>
          <p:cNvSpPr/>
          <p:nvPr/>
        </p:nvSpPr>
        <p:spPr>
          <a:xfrm>
            <a:off x="977144" y="1720000"/>
            <a:ext cx="350000" cy="350000"/>
          </a:xfrm>
          <a:prstGeom prst="ellipse">
            <a:avLst/>
          </a:prstGeom>
          <a:solidFill>
            <a:srgbClr val="142B45"/>
          </a:solidFill>
          <a:ln w="31750">
            <a:solidFill>
              <a:srgbClr val="F6F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lang="pt-BR" sz="1200" b="1" i="0" dirty="0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sp>
        <p:nvSpPr>
          <p:cNvPr id="8" name="Step 0"/>
          <p:cNvSpPr txBox="1"/>
          <p:nvPr/>
        </p:nvSpPr>
        <p:spPr>
          <a:xfrm>
            <a:off x="1600200" y="1535000"/>
            <a:ext cx="10200000" cy="72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pt-BR" sz="1300" b="1" i="0" dirty="0">
                <a:solidFill>
                  <a:srgbClr val="142B45"/>
                </a:solidFill>
                <a:latin typeface="Calibri"/>
              </a:rPr>
              <a:t>Mapeamento e extração   </a:t>
            </a:r>
            <a:r>
              <a:rPr lang="pt-BR" sz="1150" b="0" i="0" dirty="0">
                <a:solidFill>
                  <a:srgbClr val="5B636E"/>
                </a:solidFill>
                <a:latin typeface="Calibri"/>
              </a:rPr>
              <a:t>—  identifica tabelas-chave, cria scripts SQL para exportar CSVs e desnormaliza as fontes em uma base consolidada.</a:t>
            </a:r>
          </a:p>
        </p:txBody>
      </p:sp>
      <p:sp>
        <p:nvSpPr>
          <p:cNvPr id="9" name="Oval 1"/>
          <p:cNvSpPr/>
          <p:nvPr/>
        </p:nvSpPr>
        <p:spPr>
          <a:xfrm>
            <a:off x="977144" y="2165000"/>
            <a:ext cx="350000" cy="350000"/>
          </a:xfrm>
          <a:prstGeom prst="ellipse">
            <a:avLst/>
          </a:prstGeom>
          <a:solidFill>
            <a:srgbClr val="E8713A"/>
          </a:solidFill>
          <a:ln w="31750">
            <a:solidFill>
              <a:srgbClr val="F6F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lang="pt-BR" sz="1200" b="1" i="0" dirty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Step 1"/>
          <p:cNvSpPr txBox="1"/>
          <p:nvPr/>
        </p:nvSpPr>
        <p:spPr>
          <a:xfrm>
            <a:off x="1600200" y="1980000"/>
            <a:ext cx="10200000" cy="72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pt-BR" sz="1300" b="1" i="0" dirty="0">
                <a:solidFill>
                  <a:srgbClr val="142B45"/>
                </a:solidFill>
                <a:latin typeface="Calibri"/>
              </a:rPr>
              <a:t>Fonte única — CSV consolidado fato_wo_ml (217.217 OS · 9.585 carretas · 2020–2025).</a:t>
            </a:r>
            <a:r>
              <a:rPr lang="pt-BR" sz="1150" b="0" i="0" dirty="0">
                <a:solidFill>
                  <a:srgbClr val="5B636E"/>
                </a:solidFill>
                <a:latin typeface="Calibri"/>
              </a:rPr>
              <a:t/>
            </a:r>
          </a:p>
        </p:txBody>
      </p:sp>
      <p:sp>
        <p:nvSpPr>
          <p:cNvPr id="11" name="Oval 2"/>
          <p:cNvSpPr/>
          <p:nvPr/>
        </p:nvSpPr>
        <p:spPr>
          <a:xfrm>
            <a:off x="977144" y="2610000"/>
            <a:ext cx="350000" cy="350000"/>
          </a:xfrm>
          <a:prstGeom prst="ellipse">
            <a:avLst/>
          </a:prstGeom>
          <a:solidFill>
            <a:srgbClr val="142B45"/>
          </a:solidFill>
          <a:ln w="31750">
            <a:solidFill>
              <a:srgbClr val="F6F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lang="pt-BR" sz="1200" b="1" i="0" dirty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Step 2"/>
          <p:cNvSpPr txBox="1"/>
          <p:nvPr/>
        </p:nvSpPr>
        <p:spPr>
          <a:xfrm>
            <a:off x="1600200" y="2425000"/>
            <a:ext cx="10200000" cy="72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pt-BR" sz="1300" b="1" i="0" dirty="0">
                <a:solidFill>
                  <a:srgbClr val="142B45"/>
                </a:solidFill>
                <a:latin typeface="Calibri"/>
              </a:rPr>
              <a:t>Qualidade e integridade   </a:t>
            </a:r>
            <a:r>
              <a:rPr lang="pt-BR" sz="1150" b="0" i="0" dirty="0">
                <a:solidFill>
                  <a:srgbClr val="5B636E"/>
                </a:solidFill>
                <a:latin typeface="Calibri"/>
              </a:rPr>
              <a:t>—  consistência dos registros e exclusão de estornos (custos negativos).</a:t>
            </a:r>
          </a:p>
        </p:txBody>
      </p:sp>
      <p:sp>
        <p:nvSpPr>
          <p:cNvPr id="13" name="Oval 3"/>
          <p:cNvSpPr/>
          <p:nvPr/>
        </p:nvSpPr>
        <p:spPr>
          <a:xfrm>
            <a:off x="977144" y="3055000"/>
            <a:ext cx="350000" cy="350000"/>
          </a:xfrm>
          <a:prstGeom prst="ellipse">
            <a:avLst/>
          </a:prstGeom>
          <a:solidFill>
            <a:srgbClr val="E8713A"/>
          </a:solidFill>
          <a:ln w="31750">
            <a:solidFill>
              <a:srgbClr val="F6F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lang="pt-BR" sz="1200" b="1" i="0" dirty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Step 3"/>
          <p:cNvSpPr txBox="1"/>
          <p:nvPr/>
        </p:nvSpPr>
        <p:spPr>
          <a:xfrm>
            <a:off x="1600200" y="2870000"/>
            <a:ext cx="10200000" cy="72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pt-BR" sz="1300" b="1" i="0" dirty="0">
                <a:solidFill>
                  <a:srgbClr val="142B45"/>
                </a:solidFill>
                <a:latin typeface="Calibri"/>
              </a:rPr>
              <a:t>Base carreta × ano — alvos Y1 = custo anual por carreta e Y2 = nº de OS no ano (47.715 linhas). São 6 anos de dados, mas só 5 modeláveis: 2020 não tem ano anterior para as variáveis defasadas.</a:t>
            </a:r>
            <a:r>
              <a:rPr lang="pt-BR" sz="1150" b="0" i="0" dirty="0">
                <a:solidFill>
                  <a:srgbClr val="5B636E"/>
                </a:solidFill>
                <a:latin typeface="Calibri"/>
              </a:rPr>
              <a:t/>
            </a:r>
          </a:p>
        </p:txBody>
      </p:sp>
      <p:sp>
        <p:nvSpPr>
          <p:cNvPr id="15" name="Oval 4"/>
          <p:cNvSpPr/>
          <p:nvPr/>
        </p:nvSpPr>
        <p:spPr>
          <a:xfrm>
            <a:off x="977144" y="3500000"/>
            <a:ext cx="350000" cy="350000"/>
          </a:xfrm>
          <a:prstGeom prst="ellipse">
            <a:avLst/>
          </a:prstGeom>
          <a:solidFill>
            <a:srgbClr val="142B45"/>
          </a:solidFill>
          <a:ln w="31750">
            <a:solidFill>
              <a:srgbClr val="F6F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lang="pt-BR" sz="1200" b="1" i="0" dirty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Step 4"/>
          <p:cNvSpPr txBox="1"/>
          <p:nvPr/>
        </p:nvSpPr>
        <p:spPr>
          <a:xfrm>
            <a:off x="1600200" y="3315000"/>
            <a:ext cx="10200000" cy="72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pt-BR" sz="1300" b="1" i="0" dirty="0">
                <a:solidFill>
                  <a:srgbClr val="142B45"/>
                </a:solidFill>
                <a:latin typeface="Calibri"/>
              </a:rPr>
              <a:t>Deflação — CPI Canadá   </a:t>
            </a:r>
            <a:r>
              <a:rPr lang="pt-BR" sz="1150" b="0" i="0" dirty="0">
                <a:solidFill>
                  <a:srgbClr val="5B636E"/>
                </a:solidFill>
                <a:latin typeface="Calibri"/>
              </a:rPr>
              <a:t>—  custos trazidos a CAD reais de dez/2025, comparáveis no tempo.</a:t>
            </a:r>
          </a:p>
        </p:txBody>
      </p:sp>
      <p:sp>
        <p:nvSpPr>
          <p:cNvPr id="17" name="Oval 5"/>
          <p:cNvSpPr/>
          <p:nvPr/>
        </p:nvSpPr>
        <p:spPr>
          <a:xfrm>
            <a:off x="977144" y="3945000"/>
            <a:ext cx="350000" cy="350000"/>
          </a:xfrm>
          <a:prstGeom prst="ellipse">
            <a:avLst/>
          </a:prstGeom>
          <a:solidFill>
            <a:srgbClr val="E8713A"/>
          </a:solidFill>
          <a:ln w="31750">
            <a:solidFill>
              <a:srgbClr val="F6F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lang="pt-BR" sz="1200" b="1" i="0" dirty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8" name="Step 5"/>
          <p:cNvSpPr txBox="1"/>
          <p:nvPr/>
        </p:nvSpPr>
        <p:spPr>
          <a:xfrm>
            <a:off x="1600200" y="3760000"/>
            <a:ext cx="10200000" cy="72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pt-BR" sz="1300" b="1" i="0" dirty="0">
                <a:solidFill>
                  <a:srgbClr val="142B45"/>
                </a:solidFill>
                <a:latin typeface="Calibri"/>
              </a:rPr>
              <a:t>EDA   </a:t>
            </a:r>
            <a:r>
              <a:rPr lang="pt-BR" sz="1150" b="0" i="0" dirty="0">
                <a:solidFill>
                  <a:srgbClr val="5B636E"/>
                </a:solidFill>
                <a:latin typeface="Calibri"/>
              </a:rPr>
              <a:t>—  descritivas, distribuições e relação de cada variável com o custo.</a:t>
            </a:r>
          </a:p>
        </p:txBody>
      </p:sp>
      <p:sp>
        <p:nvSpPr>
          <p:cNvPr id="19" name="Oval 6"/>
          <p:cNvSpPr/>
          <p:nvPr/>
        </p:nvSpPr>
        <p:spPr>
          <a:xfrm>
            <a:off x="977144" y="4390000"/>
            <a:ext cx="350000" cy="350000"/>
          </a:xfrm>
          <a:prstGeom prst="ellipse">
            <a:avLst/>
          </a:prstGeom>
          <a:solidFill>
            <a:srgbClr val="142B45"/>
          </a:solidFill>
          <a:ln w="31750">
            <a:solidFill>
              <a:srgbClr val="F6F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lang="pt-BR" sz="1200" b="1" i="0" dirty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0" name="Step 6"/>
          <p:cNvSpPr txBox="1"/>
          <p:nvPr/>
        </p:nvSpPr>
        <p:spPr>
          <a:xfrm>
            <a:off x="1600200" y="4205000"/>
            <a:ext cx="10200000" cy="72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pt-BR" sz="1300" b="1" i="0" dirty="0">
                <a:solidFill>
                  <a:srgbClr val="142B45"/>
                </a:solidFill>
                <a:latin typeface="Calibri"/>
              </a:rPr>
              <a:t>Seleção anti-vazamento   </a:t>
            </a:r>
            <a:r>
              <a:rPr lang="pt-BR" sz="1150" b="0" i="0" dirty="0">
                <a:solidFill>
                  <a:srgbClr val="5B636E"/>
                </a:solidFill>
                <a:latin typeface="Calibri"/>
              </a:rPr>
              <a:t>—  remove componentes do próprio Y e usa histórico só do ano anterior.</a:t>
            </a:r>
          </a:p>
        </p:txBody>
      </p:sp>
      <p:sp>
        <p:nvSpPr>
          <p:cNvPr id="21" name="Oval 7"/>
          <p:cNvSpPr/>
          <p:nvPr/>
        </p:nvSpPr>
        <p:spPr>
          <a:xfrm>
            <a:off x="977144" y="4835000"/>
            <a:ext cx="350000" cy="350000"/>
          </a:xfrm>
          <a:prstGeom prst="ellipse">
            <a:avLst/>
          </a:prstGeom>
          <a:solidFill>
            <a:srgbClr val="E8713A"/>
          </a:solidFill>
          <a:ln w="31750">
            <a:solidFill>
              <a:srgbClr val="F6F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lang="pt-BR" sz="1200" b="1" i="0" dirty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2" name="Step 7"/>
          <p:cNvSpPr txBox="1"/>
          <p:nvPr/>
        </p:nvSpPr>
        <p:spPr>
          <a:xfrm>
            <a:off x="1600200" y="4650000"/>
            <a:ext cx="10200000" cy="72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pt-BR" sz="1300" b="1" i="0" dirty="0">
                <a:solidFill>
                  <a:srgbClr val="142B45"/>
                </a:solidFill>
                <a:latin typeface="Calibri"/>
              </a:rPr>
              <a:t>Modelagem — split temporal — treino 2020–2024 / teste 2025; validação adicional com 2023 e 2024 como anos de teste; lineares, árvores e ensembles.</a:t>
            </a:r>
            <a:r>
              <a:rPr lang="pt-BR" sz="1150" b="0" i="0" dirty="0">
                <a:solidFill>
                  <a:srgbClr val="5B636E"/>
                </a:solidFill>
                <a:latin typeface="Calibri"/>
              </a:rPr>
              <a:t/>
            </a:r>
          </a:p>
        </p:txBody>
      </p:sp>
      <p:sp>
        <p:nvSpPr>
          <p:cNvPr id="23" name="Oval 8"/>
          <p:cNvSpPr/>
          <p:nvPr/>
        </p:nvSpPr>
        <p:spPr>
          <a:xfrm>
            <a:off x="977144" y="5280000"/>
            <a:ext cx="350000" cy="350000"/>
          </a:xfrm>
          <a:prstGeom prst="ellipse">
            <a:avLst/>
          </a:prstGeom>
          <a:solidFill>
            <a:srgbClr val="142B45"/>
          </a:solidFill>
          <a:ln w="31750">
            <a:solidFill>
              <a:srgbClr val="F6F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lang="pt-BR" sz="1200" b="1" i="0" dirty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4" name="Step 8"/>
          <p:cNvSpPr txBox="1"/>
          <p:nvPr/>
        </p:nvSpPr>
        <p:spPr>
          <a:xfrm>
            <a:off x="1600200" y="5095000"/>
            <a:ext cx="10200000" cy="72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pt-BR" sz="1300" b="1" i="0" dirty="0">
                <a:solidFill>
                  <a:srgbClr val="142B45"/>
                </a:solidFill>
                <a:latin typeface="Calibri"/>
              </a:rPr>
              <a:t>Avaliação e conclusões   </a:t>
            </a:r>
            <a:r>
              <a:rPr lang="pt-BR" sz="1150" b="0" i="0" dirty="0">
                <a:solidFill>
                  <a:srgbClr val="5B636E"/>
                </a:solidFill>
                <a:latin typeface="Calibri"/>
              </a:rPr>
              <a:t>—  R² / RMSE / MAE, importância das variáveis e recomendações.</a:t>
            </a:r>
          </a:p>
        </p:txBody>
      </p:sp>
      <p:sp>
        <p:nvSpPr>
          <p:cNvPr id="25" name="Oval 9"/>
          <p:cNvSpPr/>
          <p:nvPr/>
        </p:nvSpPr>
        <p:spPr>
          <a:xfrm>
            <a:off x="977144" y="5725000"/>
            <a:ext cx="350000" cy="350000"/>
          </a:xfrm>
          <a:prstGeom prst="ellipse">
            <a:avLst/>
          </a:prstGeom>
          <a:solidFill>
            <a:srgbClr val="E8713A"/>
          </a:solidFill>
          <a:ln w="31750">
            <a:solidFill>
              <a:srgbClr val="F6F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lang="pt-BR" sz="1200" b="1" i="0" dirty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26" name="Step 9"/>
          <p:cNvSpPr txBox="1"/>
          <p:nvPr/>
        </p:nvSpPr>
        <p:spPr>
          <a:xfrm>
            <a:off x="1600200" y="5540000"/>
            <a:ext cx="10200000" cy="72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pt-BR" sz="1300" b="1" i="0" dirty="0">
                <a:solidFill>
                  <a:srgbClr val="142B45"/>
                </a:solidFill>
                <a:latin typeface="Calibri"/>
              </a:rPr>
              <a:t>Aplicação ao planejamento — apoia a priorização de carretas e o provisionamento agregado por perfil de frota; o erro por ativo isolado é alto demais para orçamento individual.</a:t>
            </a:r>
            <a:r>
              <a:rPr lang="pt-BR" sz="1150" b="0" i="0" dirty="0">
                <a:solidFill>
                  <a:srgbClr val="5B636E"/>
                </a:solidFill>
                <a:latin typeface="Calibri"/>
              </a:rPr>
              <a:t/>
            </a:r>
          </a:p>
        </p:txBody>
      </p:sp>
      <p:sp>
        <p:nvSpPr>
          <p:cNvPr id="27" name="Oval 10"/>
          <p:cNvSpPr/>
          <p:nvPr/>
        </p:nvSpPr>
        <p:spPr>
          <a:xfrm>
            <a:off x="977144" y="6170000"/>
            <a:ext cx="350000" cy="350000"/>
          </a:xfrm>
          <a:prstGeom prst="ellipse">
            <a:avLst/>
          </a:prstGeom>
          <a:solidFill>
            <a:srgbClr val="142B45"/>
          </a:solidFill>
          <a:ln w="31750">
            <a:solidFill>
              <a:srgbClr val="F6F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lang="pt-BR" sz="1050" b="1" i="0" dirty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28" name="Step 10"/>
          <p:cNvSpPr txBox="1"/>
          <p:nvPr/>
        </p:nvSpPr>
        <p:spPr>
          <a:xfrm>
            <a:off x="1600200" y="5985000"/>
            <a:ext cx="10200000" cy="72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pt-BR" sz="1300" b="1" i="0" dirty="0">
                <a:solidFill>
                  <a:srgbClr val="142B45"/>
                </a:solidFill>
                <a:latin typeface="Calibri"/>
              </a:rPr>
              <a:t>Deployment e atualização — o pipeline é reprodutível ponta a ponta pelos notebooks; a integração com APIs e a atualização periódica são etapa futura, ainda não implementada.</a:t>
            </a:r>
            <a:r>
              <a:rPr lang="pt-BR" sz="1150" b="0" i="0" dirty="0">
                <a:solidFill>
                  <a:srgbClr val="5B636E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400" noProof="0" dirty="0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46304" cy="822960"/>
          </a:xfrm>
          <a:prstGeom prst="rect">
            <a:avLst/>
          </a:prstGeom>
          <a:solidFill>
            <a:srgbClr val="E87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44263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pt-BR" sz="1200" b="1" i="0" noProof="0" dirty="0">
                <a:solidFill>
                  <a:srgbClr val="E8713A"/>
                </a:solidFill>
                <a:latin typeface="Calibri"/>
              </a:rPr>
              <a:t>14 · METODOLOGIA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789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2700" b="1" i="0" noProof="0" dirty="0">
                <a:solidFill>
                  <a:srgbClr val="142B45"/>
                </a:solidFill>
                <a:latin typeface="Calibri"/>
              </a:rPr>
              <a:t>Desenho do estudo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83080"/>
            <a:ext cx="10607040" cy="155427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spcAft>
                <a:spcPts val="600"/>
              </a:spcAft>
              <a:defRPr sz="1500">
                <a:solidFill>
                  <a:srgbClr val="1C2433"/>
                </a:solidFill>
                <a:latin typeface="Calibri"/>
              </a:defRPr>
            </a:lvl1pPr>
          </a:lstStyle>
          <a:p>
            <a:r>
              <a:rPr lang="pt-BR" noProof="0" dirty="0"/>
              <a:t>•  Unidade de análise: grão carreta × ano.</a:t>
            </a:r>
          </a:p>
          <a:p>
            <a:r>
              <a:rPr lang="pt-BR" noProof="0" dirty="0"/>
              <a:t>•  Fonte única: CSV fato_wo_ml; extração SQL, </a:t>
            </a:r>
            <a:r>
              <a:rPr lang="pt-BR" noProof="0" dirty="0" err="1"/>
              <a:t>joins</a:t>
            </a:r>
            <a:r>
              <a:rPr lang="pt-BR" noProof="0" dirty="0"/>
              <a:t> e feature </a:t>
            </a:r>
            <a:r>
              <a:rPr lang="pt-BR" noProof="0" dirty="0" err="1"/>
              <a:t>engineering</a:t>
            </a:r>
            <a:r>
              <a:rPr lang="pt-BR" noProof="0" dirty="0"/>
              <a:t> são etapa anterior de preparação.</a:t>
            </a:r>
          </a:p>
          <a:p>
            <a:r>
              <a:rPr lang="pt-BR" noProof="0" dirty="0"/>
              <a:t>•  Variável resposta: custo anual de manutenção por carreta, em CAD (deflacionado pelo CPI do Canadá, base dez/2025).</a:t>
            </a:r>
          </a:p>
          <a:p>
            <a:r>
              <a:rPr lang="pt-BR" noProof="0" dirty="0"/>
              <a:t>•  População: a frota completa (47.715 carreta-anos). O regime de manutenção entra como variável do modelo; o recorte por MAINT foi testado e mantido apenas como comparação.</a:t>
            </a:r>
          </a:p>
          <a:p>
            <a:r>
              <a:rPr lang="pt-BR" noProof="0" dirty="0"/>
              <a:t>•  Universo de variáveis: fonte única com 29 colunas — atributos do ativo, uso/quilometragem, geografia, histórico defasado e contrato (H6 avaliada nesta fase).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46304" cy="822960"/>
          </a:xfrm>
          <a:prstGeom prst="rect">
            <a:avLst/>
          </a:prstGeom>
          <a:solidFill>
            <a:srgbClr val="E87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44263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pt-BR" sz="1200" b="1" i="0" noProof="0" dirty="0">
                <a:solidFill>
                  <a:srgbClr val="E8713A"/>
                </a:solidFill>
                <a:latin typeface="Calibri"/>
              </a:rPr>
              <a:t>14 · METODOLOGIA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789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2700" b="1" i="0" noProof="0" dirty="0">
                <a:solidFill>
                  <a:srgbClr val="142B45"/>
                </a:solidFill>
                <a:latin typeface="Calibri"/>
              </a:rPr>
              <a:t>Desenho de avaliação e </a:t>
            </a:r>
            <a:r>
              <a:rPr lang="pt-BR" sz="2700" b="1" i="0" noProof="0" dirty="0" err="1">
                <a:solidFill>
                  <a:srgbClr val="142B45"/>
                </a:solidFill>
                <a:latin typeface="Calibri"/>
              </a:rPr>
              <a:t>anti-vazamento</a:t>
            </a:r>
            <a:endParaRPr lang="pt-BR" sz="2700" b="1" i="0" noProof="0" dirty="0">
              <a:solidFill>
                <a:srgbClr val="142B45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22960" y="1783080"/>
            <a:ext cx="1060704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spcAft>
                <a:spcPts val="600"/>
              </a:spcAft>
              <a:defRPr sz="1500">
                <a:solidFill>
                  <a:srgbClr val="1C2433"/>
                </a:solidFill>
                <a:latin typeface="Calibri"/>
              </a:defRPr>
            </a:lvl1pPr>
          </a:lstStyle>
          <a:p>
            <a:pPr algn="just"/>
            <a:r>
              <a:rPr lang="pt-BR" sz="1400" noProof="0" dirty="0"/>
              <a:t>• Dois cenários de modelagem: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400" noProof="0" dirty="0"/>
              <a:t>Explicativo: inclui variáveis do próprio ano; mede a associação máxima com o custo;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400" noProof="0" dirty="0"/>
              <a:t>Preditivo: só atributos + histórico do ano anterior; reproduz o uso real de previsão.</a:t>
            </a:r>
          </a:p>
          <a:p>
            <a:pPr algn="just">
              <a:lnSpc>
                <a:spcPct val="150000"/>
              </a:lnSpc>
            </a:pPr>
            <a:r>
              <a:rPr lang="pt-BR" sz="1400" noProof="0" dirty="0"/>
              <a:t>• Antivazamento: exclui os componentes aritméticos de </a:t>
            </a:r>
            <a:r>
              <a:rPr lang="pt-BR" sz="1400" noProof="0" dirty="0" err="1"/>
              <a:t>Y</a:t>
            </a:r>
            <a:r>
              <a:rPr lang="pt-BR" sz="1400" noProof="0" dirty="0"/>
              <a:t> e proíbe informação do próprio ano no cenário preditivo.</a:t>
            </a:r>
          </a:p>
          <a:p>
            <a:pPr algn="just"/>
            <a:r>
              <a:rPr lang="pt-BR" sz="1400" noProof="0" dirty="0"/>
              <a:t>• Split temporal: treino 2020–2024 / teste 2025 — o modelo nunca é testado no passado.</a:t>
            </a:r>
          </a:p>
          <a:p>
            <a:pPr algn="just"/>
            <a:r>
              <a:rPr lang="pt-BR" sz="1400" noProof="0" dirty="0"/>
              <a:t>• Modelos e métricas: lineares/</a:t>
            </a:r>
            <a:r>
              <a:rPr lang="pt-BR" sz="1400" noProof="0" dirty="0" err="1"/>
              <a:t>ridge</a:t>
            </a:r>
            <a:r>
              <a:rPr lang="pt-BR" sz="1400" noProof="0" dirty="0"/>
              <a:t>, árvore, Random Forest, </a:t>
            </a:r>
            <a:r>
              <a:rPr lang="pt-BR" sz="1400" noProof="0" dirty="0" err="1"/>
              <a:t>Gradient</a:t>
            </a:r>
            <a:r>
              <a:rPr lang="pt-BR" sz="1400" noProof="0" dirty="0"/>
              <a:t> </a:t>
            </a:r>
            <a:r>
              <a:rPr lang="pt-BR" sz="1400" noProof="0" dirty="0" err="1"/>
              <a:t>Boosting</a:t>
            </a:r>
            <a:r>
              <a:rPr lang="pt-BR" sz="1400" noProof="0" dirty="0"/>
              <a:t> e KNN; avaliados por R², RMSE, e MAE, com importância por permutação.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44768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pt-BR" sz="1050" b="0" i="1" noProof="0" dirty="0">
                <a:solidFill>
                  <a:srgbClr val="5B636E"/>
                </a:solidFill>
                <a:latin typeface="Calibri"/>
              </a:rPr>
              <a:t>Rigor metodológico: separa 'explicar' de 'prever' e evita o vazamento temporal.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46304" cy="822960"/>
          </a:xfrm>
          <a:prstGeom prst="rect">
            <a:avLst/>
          </a:prstGeom>
          <a:solidFill>
            <a:srgbClr val="E87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b="1" noProof="0" dirty="0">
                <a:solidFill>
                  <a:srgbClr val="E8713A"/>
                </a:solidFill>
              </a:rPr>
              <a:t>14 · </a:t>
            </a:r>
            <a:r>
              <a:rPr lang="pt-BR" sz="1200" b="1" noProof="0" dirty="0">
                <a:solidFill>
                  <a:srgbClr val="E8713A"/>
                </a:solidFill>
                <a:latin typeface="Calibri"/>
              </a:rPr>
              <a:t>METODOLOGIA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78992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2700" b="1" noProof="0" dirty="0">
                <a:solidFill>
                  <a:srgbClr val="142B45"/>
                </a:solidFill>
                <a:latin typeface="Calibri"/>
              </a:rPr>
              <a:t>Limitações metodológicas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607040" cy="1554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pt-BR" sz="1500" noProof="0" dirty="0">
                <a:solidFill>
                  <a:srgbClr val="1C2433"/>
                </a:solidFill>
                <a:latin typeface="Calibri"/>
              </a:rPr>
              <a:t>•  Fonte única: contrato incorporado na Fase 2; seguem ausentes mão de obra, peças e tipo_contrato (RENTAL/LEASE).</a:t>
            </a:r>
          </a:p>
          <a:p>
            <a:pPr>
              <a:spcAft>
                <a:spcPts val="600"/>
              </a:spcAft>
            </a:pPr>
            <a:r>
              <a:rPr lang="pt-BR" sz="1500" noProof="0" dirty="0">
                <a:solidFill>
                  <a:srgbClr val="1C2433"/>
                </a:solidFill>
                <a:latin typeface="Calibri"/>
              </a:rPr>
              <a:t>•  População: a frota completa. Restringir ao regime MAINT foi testado e alterou o R² em apenas +0,0017 — amostra mais homogênea, não previsão melhor.</a:t>
            </a:r>
          </a:p>
          <a:p>
            <a:pPr>
              <a:spcAft>
                <a:spcPts val="600"/>
              </a:spcAft>
            </a:pPr>
            <a:r>
              <a:rPr lang="pt-BR" sz="1500" noProof="0" dirty="0">
                <a:solidFill>
                  <a:srgbClr val="1C2433"/>
                </a:solidFill>
                <a:latin typeface="Calibri"/>
              </a:rPr>
              <a:t>•  km derivado do odômetro nas OS; resets/ruído tratados por regra, com aproximação.</a:t>
            </a:r>
          </a:p>
          <a:p>
            <a:pPr>
              <a:spcAft>
                <a:spcPts val="600"/>
              </a:spcAft>
            </a:pPr>
            <a:r>
              <a:rPr lang="pt-BR" sz="1500" noProof="0" dirty="0">
                <a:solidFill>
                  <a:srgbClr val="1C2433"/>
                </a:solidFill>
                <a:latin typeface="Calibri"/>
              </a:rPr>
              <a:t>•  Província parcial (~54%); região usada como proxy geográfica.</a:t>
            </a:r>
          </a:p>
          <a:p>
            <a:pPr>
              <a:spcAft>
                <a:spcPts val="600"/>
              </a:spcAft>
            </a:pPr>
            <a:r>
              <a:rPr lang="pt-BR" sz="1500" noProof="0" dirty="0">
                <a:solidFill>
                  <a:srgbClr val="1C2433"/>
                </a:solidFill>
                <a:latin typeface="Calibri"/>
              </a:rPr>
              <a:t>•  Estornos (custos negativos) excluídos; </a:t>
            </a:r>
            <a:r>
              <a:rPr lang="pt-BR" sz="1500" noProof="0" dirty="0" err="1">
                <a:solidFill>
                  <a:srgbClr val="1C2433"/>
                </a:solidFill>
                <a:latin typeface="Calibri"/>
              </a:rPr>
              <a:t>span</a:t>
            </a:r>
            <a:r>
              <a:rPr lang="pt-BR" sz="1500" noProof="0" dirty="0">
                <a:solidFill>
                  <a:srgbClr val="1C2433"/>
                </a:solidFill>
                <a:latin typeface="Calibri"/>
              </a:rPr>
              <a:t> ativo assume presença entre 1ª e ultima OS.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46304" cy="822960"/>
          </a:xfrm>
          <a:prstGeom prst="rect">
            <a:avLst/>
          </a:prstGeom>
          <a:solidFill>
            <a:srgbClr val="E87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129796" cy="276999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lang="pt-BR" sz="1200" b="1" i="0" dirty="0">
                <a:solidFill>
                  <a:srgbClr val="E8713A"/>
                </a:solidFill>
                <a:latin typeface="Calibri"/>
              </a:rPr>
              <a:t>15 · ENTREGAS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789920" cy="5078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pt-BR" sz="2700" b="1" i="0" dirty="0">
                <a:solidFill>
                  <a:srgbClr val="142B45"/>
                </a:solidFill>
                <a:latin typeface="Calibri"/>
              </a:rPr>
              <a:t>Entregas do Projeto</a:t>
            </a:r>
          </a:p>
        </p:txBody>
      </p:sp>
      <p:sp>
        <p:nvSpPr>
          <p:cNvPr id="6" name="Card 6"/>
          <p:cNvSpPr/>
          <p:nvPr/>
        </p:nvSpPr>
        <p:spPr>
          <a:xfrm>
            <a:off x="548640" y="2189386"/>
            <a:ext cx="5410200" cy="11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Pill 7"/>
          <p:cNvSpPr/>
          <p:nvPr/>
        </p:nvSpPr>
        <p:spPr>
          <a:xfrm>
            <a:off x="5079536" y="2285386"/>
            <a:ext cx="733000" cy="236000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>
            <a:noFill/>
          </a:ln>
          <a:effectLst/>
        </p:spPr>
        <p:txBody>
          <a:bodyPr wrap="none" lIns="45720" tIns="0" rIns="45720" bIns="0" rtlCol="0" anchor="ctr"/>
          <a:lstStyle/>
          <a:p>
            <a:pPr algn="ctr"/>
            <a:r>
              <a:rPr lang="pt-BR" sz="800" b="1" i="0" dirty="0">
                <a:solidFill>
                  <a:srgbClr val="FFFFFF"/>
                </a:solidFill>
                <a:latin typeface="Calibri"/>
              </a:rPr>
              <a:t>Concluída</a:t>
            </a:r>
          </a:p>
        </p:txBody>
      </p:sp>
      <p:sp>
        <p:nvSpPr>
          <p:cNvPr id="8" name="Title 8"/>
          <p:cNvSpPr txBox="1"/>
          <p:nvPr/>
        </p:nvSpPr>
        <p:spPr>
          <a:xfrm>
            <a:off x="694944" y="2281386"/>
            <a:ext cx="4294592" cy="300000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lang="pt-BR" sz="1150" b="1" i="0" dirty="0">
                <a:solidFill>
                  <a:srgbClr val="142B45"/>
                </a:solidFill>
                <a:latin typeface="Calibri"/>
              </a:rPr>
              <a:t>Gate 1 - Dados e qualidade</a:t>
            </a:r>
          </a:p>
        </p:txBody>
      </p:sp>
      <p:sp>
        <p:nvSpPr>
          <p:cNvPr id="9" name="Bullets 9"/>
          <p:cNvSpPr txBox="1"/>
          <p:nvPr/>
        </p:nvSpPr>
        <p:spPr>
          <a:xfrm>
            <a:off x="694944" y="2619386"/>
            <a:ext cx="5117592" cy="6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71450" indent="-171450">
              <a:lnSpc>
                <a:spcPct val="96000"/>
              </a:lnSpc>
              <a:spcAft>
                <a:spcPts val="300"/>
              </a:spcAft>
              <a:buFont typeface="Arial"/>
              <a:buChar char="•"/>
            </a:pPr>
            <a:r>
              <a:rPr lang="pt-BR" sz="900" b="0" i="0" dirty="0">
                <a:solidFill>
                  <a:srgbClr val="1C2433"/>
                </a:solidFill>
                <a:latin typeface="Calibri"/>
              </a:rPr>
              <a:t>Inventário das bases: carretas, OS, mão de obra, peças, contratos, odômetro e GPS.</a:t>
            </a:r>
          </a:p>
          <a:p>
            <a:pPr marL="171450" indent="-171450">
              <a:lnSpc>
                <a:spcPct val="96000"/>
              </a:lnSpc>
              <a:spcAft>
                <a:spcPts val="300"/>
              </a:spcAft>
              <a:buFont typeface="Arial"/>
              <a:buChar char="•"/>
            </a:pPr>
            <a:r>
              <a:rPr lang="pt-BR" sz="900" b="0" i="0" dirty="0">
                <a:solidFill>
                  <a:srgbClr val="1C2433"/>
                </a:solidFill>
                <a:latin typeface="Calibri"/>
              </a:rPr>
              <a:t>Validação de chaves, datas, custos negativos/zerados, leituras de odômetro e ausentes.</a:t>
            </a:r>
          </a:p>
          <a:p>
            <a:pPr marL="171450" indent="-171450">
              <a:lnSpc>
                <a:spcPct val="96000"/>
              </a:lnSpc>
              <a:spcAft>
                <a:spcPts val="300"/>
              </a:spcAft>
              <a:buFont typeface="Arial"/>
              <a:buChar char="•"/>
            </a:pPr>
            <a:r>
              <a:rPr lang="pt-BR" sz="900" b="0" i="0" dirty="0">
                <a:solidFill>
                  <a:srgbClr val="1C2433"/>
                </a:solidFill>
                <a:latin typeface="Calibri"/>
              </a:rPr>
              <a:t>Documentação das regras de tratamento e dos riscos metodológicos.</a:t>
            </a:r>
          </a:p>
        </p:txBody>
      </p:sp>
      <p:sp>
        <p:nvSpPr>
          <p:cNvPr id="10" name="Card 10"/>
          <p:cNvSpPr/>
          <p:nvPr/>
        </p:nvSpPr>
        <p:spPr>
          <a:xfrm>
            <a:off x="6233160" y="2189386"/>
            <a:ext cx="5410200" cy="11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1" name="Pill 11"/>
          <p:cNvSpPr/>
          <p:nvPr/>
        </p:nvSpPr>
        <p:spPr>
          <a:xfrm>
            <a:off x="10764056" y="2285386"/>
            <a:ext cx="733000" cy="236000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>
            <a:noFill/>
          </a:ln>
          <a:effectLst/>
        </p:spPr>
        <p:txBody>
          <a:bodyPr wrap="none" lIns="45720" tIns="0" rIns="45720" bIns="0" rtlCol="0" anchor="ctr"/>
          <a:lstStyle/>
          <a:p>
            <a:pPr algn="ctr"/>
            <a:r>
              <a:rPr lang="pt-BR" sz="800" b="1" i="0" dirty="0">
                <a:solidFill>
                  <a:srgbClr val="FFFFFF"/>
                </a:solidFill>
                <a:latin typeface="Calibri"/>
              </a:rPr>
              <a:t>Concluída</a:t>
            </a:r>
          </a:p>
        </p:txBody>
      </p:sp>
      <p:sp>
        <p:nvSpPr>
          <p:cNvPr id="12" name="Title 12"/>
          <p:cNvSpPr txBox="1"/>
          <p:nvPr/>
        </p:nvSpPr>
        <p:spPr>
          <a:xfrm>
            <a:off x="6379464" y="2281386"/>
            <a:ext cx="4294592" cy="300000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lang="pt-BR" sz="1150" b="1" i="0" dirty="0">
                <a:solidFill>
                  <a:srgbClr val="142B45"/>
                </a:solidFill>
                <a:latin typeface="Calibri"/>
              </a:rPr>
              <a:t>Gate 2 - Base analítica</a:t>
            </a:r>
          </a:p>
        </p:txBody>
      </p:sp>
      <p:sp>
        <p:nvSpPr>
          <p:cNvPr id="13" name="Bullets 13"/>
          <p:cNvSpPr txBox="1"/>
          <p:nvPr/>
        </p:nvSpPr>
        <p:spPr>
          <a:xfrm>
            <a:off x="6379464" y="2619386"/>
            <a:ext cx="5117592" cy="6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71450" indent="-171450">
              <a:lnSpc>
                <a:spcPct val="96000"/>
              </a:lnSpc>
              <a:spcAft>
                <a:spcPts val="300"/>
              </a:spcAft>
              <a:buFont typeface="Arial"/>
              <a:buChar char="•"/>
            </a:pPr>
            <a:r>
              <a:rPr lang="pt-BR" sz="900" b="0" i="0" dirty="0">
                <a:solidFill>
                  <a:srgbClr val="1C2433"/>
                </a:solidFill>
                <a:latin typeface="Calibri"/>
              </a:rPr>
              <a:t>Construção da base carreta x ano para custo anual real de manutenção.</a:t>
            </a:r>
          </a:p>
          <a:p>
            <a:pPr marL="171450" indent="-171450">
              <a:lnSpc>
                <a:spcPct val="96000"/>
              </a:lnSpc>
              <a:spcAft>
                <a:spcPts val="300"/>
              </a:spcAft>
              <a:buFont typeface="Arial"/>
              <a:buChar char="•"/>
            </a:pPr>
            <a:r>
              <a:rPr lang="pt-BR" sz="900" b="0" i="0" dirty="0">
                <a:solidFill>
                  <a:srgbClr val="1C2433"/>
                </a:solidFill>
                <a:latin typeface="Calibri"/>
              </a:rPr>
              <a:t>Criação de variáveis defasadas para evitar vazamento temporal.</a:t>
            </a:r>
          </a:p>
        </p:txBody>
      </p:sp>
      <p:sp>
        <p:nvSpPr>
          <p:cNvPr id="14" name="Card 14"/>
          <p:cNvSpPr/>
          <p:nvPr/>
        </p:nvSpPr>
        <p:spPr>
          <a:xfrm>
            <a:off x="548640" y="3464386"/>
            <a:ext cx="5410200" cy="11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5" name="Pill 15"/>
          <p:cNvSpPr/>
          <p:nvPr/>
        </p:nvSpPr>
        <p:spPr>
          <a:xfrm>
            <a:off x="5079536" y="3560386"/>
            <a:ext cx="733000" cy="236000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>
            <a:noFill/>
          </a:ln>
          <a:effectLst/>
        </p:spPr>
        <p:txBody>
          <a:bodyPr wrap="none" lIns="45720" tIns="0" rIns="45720" bIns="0" rtlCol="0" anchor="ctr"/>
          <a:lstStyle/>
          <a:p>
            <a:pPr algn="ctr"/>
            <a:r>
              <a:rPr lang="pt-BR" sz="800" b="1" i="0" dirty="0">
                <a:solidFill>
                  <a:srgbClr val="FFFFFF"/>
                </a:solidFill>
                <a:latin typeface="Calibri"/>
              </a:rPr>
              <a:t>Concluída</a:t>
            </a:r>
          </a:p>
        </p:txBody>
      </p:sp>
      <p:sp>
        <p:nvSpPr>
          <p:cNvPr id="16" name="Title 16"/>
          <p:cNvSpPr txBox="1"/>
          <p:nvPr/>
        </p:nvSpPr>
        <p:spPr>
          <a:xfrm>
            <a:off x="694944" y="3556386"/>
            <a:ext cx="4294592" cy="300000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lang="pt-BR" sz="1150" b="1" i="0" dirty="0">
                <a:solidFill>
                  <a:srgbClr val="142B45"/>
                </a:solidFill>
                <a:latin typeface="Calibri"/>
              </a:rPr>
              <a:t>Gate 3 - EDA e hipóteses</a:t>
            </a:r>
          </a:p>
        </p:txBody>
      </p:sp>
      <p:sp>
        <p:nvSpPr>
          <p:cNvPr id="17" name="Bullets 17"/>
          <p:cNvSpPr txBox="1"/>
          <p:nvPr/>
        </p:nvSpPr>
        <p:spPr>
          <a:xfrm>
            <a:off x="694944" y="3894386"/>
            <a:ext cx="5117592" cy="6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71450" indent="-171450">
              <a:lnSpc>
                <a:spcPct val="96000"/>
              </a:lnSpc>
              <a:spcAft>
                <a:spcPts val="300"/>
              </a:spcAft>
              <a:buFont typeface="Arial"/>
              <a:buChar char="•"/>
            </a:pPr>
            <a:r>
              <a:rPr lang="pt-BR" sz="900" b="0" i="0" dirty="0">
                <a:solidFill>
                  <a:srgbClr val="1C2433"/>
                </a:solidFill>
                <a:latin typeface="Calibri"/>
              </a:rPr>
              <a:t>Distribuições, outliers, assimetria, correlações, VIF e segmentações.</a:t>
            </a:r>
          </a:p>
          <a:p>
            <a:pPr marL="171450" indent="-171450">
              <a:lnSpc>
                <a:spcPct val="96000"/>
              </a:lnSpc>
              <a:spcAft>
                <a:spcPts val="300"/>
              </a:spcAft>
              <a:buFont typeface="Arial"/>
              <a:buChar char="•"/>
            </a:pPr>
            <a:r>
              <a:rPr lang="pt-BR" sz="900" b="0" i="0" dirty="0">
                <a:solidFill>
                  <a:srgbClr val="1C2433"/>
                </a:solidFill>
                <a:latin typeface="Calibri"/>
              </a:rPr>
              <a:t>Custos e OS têm distribuição assimétrica, com poucos casos extremos.</a:t>
            </a:r>
          </a:p>
          <a:p>
            <a:pPr marL="171450" indent="-171450">
              <a:lnSpc>
                <a:spcPct val="96000"/>
              </a:lnSpc>
              <a:spcAft>
                <a:spcPts val="300"/>
              </a:spcAft>
              <a:buFont typeface="Arial"/>
              <a:buChar char="•"/>
            </a:pPr>
            <a:r>
              <a:rPr lang="pt-BR" sz="900" b="0" i="0" dirty="0">
                <a:solidFill>
                  <a:srgbClr val="1C2433"/>
                </a:solidFill>
                <a:latin typeface="Calibri"/>
              </a:rPr>
              <a:t>Indícios de efeito de idade, histórico, sistemas VMRS e perfil operacional.</a:t>
            </a:r>
          </a:p>
        </p:txBody>
      </p:sp>
      <p:sp>
        <p:nvSpPr>
          <p:cNvPr id="18" name="Card 18"/>
          <p:cNvSpPr/>
          <p:nvPr/>
        </p:nvSpPr>
        <p:spPr>
          <a:xfrm>
            <a:off x="6233160" y="3464386"/>
            <a:ext cx="5410200" cy="11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4" name="Title 24"/>
          <p:cNvSpPr txBox="1"/>
          <p:nvPr/>
        </p:nvSpPr>
        <p:spPr>
          <a:xfrm>
            <a:off x="6379464" y="3529924"/>
            <a:ext cx="3426592" cy="300000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lang="pt-BR" sz="1150" b="1" i="0" dirty="0">
                <a:solidFill>
                  <a:srgbClr val="142B45"/>
                </a:solidFill>
                <a:latin typeface="Calibri"/>
              </a:rPr>
              <a:t>Gate 4 - Modelo anual de custo</a:t>
            </a:r>
          </a:p>
        </p:txBody>
      </p:sp>
      <p:sp>
        <p:nvSpPr>
          <p:cNvPr id="25" name="Bullets 25"/>
          <p:cNvSpPr txBox="1"/>
          <p:nvPr/>
        </p:nvSpPr>
        <p:spPr>
          <a:xfrm>
            <a:off x="6379464" y="3867924"/>
            <a:ext cx="5117592" cy="6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71450" indent="-171450">
              <a:lnSpc>
                <a:spcPct val="96000"/>
              </a:lnSpc>
              <a:spcAft>
                <a:spcPts val="300"/>
              </a:spcAft>
              <a:buFont typeface="Arial"/>
              <a:buChar char="•"/>
            </a:pPr>
            <a:r>
              <a:rPr lang="pt-BR" sz="900" b="0" i="0" dirty="0">
                <a:solidFill>
                  <a:srgbClr val="1C2433"/>
                </a:solidFill>
                <a:latin typeface="Calibri"/>
              </a:rPr>
              <a:t>Modelo em grão carreta x ano, com custo anual real deflacionado.</a:t>
            </a:r>
          </a:p>
          <a:p>
            <a:pPr marL="171450" indent="-171450">
              <a:lnSpc>
                <a:spcPct val="96000"/>
              </a:lnSpc>
              <a:spcAft>
                <a:spcPts val="300"/>
              </a:spcAft>
              <a:buFont typeface="Arial"/>
              <a:buChar char="•"/>
            </a:pPr>
            <a:r>
              <a:rPr lang="pt-BR" sz="900" b="0" i="0" dirty="0">
                <a:solidFill>
                  <a:srgbClr val="1C2433"/>
                </a:solidFill>
                <a:latin typeface="Calibri"/>
              </a:rPr>
              <a:t>Y1 (custo anual): R² 0,4713 pelo caminho decomposto e 0,5776 explicativo. Y2 (nº de OS): R² 0,6080. Teste 2025.</a:t>
            </a:r>
          </a:p>
          <a:p>
            <a:pPr marL="171450" indent="-171450">
              <a:lnSpc>
                <a:spcPct val="96000"/>
              </a:lnSpc>
              <a:spcAft>
                <a:spcPts val="300"/>
              </a:spcAft>
              <a:buFont typeface="Arial"/>
              <a:buChar char="•"/>
            </a:pPr>
            <a:r>
              <a:rPr lang="pt-BR" sz="900" b="0" i="0" dirty="0">
                <a:solidFill>
                  <a:srgbClr val="1C2433"/>
                </a:solidFill>
                <a:latin typeface="Calibri"/>
              </a:rPr>
              <a:t>Fatores: refrigeração, histórico defasado, exposição acumulada e subtipo.</a:t>
            </a:r>
          </a:p>
        </p:txBody>
      </p:sp>
      <p:sp>
        <p:nvSpPr>
          <p:cNvPr id="19" name="Pill 27">
            <a:extLst>
              <a:ext uri="{FF2B5EF4-FFF2-40B4-BE49-F238E27FC236}">
                <a16:creationId xmlns:a16="http://schemas.microsoft.com/office/drawing/2014/main" id="{E5060CC7-28F8-C289-7594-CC4F464401B5}"/>
              </a:ext>
            </a:extLst>
          </p:cNvPr>
          <p:cNvSpPr/>
          <p:nvPr/>
        </p:nvSpPr>
        <p:spPr>
          <a:xfrm>
            <a:off x="10392056" y="3548155"/>
            <a:ext cx="1105000" cy="236000"/>
          </a:xfrm>
          <a:prstGeom prst="roundRect">
            <a:avLst>
              <a:gd name="adj" fmla="val 50000"/>
            </a:avLst>
          </a:prstGeom>
          <a:solidFill>
            <a:srgbClr val="142B45"/>
          </a:solidFill>
          <a:ln>
            <a:noFill/>
          </a:ln>
          <a:effectLst/>
        </p:spPr>
        <p:txBody>
          <a:bodyPr wrap="none" lIns="45720" tIns="0" rIns="45720" bIns="0" rtlCol="0" anchor="ctr"/>
          <a:lstStyle/>
          <a:p>
            <a:pPr algn="ctr"/>
            <a:r>
              <a:rPr lang="pt-BR" sz="800" b="1" i="0" dirty="0">
                <a:solidFill>
                  <a:srgbClr val="FFFFFF"/>
                </a:solidFill>
                <a:latin typeface="Calibri"/>
              </a:rPr>
              <a:t>Concluída</a:t>
            </a:r>
          </a:p>
        </p:txBody>
      </p:sp>
      <p:sp>
        <p:nvSpPr>
          <p:cNvPr id="22" name="Card 22"/>
          <p:cNvSpPr/>
          <p:nvPr/>
        </p:nvSpPr>
        <p:spPr>
          <a:xfrm>
            <a:off x="548640" y="4739386"/>
            <a:ext cx="5410200" cy="11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2" name="Title 32"/>
          <p:cNvSpPr txBox="1"/>
          <p:nvPr/>
        </p:nvSpPr>
        <p:spPr>
          <a:xfrm>
            <a:off x="694944" y="4810294"/>
            <a:ext cx="4384592" cy="300000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lang="pt-BR" sz="1150" b="1" i="0" dirty="0">
                <a:solidFill>
                  <a:srgbClr val="142B45"/>
                </a:solidFill>
                <a:latin typeface="Calibri"/>
              </a:rPr>
              <a:t>Gate 5 - Validação e robustez</a:t>
            </a:r>
          </a:p>
        </p:txBody>
      </p:sp>
      <p:sp>
        <p:nvSpPr>
          <p:cNvPr id="33" name="Bullets 33"/>
          <p:cNvSpPr txBox="1"/>
          <p:nvPr/>
        </p:nvSpPr>
        <p:spPr>
          <a:xfrm>
            <a:off x="694944" y="5148294"/>
            <a:ext cx="5117592" cy="6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71450" indent="-171450">
              <a:lnSpc>
                <a:spcPct val="96000"/>
              </a:lnSpc>
              <a:spcAft>
                <a:spcPts val="300"/>
              </a:spcAft>
              <a:buFont typeface="Arial"/>
              <a:buChar char="•"/>
            </a:pPr>
            <a:r>
              <a:rPr lang="pt-BR" sz="900" b="0" i="0" dirty="0">
                <a:solidFill>
                  <a:srgbClr val="1C2433"/>
                </a:solidFill>
                <a:latin typeface="Calibri"/>
              </a:rPr>
              <a:t>Contrato incorporado e testado: o TIPO importa (4ª variável mais importante); a duração, não (+0.0359 de R² no bloco).</a:t>
            </a:r>
          </a:p>
          <a:p>
            <a:pPr marL="171450" indent="-171450">
              <a:lnSpc>
                <a:spcPct val="96000"/>
              </a:lnSpc>
              <a:spcAft>
                <a:spcPts val="300"/>
              </a:spcAft>
              <a:buFont typeface="Arial"/>
              <a:buChar char="•"/>
            </a:pPr>
            <a:r>
              <a:rPr lang="pt-BR" sz="900" b="0" i="0" dirty="0">
                <a:solidFill>
                  <a:srgbClr val="1C2433"/>
                </a:solidFill>
                <a:latin typeface="Calibri"/>
              </a:rPr>
              <a:t>PENDENTE: sensibilidade a outliers, seleção de variáveis e hiperparâmetros.</a:t>
            </a:r>
          </a:p>
          <a:p>
            <a:pPr marL="171450" indent="-171450">
              <a:lnSpc>
                <a:spcPct val="96000"/>
              </a:lnSpc>
              <a:spcAft>
                <a:spcPts val="300"/>
              </a:spcAft>
              <a:buFont typeface="Arial"/>
              <a:buChar char="•"/>
            </a:pPr>
            <a:r>
              <a:rPr lang="pt-BR" sz="900" b="0" i="0" dirty="0">
                <a:solidFill>
                  <a:srgbClr val="1C2433"/>
                </a:solidFill>
                <a:latin typeface="Calibri"/>
              </a:rPr>
              <a:t>PENDENTE: MERF, modelos hierárquicos e a previsão de 2026.</a:t>
            </a:r>
          </a:p>
        </p:txBody>
      </p:sp>
      <p:sp>
        <p:nvSpPr>
          <p:cNvPr id="34" name="Pill 31">
            <a:extLst>
              <a:ext uri="{FF2B5EF4-FFF2-40B4-BE49-F238E27FC236}">
                <a16:creationId xmlns:a16="http://schemas.microsoft.com/office/drawing/2014/main" id="{77E2D64C-3F49-8585-ED27-0C95DF03067E}"/>
              </a:ext>
            </a:extLst>
          </p:cNvPr>
          <p:cNvSpPr/>
          <p:nvPr/>
        </p:nvSpPr>
        <p:spPr>
          <a:xfrm>
            <a:off x="4740992" y="4833263"/>
            <a:ext cx="1105000" cy="236000"/>
          </a:xfrm>
          <a:prstGeom prst="roundRect">
            <a:avLst>
              <a:gd name="adj" fmla="val 50000"/>
            </a:avLst>
          </a:prstGeom>
          <a:solidFill>
            <a:srgbClr val="142B45"/>
          </a:solidFill>
          <a:ln>
            <a:noFill/>
          </a:ln>
          <a:effectLst/>
        </p:spPr>
        <p:txBody>
          <a:bodyPr wrap="none" lIns="45720" tIns="0" rIns="45720" bIns="0" rtlCol="0" anchor="ctr"/>
          <a:lstStyle/>
          <a:p>
            <a:pPr algn="ctr"/>
            <a:r>
              <a:rPr lang="pt-BR" sz="800" b="1" i="0" dirty="0">
                <a:solidFill>
                  <a:srgbClr val="FFFFFF"/>
                </a:solidFill>
                <a:latin typeface="Calibri"/>
              </a:rPr>
              <a:t>Parcial</a:t>
            </a:r>
          </a:p>
        </p:txBody>
      </p:sp>
      <p:sp>
        <p:nvSpPr>
          <p:cNvPr id="26" name="Card 26"/>
          <p:cNvSpPr/>
          <p:nvPr/>
        </p:nvSpPr>
        <p:spPr>
          <a:xfrm>
            <a:off x="6233160" y="4739386"/>
            <a:ext cx="5410200" cy="11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8" name="Title 28"/>
          <p:cNvSpPr txBox="1"/>
          <p:nvPr/>
        </p:nvSpPr>
        <p:spPr>
          <a:xfrm>
            <a:off x="6379464" y="4831386"/>
            <a:ext cx="3922592" cy="300000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lang="pt-BR" sz="1150" b="1" i="0" dirty="0">
                <a:solidFill>
                  <a:srgbClr val="142B45"/>
                </a:solidFill>
                <a:latin typeface="Calibri"/>
              </a:rPr>
              <a:t>Gate 6 - Interpretação de negócio</a:t>
            </a:r>
          </a:p>
        </p:txBody>
      </p:sp>
      <p:sp>
        <p:nvSpPr>
          <p:cNvPr id="29" name="Bullets 29"/>
          <p:cNvSpPr txBox="1"/>
          <p:nvPr/>
        </p:nvSpPr>
        <p:spPr>
          <a:xfrm>
            <a:off x="6379464" y="5169386"/>
            <a:ext cx="5117592" cy="6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71450" indent="-171450">
              <a:lnSpc>
                <a:spcPct val="96000"/>
              </a:lnSpc>
              <a:spcAft>
                <a:spcPts val="300"/>
              </a:spcAft>
              <a:buFont typeface="Arial"/>
              <a:buChar char="•"/>
            </a:pPr>
            <a:r>
              <a:rPr lang="pt-BR" sz="900" b="0" i="0" dirty="0">
                <a:solidFill>
                  <a:srgbClr val="1C2433"/>
                </a:solidFill>
                <a:latin typeface="Calibri"/>
              </a:rPr>
              <a:t>Traduzir resultados em recomendações para orçamento, preventiva e gestão da frota.</a:t>
            </a:r>
          </a:p>
          <a:p>
            <a:pPr marL="171450" indent="-171450">
              <a:lnSpc>
                <a:spcPct val="96000"/>
              </a:lnSpc>
              <a:spcAft>
                <a:spcPts val="300"/>
              </a:spcAft>
              <a:buFont typeface="Arial"/>
              <a:buChar char="•"/>
            </a:pPr>
            <a:r>
              <a:rPr lang="pt-BR" sz="900" b="0" i="0" dirty="0">
                <a:solidFill>
                  <a:srgbClr val="1C2433"/>
                </a:solidFill>
                <a:latin typeface="Calibri"/>
              </a:rPr>
              <a:t>Separar fatores de risco operacional das limitações de dados e ruído de medição.</a:t>
            </a:r>
          </a:p>
          <a:p>
            <a:pPr marL="171450" indent="-171450">
              <a:lnSpc>
                <a:spcPct val="96000"/>
              </a:lnSpc>
              <a:spcAft>
                <a:spcPts val="300"/>
              </a:spcAft>
              <a:buFont typeface="Arial"/>
              <a:buChar char="•"/>
            </a:pPr>
            <a:r>
              <a:rPr lang="pt-BR" sz="900" b="0" i="0" dirty="0">
                <a:solidFill>
                  <a:srgbClr val="1C2433"/>
                </a:solidFill>
                <a:latin typeface="Calibri"/>
              </a:rPr>
              <a:t>Reforçar que os achados são preditivos e exploratórios, sem inferência causal.</a:t>
            </a:r>
          </a:p>
        </p:txBody>
      </p:sp>
      <p:sp>
        <p:nvSpPr>
          <p:cNvPr id="27" name="Pill 27"/>
          <p:cNvSpPr/>
          <p:nvPr/>
        </p:nvSpPr>
        <p:spPr>
          <a:xfrm>
            <a:off x="10392056" y="4835386"/>
            <a:ext cx="1105000" cy="236000"/>
          </a:xfrm>
          <a:prstGeom prst="roundRect">
            <a:avLst>
              <a:gd name="adj" fmla="val 50000"/>
            </a:avLst>
          </a:prstGeom>
          <a:solidFill>
            <a:srgbClr val="142B45"/>
          </a:solidFill>
          <a:ln>
            <a:noFill/>
          </a:ln>
          <a:effectLst/>
        </p:spPr>
        <p:txBody>
          <a:bodyPr wrap="none" lIns="45720" tIns="0" rIns="45720" bIns="0" rtlCol="0" anchor="ctr"/>
          <a:lstStyle/>
          <a:p>
            <a:pPr algn="ctr"/>
            <a:r>
              <a:rPr lang="pt-BR" sz="800" b="1" i="0" dirty="0">
                <a:solidFill>
                  <a:srgbClr val="FFFFFF"/>
                </a:solidFill>
                <a:latin typeface="Calibri"/>
              </a:rPr>
              <a:t>Próximos passos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46304" cy="822960"/>
          </a:xfrm>
          <a:prstGeom prst="rect">
            <a:avLst/>
          </a:prstGeom>
          <a:solidFill>
            <a:srgbClr val="E87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E8713A"/>
                </a:solidFill>
                <a:latin typeface="Calibri"/>
              </a:rPr>
              <a:t>FASE 2 · DADOS NOVOS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42B45"/>
                </a:solidFill>
                <a:latin typeface="Calibri"/>
              </a:rPr>
              <a:t>Contrato: os quatro campos que chegaram à base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36192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B636E"/>
                </a:solidFill>
                <a:latin typeface="Calibri"/>
              </a:rPr>
              <a:t>H6 estava declarada desde a fase anterior, sem dados para testá-la. Os campos de contrato passaram a integrar a fonte única.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011680"/>
          <a:ext cx="109728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campo</a:t>
                      </a:r>
                    </a:p>
                  </a:txBody>
                  <a:tcPr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cobertura</a:t>
                      </a:r>
                    </a:p>
                  </a:txBody>
                  <a:tcPr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perfil</a:t>
                      </a:r>
                    </a:p>
                  </a:txBody>
                  <a:tcPr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destino</a:t>
                      </a:r>
                    </a:p>
                  </a:txBody>
                  <a:tcPr>
                    <a:solidFill>
                      <a:srgbClr val="142B4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C2433"/>
                          </a:solidFill>
                          <a:latin typeface="Calibri"/>
                        </a:rPr>
                        <a:t>tempo_contrato_meses_ate_reparo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C2433"/>
                          </a:solidFill>
                          <a:latin typeface="Calibri"/>
                        </a:rPr>
                        <a:t>92,5%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C2433"/>
                          </a:solidFill>
                          <a:latin typeface="Calibri"/>
                        </a:rPr>
                        <a:t>mediana 35,1 meses · sem valores negativos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C2433"/>
                          </a:solidFill>
                          <a:latin typeface="Calibri"/>
                        </a:rPr>
                        <a:t>MODELADA — responde H6a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C2433"/>
                          </a:solidFill>
                          <a:latin typeface="Calibri"/>
                        </a:rPr>
                        <a:t>tipo_manutencao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C2433"/>
                          </a:solidFill>
                          <a:latin typeface="Calibri"/>
                        </a:rPr>
                        <a:t>92,5%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C2433"/>
                          </a:solidFill>
                          <a:latin typeface="Calibri"/>
                        </a:rPr>
                        <a:t>MAINT 89,7% · MIX 1,6% · NET 1,1%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C2433"/>
                          </a:solidFill>
                          <a:latin typeface="Calibri"/>
                        </a:rPr>
                        <a:t>variável do modelo (dummy); testa H6b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C2433"/>
                          </a:solidFill>
                          <a:latin typeface="Calibri"/>
                        </a:rPr>
                        <a:t>cod_cliente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C2433"/>
                          </a:solidFill>
                          <a:latin typeface="Calibri"/>
                        </a:rPr>
                        <a:t>77,2%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C2433"/>
                          </a:solidFill>
                          <a:latin typeface="Calibri"/>
                        </a:rPr>
                        <a:t>597 clientes distintos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C2433"/>
                          </a:solidFill>
                          <a:latin typeface="Calibri"/>
                        </a:rPr>
                        <a:t>descritiva — fora do modelo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C2433"/>
                          </a:solidFill>
                          <a:latin typeface="Calibri"/>
                        </a:rPr>
                        <a:t>franquia_km_mensal_contrato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C2433"/>
                          </a:solidFill>
                          <a:latin typeface="Calibri"/>
                        </a:rPr>
                        <a:t>71,6%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C2433"/>
                          </a:solidFill>
                          <a:latin typeface="Calibri"/>
                        </a:rPr>
                        <a:t>99,8% dos preenchidos são ZERO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C2433"/>
                          </a:solidFill>
                          <a:latin typeface="Calibri"/>
                        </a:rPr>
                        <a:t>DESCARTADA — variância nula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22960" y="4389120"/>
            <a:ext cx="10607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>
                <a:solidFill>
                  <a:srgbClr val="1C2433"/>
                </a:solidFill>
                <a:latin typeface="Calibri"/>
              </a:rPr>
              <a:t>•  A fonte permanece ÚNICA: os campos vieram dentro do próprio CSV consolidado, sem join novo.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1C2433"/>
                </a:solidFill>
                <a:latin typeface="Calibri"/>
              </a:rPr>
              <a:t>•  Contrato não é atributo fixo do ativo — 51,5% das carretas mudam de regime no período, o que exigiu agregação por carreta-ano.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1C2433"/>
                </a:solidFill>
                <a:latin typeface="Calibri"/>
              </a:rPr>
              <a:t>•  O regime de manutenção entrou como VARIÁVEL do modelo, e não como recorte da amostra: a frota completa é a população.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46304" cy="822960"/>
          </a:xfrm>
          <a:prstGeom prst="rect">
            <a:avLst/>
          </a:prstGeom>
          <a:solidFill>
            <a:srgbClr val="E87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E8713A"/>
                </a:solidFill>
                <a:latin typeface="Calibri"/>
              </a:rPr>
              <a:t>FASE 2 · EDA DE CONTRATO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42B45"/>
                </a:solidFill>
                <a:latin typeface="Calibri"/>
              </a:rPr>
              <a:t>Distribuições das variáveis de contrato</a:t>
            </a:r>
          </a:p>
        </p:txBody>
      </p:sp>
      <p:pic>
        <p:nvPicPr>
          <p:cNvPr id="6" name="Picture 5" descr="quant_tempo_contrato_meses_fim_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809129" cy="2194560"/>
          </a:xfrm>
          <a:prstGeom prst="rect">
            <a:avLst/>
          </a:prstGeom>
        </p:spPr>
      </p:pic>
      <p:pic>
        <p:nvPicPr>
          <p:cNvPr id="7" name="Picture 6" descr="quant_share_maint_an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45920"/>
            <a:ext cx="5809129" cy="2194560"/>
          </a:xfrm>
          <a:prstGeom prst="rect">
            <a:avLst/>
          </a:prstGeom>
        </p:spPr>
      </p:pic>
      <p:pic>
        <p:nvPicPr>
          <p:cNvPr id="8" name="Picture 7" descr="quant_n_clientes_an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023360"/>
            <a:ext cx="5809129" cy="2194560"/>
          </a:xfrm>
          <a:prstGeom prst="rect">
            <a:avLst/>
          </a:prstGeom>
        </p:spPr>
      </p:pic>
      <p:pic>
        <p:nvPicPr>
          <p:cNvPr id="9" name="Picture 8" descr="quant_trocou_contrato_an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4023360"/>
            <a:ext cx="5809129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46304" cy="822960"/>
          </a:xfrm>
          <a:prstGeom prst="rect">
            <a:avLst/>
          </a:prstGeom>
          <a:solidFill>
            <a:srgbClr val="E87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E8713A"/>
                </a:solidFill>
                <a:latin typeface="Calibri"/>
              </a:rPr>
              <a:t>FASE 2 · EDA DE CONTRATO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42B45"/>
                </a:solidFill>
                <a:latin typeface="Calibri"/>
              </a:rPr>
              <a:t>Custo anual por regime contratual — evidência de H6b</a:t>
            </a:r>
          </a:p>
        </p:txBody>
      </p:sp>
      <p:pic>
        <p:nvPicPr>
          <p:cNvPr id="6" name="Picture 5" descr="quali_tipo_manutencao_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91640"/>
            <a:ext cx="9521190" cy="4480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863840" y="1828800"/>
            <a:ext cx="38404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>
                <a:solidFill>
                  <a:srgbClr val="1C2433"/>
                </a:solidFill>
                <a:latin typeface="Calibri"/>
              </a:rPr>
              <a:t>•  eta = 0.183: separação fraca entre regimes.</a:t>
            </a:r>
          </a:p>
          <a:p>
            <a:pPr>
              <a:spcAft>
                <a:spcPts val="700"/>
              </a:spcAft>
            </a:pPr>
            <a:r>
              <a:rPr sz="1300">
                <a:solidFill>
                  <a:srgbClr val="1C2433"/>
                </a:solidFill>
                <a:latin typeface="Calibri"/>
              </a:rPr>
              <a:t>•  MAINT concentra 89,7% das OS; NET e MIX somam 2,7% — baixa potência estatística.</a:t>
            </a:r>
          </a:p>
          <a:p>
            <a:pPr>
              <a:spcAft>
                <a:spcPts val="700"/>
              </a:spcAft>
            </a:pPr>
            <a:r>
              <a:rPr sz="1300">
                <a:solidFill>
                  <a:srgbClr val="1C2433"/>
                </a:solidFill>
                <a:latin typeface="Calibri"/>
              </a:rPr>
              <a:t>•  O tipo de contrato deixou de recortar a amostra e passou a ser VARIÁVEL do modelo — é assim que H6b é testada.</a:t>
            </a:r>
          </a:p>
          <a:p>
            <a:pPr>
              <a:spcAft>
                <a:spcPts val="700"/>
              </a:spcAft>
            </a:pPr>
            <a:r>
              <a:rPr sz="1300">
                <a:solidFill>
                  <a:srgbClr val="1C2433"/>
                </a:solidFill>
                <a:latin typeface="Calibri"/>
              </a:rPr>
              <a:t>•  Diferença entre regimes pode refletir quem paga o reparo, não quanto ele custa.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46304" cy="822960"/>
          </a:xfrm>
          <a:prstGeom prst="rect">
            <a:avLst/>
          </a:prstGeom>
          <a:solidFill>
            <a:srgbClr val="E87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E8713A"/>
                </a:solidFill>
                <a:latin typeface="Calibri"/>
              </a:rPr>
              <a:t>FASE 2 · CURADORIA DE VARIÁVEIS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42B45"/>
                </a:solidFill>
                <a:latin typeface="Calibri"/>
              </a:rPr>
              <a:t>As 40 variáveis revisadas uma a uma (02/set)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17904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B636E"/>
                </a:solidFill>
                <a:latin typeface="Calibri"/>
              </a:rPr>
              <a:t>O Grupo revisou cada variável desenhada na fase anterior — manter, remover ou transformar em dummy — e a EDA foi refeita para confrontar cada decisão com a evidência.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057400"/>
            <a:ext cx="3200400" cy="960120"/>
          </a:xfrm>
          <a:prstGeom prst="rect">
            <a:avLst/>
          </a:prstGeom>
          <a:solidFill>
            <a:srgbClr val="FFFFFF"/>
          </a:solidFill>
          <a:ln>
            <a:solidFill>
              <a:srgbClr val="142B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30552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8713A"/>
                </a:solidFill>
                <a:latin typeface="Calibri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587752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B636E"/>
                </a:solidFill>
                <a:latin typeface="Calibri"/>
              </a:rPr>
              <a:t>variáveis no modelo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2057400"/>
            <a:ext cx="3200400" cy="960120"/>
          </a:xfrm>
          <a:prstGeom prst="rect">
            <a:avLst/>
          </a:prstGeom>
          <a:solidFill>
            <a:srgbClr val="FFFFFF"/>
          </a:solidFill>
          <a:ln>
            <a:solidFill>
              <a:srgbClr val="142B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130552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42B45"/>
                </a:solidFill>
                <a:latin typeface="Calibri"/>
              </a:rPr>
              <a:t>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587752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B636E"/>
                </a:solidFill>
                <a:latin typeface="Calibri"/>
              </a:rPr>
              <a:t>retiradas ou promovidas a alvo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79" y="2057400"/>
            <a:ext cx="3200400" cy="960120"/>
          </a:xfrm>
          <a:prstGeom prst="rect">
            <a:avLst/>
          </a:prstGeom>
          <a:solidFill>
            <a:srgbClr val="FFFFFF"/>
          </a:solidFill>
          <a:ln>
            <a:solidFill>
              <a:srgbClr val="142B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59" y="2130552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42B45"/>
                </a:solidFill>
                <a:latin typeface="Calibri"/>
              </a:rPr>
              <a:t>42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59" y="2587752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B636E"/>
                </a:solidFill>
                <a:latin typeface="Calibri"/>
              </a:rPr>
              <a:t>colunas dummy, de 5 variáveis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40080" y="3246120"/>
          <a:ext cx="1097280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06977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decisão</a:t>
                      </a:r>
                    </a:p>
                  </a:txBody>
                  <a:tcPr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variáveis</a:t>
                      </a:r>
                    </a:p>
                  </a:txBody>
                  <a:tcPr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evidência</a:t>
                      </a:r>
                    </a:p>
                  </a:txBody>
                  <a:tcPr>
                    <a:solidFill>
                      <a:srgbClr val="142B45"/>
                    </a:solidFill>
                  </a:tcPr>
                </a:tc>
              </a:tr>
              <a:tr h="306977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  <a:latin typeface="Calibri"/>
                        </a:rPr>
                        <a:t>DUMMY (one-hot)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  <a:latin typeface="Calibri"/>
                        </a:rPr>
                        <a:t>descricao_carreta · unit_subtype · flag_refrigerado · tipo_manutencao_ano · vmrs_predominante_ano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  <a:latin typeface="Calibri"/>
                        </a:rPr>
                        <a:t>η de 0,18 a 0,59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6977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  <a:latin typeface="Calibri"/>
                        </a:rPr>
                        <a:t>MANTER — histórico defasado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  <a:latin typeface="Calibri"/>
                        </a:rPr>
                        <a:t>nº de OS e custo do ano anterior e acumulados · anos ativos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  <a:latin typeface="Calibri"/>
                        </a:rPr>
                        <a:t>ρ de 0,26 a 0,54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306977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  <a:latin typeface="Calibri"/>
                        </a:rPr>
                        <a:t>REMOVER — geografia (H5 encerrada)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  <a:latin typeface="Calibri"/>
                        </a:rPr>
                        <a:t>regiao_operacao · provincia_estado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  <a:latin typeface="Calibri"/>
                        </a:rPr>
                        <a:t>η ≤ 0,14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6977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  <a:latin typeface="Calibri"/>
                        </a:rPr>
                        <a:t>REMOVER — atributos de efeito fraco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  <a:latin typeface="Calibri"/>
                        </a:rPr>
                        <a:t>cod_montadora · suspension_type · new_used_indicator · ano_modelo · comprimento · share_pm_ano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  <a:latin typeface="Calibri"/>
                        </a:rPr>
                        <a:t>η e ρ ≤ 0,23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306977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  <a:latin typeface="Calibri"/>
                        </a:rPr>
                        <a:t>REMOVER — risco de memorização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  <a:latin typeface="Calibri"/>
                        </a:rPr>
                        <a:t>cod_cliente_predominante_ano (597 categorias)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  <a:latin typeface="Calibri"/>
                        </a:rPr>
                        <a:t>η 0,61, mas não generaliza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6978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  <a:latin typeface="Calibri"/>
                        </a:rPr>
                        <a:t>PROMOVER A ALVO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  <a:latin typeface="Calibri"/>
                        </a:rPr>
                        <a:t>n_os_ano (Y2) · custo_medio_por_os_ano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  <a:latin typeface="Calibri"/>
                        </a:rPr>
                        <a:t>são componentes de Y1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822960" y="5504688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00">
                <a:solidFill>
                  <a:srgbClr val="1C2433"/>
                </a:solidFill>
                <a:latin typeface="Calibri"/>
              </a:rPr>
              <a:t>•  A premissa do Grupo para VMRS — média dos últimos 5 anos — foi testada contra três alternativas e VENCEU (ρ 0,474).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C2433"/>
                </a:solidFill>
                <a:latin typeface="Calibri"/>
              </a:rPr>
              <a:t>•  Cinco variáveis fracas em Y1 mostraram-se relevantes em Y2: decisão em aberto para a próxima rodada.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46304" cy="822960"/>
          </a:xfrm>
          <a:prstGeom prst="rect">
            <a:avLst/>
          </a:prstGeom>
          <a:solidFill>
            <a:srgbClr val="E87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E8713A"/>
                </a:solidFill>
                <a:latin typeface="Calibri"/>
              </a:rPr>
              <a:t>FASE 2 · DESENHO DA MODELAGEM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42B45"/>
                </a:solidFill>
                <a:latin typeface="Calibri"/>
              </a:rPr>
              <a:t>Y1 e Y2: o que o projeto prevê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36192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B636E"/>
                </a:solidFill>
                <a:latin typeface="Calibri"/>
              </a:rPr>
              <a:t>O custo anual é o produto de duas quantidades: quantas ordens de serviço a carreta gera e quanto custa cada uma. Prevemos as duas.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2057400"/>
          <a:ext cx="1060704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35680"/>
                <a:gridCol w="3535680"/>
                <a:gridCol w="3535680"/>
              </a:tblGrid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alvo</a:t>
                      </a:r>
                    </a:p>
                  </a:txBody>
                  <a:tcPr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o que prevê</a:t>
                      </a:r>
                    </a:p>
                  </a:txBody>
                  <a:tcPr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para que serve</a:t>
                      </a:r>
                    </a:p>
                  </a:txBody>
                  <a:tcPr>
                    <a:solidFill>
                      <a:srgbClr val="142B4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2433"/>
                          </a:solidFill>
                          <a:latin typeface="Calibri"/>
                        </a:rPr>
                        <a:t>Y1 · custo_ano_real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2433"/>
                          </a:solidFill>
                          <a:latin typeface="Calibri"/>
                        </a:rPr>
                        <a:t>custo anual de manutenção por carreta (CAD real)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2433"/>
                          </a:solidFill>
                          <a:latin typeface="Calibri"/>
                        </a:rPr>
                        <a:t>base do orçamento e da provisão da frota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2433"/>
                          </a:solidFill>
                          <a:latin typeface="Calibri"/>
                        </a:rPr>
                        <a:t>Y2 · n_os_ano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2433"/>
                          </a:solidFill>
                          <a:latin typeface="Calibri"/>
                        </a:rPr>
                        <a:t>quantidade de ordens de serviço no ano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2433"/>
                          </a:solidFill>
                          <a:latin typeface="Calibri"/>
                        </a:rPr>
                        <a:t>capacidade de oficina; é o componente que mais move o custo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822960" y="3657600"/>
            <a:ext cx="3200400" cy="1051560"/>
          </a:xfrm>
          <a:prstGeom prst="rect">
            <a:avLst/>
          </a:prstGeom>
          <a:solidFill>
            <a:srgbClr val="FFFFFF"/>
          </a:solidFill>
          <a:ln>
            <a:solidFill>
              <a:srgbClr val="142B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730752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42B45"/>
                </a:solidFill>
                <a:latin typeface="Calibri"/>
              </a:rPr>
              <a:t>0,4418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187952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B636E"/>
                </a:solidFill>
                <a:latin typeface="Calibri"/>
              </a:rPr>
              <a:t>Y1 · direto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3657600"/>
            <a:ext cx="3200400" cy="1051560"/>
          </a:xfrm>
          <a:prstGeom prst="rect">
            <a:avLst/>
          </a:prstGeom>
          <a:solidFill>
            <a:srgbClr val="FFFFFF"/>
          </a:solidFill>
          <a:ln>
            <a:solidFill>
              <a:srgbClr val="142B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3730752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8713A"/>
                </a:solidFill>
                <a:latin typeface="Calibri"/>
              </a:rPr>
              <a:t>0,4713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4187952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B636E"/>
                </a:solidFill>
                <a:latin typeface="Calibri"/>
              </a:rPr>
              <a:t>Y1 · decomposto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79" y="3657600"/>
            <a:ext cx="3200400" cy="1051560"/>
          </a:xfrm>
          <a:prstGeom prst="rect">
            <a:avLst/>
          </a:prstGeom>
          <a:solidFill>
            <a:srgbClr val="FFFFFF"/>
          </a:solidFill>
          <a:ln>
            <a:solidFill>
              <a:srgbClr val="142B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59" y="3730752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8713A"/>
                </a:solidFill>
                <a:latin typeface="Calibri"/>
              </a:rPr>
              <a:t>0,6080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59" y="4187952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B636E"/>
                </a:solidFill>
                <a:latin typeface="Calibri"/>
              </a:rPr>
              <a:t>Y2 · nº de 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98348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42B45"/>
                </a:solidFill>
                <a:latin typeface="Calibri"/>
              </a:rPr>
              <a:t>Prever as partes e multiplicar supera prever o total direto: 0,4418 → 0,4713 de R².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53212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B636E"/>
                </a:solidFill>
                <a:latin typeface="Calibri"/>
              </a:rPr>
              <a:t>Y1 = nº de OS × custo médio por OS é identidade EXATA na base (diferença máxima de 0,00 CAD em 47.715 linhas).</a:t>
            </a:r>
          </a:p>
          <a:p>
            <a:r>
              <a:rPr sz="1200" b="0">
                <a:solidFill>
                  <a:srgbClr val="5B636E"/>
                </a:solidFill>
                <a:latin typeface="Calibri"/>
              </a:rPr>
              <a:t>Por isso os componentes não entram como variáveis explicativas de Y1 — usá-los seria a conta de volta, com R² = 1,0. Eles são previstos a partir do histórico e multiplicados.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46304" cy="822960"/>
          </a:xfrm>
          <a:prstGeom prst="rect">
            <a:avLst/>
          </a:prstGeom>
          <a:solidFill>
            <a:srgbClr val="E87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E8713A"/>
                </a:solidFill>
                <a:latin typeface="Calibri"/>
              </a:rPr>
              <a:t>ITEM 13 · IMPLICAÇÕES GERENCIAIS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42B45"/>
                </a:solidFill>
                <a:latin typeface="Calibri"/>
              </a:rPr>
              <a:t>O que a empresa faz com estes resultados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737360"/>
          <a:ext cx="109728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267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tema</a:t>
                      </a:r>
                    </a:p>
                  </a:txBody>
                  <a:tcPr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recomendação</a:t>
                      </a:r>
                    </a:p>
                  </a:txBody>
                  <a:tcPr>
                    <a:solidFill>
                      <a:srgbClr val="142B45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  <a:latin typeface="Calibri"/>
                        </a:rPr>
                        <a:t>Orçamento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  <a:latin typeface="Calibri"/>
                        </a:rPr>
                        <a:t>Usar o custo anual real por carreta como base de orçamento; projetar com o modelo preditivo (histórico defasado + atributos).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  <a:latin typeface="Calibri"/>
                        </a:rPr>
                        <a:t>Priorização de frota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  <a:latin typeface="Calibri"/>
                        </a:rPr>
                        <a:t>Priorizar carretas com alto custo/OS no ano anterior e histórico acumulado elevado (fatores de maior importância).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  <a:latin typeface="Calibri"/>
                        </a:rPr>
                        <a:t>Perfil de ativo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  <a:latin typeface="Calibri"/>
                        </a:rPr>
                        <a:t>Monitorar subtipos e refrigeradas, que concentram custos anuais mais altos (maior eta).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  <a:latin typeface="Calibri"/>
                        </a:rPr>
                        <a:t>Uso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  <a:latin typeface="Calibri"/>
                        </a:rPr>
                        <a:t>Incorporar quilometragem esperada ao planejamento: o uso é um dos maiores associados ao custo anual.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  <a:latin typeface="Calibri"/>
                        </a:rPr>
                        <a:t>Contrato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  <a:latin typeface="Calibri"/>
                        </a:rPr>
                        <a:t>População de análise passa a ser a frota completa (D7, 2026-09-02): restringir a MAINT alterou o R² preditivo em apenas +0.0017, e a base completa permite testar o efeito do regime contratual dentro do modelo. Efeito das variáveis de contrato sobre o poder preditivo: +0.0359 de R² — usar como insumo de precificação apenas na medida desse ganho.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  <a:latin typeface="Calibri"/>
                        </a:rPr>
                        <a:t>Previsão 2026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  <a:latin typeface="Calibri"/>
                        </a:rPr>
                        <a:t>Prever o custo por dois caminhos e usar o de menor erro: direto (Y1) ou decomposto (Y1 = nº de OS x custo médio por OS). Diferença medida no teste de 2025: +0.0295 de R² a favor do decomposto.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  <a:latin typeface="Calibri"/>
                        </a:rPr>
                        <a:t>Idade e contrato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  <a:latin typeface="Calibri"/>
                        </a:rPr>
                        <a:t>Não usar idade da carreta nem tempo de contrato como critério de orçamento: medidos na base completa, quase não ordenam o custo anual (Spearman 0,03 e 0,12). O que ordena é histórico e uso.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  <a:latin typeface="Calibri"/>
                        </a:rPr>
                        <a:t>Dados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  <a:latin typeface="Calibri"/>
                        </a:rPr>
                        <a:t>Integrar mão de obra, peças e tipo_contrato (RENTAL/LEASE) em etapa futura; contrato de manutenção já foi incorporado.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806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42B45"/>
                </a:solidFill>
                <a:latin typeface="Calibri"/>
              </a:rPr>
              <a:t>Erro médio do modelo recomendado (Y1 decomposto): CAD $ 1059/ano por carreta — margem a declarar ao usar a estimativa em orçamento.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46304" cy="822960"/>
          </a:xfrm>
          <a:prstGeom prst="rect">
            <a:avLst/>
          </a:prstGeom>
          <a:solidFill>
            <a:srgbClr val="E87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E8713A"/>
                </a:solidFill>
                <a:latin typeface="Calibri"/>
              </a:rPr>
              <a:t>ITEM 16 · CONCLUSÕES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42B45"/>
                </a:solidFill>
                <a:latin typeface="Calibri"/>
              </a:rPr>
              <a:t>Resposta à pergunta de pesquisa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645920"/>
            <a:ext cx="10515600" cy="1325880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783080"/>
            <a:ext cx="100584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Calibri"/>
              </a:rPr>
              <a:t>O custo anual real por carreta é explicado sobretudo por REFRIGERAÇÃO, HISTÓRICO DE MANUTENÇÃO e USO.</a:t>
            </a:r>
          </a:p>
          <a:p>
            <a:r>
              <a:rPr sz="1600" b="1">
                <a:solidFill>
                  <a:srgbClr val="FFFFFF"/>
                </a:solidFill>
                <a:latin typeface="Calibri"/>
              </a:rPr>
              <a:t>Prevemos Y1 (custo anual) com R² = 0,4713 e erro médio de CAD $ 1059/ano, e Y2 (nº de OS no ano) com R² = 0,6080.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00400"/>
            <a:ext cx="106070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>
                <a:solidFill>
                  <a:srgbClr val="1C2433"/>
                </a:solidFill>
                <a:latin typeface="Calibri"/>
              </a:rPr>
              <a:t>•  O grão anual reduziu a zero-inflação a 3.13%, deixando-a residual para a modelagem.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1C2433"/>
                </a:solidFill>
                <a:latin typeface="Calibri"/>
              </a:rPr>
              <a:t>•  A idade, isoladamente, tem associação fraca com o custo (ρ = 0,03) e baixa importância no modelo. Não testamos se o efeito da idade é mediado por histórico e uso — é hipótese, não resultado.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1C2433"/>
                </a:solidFill>
                <a:latin typeface="Calibri"/>
              </a:rPr>
              <a:t>•  Prever as partes e multiplicar supera prever o total: R² 0,4418 → 0,4713.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1C2433"/>
                </a:solidFill>
                <a:latin typeface="Calibri"/>
              </a:rPr>
              <a:t>•  O nº de OS por ano é previsível (R² 0,608); o custo médio por OS é o elo fraco (R² 0,085).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1C2433"/>
                </a:solidFill>
                <a:latin typeface="Calibri"/>
              </a:rPr>
              <a:t>•  Do contrato, o que importa é o TIPO (4ª variável mais importante), não a duração — cuja contribuição é nula.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1C2433"/>
                </a:solidFill>
                <a:latin typeface="Calibri"/>
              </a:rPr>
              <a:t>•  O erro médio (MAE) é de CAD 1.059/ano, cerca de 52% do custo médio do ano de teste: o modelo serve para PRIORIZAR carretas e para provisionar no agregado da frota, não para estimar o valor de um ativo isolado.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46304" cy="822960"/>
          </a:xfrm>
          <a:prstGeom prst="rect">
            <a:avLst/>
          </a:prstGeom>
          <a:solidFill>
            <a:srgbClr val="E87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E8713A"/>
                </a:solidFill>
                <a:latin typeface="Calibri"/>
              </a:rPr>
              <a:t>FASE 2 · O QUE MUDOU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42B45"/>
                </a:solidFill>
                <a:latin typeface="Calibri"/>
              </a:rPr>
              <a:t>Linha do tempo desde a apresentação de agosto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36192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B636E"/>
                </a:solidFill>
                <a:latin typeface="Calibri"/>
              </a:rPr>
              <a:t>A Fase 1 encerrou na seleção de variáveis, com a modelagem marcada como Fase 2. Um dado novo mudou o que era possível testar.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011680"/>
          <a:ext cx="109728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419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quando</a:t>
                      </a:r>
                    </a:p>
                  </a:txBody>
                  <a:tcPr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o que aconteceu</a:t>
                      </a:r>
                    </a:p>
                  </a:txBody>
                  <a:tcPr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situação</a:t>
                      </a:r>
                    </a:p>
                  </a:txBody>
                  <a:tcPr>
                    <a:solidFill>
                      <a:srgbClr val="142B45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  <a:latin typeface="Calibri"/>
                        </a:rPr>
                        <a:t>05/ago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  <a:latin typeface="Calibri"/>
                        </a:rPr>
                        <a:t>Apresentação da Fase 1 (28 slides)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  <a:latin typeface="Calibri"/>
                        </a:rPr>
                        <a:t>H6 declarada, sem dados; Gate 4 em aberto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  <a:latin typeface="Calibri"/>
                        </a:rPr>
                        <a:t>16/ago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  <a:latin typeface="Calibri"/>
                        </a:rPr>
                        <a:t>Base reextraída, com dados de contrato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  <a:latin typeface="Calibri"/>
                        </a:rPr>
                        <a:t>25 → 29 colunas · 223.590 → 217.217 OS · 9.859 → 9.585 carretas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  <a:latin typeface="Calibri"/>
                        </a:rPr>
                        <a:t>02/set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  <a:latin typeface="Calibri"/>
                        </a:rPr>
                        <a:t>Curadoria de variáveis pelo Grupo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  <a:latin typeface="Calibri"/>
                        </a:rPr>
                        <a:t>40 variáveis revisadas uma a uma; geografia encerrada (H5)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  <a:latin typeface="Calibri"/>
                        </a:rPr>
                        <a:t>02/set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  <a:latin typeface="Calibri"/>
                        </a:rPr>
                        <a:t>População: a frota completa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  <a:latin typeface="Calibri"/>
                        </a:rPr>
                        <a:t>47.715 carreta-anos; o tipo de contrato passa a ser variável do modelo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  <a:latin typeface="Calibri"/>
                        </a:rPr>
                        <a:t>02/set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  <a:latin typeface="Calibri"/>
                        </a:rPr>
                        <a:t>Alvo decomposto: Y1 e Y2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2433"/>
                          </a:solidFill>
                          <a:latin typeface="Calibri"/>
                        </a:rPr>
                        <a:t>prever nº de OS e custo médio supera prever o custo direto (0,4418 → 0,4713)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22960" y="4846320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>
                <a:solidFill>
                  <a:srgbClr val="1C2433"/>
                </a:solidFill>
                <a:latin typeface="Calibri"/>
              </a:rPr>
              <a:t>•  A fonte permanece ÚNICA: o contrato veio dentro do próprio CSV consolidado, sem join novo.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1C2433"/>
                </a:solidFill>
                <a:latin typeface="Calibri"/>
              </a:rPr>
              <a:t>•  Todos os slides da apresentação anterior foram mantidos, na mesma ordem — os números é que foram atualizados.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46304" cy="822960"/>
          </a:xfrm>
          <a:prstGeom prst="rect">
            <a:avLst/>
          </a:prstGeom>
          <a:solidFill>
            <a:srgbClr val="E87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E8713A"/>
                </a:solidFill>
                <a:latin typeface="Calibri"/>
              </a:rPr>
              <a:t>ITEM 12 · RESULTADOS FINAIS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42B45"/>
                </a:solidFill>
                <a:latin typeface="Calibri"/>
              </a:rPr>
              <a:t>Y1 e Y2 no teste de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81328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B636E"/>
                </a:solidFill>
                <a:latin typeface="Calibri"/>
              </a:rPr>
              <a:t>Treino 2020–2024, teste 2025. Só entram variáveis conhecidas no início do ano: atributos da carreta e histórico até o ano anterior.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011680"/>
          <a:ext cx="69494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9888"/>
                <a:gridCol w="1389888"/>
                <a:gridCol w="1389888"/>
                <a:gridCol w="1389888"/>
                <a:gridCol w="1389888"/>
              </a:tblGrid>
              <a:tr h="4343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alvo / caminho</a:t>
                      </a:r>
                    </a:p>
                  </a:txBody>
                  <a:tcPr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modelo</a:t>
                      </a:r>
                    </a:p>
                  </a:txBody>
                  <a:tcPr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R²</a:t>
                      </a:r>
                    </a:p>
                  </a:txBody>
                  <a:tcPr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RMSE</a:t>
                      </a:r>
                    </a:p>
                  </a:txBody>
                  <a:tcPr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MAE</a:t>
                      </a:r>
                    </a:p>
                  </a:txBody>
                  <a:tcPr>
                    <a:solidFill>
                      <a:srgbClr val="142B45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C2433"/>
                          </a:solidFill>
                          <a:latin typeface="Calibri"/>
                        </a:rPr>
                        <a:t>Y1 · custo anual — direto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C2433"/>
                          </a:solidFill>
                          <a:latin typeface="Calibri"/>
                        </a:rPr>
                        <a:t>gradient_boosting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C2433"/>
                          </a:solidFill>
                          <a:latin typeface="Calibri"/>
                        </a:rPr>
                        <a:t>0,4418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C2433"/>
                          </a:solidFill>
                          <a:latin typeface="Calibri"/>
                        </a:rPr>
                        <a:t>2008,7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C2433"/>
                          </a:solidFill>
                          <a:latin typeface="Calibri"/>
                        </a:rPr>
                        <a:t>1074,3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C2433"/>
                          </a:solidFill>
                          <a:latin typeface="Calibri"/>
                        </a:rPr>
                        <a:t>Y1 · custo anual — decomposto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C2433"/>
                          </a:solidFill>
                          <a:latin typeface="Calibri"/>
                        </a:rPr>
                        <a:t>nº de OS × custo médio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C2433"/>
                          </a:solidFill>
                          <a:latin typeface="Calibri"/>
                        </a:rPr>
                        <a:t>0,4713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C2433"/>
                          </a:solidFill>
                          <a:latin typeface="Calibri"/>
                        </a:rPr>
                        <a:t>1954,9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C2433"/>
                          </a:solidFill>
                          <a:latin typeface="Calibri"/>
                        </a:rPr>
                        <a:t>1059,0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C2433"/>
                          </a:solidFill>
                          <a:latin typeface="Calibri"/>
                        </a:rPr>
                        <a:t>Y2 · nº de OS no ano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C2433"/>
                          </a:solidFill>
                          <a:latin typeface="Calibri"/>
                        </a:rPr>
                        <a:t>random_forest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C2433"/>
                          </a:solidFill>
                          <a:latin typeface="Calibri"/>
                        </a:rPr>
                        <a:t>0,6080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C2433"/>
                          </a:solidFill>
                          <a:latin typeface="Calibri"/>
                        </a:rPr>
                        <a:t>2,77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C2433"/>
                          </a:solidFill>
                          <a:latin typeface="Calibri"/>
                        </a:rPr>
                        <a:t>1,89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772400" y="2057400"/>
            <a:ext cx="39319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00">
                <a:solidFill>
                  <a:srgbClr val="1C2433"/>
                </a:solidFill>
                <a:latin typeface="Calibri"/>
              </a:rPr>
              <a:t>•  Y2 é mais previsível que Y1: 0,608 contra 0,442.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C2433"/>
                </a:solidFill>
                <a:latin typeface="Calibri"/>
              </a:rPr>
              <a:t>•  Em Y2 a regressão linear chega a R² 0,577 — a 0,031 do Random Forest.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C2433"/>
                </a:solidFill>
                <a:latin typeface="Calibri"/>
              </a:rPr>
              <a:t>•  Nº de OS é contagem com superdispersão (variância/média = 4,0).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892040"/>
            <a:ext cx="10972800" cy="1508760"/>
          </a:xfrm>
          <a:prstGeom prst="rect">
            <a:avLst/>
          </a:prstGeom>
          <a:solidFill>
            <a:srgbClr val="14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029200"/>
            <a:ext cx="104241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Calibri"/>
              </a:rPr>
              <a:t>DOIS MODELOS ENTREGUES — Y1: custo anual por carreta, R² = 0,4713 pelo caminho decomposto (MAE 1059 CAD/ano).   Y2: nº de OS no ano, R² = 0,6080.</a:t>
            </a:r>
          </a:p>
          <a:p>
            <a:r>
              <a:rPr sz="1300" b="1">
                <a:solidFill>
                  <a:srgbClr val="FFFFFF"/>
                </a:solidFill>
                <a:latin typeface="Calibri"/>
              </a:rPr>
              <a:t>O caminho decomposto vence porque o nº de OS é bem previsto. O custo médio por OS é o elo fraco (R² 0,085) — e a próxima frente de trabalho.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46304" cy="822960"/>
          </a:xfrm>
          <a:prstGeom prst="rect">
            <a:avLst/>
          </a:prstGeom>
          <a:solidFill>
            <a:srgbClr val="E87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E8713A"/>
                </a:solidFill>
                <a:latin typeface="Calibri"/>
              </a:rPr>
              <a:t>ITEM 14 · LIMITAÇÕES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42B45"/>
                </a:solidFill>
                <a:latin typeface="Calibri"/>
              </a:rPr>
              <a:t>O que mudou nas limitações após a Fase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81328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B636E"/>
                </a:solidFill>
                <a:latin typeface="Calibri"/>
              </a:rPr>
              <a:t>As limitações declaradas em agosto continuam válidas, exceto as que esta fase resolveu — e há três novas, criadas pelas próprias escolhas da Fase 2.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011680"/>
          <a:ext cx="10972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3886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limitação declarada em agosto</a:t>
                      </a:r>
                    </a:p>
                  </a:txBody>
                  <a:tcPr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situação após a Fase 2</a:t>
                      </a:r>
                    </a:p>
                  </a:txBody>
                  <a:tcPr>
                    <a:solidFill>
                      <a:srgbClr val="142B45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C2433"/>
                          </a:solidFill>
                          <a:latin typeface="Calibri"/>
                        </a:rPr>
                        <a:t>Sem dados de contrato — reduz o conjunto explicativo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C2433"/>
                          </a:solidFill>
                          <a:latin typeface="Calibri"/>
                        </a:rPr>
                        <a:t>RESOLVIDA — contrato incorporado e H6 testada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C2433"/>
                          </a:solidFill>
                          <a:latin typeface="Calibri"/>
                        </a:rPr>
                        <a:t>Sem filtro por tipo de manutenção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C2433"/>
                          </a:solidFill>
                          <a:latin typeface="Calibri"/>
                        </a:rPr>
                        <a:t>RESOLVIDA de outro modo — o tipo de manutenção entrou como VARIÁVEL do modelo, em vez de recortar a amostra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C2433"/>
                          </a:solidFill>
                          <a:latin typeface="Calibri"/>
                        </a:rPr>
                        <a:t>km derivado do odômetro; província parcial (~54%)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C2433"/>
                          </a:solidFill>
                          <a:latin typeface="Calibri"/>
                        </a:rPr>
                        <a:t>permanece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22960" y="379476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42B45"/>
                </a:solidFill>
                <a:latin typeface="Calibri"/>
              </a:rPr>
              <a:t>Limitações novas, decorrentes das escolhas desta fase: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206240"/>
            <a:ext cx="106070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>
                <a:solidFill>
                  <a:srgbClr val="1C2433"/>
                </a:solidFill>
                <a:latin typeface="Calibri"/>
              </a:rPr>
              <a:t>•  O custo médio por OS é pouco previsível (R² 0,085): é o fator que limita a precisão do caminho decomposto.</a:t>
            </a:r>
          </a:p>
          <a:p>
            <a:pPr>
              <a:spcAft>
                <a:spcPts val="700"/>
              </a:spcAft>
            </a:pPr>
            <a:r>
              <a:rPr sz="1300">
                <a:solidFill>
                  <a:srgbClr val="1C2433"/>
                </a:solidFill>
                <a:latin typeface="Calibri"/>
              </a:rPr>
              <a:t>•  NET e MIX somam 2,7% das OS — conclusões sobre esses regimes têm baixa potência estatística.</a:t>
            </a:r>
          </a:p>
          <a:p>
            <a:pPr>
              <a:spcAft>
                <a:spcPts val="700"/>
              </a:spcAft>
            </a:pPr>
            <a:r>
              <a:rPr sz="1300">
                <a:solidFill>
                  <a:srgbClr val="1C2433"/>
                </a:solidFill>
                <a:latin typeface="Calibri"/>
              </a:rPr>
              <a:t>•  cod_cliente não foi modelado (597 categorias) e franquia_km_mensal_contrato foi descartada (99,8% de zeros).</a:t>
            </a:r>
          </a:p>
          <a:p>
            <a:pPr>
              <a:spcAft>
                <a:spcPts val="700"/>
              </a:spcAft>
            </a:pPr>
            <a:r>
              <a:rPr sz="1300">
                <a:solidFill>
                  <a:srgbClr val="1C2433"/>
                </a:solidFill>
                <a:latin typeface="Calibri"/>
              </a:rPr>
              <a:t>•  A avaliação usa um ano de teste por vez; a variação entre anos é maior que ganhos medidos dentro de um único ano.</a:t>
            </a:r>
          </a:p>
          <a:p>
            <a:pPr>
              <a:spcAft>
                <a:spcPts val="700"/>
              </a:spcAft>
            </a:pPr>
            <a:r>
              <a:rPr sz="1300">
                <a:solidFill>
                  <a:srgbClr val="1C2433"/>
                </a:solidFill>
                <a:latin typeface="Calibri"/>
              </a:rPr>
              <a:t>•  Nenhuma previsão de 2026 foi gerada ainda: os números são validação sobre 2025.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46304" cy="822960"/>
          </a:xfrm>
          <a:prstGeom prst="rect">
            <a:avLst/>
          </a:prstGeom>
          <a:solidFill>
            <a:srgbClr val="E87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E8713A"/>
                </a:solidFill>
                <a:latin typeface="Calibri"/>
              </a:rPr>
              <a:t>ITEM 15 · PROJETOS FUTUROS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42B45"/>
                </a:solidFill>
                <a:latin typeface="Calibri"/>
              </a:rPr>
              <a:t>Recomendações para as próximas etapas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81328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B636E"/>
                </a:solidFill>
                <a:latin typeface="Calibri"/>
              </a:rPr>
              <a:t>Contrato sai desta lista: deixou de ser trabalho futuro e virou resultado.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011680"/>
          <a:ext cx="109728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frente</a:t>
                      </a:r>
                    </a:p>
                  </a:txBody>
                  <a:tcPr>
                    <a:solidFill>
                      <a:srgbClr val="142B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recomendação</a:t>
                      </a:r>
                    </a:p>
                  </a:txBody>
                  <a:tcPr>
                    <a:solidFill>
                      <a:srgbClr val="142B4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C2433"/>
                          </a:solidFill>
                          <a:latin typeface="Calibri"/>
                        </a:rPr>
                        <a:t>Dados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C2433"/>
                          </a:solidFill>
                          <a:latin typeface="Calibri"/>
                        </a:rPr>
                        <a:t>Integrar mão de obra e peças para decompor o custo por origem; incorporar tipo_contrato (RENTAL/LEASE), único campo de contrato ainda ausente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C2433"/>
                          </a:solidFill>
                          <a:latin typeface="Calibri"/>
                        </a:rPr>
                        <a:t>Alvo Y3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C2433"/>
                          </a:solidFill>
                          <a:latin typeface="Calibri"/>
                        </a:rPr>
                        <a:t>Melhorar a previsão do custo médio por OS (R² 0,085) — é o gargalo do caminho decomposto e onde há maior folga de ganho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C2433"/>
                          </a:solidFill>
                          <a:latin typeface="Calibri"/>
                        </a:rPr>
                        <a:t>Modelagem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C2433"/>
                          </a:solidFill>
                          <a:latin typeface="Calibri"/>
                        </a:rPr>
                        <a:t>Em Y2, adotar Binomial Negativa: é contagem com superdispersão (variância/média = 4,0), e os coeficientes viram razão de taxa, interpretáveis pelo negócio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C2433"/>
                          </a:solidFill>
                          <a:latin typeface="Calibri"/>
                        </a:rPr>
                        <a:t>Previsão 2026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C2433"/>
                          </a:solidFill>
                          <a:latin typeface="Calibri"/>
                        </a:rPr>
                        <a:t>Projetar quilometragem e montar a linha de cada carreta para 2026, aplicando o caminho decomposto — etapa ainda não executada</a:t>
                      </a:r>
                    </a:p>
                  </a:txBody>
                  <a:tcPr>
                    <a:solidFill>
                      <a:srgbClr val="EEEAD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C2433"/>
                          </a:solidFill>
                          <a:latin typeface="Calibri"/>
                        </a:rPr>
                        <a:t>Exposição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C2433"/>
                          </a:solidFill>
                          <a:latin typeface="Calibri"/>
                        </a:rPr>
                        <a:t>Incorporar quilometragem planejada e telemetria (GPS) como medida de uso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5778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42B45"/>
                </a:solidFill>
                <a:latin typeface="Calibri"/>
              </a:rPr>
              <a:t>A prioridade é a decomposição do custo por origem (mão de obra × peças): é o que permitiria dizer não só quanto custa, mas por quê.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1635</TotalTime>
  <Words>4881</Words>
  <Application>Microsoft Macintosh PowerPoint</Application>
  <PresentationFormat>Widescreen</PresentationFormat>
  <Paragraphs>781</Paragraphs>
  <Slides>34</Slides>
  <Notes>1</Notes>
  <HiddenSlides>6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Jeison Lima</cp:lastModifiedBy>
  <cp:revision>11</cp:revision>
  <dcterms:created xsi:type="dcterms:W3CDTF">2013-01-27T09:14:16Z</dcterms:created>
  <dcterms:modified xsi:type="dcterms:W3CDTF">2026-08-05T00:49:59Z</dcterms:modified>
  <cp:category/>
</cp:coreProperties>
</file>