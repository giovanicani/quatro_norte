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Reis" userId="21520286a72921e2" providerId="LiveId" clId="{BAAFFA0C-8445-4D4A-9C61-BA20ECE9164F}"/>
    <pc:docChg chg="custSel modSld">
      <pc:chgData name="Rodrigo Reis" userId="21520286a72921e2" providerId="LiveId" clId="{BAAFFA0C-8445-4D4A-9C61-BA20ECE9164F}" dt="2026-07-06T23:02:33.087" v="1" actId="27636"/>
      <pc:docMkLst>
        <pc:docMk/>
      </pc:docMkLst>
      <pc:sldChg chg="modSp mod">
        <pc:chgData name="Rodrigo Reis" userId="21520286a72921e2" providerId="LiveId" clId="{BAAFFA0C-8445-4D4A-9C61-BA20ECE9164F}" dt="2026-07-06T23:02:33.087" v="1" actId="27636"/>
        <pc:sldMkLst>
          <pc:docMk/>
          <pc:sldMk cId="0" sldId="280"/>
        </pc:sldMkLst>
        <pc:spChg chg="mod">
          <ac:chgData name="Rodrigo Reis" userId="21520286a72921e2" providerId="LiveId" clId="{BAAFFA0C-8445-4D4A-9C61-BA20ECE9164F}" dt="2026-07-06T23:02:33.087" v="1" actId="27636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91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aplicado do MBA em Ciência de Dados. Modelagem preditiva do custo de manutenção interno por km da frota própria de carretas, janela 2020–2025. Quatro Norte Consulting · FGV.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Consultoria de dados que atende uma operação de leasing/rental de carretas no Canadá. Frota própria (cus_id_owner = 4). Carretas secas e refrigeradas (reefer) de até 53 pés, operando em províncias canadenses (ON, QC...). Contratos de leasing e rental com coberturas MAINT / NET / MIX. Manutenção própria: rede de oficinas registra OS com mão de obra e peças. Dor de negócio: parte relevante do custo é absorvida pela empresa (custo interno, charge_flag = 'I') e precisa ser prevista para orçamento e precificação.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1: contexto, pergunta do problema, objetivos, hipóteses e os 4 artigos. Bloco 2: modelo de dados (7 tabelas), variável-alvo, deflação CPI Canadá, features, EDA variável a variável e técnicas de estatística/ML. Bloco 3: síntese do referencial e metodologia em 7 notebooks reprodutíveis.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 a 5 da agenda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na frota própria (cus_id_owner = 4), carretas ativas com leituras de km válidas entre 2020-01-01 e 2025-12-31. A empresa executa manutenção preventiva e corretiva; parte do custo é repassada ao cliente e parte absorvida (charge_flag = 'I'). Custos em CAD. Dados extraídos do ERP de manutenção em modelo estrela: cadastro, OS, mão de obra, peças, odômetro, contratos 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Variável de interesse: custo de manutenção interno por quilômetro (CAD/km), no grão carreta × mês. Custo interno = absorvido pela empresa (charge_flag = 'I'), incluindo preventivas e corretivas.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geral: analisar os dados históricos para identificar os principais fatores do custo interno por km e desenvolver um modelo preditivo. Específicos: coletar e organizar os dados; EDA para padrões e variáveis relevantes; investigar relação contratos × custos; identificar fatores principais; desenvolver e avaliar modelos preditivos.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hipóteses são avaliadas na EDA (correlações e segmentações) e na modelagem (importância de variáveis). O slide final de síntese retoma cada uma com veredicto.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1 — Katreddi et al. (2023): prevê custo por milha em caminhões de entrega; compara Random Forest, XGBoost, ANN e ensemble Super Learner com variáveis de quilometragem, combustível, região e uso. Super Learner: R² = 97,28%, MAE = US$ 0,0068/milha — ensembles capturam relações não lineares. Métricas devem ser lidas no contexto da amostra deles. Artigo 2 — Katreddi et al. (2023b): Mixed Effects Random Forest combina RF com efeitos mistos por grupo de veículos; melhor generalização em frotas heterogêneas. Justifica incluir montadora, modelo, classe e tipo de contrato como features; MERF fica como extensão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Artigo 3 — Sun et al. (2024): prevê custos futuros com registros históricos de manutenção e falhas, foco em garantia estendida; engenharia de confiabilidade com Mixed Weibull + estimativa iterativa, sem ML tradicional. Sustenta o uso do histórico de OS como insumo preditivo mesmo sem dados de falha por componente. Artigo 4 — Adekitan et al. (2018): ANN com quilometragem, consumo, frequência de falhas e histórico de uso; correlação R = 0,766 — sinal presente mas desempenho modesto; favorece priorizar métodos de árvore.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6 e 7 da agenda: base de dados, variável-alvo e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palavras simples: são 7 planilhas ligadas pelo número da carreta (id_carreta) — uma com o cadastro e seis com os eventos da vida dela. Detalhe técnico: mão de obra e peças também se ligam pela OS (id_os); contratos, pelo período de vigência. Extração: data/extract_custo_interno_km.sql, 2020–2025, frota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Tecnicamente: linhas de OS com charge_flag = 'I'. Somente OS aprovadas, concluídas e não canceladas. Mão de obra: se terceirizada (sublet_flag='Y') usa total_sublet; senão cost_hours × hourly_cost. Peças: se terceirizada usa total_sublet; senão nvl(item_average_cost, item_cost) × actual_qty. Reconciliação: CAD 79,0 mi nominais (CAD 84,3 mi em valores de dez/2025) em 238.818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 oficial: Vehicle Maintenance Reporting System (ATA). Usamos o nível de sistema — suficiente para saber qual sistema gera o custo, comparável entre todas as carretas. Importante: 'PM' (manutenção preventiva) é apenas UMA das categorias VMRS. A variável-alvo soma o custo interno de TODAS as categorias — o VMRS entra como dimensão de análise, não como filtro do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· Inspeção geral: estado mecânico e de segurança — chassi, landing gear, pneus e torque, freios, luzes/ABS, portas e vedações. Inspeção de Segurança (MTO): regulatória anual — freios completos, sistema de ar, suspensão, rodas e cubos, chassi e coupling, elétrica; emite o certificado e selo. Reefer Dry Service: limpeza de condensador/evaporador, correias, teste de ciclo, sensores e datalogger. Reefer Wet Service: Dry + trocas de fluidos (óleo, filtros, coolant, correia) e reset do horímetro.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Numerador: mão de obra + peças internas das OS do mês, de todas as categorias VMRS. Denominador: km rodado no mês a partir das leituras de odômetro (resets e saltos tratados); só calculamos quando a carreta rodou ≥ 500 km no mês. Em 67,1% dos meses a carreta nem passou pela oficina (custo zero) — informação legítima para orçamento, meses mantidos. Média CAD 0,091/km; mediana dos meses com custo CAD 0,101/km.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dólar de 2020 comprava mais que 1 de 2025 — convertemos tudo para o dólar de dez/2025. Custos em CAD, então usamos o CPI do Canadá (Statistics Canada), corrigindo a versão anterior que usava IPCA (Brasil). Inflação canadense acumulada 2020→2025 ≈ 20%. Mecânica: cada custo × (índice dez/2025 ÷ índice do mês).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Normalizado (origem): 7 tabelas relacionadas, sem repetição. Desnormalizado (análise): uma tabela larga, 1 linha = uma carreta em um mês. Pipeline: join por id_carreta (e período para contratos) + feature engineering + agregação mensal. Redundância aceita (montadora repete a cada mês) em troca de base pronta para correlação e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Criamos colunas que resumem a vida da carreta até aquele mês — quanto já rodou, quanto já custou, quando foi a última OS. Regra de ouro anti-vazamento: cada linha só usa informação que já existia ANTES do mês previsto. prop_pecas_garantia descartada: apenas 0,03% dos meses têm peça em garantia. Todos os custos deflacionados a valores de dez/2025.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km_rodado_mes: subtração + rateio — leitura atual − anterior; se o intervalo cruza meses, o delta é dividido proporcionalmente aos dias (resets/saltos removidos antes). km_acumulado: última leitura defasada — maior leitura até o fim do MÊS ANTERIOR. km_rodado_acum: soma acumulada dos km_rodado_mes anteriores. km_por_mes: km_acumulado ÷ meses desde a entrada em serviço. idade_carreta: (mês − data_entrada_servico) ÷ 365,25. custo_acum_manutencao: soma acumulada defasada do custo mensal. custo_preventivo_acum: idem, só linhas VMRS PM. n_os_acum: contagem acumulada de 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n_os_preventivas_acum: contagem acumulada de OS preventivas anteriores. custo_medio_movel_3m: média dos custos dos meses −1, −2, −3, janela deslocada (shift) sem incluir o mês previsto. custo_preventivo_medio_movel_3m: mesma fórmula sobre custo preventivo. intervalo_medio_os: média dos dias entre OS consecutivas, só OS anteriores. meses_desde_ultima_os: mês de referência − mês da última OS anterior (anti-vazamento). franquia_km_mensal: campo direto do contrato vigente. duracao_contrato_meses: (fim − início) ÷ 30,44; contratos abertos censurados em 2025-12. idade_contrato_meses_no_mes: (mês − início do contrato) ÷ 30,44.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regiao_operacao: mapeamento + propagação — província/local da OS → região; carrega-se a última região conhecida; na modelagem usa-se a região do mês ANTERIOR (defasada). Excluídas da modelagem: prop_pecas_garantia (0,03% dos meses com peça em garantia), tipo_manutencao (fixada em MAINT como população) e km_acumulado_fim_mes (auditoria).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8: análise exploratória de dados. 352.038 observações carreta × mês com Y válido, protocolo variável a variável.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Quantitativas: histograma + boxplot + estatísticas (N, média, DP, min, quartis, max). Qualitativas: boxplot de Y por categoria + frequência. Complementares: Pearson/Spearman com Y, eta para categóricas, matriz de correlação entre X, VIF, evolução temporal. Leitura em duas partes por causa da zero-inflação: ocorrência (67% zeros) e magnitude condicional. Como ler: boxplot — caixa = Q1–Q3, linha = mediana, pontos = outliers. Spearman robusta a outliers; regra: |ρ| menor que 0,1 fraca, 0,1–0,3 modesta, maior que 0,3 relevante. Eta: 0 = categorias iguais, 1 = categoria determina o custo. Gráficos cortados no p99 só para legibilidade — outliers tratados na modelagem, não ignorados.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0,091 · DP 0,374 · mediana 0,000 · Q3 0,032 · máx 29,3 · assimetria 14,4. Distribuição fortemente assimétrica à direita e zero-inflada: 67% dos meses sem custo interno. Nos meses com custo, mediana CAD 0,101/km e média CAD 0,277/km — cauda longa puxa a média. Implicação: log1p e modelos robustos; o problema combina ocorrência +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2020: CAD 0,074/km → 2025: CAD 0,126/km. Crescimento real de 71% na média, mesmo após remover a inflação. Share de meses com custo zero caiu de 69% para 63% — a frota gera OS com mais frequência. Tendência consistente com envelhecimento/maior utilização, que o modelo deve capturar pelas variáveis operacionais, não por um efeito 'ano'.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352.006 · média 2016,3 · DP 4,7 · mín 1981 · mediana 2017 · máx 2026. Pearson −0,055 · Spearman +0,045. Frota concentrada em modelos 2014–2022, picos nos anos de renovação. Correlação quase nula: saber só o ano do modelo não diz quanto a carreta custa. O efeito envelhecimento existe, mas aparece nas variáveis de histórico acumulado — o ano entra apenas como apoio.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eixos: quase toda a frota tem 2 eixos (média 2,08, DP 0,29); ρ ≈ 0. comprimento: o padrão de 53 pés domina (mediana 53); ρ = −0,07. franquia_km_mensal: a grande maioria dos contratos não tem franquia (mediana 0); ρ ≈ 0. Quando uma variável quase não varia, não consegue separar carretas caras de baratas — mantidas apenas por completude.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223.515 · média 6,2 anos · DP 4,2 · mediana 5,3 · máx 28. Pearson +0,082 · Spearman +0,037. Correlação direta modesta — surpreendente à primeira vista. Explicação: a idade age INDIRETAMENTE, via km acumulado e histórico de OS; essas variáveis absorvem o efeito. H2 tem suporte apenas parcial.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352.038 · média 2.874 · mediana 1.937 · máx 108.359. Pearson −0,081 · Spearman +0,094. Metade roda até ≈ 1.900 km/mês; cauda de alta utilização acima de 10 mil. Cuidado: é o DENOMINADOR do Y — rodar mais dilui o custo por km mecanicamente. A correlação não deve ser lida como efeito causal; H3 foi testada também contra o custo absoluto.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km_acumulado: N = 348.087, mediana 85.563, máx 7,2 mi; ρ = +0,155 — quanto mais rodada, mais cara por km; sinal de desgaste estrutural, sustenta parcialmente H3. km_por_mes: N = 223.132, mediana 923, máx 23.385; ρ = +0,123 — visão estrutural (perfil da carreta) complementando a conjuntural.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duracao_contrato_meses: mediana 60 (padrão de leasing de 5 anos); ρ = +0,019 — H1 NÃO encontra suporte: a duração do contrato, por si só, não explica o custo. idade_contrato_meses_no_mes: distribuição espalhada; ρ = +0,049 — estar no início ou fim do contrato pouco muda o custo por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custo_acum_manutencao: mediana CAD 1.962, máx 1,93 mi; ρ = +0,197 — 2º preditor mais forte: carreta que já custou tende a continuar custando; evidência central da H4. custo_preventivo_acum: mediana 636, máx 26.240; ρ = +0,165 — quem consumiu mais preventiva também custa mais no total, em parte porque carretas mais usadas fazem mais PMs.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n_os_acum: mediana 9, máx 15.006 (anomalia de cadastro); ρ = +0,220 — o preditor individual MAIS FORTE. A frequência histórica de manutenção é o melhor termômetro isolado — melhor que idade, modelo ou contrato. Núcleo da H4. n_os_preventivas_acum: mediana 5, máx 38 (PMs programados têm teto); ρ = +0,190 — quase tão forte, mas anda junto com n_os_acum; redundância tratada na análise de colinearidade.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custo_medio_movel_3m: mediana 41, máx 39.095; ρ = +0,085 — persistência de curto prazo: trimestre caro tende a ser seguido de custo acima da média. custo_preventivo_medio_movel_3m: dominada por zeros; ρ = −0,021 — no grão mensal, o retorno da preventiva não é imediato.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intervalo_medio_os: OS a cada ≈ 100 dias em média (mediana 81); ρ = −0,193, o 3º sinal mais forte — intervalos curtos = manutenção frequente = custo alto; espelho de n_os_acum. meses_desde_ultima_os: metade a até 2 meses da última OS; ρ = −0,062 — problemas vêm em sequência. Importante: usa apenas OS ANTERIORES ao mês; a versão antiga vazava informação do próprio mês e inflava as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6: UTLTY 44,8% · STGHTN 18,2% · HYUNDAI 10,4% · MANAC 10,3% · WABASH 8,6% · TMOBILE 2,6%. η = 0,068 · 22 categorias. Cada caixa é a distribuição do custo por km por montadora, ordenadas pela mediana. Diferença visível mas caixas se sobrepõem — efeito isolado fraco. No modelo entra via one-hot (raras agrupadas) e contribui em interação.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60,2% · Y 39,8% · η = 0,063. A caixa das refrigeradas está deslocada para cima em toda a distribuição. Faz sentido operacional: a unidade de refrigeração adiciona um sistema inteiro (compressor, gás, filtros) que gera OS próprias. A flag aparece entre os fatores importantes do modelo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tipo_contrato: LEASE 89,6% · RENTAL 9,9%; η = 0,040 — medianas próximas, o tipo desloca pouco o custo (leitura para H5: contrato influencia menos que o histórico operacional). tipo_manutencao: MAINT 94,5% · NET 3,3% · MIX 1,7%; η = 0,046 — populações pequenas com regras de cobrança diferentes; por isso a modelagem é feita SÓ com MAINT, para não confundir regra contratual com comportamento de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SEM_INFORMACAO 98,9%; η = 0,016, o mais fraco entre as categóricas. O programa define QUANDO a preventiva acontece, mas não diferencia QUANTO a carreta custa no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MIS 39,6% · Ontario 33,7% · Alberta 7,6% · Cornwall 5,3% · Calgary 4,7% · Quebec 2,0%. η = 0,084 · 46 categorias — a categórica MAIS FORTE. Clima (inverno rigoroso), qualidade das estradas e custo de oficina local mudam o custo por km. Suporte parcial à H5 pelo lado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HIGHWAY 41,7% · GOODSTORAGE 29,1% · CITY 28,2%. η = 0,056. Classes mais complexas custam mais por km; efeito real porém moderado; correlacionada com montadora e flag reefer (classes agrupam tipos de carreta).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variável isolada é forte (máx ρ = 0,22). O sinal está no HISTÓRICO: n_os_acum, custo_acum e intervalo_medio_os dominam — suporte direto à H4. Idade, contrato e atributos físicos têm efeito fraco isoladamente (H1/H2 sem suporte direto no grão mensal). Implicação: o ganho preditivo depende de interações — favorece árvores/ensembles.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variáveis que dizem a mesma coisa (idade × ano do modelo) disputam o mesmo efeito em modelos lineares e desestabilizam coeficientes. Medição: matriz de Spearman entre X (pares |ρ| acima de 0,7) + VIF (acima de 5 atenção, acima de 10 problemático). VIF top: custo_acum 33,9 · n_os_acum 25,4 · custo_prev_acum 5,8 · idade_contrato 5,7 · duracao_contrato 5,3. Pares redundantes: n_os_acum ↔ n_os_prev_acum, custo_acum ↔ custo_prev_acum, idade ↔ ano_modelo. Decisão: modelo recomendado é de árvore (robusto a colinearidade) — pares mantidos; a restrição vale para os lineares de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razão máx/p99 (razão alta = pontos isolados suspeitos) + fração acima do limite IQR (fração alta = cauda estrutural, não erro). Y: máx 29,3 vs p99 1,50 (20×) → cap no p99,5; custos negativos (estornos) excluídos. n_os_acum: máx 15.006 vs p99 77 (195×) → anomalia de cadastro, winsorizar/monitorar. custo_acum: máx 1,93 mi vs p99 32 mil (60×) → mesma origem. custo_medio_movel_3m: 26× → trimestres excepcionais reais + anomalias. km: outliers moderados após tratamento de resets — mantidos. Tabela completa: reports/tables/03d_diagnostico_outliers.csv.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 define o problema (67% zeros): ocorrência + magnitude. Cauda pesada: log1p / perda robusta, cap no p99,5. Sinal fraco e distribuído (máx ρ 0,22): ganho vem de interações e ensembles. Histórico é o bloco mais forte — H4 suportada. Colinearidade: pares acumulados totais × preventivos, idade × ano_modelo. Deflação obrigatória (≈ +20%); mesmo real, custo por km cresce ≈ 71%. km_rodado_mes é denominador e feature — interpretação cuidadosa.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9: técnicas estatísticas e de machine learning, aplicadas sobre a população MAINT com split temporal treino/teste.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temporal em palavras simples: o modelo estuda com o passado (2020–2024) e faz a prova com 2025, período que nunca viu — como será usado na vida real. Validação temporal expansiva (3 rodadas), imputação mediana/moda, padronização, one-hot com agrupamento de raras. Métricas: R² (quanto da variação explica), RMSE e MAE (tamanho médio do erro em CAD/km).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completo (R² / RMSE / MAE): random_forest 0,0863/0,2424/0,1317 · gradient_boosting 0,0770/0,2437/0,1331 · hurdle_sgd_gb 0,0706/0,2445/0,1446 · arvore_decisao 0,0418 · ridge_multipla 0,0409 · linear_multipla 0,0409 · polinomial_g2 0,0409 · ridge_log1p 0,0361 · knn 0,0052 · linear_simples −0,0035. R² = 0,086 significa ~9% da variação mês a mês — modesto, mas suficiente para ORDENAR carretas e apoiar orçamento; não crava valor exato de um mês (muito acaso: um pneu fura ou não). Números honestos: versões anteriores pareciam melhores porque colavam com vazamento do futuro, removido.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Permutation importance no teste temporal: km_rodado_mes 0,0211 · custo_acum_manutencao 0,0057 · custo_preventivo_medio_movel_3m 0,0056 · flag_refrigerado 0,0051 · intervalo_medio_os 0,0041 · km_rodado_acum 0,0035 · custo_medio_movel_3m 0,0025 · km_acumulado 0,0015 · custo_preventivo_acum 0,0014 · idade_carreta 0,0011. Método: embaralhamos cada variável e medimos o quanto a previsão piora. Confirma a EDA: histórico operacional e intensidade de uso dominam; atributos fixos pesam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duração de contrato: NÃO SUPORTADA — ρ ≈ 0 (+0,02) no grão mensal. H2 idade: PARCIAL — efeito direto fraco (+0,04); idade opera via histórico acumulado (colinearidade). H3 quilometragem: PARCIAL — km_acumulado +0,16 estrutural; km mensal tem relação mecânica com o denominador. H4 histórico: SUPORTADA — n_os_acum +0,22, custo_acum +0,20, intervalo −0,19, o bloco mais forte. H5 operação e contrato: PARCIAL — região é a categórica mais forte (η 0,084); reefer e montadora deslocam medianas; efeito contratual fraco.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10 e 11: referencial teórico e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Katreddi 2023a: ensembles (Super Learner) sobre variáveis operacionais → prioridade a árvore/ensemble. Katreddi 2023b: MERF captura heterogeneidade entre grupos → montadora, classe e contrato como features; MERF extensão futura. Sun 2024: histórico de manutenção sustenta previsão (confiabilidade/Weibull) → valida features de histórico acumulado, nosso bloco mais forte. Adekitan 2018: ANN R = 0,766 mostra sinal com desempenho modesto → redes neurais não priorizadas.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 Contexto e inventário: documentação do problema, inventário das 7 bases, validação do modelo estrela, riscos. 01 Qualidade: chaves, duplicidades, ausentes, custos negativos, odômetro (resets/saltos), regras. 02 Base analítica mensal: agregação carreta × mês, prorrateio de km, piso 500 km/mês, features defasadas. 03 EDA e hipóteses: protocolo, correlações, eta, VIF, teste das 5 hipóteses. 04 Deflação: CPI all-items StatCan, valores de dez/2025. 05 Modelagem: split temporal, 9 modelos + hurdle, métricas, permutation importance, erro por segmento. 06 Resultados: síntese executiva, hipóteses finais, recomendações e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Zero-inflação: desempenho pontual modesto; o modelo apoia planejamento, não substitui validação operacional. km_rodado_mes é denominador e feature. Prorrateio de km é aproximação (resets/saltos tratados). Custos negativos excluídos. GPS com cobertura parcial (set–dez/2025) — região derivada da OS. Contratos vigentes censurados em 2025-12. Vazamento temporal removido — métricas menores porém defensáveis. Extensões futuras: MERF/hierárquicos e modelos zero-inflados.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Abrir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3891260" y="-1714500"/>
            <a:ext cx="6111240" cy="6111240"/>
          </a:xfrm>
          <a:prstGeom prst="ellipse">
            <a:avLst/>
          </a:prstGeom>
          <a:ln w="762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4843760" y="-762000"/>
            <a:ext cx="4206240" cy="4206240"/>
          </a:xfrm>
          <a:prstGeom prst="ellipse">
            <a:avLst/>
          </a:prstGeom>
          <a:ln w="7620">
            <a:solidFill>
              <a:srgbClr val="1624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38250" y="2645569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· PROJETO APLICADO · CIÊNCIA DE DADOS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38250" y="3270409"/>
            <a:ext cx="13735050" cy="2136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238250" y="5749766"/>
            <a:ext cx="107918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do custo anual de manutenção por carreta da frota própria · janela 2020–2025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238250" y="7359491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471035" y="7495699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99685" y="7359491"/>
            <a:ext cx="47053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FGV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EMPRESA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Norte Consulting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363629"/>
            <a:ext cx="8448405" cy="121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dados que atende uma operação de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leasing/rental de carretas no Canadá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carretas secas e refrigeradas de até 53 pés, rodando em ON, QC e outras províncias.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3783806"/>
            <a:ext cx="844840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manutenção é própria: uma rede de oficinas registra ordens de serviço com mão de obra e peças, sob contratos com diferentes coberturas 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 / NET / MIX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5264944"/>
            <a:ext cx="8202335" cy="2056448"/>
          </a:xfrm>
          <a:prstGeom prst="roundRect">
            <a:avLst>
              <a:gd name="adj" fmla="val 6484"/>
            </a:avLst>
          </a:prstGeom>
          <a:solidFill>
            <a:srgbClr val="12202B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60170" y="5539264"/>
            <a:ext cx="83352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 DE NEGÓCIO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360170" y="5925026"/>
            <a:ext cx="7804820" cy="1160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relevante do custo de manutenção é </a:t>
            </a:r>
            <a:r>
              <a:rPr lang="en-US" sz="1950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empresa </a:t>
            </a:r>
            <a:r>
              <a:rPr lang="en-US" sz="195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 — e precisa ser prevista para orçamento e precificação de contratos.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783485" y="2363629"/>
            <a:ext cx="3623548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076855" y="269509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076855" y="3403759"/>
            <a:ext cx="334048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na frota própria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616583" y="2363629"/>
            <a:ext cx="3623667" cy="1645920"/>
          </a:xfrm>
          <a:prstGeom prst="roundRect">
            <a:avLst>
              <a:gd name="adj" fmla="val 810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909953" y="269509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223.590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3909953" y="3403759"/>
            <a:ext cx="33406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(2020–2025)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783485" y="4219099"/>
            <a:ext cx="3623548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076855" y="4550569"/>
            <a:ext cx="3340489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79 mi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10076855" y="5259229"/>
            <a:ext cx="312791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de manutenção no período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616583" y="4219099"/>
            <a:ext cx="3623667" cy="1920240"/>
          </a:xfrm>
          <a:prstGeom prst="roundRect">
            <a:avLst>
              <a:gd name="adj" fmla="val 694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909953" y="4550569"/>
            <a:ext cx="334062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anos</a:t>
            </a:r>
            <a:endParaRPr lang="en-US" sz="4350" dirty="0"/>
          </a:p>
        </p:txBody>
      </p:sp>
      <p:sp>
        <p:nvSpPr>
          <p:cNvPr id="20" name="Text 18"/>
          <p:cNvSpPr/>
          <p:nvPr/>
        </p:nvSpPr>
        <p:spPr>
          <a:xfrm>
            <a:off x="13909953" y="5259229"/>
            <a:ext cx="312803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histórico: OS, odômetro, contratos, GPS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em três blocos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49948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93520" y="388810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31770" y="3869055"/>
            <a:ext cx="1026284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731770" y="4311015"/>
            <a:ext cx="102628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da pesquisa · pergunta do problema · objetivos · 5 hipóteses · 4 artigos científicos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0636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93520" y="559498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731770" y="5575935"/>
            <a:ext cx="1060283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features, EDA e técnicas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731770" y="6017895"/>
            <a:ext cx="106028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· variável-alvo · deflação CPI · análise exploratória variável a variável · modelos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913245"/>
            <a:ext cx="16192500" cy="1478280"/>
          </a:xfrm>
          <a:prstGeom prst="roundRect">
            <a:avLst>
              <a:gd name="adj" fmla="val 1030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493520" y="7301865"/>
            <a:ext cx="9334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731770" y="7282815"/>
            <a:ext cx="834952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731770" y="7724775"/>
            <a:ext cx="834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referencial · pipeline em 7 notebooks reprodutíveis · limitações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 · PERGUNTAS 1–5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problema, objetivos e hipóteses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projeto será realizado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442210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de leasing/rental de carretas no Canadá, atendida pela Quatro Norte. O recorte é a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própria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carretas ativas e leituras de quilometragem válidas entre </a:t>
            </a:r>
            <a:r>
              <a:rPr lang="en-US" sz="18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2020-01 → 2025-12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975735"/>
            <a:ext cx="9173420" cy="1285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faz manutenção preventiva e corretiva; parte do custo é repassada ao cliente e parte é </a:t>
            </a:r>
            <a:r>
              <a:rPr lang="en-US" sz="21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absorvida pela operação </a:t>
            </a: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custo interno, todo registrado em CAD.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5509260"/>
            <a:ext cx="9173420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vêm do ERP de manutenção em modelo estrela: cadastro das carretas, ordens de serviço, mão de obra, peças, odômetro, contratos e telemetria GPS.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87382" y="2442210"/>
            <a:ext cx="6752868" cy="2724150"/>
          </a:xfrm>
          <a:prstGeom prst="roundRect">
            <a:avLst>
              <a:gd name="adj" fmla="val 559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895052" y="2830830"/>
            <a:ext cx="6531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DECISÕES QUE O PROJETO APOIA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895052" y="342519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99852" y="3314700"/>
            <a:ext cx="422112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anual de manutenção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895052" y="398907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199852" y="3878580"/>
            <a:ext cx="320493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de contratos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895052" y="45529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199852" y="4442460"/>
            <a:ext cx="246601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frota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975848"/>
            <a:ext cx="173926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2 · O PROBLEMA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3539728"/>
            <a:ext cx="14716125" cy="2338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fatores mais influenciam o custo de manutenção interno das carretas — e como estimar esse custo anual por carreta?</a:t>
            </a:r>
            <a:r>
              <a:rPr lang="en-US" sz="49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4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238250" y="6449973"/>
            <a:ext cx="659130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88770" y="6724293"/>
            <a:ext cx="60879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Variável de interesse: CAD/ano · grão carreta × ano</a:t>
            </a: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8058150" y="6449973"/>
            <a:ext cx="7613690" cy="861060"/>
          </a:xfrm>
          <a:prstGeom prst="roundRect">
            <a:avLst>
              <a:gd name="adj" fmla="val 1548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08670" y="6724293"/>
            <a:ext cx="714106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Custo interno = absorvido pela empresa, preventivas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corretivas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3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 e específicos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16192500" cy="2029778"/>
          </a:xfrm>
          <a:prstGeom prst="roundRect">
            <a:avLst>
              <a:gd name="adj" fmla="val 7508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512570" y="2792730"/>
            <a:ext cx="1678914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GERAL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12570" y="3181350"/>
            <a:ext cx="15720746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que influenciam o custo anual de manutenção por carreta e desenvolver um modelo preditivo capaz de estimar custos futuros.</a:t>
            </a:r>
            <a:r>
              <a:rPr lang="en-US" sz="23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2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10477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030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30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Coletar, consolidar e organizar o histórico de manutenção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43243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96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796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padrões, tendências e variáveis relevantes (EDA)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009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562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8562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a relação entre contratos de leasing e custos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8775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1328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1328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os principais fatores associados aos custos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4154150" y="4776788"/>
            <a:ext cx="3086100" cy="1993106"/>
          </a:xfrm>
          <a:prstGeom prst="roundRect">
            <a:avLst>
              <a:gd name="adj" fmla="val 669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4409420" y="5070157"/>
            <a:ext cx="283311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409420" y="5523548"/>
            <a:ext cx="2652827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e avaliar modelos preditivos de custo futuro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hipóteses de trabalho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18516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36370" y="345567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446020" y="3440430"/>
            <a:ext cx="909617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leasing mais longos tendem a custar mais em manutenção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20243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36370" y="447294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46020" y="4457700"/>
            <a:ext cx="839287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mais velhas demandam maiores gastos com manutenção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47750" y="521970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36370" y="549021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446020" y="5474970"/>
            <a:ext cx="75641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quilometragem percorrida está associada a mais custo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623697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436370" y="650748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46020" y="6492240"/>
            <a:ext cx="75595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de manutenções anteriores prevê custos futuros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7254240"/>
            <a:ext cx="16192500" cy="845820"/>
          </a:xfrm>
          <a:prstGeom prst="roundRect">
            <a:avLst>
              <a:gd name="adj" fmla="val 1576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436370" y="752475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446020" y="7509510"/>
            <a:ext cx="928856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características contratuais influenciam os custos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47750" y="916686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Avaliadas na EDA (correlações e segmentações) e na modelagem (importância de variáveis) — síntese ao final.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1–2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literatura recente mostra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3031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manutenção por milha em caminhões de entrega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4133850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Random Forest, XGBoost, ANN e ensemble Super Learner sobre variáveis operacionais (km, combustível, região, uso).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74470" y="7117080"/>
            <a:ext cx="1882854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97,3%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3452574" y="7307580"/>
            <a:ext cx="5265675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Learner — ensembles capturam não linearidades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Reforça a escolha de modelos de árvore/ensemble e o uso de variáveis operacionais semelhantes.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ET AL. · 2023b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Effects Random Forest para veículos pesados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+ efeitos mistos por grupo de veículos: melhor generalização que RF convencional em frotas heterogêneas.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23120" y="7620000"/>
            <a:ext cx="136548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MERF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135916" y="7810500"/>
            <a:ext cx="44653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 como extensão futura do projeto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Justifica montadora, modelo, classe e tipo de contrato como features de agrupamento.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5 · ARTIGOS 3–4 DE 4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como insumo preditivo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7447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ET AL. · 2024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7447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 com dados de manutenção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74470" y="3762375"/>
            <a:ext cx="730312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confiabilidade (Mixed Weibull + estimativa iterativa) sobre registros históricos de manutenção e falhas, com foco em garantia estendida.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47447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7447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Sustenta o uso do histórico de OS como insumo preditivo, mesmo sem dados estruturados de falha por componente.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96400" y="2404110"/>
            <a:ext cx="7943850" cy="7044690"/>
          </a:xfrm>
          <a:prstGeom prst="roundRect">
            <a:avLst>
              <a:gd name="adj" fmla="val 21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723120" y="2792730"/>
            <a:ext cx="779945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ET AL. · 2018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723120" y="3162300"/>
            <a:ext cx="77994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custo com redes neurais (ANN)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23120" y="3762375"/>
            <a:ext cx="730312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quilometragem, consumo, frequência de falhas e histórico de uso em veículos corporativos.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723120" y="7620000"/>
            <a:ext cx="2103489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0,766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1806833" y="7810500"/>
            <a:ext cx="48581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preditivo presente, desempenho modesto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723120" y="8313420"/>
            <a:ext cx="7090410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723120" y="8511540"/>
            <a:ext cx="730312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Variáveis operacionais carregam sinal, mas favorece métodos de árvore, melhores nos artigos recentes.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PERGUNTAS 6–7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dados, variável-alvo e feature engineering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BASE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— 1 dimensão + 6 fatos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dim_carretas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6270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linha = uma carreta · montadora, modelo, ano, eixos, reefer, classe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48775" y="333565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42145" y="366712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fato_readings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47295" y="353377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leitura de odômetro · km acumulada por data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41120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46270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ordem de serviço · cabeçalho + totais internos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48775" y="442912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42145" y="476059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fato_wo_labour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47295" y="462724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mão de obra · custo interno + sistema VMRS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fato_wo_parts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46270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peça · custo interno + flag de garantia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9248775" y="5522595"/>
            <a:ext cx="7991475" cy="960120"/>
          </a:xfrm>
          <a:prstGeom prst="roundRect">
            <a:avLst>
              <a:gd name="adj" fmla="val 1190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42145" y="585406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fato_contratos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47295" y="5720715"/>
            <a:ext cx="4428572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carreta-contrato · tipo, franquia de km, vigência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47750" y="6616065"/>
            <a:ext cx="7991475" cy="693420"/>
          </a:xfrm>
          <a:prstGeom prst="roundRect">
            <a:avLst>
              <a:gd name="adj" fmla="val 1648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41120" y="6814185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fato_gps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46270" y="6821805"/>
            <a:ext cx="43789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posição por dia · telemetria lat/long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 tabelas ligadas pelo identificador da carreta: uma de cadastro e seis de eventos de manutenção, uso e contrato.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6 · DEFINIÇÃO DO 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custo interno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9343268" cy="90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é a parte da manutenção paga pela empresa e não repassada ao cliente.</a:t>
            </a:r>
            <a:r>
              <a:rPr lang="en-US" sz="2175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17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1047750" y="3489008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418153" y="3489008"/>
            <a:ext cx="688502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de OS marcadas como internas </a:t>
            </a: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charge_flag = 'I'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3998595"/>
            <a:ext cx="2751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18153" y="3998595"/>
            <a:ext cx="621656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OS aprovadas, concluídas e não canceladas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4508183"/>
            <a:ext cx="2751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18153" y="4508183"/>
            <a:ext cx="896175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de obra e peças: valor terceirizado quando sublet; senão custo × quantidade/horas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47750" y="5374957"/>
            <a:ext cx="275153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18153" y="5374957"/>
            <a:ext cx="8366939" cy="402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preventiva </a:t>
            </a: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corretiva — "interno" não é sinônimo de "preventivo"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576084" y="3793808"/>
            <a:ext cx="6664166" cy="4219575"/>
          </a:xfrm>
          <a:prstGeom prst="roundRect">
            <a:avLst>
              <a:gd name="adj" fmla="val 361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021854" y="4220528"/>
            <a:ext cx="634988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RECONCILIAÇÃO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1021854" y="4647247"/>
            <a:ext cx="6349889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2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77,0 mi</a:t>
            </a:r>
            <a:endParaRPr lang="en-US" sz="5250" dirty="0"/>
          </a:p>
        </p:txBody>
      </p:sp>
      <p:sp>
        <p:nvSpPr>
          <p:cNvPr id="16" name="Text 14"/>
          <p:cNvSpPr/>
          <p:nvPr/>
        </p:nvSpPr>
        <p:spPr>
          <a:xfrm>
            <a:off x="11021854" y="5512118"/>
            <a:ext cx="5945805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nominal 2020–2025 (CAD 82,3 mi a valores de dez/2025)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1021854" y="6361748"/>
            <a:ext cx="5772626" cy="9525"/>
          </a:xfrm>
          <a:prstGeom prst="rect">
            <a:avLst/>
          </a:prstGeom>
          <a:solidFill>
            <a:srgbClr val="2232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1021854" y="6657023"/>
            <a:ext cx="634988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223.590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1021854" y="7304723"/>
            <a:ext cx="634988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ordens de serviço no período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VMRS — código padrão de sistemas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58390"/>
            <a:ext cx="7664158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reparo recebe um código padronizado que identifica o sistema da carreta, permitindo agregar custo por sistema de forma comparável.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047750" y="4208145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(preventiva) é apenas </a:t>
            </a:r>
            <a:r>
              <a:rPr lang="en-US" sz="20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categorias — ao lado de freios, pneus, reefer, elétrica…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47750" y="5260657"/>
            <a:ext cx="7664158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Y soma o custo interno de </a:t>
            </a:r>
            <a:r>
              <a:rPr lang="en-US" sz="20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</a:t>
            </a:r>
            <a:r>
              <a:rPr lang="en-US" sz="20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categorias; o VMRS entra como dimensão de análise, não como filtro.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8983980" y="2358390"/>
            <a:ext cx="8256270" cy="7090410"/>
          </a:xfrm>
          <a:prstGeom prst="roundRect">
            <a:avLst>
              <a:gd name="adj" fmla="val 214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391650" y="2708910"/>
            <a:ext cx="81850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5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EXEMPLOS DE SISTEMAS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391650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77450" y="3173730"/>
            <a:ext cx="2532816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64515" y="317373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950315" y="3173730"/>
            <a:ext cx="784027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91650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7450" y="3623310"/>
            <a:ext cx="230255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Tires and Accessories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64515" y="362331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50315" y="3623310"/>
            <a:ext cx="75271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91650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77450" y="4072890"/>
            <a:ext cx="183487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Lights and Wiring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64515" y="407289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50315" y="4072890"/>
            <a:ext cx="14611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Body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91650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77450" y="4522470"/>
            <a:ext cx="142708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Gear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64515" y="4522470"/>
            <a:ext cx="571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50315" y="4522470"/>
            <a:ext cx="153614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Equipment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TÉCNICO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manutenção preventiva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Inspeção geral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41732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mecânico e de segurança: chassi, landing gear, pneus, freios, luzes/ABS, portas e vedações.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258300" y="3463290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27870" y="3794760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de Segurança (MTO)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627870" y="4248150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regulatória anual completa — emite o certificado e o selo de segurança.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1732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Dry Service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417320" y="6250305"/>
            <a:ext cx="746009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"seco" da unidade de refrigeração: limpeza, correias, teste de ciclo, sensores.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58300" y="5465445"/>
            <a:ext cx="7981950" cy="1773555"/>
          </a:xfrm>
          <a:prstGeom prst="roundRect">
            <a:avLst>
              <a:gd name="adj" fmla="val 859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627870" y="5796915"/>
            <a:ext cx="796709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Reefer PM · Wet Service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627870" y="6250305"/>
            <a:ext cx="79670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Service + trocas de fluidos e filtros da unidade; reset do horímetro.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ATENÇÃO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dos PMs programados, as corretivas não programadas também geram custo interno — e são as que mais variam entre carretas.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VARIÁVEL-ALVO (Y)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custo_manutencao_interno_anual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16192500" cy="1661160"/>
          </a:xfrm>
          <a:prstGeom prst="roundRect">
            <a:avLst>
              <a:gd name="adj" fmla="val 917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459367" y="2800350"/>
            <a:ext cx="3303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56465" y="2807970"/>
            <a:ext cx="27051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516187" y="2724912"/>
            <a:ext cx="53208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72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54864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175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anual de manutenção por carreta (CAD, deflacionado para dez/2025 · CPI)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331060" y="2880360"/>
            <a:ext cx="274720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grão: carreta × ano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4775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37922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47.666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37922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 carreta × ano (carretas com ≥ 1 OS no ano)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21411" y="4194810"/>
            <a:ext cx="5245179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52881" y="4507230"/>
            <a:ext cx="504046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0,02%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6852881" y="5132070"/>
            <a:ext cx="471970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anos com custo zero — quase toda carreta com OS tem custo (o desafio é a magnitude)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995190" y="4194810"/>
            <a:ext cx="5245061" cy="1798320"/>
          </a:xfrm>
          <a:prstGeom prst="roundRect">
            <a:avLst>
              <a:gd name="adj" fmla="val 741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2326660" y="4507230"/>
            <a:ext cx="504033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1.726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2326660" y="5132070"/>
            <a:ext cx="4719584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por carreta/ano · mediana CAD 859/ano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CORREÇÃO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em CAD ⇒ deflação pelo CPI do Canadá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90750"/>
            <a:ext cx="9476542" cy="733425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238250" y="3331369"/>
            <a:ext cx="9095542" cy="50530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43391" y="3779044"/>
            <a:ext cx="6485764" cy="82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deflação separa o aumento real de custo do efeito da inflação.</a:t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9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9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943391" y="4790599"/>
            <a:ext cx="6296859" cy="1451610"/>
          </a:xfrm>
          <a:prstGeom prst="roundRect">
            <a:avLst>
              <a:gd name="adj" fmla="val 91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255812" y="5064919"/>
            <a:ext cx="62392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+20%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1255812" y="5693569"/>
            <a:ext cx="62392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inflação canadense acumulada 2020 → 2025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943391" y="6470809"/>
            <a:ext cx="6296859" cy="1465898"/>
          </a:xfrm>
          <a:prstGeom prst="roundRect">
            <a:avLst>
              <a:gd name="adj" fmla="val 9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255811" y="6707029"/>
            <a:ext cx="5860924" cy="103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Todos os custos convertidos ao </a:t>
            </a:r>
            <a:r>
              <a:rPr lang="en-US" sz="1725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dólar de dez/2025 </a:t>
            </a:r>
            <a:r>
              <a:rPr lang="en-US" sz="1725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via CPI all-items (StatCan) — corrige a versão anterior, que usava IPCA (Brasil).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2306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modelo estrela à base anual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95816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tabelas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64204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normalizadas extração · modelo estrela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14017" y="4480560"/>
            <a:ext cx="4459967" cy="1169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agregação anual por carreta a partir do fato_wo_ml consolidado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762464" y="5707380"/>
            <a:ext cx="47630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651933" y="4267200"/>
            <a:ext cx="5588318" cy="2263140"/>
          </a:xfrm>
          <a:prstGeom prst="roundRect">
            <a:avLst>
              <a:gd name="adj" fmla="val 67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799998" y="4693920"/>
            <a:ext cx="529218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tabela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968386" y="5509260"/>
            <a:ext cx="4955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desnormalizada 1 linha = carreta × ano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86487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0" y="88773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base anual carreta × ano (2020–2025), 47.666 observações a partir do fato_wo_ml — pronta para EDA e ML.</a:t>
            </a:r>
            <a:r>
              <a:rPr lang="en-US" sz="18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7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variáveis derivadas por carreta/ano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220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220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desde a entrada em serviço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4960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703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km_rodado_ano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703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 de uso anual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1944350" y="354520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218670" y="378142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18670" y="413194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acumulada até o ano anterior (defasada)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477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220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220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acumulado até o ano anterior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4960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703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 · n_os_prev_acum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703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acumuladas (totais e preventivas)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944350" y="477964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18670" y="501586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custo_ano_anterior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18670" y="536638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do ano anterior (defasado)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220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 · recência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220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entre OS · tempo desde a última OS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64960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7703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n_sistemas_vmrs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703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sistemas VMRS distintos acionados no ano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944350" y="6014085"/>
            <a:ext cx="5295900" cy="1082040"/>
          </a:xfrm>
          <a:prstGeom prst="roundRect">
            <a:avLst>
              <a:gd name="adj" fmla="val 10563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218670" y="6250305"/>
            <a:ext cx="52219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provincia_operacao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218670" y="6600825"/>
            <a:ext cx="522198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província/local da OS (fato_wo_ml)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047750" y="8702040"/>
            <a:ext cx="16192500" cy="822960"/>
          </a:xfrm>
          <a:prstGeom prst="roundRect">
            <a:avLst>
              <a:gd name="adj" fmla="val 1388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379220" y="8938260"/>
            <a:ext cx="170825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ANTI-VAZAMENTO As variáveis defasadas usam apenas informação anterior ao ano previsto — custo do ano anterior, acumulados e intervalo entre OS.</a:t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00" b="1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00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n_os_ano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494270" y="3057525"/>
            <a:ext cx="70719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internas da carreta no ano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n_os_preventivas_ano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494270" y="3811905"/>
            <a:ext cx="65708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preventivas (VMRS PM) no ano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n_sistemas_vmrs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DISTINTA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494270" y="4566285"/>
            <a:ext cx="61280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sistemas VMRS diferentes acionados no ano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km_rodado_ano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494270" y="5320665"/>
            <a:ext cx="601238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percorridos no ano (Δ odômetro, prorrateado)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km_acumulado_fim_ano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494270" y="6075045"/>
            <a:ext cx="6903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odômetro no fim do ano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km_acumulado_defasado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494270" y="6829425"/>
            <a:ext cx="65531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acumulado até o fim do ano anterior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delta_km_medio_os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417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494270" y="7583805"/>
            <a:ext cx="5521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médio percorrido entre OS no ano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417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494270" y="8338185"/>
            <a:ext cx="4448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de referência − ano de entrada em serviço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numéricas </a:t>
            </a:r>
            <a:r>
              <a:rPr lang="en-US" sz="4200" b="1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746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537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798820" y="30880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ACUM. DEFASADA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875270" y="3057525"/>
            <a:ext cx="45960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acumulado até o ano anterior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290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080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custo_ano_anterior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798820" y="38423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DEFASADA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875270" y="3811905"/>
            <a:ext cx="665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interno do ano anterior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3834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5624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798820" y="45967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ACUM.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875270" y="4566285"/>
            <a:ext cx="674135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acumuladas até o ano anterior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78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1685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n_os_ano_anterior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798820" y="535114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DEFASADA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875270" y="5320665"/>
            <a:ext cx="6214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OS da carreta no ano anterior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89216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07123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intervalo_medio_os_hist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798820" y="610552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DE DIFS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875270" y="6075045"/>
            <a:ext cx="66441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entre OS consecutivas (histórico)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64654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82561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anos_desde_ultima_os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798820" y="685990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SUBTRAÇÃO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875270" y="6829425"/>
            <a:ext cx="57131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desde a última OS anterior ao ano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40092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41120" y="757999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5798820" y="761428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875270" y="7583805"/>
            <a:ext cx="67672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de fabricação do modelo (cadastro)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7750" y="8155305"/>
            <a:ext cx="16192500" cy="640080"/>
          </a:xfrm>
          <a:prstGeom prst="roundRect">
            <a:avLst>
              <a:gd name="adj" fmla="val 1785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41120" y="8334375"/>
            <a:ext cx="46101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custo_preventivo_ano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5798820" y="8368665"/>
            <a:ext cx="19907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DEFINICIONAL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875270" y="8338185"/>
            <a:ext cx="70915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preventivo do ano — derivado do Y, fora do modelo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 6–7 · DICIONÁRIO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categóricas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8241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41120" y="302228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417820" y="3056572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113270" y="3026093"/>
            <a:ext cx="61209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 — one-hot com agrupamento de raras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61664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381476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unit_subtype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417820" y="384905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113270" y="3818572"/>
            <a:ext cx="34532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subtipo da unidade (fato_wo_ml)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40912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41120" y="460724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7820" y="464153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113270" y="4611053"/>
            <a:ext cx="27799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 (reefer) vs seca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20160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41120" y="539972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vmrs_predominante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17820" y="543401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113270" y="5403532"/>
            <a:ext cx="38781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VMRS de maior custo no ano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5994082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41120" y="6192203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provincia_operacao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417820" y="622649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113270" y="6196013"/>
            <a:ext cx="421968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província/local da OS (fato_wo_ml)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6786563"/>
            <a:ext cx="16192500" cy="678180"/>
          </a:xfrm>
          <a:prstGeom prst="roundRect">
            <a:avLst>
              <a:gd name="adj" fmla="val 168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41120" y="6984682"/>
            <a:ext cx="4191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suspension_type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417820" y="7018973"/>
            <a:ext cx="15716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7113270" y="6988493"/>
            <a:ext cx="7103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suspensão (cadastro em fato_wo_ml)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8410575"/>
            <a:ext cx="16192500" cy="1114425"/>
          </a:xfrm>
          <a:prstGeom prst="roundRect">
            <a:avLst>
              <a:gd name="adj" fmla="val 1025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1600" y="8639175"/>
            <a:ext cx="1601114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EXCLUÍDAS variáveis de cadastro/contrato fora do fato_wo_ml (cod_classe, cod_grupo_manutencao, tipo_contrato) · derivadas do próprio Y (custo_medio_os, share_prev) fora do modelo por vazamento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806190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8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354830"/>
            <a:ext cx="13096875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 de dados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5617845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47.666 observações carreta × ano · protocolo variável a variável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433185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8 · PROTOCOLO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cada variável foi analisada — e como ler os gráficos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+ boxplot + estatísticas descritivas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Qualitativas: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de Y por categoria + frequências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402336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Complementares: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Pearson/Spearman com Y · eta (η) · matriz de correlação · VIF · evolução temporal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49072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na magnitude: praticamente sem zeros no grão anual (0,02% dos casos)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77350" y="2183130"/>
            <a:ext cx="7962900" cy="7341870"/>
          </a:xfrm>
          <a:prstGeom prst="roundRect">
            <a:avLst>
              <a:gd name="adj" fmla="val 2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646920" y="2514600"/>
            <a:ext cx="794613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646920" y="294132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= 50% central · linha = mediana · pontos = outliers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46920" y="348234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(ρ):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|ρ| &lt; 0,1 fraca · 0,1–0,3 modesta · &gt; 0,3 relevante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46920" y="4023360"/>
            <a:ext cx="79461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(η):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as categorias separam o Y (0 → 1)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4564380"/>
            <a:ext cx="744047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no p99: </a:t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mais caro sai do gráfico por legibilidade — mas é tratado na modelagem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35672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953090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custo anual por carreta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5198090" y="723900"/>
            <a:ext cx="23511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assimetria = 3,8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77390"/>
            <a:ext cx="11343561" cy="626173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08127"/>
            <a:ext cx="11000661" cy="40001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38961" y="1977390"/>
            <a:ext cx="4696539" cy="6261735"/>
          </a:xfrm>
          <a:prstGeom prst="roundRect">
            <a:avLst>
              <a:gd name="adj" fmla="val 32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970430" y="3676650"/>
            <a:ext cx="4436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CAD/ANO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970430" y="3983355"/>
            <a:ext cx="19621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3983355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47.666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2970430" y="4366260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366260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1.726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970430" y="4749165"/>
            <a:ext cx="31623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749165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2.414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970430" y="5132070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132070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2970430" y="5514975"/>
            <a:ext cx="31623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403956" y="5514975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2.076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2970430" y="5897880"/>
            <a:ext cx="43624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5897880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62.366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2970430" y="6280785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6643985" y="6280785"/>
            <a:ext cx="43624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0,02%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Distribuição assimétrica à direita (assimetria 3,8): maioria com custo anual baixo (mediana CAD 859) e poucas carretas com custo alto. Quase sem zeros.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VARIÁVEL-ALVO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anual — valores reais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52500" y="1962150"/>
            <a:ext cx="11828621" cy="6276975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2229207"/>
            <a:ext cx="11485721" cy="57428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24021" y="2869883"/>
            <a:ext cx="4211479" cy="1710690"/>
          </a:xfrm>
          <a:prstGeom prst="roundRect">
            <a:avLst>
              <a:gd name="adj" fmla="val 779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436441" y="3144203"/>
            <a:ext cx="3945303" cy="6248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13436441" y="3788093"/>
            <a:ext cx="369423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real da média — já sem inflação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77107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36441" y="5045393"/>
            <a:ext cx="3945303" cy="358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652 → 1.056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6441" y="5422582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CAD/ano · mediana 2020 → 2025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146482"/>
            <a:ext cx="4211479" cy="1184910"/>
          </a:xfrm>
          <a:prstGeom prst="roundRect">
            <a:avLst>
              <a:gd name="adj" fmla="val 11254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36441" y="6420803"/>
            <a:ext cx="3945303" cy="358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1.329 → 2.022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436441" y="6797993"/>
            <a:ext cx="39453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CAD/ano · média 2020 → 2025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Aumento real do custo anual por carreta no período, associado ao envelhecimento e ao maior uso da frota.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9295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9295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957108" y="723900"/>
            <a:ext cx="26162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+0,029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033355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19621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150043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47.660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283940" y="4532947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4915853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298757"/>
            <a:ext cx="115633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2011–2019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mín–máx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5923895" y="5681663"/>
            <a:ext cx="115633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1982–2026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064568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+0,101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Correlação quase nula (ρ 0,03): o ano do modelo isolado não explica o custo; o envelhecimento aparece nas variáveis de histórico acumulado.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físicos e estruturais — pouca separação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39290"/>
            <a:ext cx="5308521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085850" y="4144447"/>
            <a:ext cx="5041821" cy="1833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316278"/>
            <a:ext cx="6477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eixos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7546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+0,060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89621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622971" y="4144447"/>
            <a:ext cx="5041940" cy="18333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621" y="8316278"/>
            <a:ext cx="13830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6478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−0,097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026860" y="1939290"/>
            <a:ext cx="5308640" cy="6243638"/>
          </a:xfrm>
          <a:prstGeom prst="roundRect">
            <a:avLst>
              <a:gd name="adj" fmla="val 2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12160210" y="4144447"/>
            <a:ext cx="5041940" cy="1833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26860" y="8316278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ano_entrada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+0,013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Frota homogênea: quase toda com 2 eixos e 53 pés. Atributos físicos separam pouco o custo anual; o sinal vem do uso e do histórico.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+0,045 · H2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ANOS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47.660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523970" y="4697254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163925" y="5463064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4–12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764000" y="5845969"/>
            <a:ext cx="31623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−0,052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Efeito direto fraco (ρ 0,05): a idade atua de forma indireta, via km acumulado e histórico de OS. H2 com suporte parcial.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Spearman = +0,498 · H3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3197662"/>
            <a:ext cx="11275695" cy="41001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ESTATÍSTICAS · KM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19621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163925" y="431434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47.666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13.797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080159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8.502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5923895" y="5463064"/>
            <a:ext cx="115633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1.421–19.094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43624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163925" y="584596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149.282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283940" y="6228874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+0,490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Correlação positiva forte (ρ 0,50): maior uso no ano associa-se a maior custo anual. Suporte à H3.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56740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5674090" cy="563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— exposição ao uso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5087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km_acumulado_fim_ano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81625" y="8316278"/>
            <a:ext cx="401288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+0,444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km_acumulado_defasado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258925" y="8316278"/>
            <a:ext cx="338423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+0,396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Maior quilometragem acumulada associa-se a maior custo anual (ρ 0,44). Suporte à H3.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68724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687241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 contrato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152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01038"/>
            <a:ext cx="276606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duracao_contrato_meses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32207"/>
          </a:xfrm>
          <a:prstGeom prst="roundRect">
            <a:avLst>
              <a:gd name="adj" fmla="val 2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152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0103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idade_contrato_no_mes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8301038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00148"/>
            <a:ext cx="16383000" cy="762952"/>
          </a:xfrm>
          <a:prstGeom prst="roundRect">
            <a:avLst>
              <a:gd name="adj" fmla="val 14981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64920" y="9017318"/>
            <a:ext cx="173339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ACHADO A H1 (duração/idade de contrato) não é avaliada nesta entrega: a base única fato_wo_ml não contém variáveis contratuais. Fica como extensão futura ao integrar fato_contratos.</a:t>
            </a:r>
            <a:r>
              <a:rPr lang="en-US" sz="172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1026009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026009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acumulado e do ano anterior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+0,470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custo_ano_anterior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+0,531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Custo acumulado e custo do ano anterior antecipam o custo do ano (ρ 0,47 e 0,53). Suporte à H4.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83279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832795" cy="563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 ano e acumuladas — o preditor mais forte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639145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8316278"/>
            <a:ext cx="11049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38825" y="8316278"/>
            <a:ext cx="350996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+0,745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6247448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639145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8316278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8316278"/>
            <a:ext cx="120967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+0,466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O número de OS no ano é a variável mais associada ao custo (ρ 0,75). Suporte à H4.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ano anterior e diversidade de sistemas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67219"/>
            <a:ext cx="7810500" cy="28401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7987665"/>
            <a:ext cx="25146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n_os_ano_anterior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96225" y="7987665"/>
            <a:ext cx="120967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+0,521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258300" y="1920240"/>
            <a:ext cx="8077200" cy="593407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67219"/>
            <a:ext cx="7810500" cy="28401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58300" y="7987665"/>
            <a:ext cx="31432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n_sistemas_vmrs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+0,673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Número de OS do ano anterior (ρ 0,52) e diversidade de sistemas VMRS no ano (ρ 0,67) acompanham o custo.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824644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QUANTITATIVAS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824644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 entre OS e recência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474839"/>
            <a:ext cx="7810500" cy="2840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226314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intervalo_medio_os_hist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67425" y="7987665"/>
            <a:ext cx="32585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−0,429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474839"/>
            <a:ext cx="7810500" cy="28401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26403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anos_desde_ultima_os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202025" y="7987665"/>
            <a:ext cx="1209675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−0,298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Intervalo médio entre OS tem correlação negativa (ρ −0,43): OS mais espaçadas, menor custo no ano.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9234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92343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cod_montadora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0,23 · 26 categorias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3843338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150043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UTLTY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150043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39,1%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532947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STGHTN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20,2%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4915853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WABASH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9,8%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298757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MANAC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9,7%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HYUNDAI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064568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TMOBILE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064568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6,1%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Diferença de custo entre fabricantes (η 0,23), com sobreposição alta entre as categorias.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82881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82881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flag_refrigerado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214408" y="723900"/>
            <a:ext cx="1197293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0,43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2115800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675454"/>
            <a:ext cx="11772900" cy="4816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411200" y="3468053"/>
            <a:ext cx="3924300" cy="1390650"/>
          </a:xfrm>
          <a:prstGeom prst="roundRect">
            <a:avLst>
              <a:gd name="adj" fmla="val 958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723620" y="3742372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69,7%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3723620" y="4325303"/>
            <a:ext cx="36294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carretas secas (N)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13411200" y="5049203"/>
            <a:ext cx="3924300" cy="1649730"/>
          </a:xfrm>
          <a:prstGeom prst="roundRect">
            <a:avLst>
              <a:gd name="adj" fmla="val 8083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3723620" y="5323523"/>
            <a:ext cx="362940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723620" y="5906453"/>
            <a:ext cx="33984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refrigeradas (reefer) — custo anual mais alto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Reefers têm custo anual maior (η 0,43): a unidade de refrigeração adiciona manutenção.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764202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7642027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contrato e de manutenção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084040" y="723900"/>
            <a:ext cx="3276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85850" y="3297317"/>
            <a:ext cx="7810500" cy="3195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7987665"/>
            <a:ext cx="163449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tipo_contrato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103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58300" y="1935480"/>
            <a:ext cx="8077200" cy="5918835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391650" y="3297317"/>
            <a:ext cx="7810500" cy="3195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58300" y="7987665"/>
            <a:ext cx="18859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tipo_manutencao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716125" y="7987665"/>
            <a:ext cx="288131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Tipo de contrato/manutenção vêm de fato_contratos, fora da base única desta entrega — não avaliados. A parte de operação/equipamento da H5 é coberta por unit_subtype, reefer e província.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603608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603608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cod_grupo_manutencao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202727" y="723900"/>
            <a:ext cx="34460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2257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3762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2257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478179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813459"/>
            <a:ext cx="4134422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B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3245465" y="5491639"/>
            <a:ext cx="3871322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952500" y="8807768"/>
            <a:ext cx="16383000" cy="755333"/>
          </a:xfrm>
          <a:prstGeom prst="roundRect">
            <a:avLst>
              <a:gd name="adj" fmla="val 15132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257300" y="9017318"/>
            <a:ext cx="17350740" cy="374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O programa/grupo de manutenção não está na base fato_wo_ml desta entrega — não avaliado.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72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452706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4527066" cy="556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provincia_operacao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316777" y="723900"/>
            <a:ext cx="55205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0,17 · região de operação · H5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639878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941439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639878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007644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FREQUÊNCIA · TOP 6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314349"/>
            <a:ext cx="43624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Ontario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314349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77,7%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697254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Alberta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697254"/>
            <a:ext cx="67627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15,1%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08015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Quebec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523970" y="5080159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3,4%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463064"/>
            <a:ext cx="103632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British Colu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463064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2,8%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3245465" y="5845969"/>
            <a:ext cx="916305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Brunswic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16523970" y="5845969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0,6%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3245465" y="6228874"/>
            <a:ext cx="79629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Manitoba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6523970" y="6228874"/>
            <a:ext cx="55626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0,2%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O custo anual varia entre províncias (η 0,17), refletindo clima, malha viária e custo de oficina local.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39140"/>
            <a:ext cx="301804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QUALITATIVA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30180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cod_classe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328458" y="723900"/>
            <a:ext cx="33077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1927860"/>
            <a:ext cx="11618595" cy="6311265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23950" y="2777133"/>
            <a:ext cx="11275695" cy="4612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13995" y="1927860"/>
            <a:ext cx="4421505" cy="6311265"/>
          </a:xfrm>
          <a:prstGeom prst="roundRect">
            <a:avLst>
              <a:gd name="adj" fmla="val 344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245465" y="4226243"/>
            <a:ext cx="413442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3245465" y="4532947"/>
            <a:ext cx="9163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403956" y="453294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3245465" y="4915853"/>
            <a:ext cx="145218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6403956" y="4915853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3245465" y="5298757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6403956" y="5298757"/>
            <a:ext cx="6762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3245465" y="5681663"/>
            <a:ext cx="79629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23970" y="5681663"/>
            <a:ext cx="556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 A classe da carreta vem do cadastro externo à base fato_wo_ml desta entrega — não avaliada; unit_subtype cumpre papel parecido e foi analisado.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SELEÇÃO DE VARIÁVEIS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de associação de cada X com o 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1828621" cy="7642860"/>
          </a:xfrm>
          <a:prstGeom prst="roundRect">
            <a:avLst>
              <a:gd name="adj" fmla="val 19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3417391" y="4158615"/>
            <a:ext cx="39872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≠ seleção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3124021" y="4844415"/>
            <a:ext cx="4211479" cy="1581150"/>
          </a:xfrm>
          <a:prstGeom prst="roundRect">
            <a:avLst>
              <a:gd name="adj" fmla="val 8434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r>
              <a:t>ranking ≠ seleção</a:t>
            </a:r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3417391" y="50996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≠ seleção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3417391" y="5393055"/>
            <a:ext cx="3733481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mais associadas são do próprio ano → saem por vazamento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3124021" y="6597015"/>
            <a:ext cx="4211479" cy="1322070"/>
          </a:xfrm>
          <a:prstGeom prst="roundRect">
            <a:avLst>
              <a:gd name="adj" fmla="val 1008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r>
              <a:t>preditores válidos</a:t>
            </a:r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417391" y="6852285"/>
            <a:ext cx="39872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preditores válidos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3417391" y="7145655"/>
            <a:ext cx="373348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custo_acum · custo_ano_anterior · idade · unit_subtype · km defasado</a:t>
            </a:r>
            <a:endParaRPr lang="en-US" sz="1575" dirty="0"/>
          </a:p>
        </p:txBody>
      </p:sp>
      <p:pic>
        <p:nvPicPr>
          <p:cNvPr id="15" name="Picture 14" descr="06_ranking_associ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093976"/>
            <a:ext cx="8211312" cy="72969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093976"/>
            <a:ext cx="8211312" cy="72969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093976"/>
            <a:ext cx="8211312" cy="72969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MULTICOLINEARIDADE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variáveis dizem a mesma coisa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1920240"/>
            <a:ext cx="10893505" cy="6318885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4262" y="2091690"/>
            <a:ext cx="7469981" cy="59759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88905" y="1920240"/>
            <a:ext cx="5146596" cy="6318885"/>
          </a:xfrm>
          <a:prstGeom prst="roundRect">
            <a:avLst>
              <a:gd name="adj" fmla="val 296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501324" y="3711893"/>
            <a:ext cx="497393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 · TOP 5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2501324" y="4009072"/>
            <a:ext cx="12192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km_acumulado_fim_ano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565881" y="4009072"/>
            <a:ext cx="5334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58,5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501324" y="4374833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km_acumulado_defasado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565881" y="4374833"/>
            <a:ext cx="5334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57,8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501324" y="4740593"/>
            <a:ext cx="18859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680181" y="4740593"/>
            <a:ext cx="4191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501324" y="5106353"/>
            <a:ext cx="176022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680181" y="5106353"/>
            <a:ext cx="4191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501324" y="5472113"/>
            <a:ext cx="201168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680181" y="5472113"/>
            <a:ext cx="41910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501324" y="5933123"/>
            <a:ext cx="465740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VIF &gt; 5 pede atenção · &gt; 10 indica redundância problemática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52500" y="8486775"/>
            <a:ext cx="163830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257300" y="869632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 Como o modelo recomendado é de árvore (robusto a colinearidade), mantemos as variáveis; para a regressão, escolhemos 1 de cada par redundante (odômetro, idade↔ano_modelo, custo acumulado↔ano anterior).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33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OUTLIERS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089660"/>
            <a:ext cx="180213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decisões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308371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45870" y="328183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· custo anual por carreta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922520" y="329326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5× o p99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51420" y="3281839"/>
            <a:ext cx="69968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winsorização no p99,5 na modelagem · custos negativos (estornos) já excluídos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" y="386857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45870" y="406669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n_os_acum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22520" y="407812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3× o p99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1420" y="4066699"/>
            <a:ext cx="76009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poucas carretas com muitas OS no ano — comportamento real, mantidas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4653439"/>
            <a:ext cx="16383000" cy="670560"/>
          </a:xfrm>
          <a:prstGeom prst="roundRect">
            <a:avLst>
              <a:gd name="adj" fmla="val 17045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45870" y="4851559"/>
            <a:ext cx="3771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922520" y="48629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máx 4× o p99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1420" y="4851559"/>
            <a:ext cx="61370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as carretas de custo alto — winsorização leve no alvo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543829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245870" y="563641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km_rodado_ano · km_acumulado_fim_ano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922520" y="578500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 o p99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51420" y="5773579"/>
            <a:ext cx="73457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moderados após tratamento de resets — mantidos (robustez de árvore)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6497479"/>
            <a:ext cx="16383000" cy="944880"/>
          </a:xfrm>
          <a:prstGeom prst="roundRect">
            <a:avLst>
              <a:gd name="adj" fmla="val 1209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45870" y="6695599"/>
            <a:ext cx="353187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ano_modelo · eixos · comprimento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22520" y="6844189"/>
            <a:ext cx="261937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relevantes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1420" y="6832759"/>
            <a:ext cx="15202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ação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8815388"/>
            <a:ext cx="16383000" cy="747713"/>
          </a:xfrm>
          <a:prstGeom prst="roundRect">
            <a:avLst>
              <a:gd name="adj" fmla="val 15287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57300" y="9024938"/>
            <a:ext cx="173507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GERAL Caudas longas de custo são características do fenômeno; mantidas, com winsorização apenas no alvo.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· 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EDA diz para a modelagem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OCORRÊNCIA QUASE CERTA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388429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todas as carretas com OS têm custo no ano (0,02% de zeros); o problema é estimar a magnitude.</a:t>
            </a: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24040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5337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CAUDA PESADA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3884295"/>
            <a:ext cx="80718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/ perda robusta · outliers extremos capados no p99,5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DOMINA · H4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acumuladas, custo acumulado e intervalo entre OS formam 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06920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36257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SINAL DISTRIBUÍDO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571309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maiores correlações são do próprio ano (vazamento) e saem; o sinal preditivo vem do histórico defasado e do tipo/uso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DEFLAÇÃO OBRIGATÓRIA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792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CPI Canadá; em valores reais o custo anual por carreta cresce (mediana 652→1.056)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39250" y="6882765"/>
            <a:ext cx="8001000" cy="1623060"/>
          </a:xfrm>
          <a:prstGeom prst="roundRect">
            <a:avLst>
              <a:gd name="adj" fmla="val 821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570720" y="717613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CUIDADOS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570720" y="7526655"/>
            <a:ext cx="755820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colinearidade nos pares de odômetro e idade↔ano_modelo — manter 1 de cada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34613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 · PERGUNTA 9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3894772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estatísticas e de machine learning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50" y="6077903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grão carreta × ano · split temporal treino/teste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238250" y="689324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9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utilizadas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1732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ESTATÍSTICA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17320" y="29603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de Pearson e Spearman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17320" y="340995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para categóricas (η)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17320" y="385953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 simples e múltipla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17320" y="430911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Ridge com log1p no alvo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17320" y="475869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polinomial (grau 2)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417320" y="5208270"/>
            <a:ext cx="4956512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multicolinearidade (VIF)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521411" y="2183130"/>
            <a:ext cx="5245179" cy="7341870"/>
          </a:xfrm>
          <a:prstGeom prst="roundRect">
            <a:avLst>
              <a:gd name="adj" fmla="val 290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90981" y="2514600"/>
            <a:ext cx="495664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LEARNING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890981" y="296037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 para regressão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6890981" y="340995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◀ recomendado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890981" y="385953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890981" y="4309110"/>
            <a:ext cx="4956643" cy="34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(benchmark amostral)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90981" y="4758690"/>
            <a:ext cx="4641221" cy="95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anti-vazamento: variáveis do próprio ano ficam fora do modelo; versão explicativa só como sensibilidade</a:t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1995190" y="2183130"/>
            <a:ext cx="5245061" cy="7341870"/>
          </a:xfrm>
          <a:prstGeom prst="roundRect">
            <a:avLst>
              <a:gd name="adj" fmla="val 290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364760" y="2514600"/>
            <a:ext cx="49565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AVALIAÇÃO E PREPARO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364760" y="2960370"/>
            <a:ext cx="4641098" cy="998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temporal: treino em 2020–2024, teste em 2025 (ano fora do treino)</a:t>
            </a: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64760" y="4063841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temporal expansiva (3 rodadas)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364760" y="4524375"/>
            <a:ext cx="4641098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Imputação mediana/moda · padronização · one-hot com agrupamento de raras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364760" y="5302568"/>
            <a:ext cx="4956512" cy="35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 R² · RMSE · MAE (CAD/ano) · WAPE</a:t>
            </a:r>
            <a:endParaRPr lang="en-US" sz="17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no teste temporal (2025)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718560"/>
            <a:ext cx="689720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717989" y="3718560"/>
            <a:ext cx="1219200" cy="2514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51489" y="3718560"/>
            <a:ext cx="1219200" cy="2514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0384988" y="3718560"/>
            <a:ext cx="1219200" cy="2514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75" kern="0" spc="127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047750" y="4027170"/>
            <a:ext cx="10842188" cy="647700"/>
          </a:xfrm>
          <a:prstGeom prst="roundRect">
            <a:avLst>
              <a:gd name="adj" fmla="val 17647"/>
            </a:avLst>
          </a:prstGeom>
          <a:solidFill>
            <a:srgbClr val="0E211E"/>
          </a:solidFill>
          <a:ln w="7620">
            <a:solidFill>
              <a:srgbClr val="3FE0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1120" y="4206240"/>
            <a:ext cx="688044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random_forest ◀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10368" y="4232910"/>
            <a:ext cx="1219200" cy="2743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0,498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43868" y="4213860"/>
            <a:ext cx="121920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77369" y="4213860"/>
            <a:ext cx="1219200" cy="3124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1.149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477012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41120" y="492061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gradient_boosting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710368" y="492061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0,484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9043868" y="492061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1.921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0377369" y="492061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1.130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047750" y="542544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1120" y="557593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linear (log)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710368" y="557593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0,082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9043868" y="557593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2.562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377369" y="557593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1.253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47750" y="6080760"/>
            <a:ext cx="10842188" cy="560070"/>
          </a:xfrm>
          <a:prstGeom prst="roundRect">
            <a:avLst>
              <a:gd name="adj" fmla="val 20408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41120" y="623125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 · explicativo (c/ ano)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7710368" y="623125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0,687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043868" y="623125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1.497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377369" y="623125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837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341120" y="688657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7710368" y="688657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043868" y="688657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0377369" y="688657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341120" y="7541895"/>
            <a:ext cx="68804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7710368" y="754189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043868" y="754189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0377369" y="7541895"/>
            <a:ext cx="1219200" cy="297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2270938" y="3827621"/>
            <a:ext cx="4969312" cy="2074069"/>
          </a:xfrm>
          <a:prstGeom prst="roundRect">
            <a:avLst>
              <a:gd name="adj" fmla="val 6429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2583359" y="4101941"/>
            <a:ext cx="477891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≈ 50%</a:t>
            </a:r>
            <a:endParaRPr lang="en-US" sz="3900" dirty="0"/>
          </a:p>
        </p:txBody>
      </p:sp>
      <p:sp>
        <p:nvSpPr>
          <p:cNvPr id="40" name="Text 38"/>
          <p:cNvSpPr/>
          <p:nvPr/>
        </p:nvSpPr>
        <p:spPr>
          <a:xfrm>
            <a:off x="12583359" y="4749641"/>
            <a:ext cx="4474806" cy="91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variação anual do custo por carreta explicada pelo modelo preditivo (Random Forest · WAPE 0,57)</a:t>
            </a:r>
            <a:r>
              <a:rPr lang="en-US" sz="1575" b="1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75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2270938" y="6092190"/>
            <a:ext cx="4969312" cy="1750219"/>
          </a:xfrm>
          <a:prstGeom prst="roundRect">
            <a:avLst>
              <a:gd name="adj" fmla="val 7619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583359" y="6366510"/>
            <a:ext cx="477891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00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PESA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2583359" y="6697980"/>
            <a:ext cx="4474806" cy="90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F5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acumulado, tipo da unidade, idade e km defasado; variáveis do próprio ano ficam fora por vazamento</a:t>
            </a:r>
            <a:endParaRPr lang="en-US" sz="15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239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· PERMUTATION IMPORTANCE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163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mais importantes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3097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unit_subtype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372100" y="3072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372100" y="3072765"/>
            <a:ext cx="10780776" cy="323850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6306800" y="3108960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526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custo_acum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72100" y="3501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72100" y="3501390"/>
            <a:ext cx="10207330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306800" y="3537585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0,089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9547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idade_carreta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372100" y="39300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372100" y="3930015"/>
            <a:ext cx="5505077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6306800" y="3966210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0,048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3834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km_acumulado_defasado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372100" y="43586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372100" y="4358640"/>
            <a:ext cx="3555362" cy="323850"/>
          </a:xfrm>
          <a:prstGeom prst="rect">
            <a:avLst/>
          </a:prstGeom>
          <a:solidFill>
            <a:srgbClr val="2FA89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6306800" y="4394835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0,031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47750" y="48120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comprimento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372100" y="47872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372100" y="4787265"/>
            <a:ext cx="2867227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6306800" y="4823460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7750" y="52406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n_os_ano_anterior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5372100" y="52158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372100" y="5215890"/>
            <a:ext cx="2752538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6306800" y="5252085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47750" y="566928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provincia_operacao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372100" y="564451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372100" y="5644515"/>
            <a:ext cx="2752538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6306800" y="5680710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47750" y="609790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eixos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72100" y="607314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372100" y="6073140"/>
            <a:ext cx="1835025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6306800" y="6109335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47750" y="6526530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intervalo_medio_os_hist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5372100" y="6501765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372100" y="6501765"/>
            <a:ext cx="1835025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6306800" y="6537960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47750" y="6955155"/>
            <a:ext cx="45053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3C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tire_size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5372100" y="6930390"/>
            <a:ext cx="10782300" cy="323850"/>
          </a:xfrm>
          <a:prstGeom prst="roundRect">
            <a:avLst>
              <a:gd name="adj" fmla="val 17647"/>
            </a:avLst>
          </a:prstGeom>
          <a:solidFill>
            <a:srgbClr val="101B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5372100" y="6930390"/>
            <a:ext cx="1605647" cy="323850"/>
          </a:xfrm>
          <a:prstGeom prst="rect">
            <a:avLst/>
          </a:prstGeom>
          <a:solidFill>
            <a:srgbClr val="2FA898"/>
          </a:solidFill>
          <a:ln/>
        </p:spPr>
        <p:txBody>
          <a:bodyPr wrap="none"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6306800" y="6966585"/>
            <a:ext cx="933450" cy="2895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FA1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0,014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47750" y="8486775"/>
            <a:ext cx="16192500" cy="1076325"/>
          </a:xfrm>
          <a:prstGeom prst="roundRect">
            <a:avLst>
              <a:gd name="adj" fmla="val 10619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352550" y="8696325"/>
            <a:ext cx="160503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LER Embaralhamos cada variável e medimos o quanto a previsão piora. No modelo preditivo, tipo da unidade e custo acumulado lideram; as variáveis do próprio ano ficam fora por vazamento.</a:t>
            </a:r>
            <a:r>
              <a:rPr lang="en-US" sz="1725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7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Hipóteses × evidências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29915"/>
            <a:ext cx="16192500" cy="876300"/>
          </a:xfrm>
          <a:prstGeom prst="roundRect">
            <a:avLst>
              <a:gd name="adj" fmla="val 15217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42709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74570" y="340804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de contrato ⇒ custo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168890" y="336613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512"/>
          </a:solidFill>
          <a:ln w="7620">
            <a:solidFill>
              <a:srgbClr val="4A26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309860" y="344995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AVALIADA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908281" y="3438525"/>
            <a:ext cx="44005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fato_wo_ml não contém variáveis contratuais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47750" y="4158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4512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74570" y="4493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⇒ custo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68890" y="4451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309860" y="4535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908281" y="4394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não-linear da idade, captado pelos modelos de árvore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047750" y="5301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9220" y="5655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74570" y="5636895"/>
            <a:ext cx="836942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Quilometragem ⇒ custo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168890" y="5594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309860" y="5678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908281" y="5537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 ano associa (ρ=+0,50), porém contemporâneo; km defasado entra no modelo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047750" y="6444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79220" y="6798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274570" y="6802755"/>
            <a:ext cx="83694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prevê custo futuro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168890" y="6737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0C2B26"/>
          </a:solidFill>
          <a:ln w="7620">
            <a:solidFill>
              <a:srgbClr val="1C4B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309860" y="6821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SUPORTADA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2908281" y="6680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custo_ano_anterior +0,53 · custo_acum +0,47 · nº OS anterior — bloco preditivo mais forte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047750" y="7587615"/>
            <a:ext cx="16192500" cy="990600"/>
          </a:xfrm>
          <a:prstGeom prst="roundRect">
            <a:avLst>
              <a:gd name="adj" fmla="val 13462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9220" y="7941945"/>
            <a:ext cx="685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274570" y="7926705"/>
            <a:ext cx="83694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 contrato influenciam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168890" y="7880985"/>
            <a:ext cx="2453640" cy="403860"/>
          </a:xfrm>
          <a:prstGeom prst="roundRect">
            <a:avLst>
              <a:gd name="adj" fmla="val 18868"/>
            </a:avLst>
          </a:prstGeom>
          <a:solidFill>
            <a:srgbClr val="2A1F10"/>
          </a:solidFill>
          <a:ln w="7620">
            <a:solidFill>
              <a:srgbClr val="4A3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309860" y="7964805"/>
            <a:ext cx="21717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PARCIAL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908281" y="7823835"/>
            <a:ext cx="412051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7B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unit_subtype η=0,55 · refrigerado 0,43 · região 0,17 (contrato não avaliado)</a:t>
            </a:r>
            <a:endParaRPr lang="en-US" sz="15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9423" y="5524500"/>
            <a:ext cx="8857285" cy="727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40000" b="1" dirty="0">
                <a:solidFill>
                  <a:srgbClr val="123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1238250" y="3696653"/>
            <a:ext cx="17392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 · PERGUNTAS 10–11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1238250" y="4245293"/>
            <a:ext cx="12263438" cy="187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e metodologia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238250" y="6542723"/>
            <a:ext cx="1143000" cy="47625"/>
          </a:xfrm>
          <a:prstGeom prst="rect">
            <a:avLst/>
          </a:prstGeom>
          <a:solidFill>
            <a:srgbClr val="3FE0C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10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Referencial teórico — o que levamos de cada artigo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792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2023a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792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sobre variáveis operacionais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a árvore/ensemble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39250" y="35871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70720" y="38804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KATREDDI 2023b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570720" y="42310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entre grupos → montadora, unit_subtype e região como features; MERF futuro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3792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 2024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79220" y="6059805"/>
            <a:ext cx="7558202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manutenção sustenta previsão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nosso bloco preditivo mais forte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5415915"/>
            <a:ext cx="8001000" cy="1638300"/>
          </a:xfrm>
          <a:prstGeom prst="roundRect">
            <a:avLst>
              <a:gd name="adj" fmla="val 8140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70720" y="5709285"/>
            <a:ext cx="807186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ADEKITAN 2018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70720" y="6059805"/>
            <a:ext cx="807186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C3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com sinal, desempenho modesto → </a:t>
            </a: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neurais não priorizadas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8724900"/>
            <a:ext cx="16192500" cy="800100"/>
          </a:xfrm>
          <a:prstGeom prst="roundRect">
            <a:avLst>
              <a:gd name="adj" fmla="val 14286"/>
            </a:avLst>
          </a:prstGeom>
          <a:solidFill>
            <a:srgbClr val="1222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71600" y="89535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CONVERGÊNCIA </a:t>
            </a:r>
            <a:r>
              <a:rPr lang="en-US" sz="1800" dirty="0">
                <a:solidFill>
                  <a:srgbClr val="DDE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operacionais e de histórico &gt; atributos estáticos · métodos de árvore &gt; lineares · heterogeneidade entre grupos importa.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11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em 7 notebooks reprodutíveis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17563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336423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179320" y="336804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inventário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084570" y="3368040"/>
            <a:ext cx="566099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7 bases, validação do modelo estrela, riscos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95859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414718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179320" y="415099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integridade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84570" y="4150995"/>
            <a:ext cx="61856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chaves, duplicidades, ausentes, custos negativos, odômetro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474154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493014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179320" y="493395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analítica anual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84570" y="4933950"/>
            <a:ext cx="67509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carreta × ano a partir do fato_wo_ml · features defasadas por ano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552450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60170" y="571309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179320" y="571690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 hipóteses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084570" y="5716905"/>
            <a:ext cx="622717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variável a variável, correlações, η, VIF, 5 hipóteses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7750" y="630745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60170" y="649605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179320" y="649986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Deflação (CPI Canadá)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084570" y="6499860"/>
            <a:ext cx="51841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CAD a valores de dez/2025 via CPI StatCan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47750" y="7090410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360170" y="7279005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179320" y="7282815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preditiva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084570" y="7282815"/>
            <a:ext cx="60449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temporal, modelos lineares e de árvore, métricas e importâncias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47750" y="7873365"/>
            <a:ext cx="16192500" cy="659130"/>
          </a:xfrm>
          <a:prstGeom prst="roundRect">
            <a:avLst>
              <a:gd name="adj" fmla="val 17341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60170" y="8061960"/>
            <a:ext cx="609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179320" y="8065770"/>
            <a:ext cx="39814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6084570" y="8065770"/>
            <a:ext cx="647129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executiva, hipóteses finais, recomendações, limitações</a:t>
            </a:r>
            <a:endParaRPr lang="en-US" sz="16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78117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TRANSPARÊNCIA METODOLÓGICA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15443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cuidados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47750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60170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variáveis contratuais nesta base única (fato_wo_ml): H1/H5 não testadas diretamente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29725" y="387667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542145" y="413194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restrita a carretas com OS: não há anos de custo zero da frota inativa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60170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Odômetro: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resets e saltos tratados, mas o prorrateio de km é aproximação · custos negativos excluídos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29725" y="525208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542145" y="550735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parcial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(set–dez/2025) — região derivada da província/local da OS · contratos censurados em 2025-12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0E211E"/>
          </a:solidFill>
          <a:ln w="7620">
            <a:solidFill>
              <a:srgbClr val="1C3B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60170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removido: </a:t>
            </a:r>
            <a:r>
              <a:rPr lang="en-US" sz="1800" dirty="0">
                <a:solidFill>
                  <a:srgbClr val="C3CFD8"/>
                </a:solidFill>
                <a:highlight>
                  <a:srgbClr val="0E211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métricas menores, porém defensáveis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29725" y="6627495"/>
            <a:ext cx="8010525" cy="1203960"/>
          </a:xfrm>
          <a:prstGeom prst="roundRect">
            <a:avLst>
              <a:gd name="adj" fmla="val 11076"/>
            </a:avLst>
          </a:prstGeom>
          <a:solidFill>
            <a:srgbClr val="101B26"/>
          </a:solidFill>
          <a:ln w="7620">
            <a:solidFill>
              <a:srgbClr val="2232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542145" y="6882765"/>
            <a:ext cx="762600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Extensões futuras: </a:t>
            </a:r>
            <a:r>
              <a:rPr lang="en-US" sz="1800" dirty="0">
                <a:solidFill>
                  <a:srgbClr val="C3CFD8"/>
                </a:solidFill>
                <a:highlight>
                  <a:srgbClr val="101B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Mixed-Effects RF / hierárquicos · modelos zero-inflados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gradFill rotWithShape="1">
            <a:gsLst>
              <a:gs pos="0">
                <a:srgbClr val="3FE0CE">
                  <a:alpha val="100000"/>
                </a:srgbClr>
              </a:gs>
              <a:gs pos="34000">
                <a:srgbClr val="3FE0CE">
                  <a:alpha val="100000"/>
                </a:srgbClr>
              </a:gs>
              <a:gs pos="34000">
                <a:srgbClr val="FFB65C">
                  <a:alpha val="100000"/>
                </a:srgbClr>
              </a:gs>
              <a:gs pos="40000">
                <a:srgbClr val="FFB65C">
                  <a:alpha val="100000"/>
                </a:srgbClr>
              </a:gs>
              <a:gs pos="40000">
                <a:srgbClr val="22324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334226" y="3534966"/>
            <a:ext cx="161942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kern="0" spc="414" dirty="0">
                <a:solidFill>
                  <a:srgbClr val="3FE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2276475" y="4121706"/>
            <a:ext cx="13735050" cy="1814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6600" b="1" dirty="0">
                <a:solidFill>
                  <a:srgbClr val="F4F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de custos de manutenção de carretas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142006" y="6470095"/>
            <a:ext cx="33255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FFB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Quatro Norte Consulting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9525953" y="6606302"/>
            <a:ext cx="419100" cy="9525"/>
          </a:xfrm>
          <a:prstGeom prst="rect">
            <a:avLst/>
          </a:prstGeom>
          <a:solidFill>
            <a:srgbClr val="2A3B4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62591" y="6470095"/>
            <a:ext cx="202425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7B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MBA FGV · 2026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8951</Words>
  <Application>Microsoft Office PowerPoint</Application>
  <PresentationFormat>Custom</PresentationFormat>
  <Paragraphs>830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Reis</cp:lastModifiedBy>
  <cp:revision>1</cp:revision>
  <dcterms:created xsi:type="dcterms:W3CDTF">2026-07-06T22:35:48Z</dcterms:created>
  <dcterms:modified xsi:type="dcterms:W3CDTF">2026-07-06T23:02:44Z</dcterms:modified>
</cp:coreProperties>
</file>