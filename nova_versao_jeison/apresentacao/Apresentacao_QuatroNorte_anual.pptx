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53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Relationship Id="rId63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drigo Reis" userId="21520286a72921e2" providerId="LiveId" clId="{BAAFFA0C-8445-4D4A-9C61-BA20ECE9164F}"/>
    <pc:docChg chg="custSel modSld">
      <pc:chgData name="Rodrigo Reis" userId="21520286a72921e2" providerId="LiveId" clId="{BAAFFA0C-8445-4D4A-9C61-BA20ECE9164F}" dt="2026-07-06T23:02:33.087" v="1" actId="27636"/>
      <pc:docMkLst>
        <pc:docMk/>
      </pc:docMkLst>
      <pc:sldChg chg="modSp mod">
        <pc:chgData name="Rodrigo Reis" userId="21520286a72921e2" providerId="LiveId" clId="{BAAFFA0C-8445-4D4A-9C61-BA20ECE9164F}" dt="2026-07-06T23:02:33.087" v="1" actId="27636"/>
        <pc:sldMkLst>
          <pc:docMk/>
          <pc:sldMk cId="0" sldId="280"/>
        </pc:sldMkLst>
        <pc:spChg chg="mod">
          <ac:chgData name="Rodrigo Reis" userId="21520286a72921e2" providerId="LiveId" clId="{BAAFFA0C-8445-4D4A-9C61-BA20ECE9164F}" dt="2026-07-06T23:02:33.087" v="1" actId="27636"/>
          <ac:spMkLst>
            <pc:docMk/>
            <pc:sldMk cId="0" sldId="280"/>
            <ac:spMk id="3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29162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Projeto aplicado do MBA em Ciência de Dados. Modelagem preditiva do custo de manutenção interno por km da frota própria de carretas, janela 2020–2025. Quatro Norte Consulting · FGV.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Consultoria de dados que atende uma operação de leasing/rental de carretas no Canadá. Frota própria (cus_id_owner = 4). Carretas secas e refrigeradas (reefer) de até 53 pés, operando em províncias canadenses (ON, QC...). Contratos de leasing e rental com coberturas MAINT / NET / MIX. Manutenção própria: rede de oficinas registra OS com mão de obra e peças. Dor de negócio: parte relevante do custo é absorvida pela empresa (custo interno, charge_flag = 'I') e precisa ser prevista para orçamento e precificação.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Bloco 1: contexto, pergunta do problema, objetivos, hipóteses e os 4 artigos. Bloco 2: modelo de dados (7 tabelas), variável-alvo, deflação CPI Canadá, features, EDA variável a variável e técnicas de estatística/ML. Bloco 3: síntese do referencial e metodologia em 7 notebooks reprodutíveis.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Perguntas 1 a 5 da agenda da disciplina.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Foco na frota própria (cus_id_owner = 4), carretas ativas com leituras de km válidas entre 2020-01-01 e 2025-12-31. A empresa executa manutenção preventiva e corretiva; parte do custo é repassada ao cliente e parte absorvida (charge_flag = 'I'). Custos em CAD. Dados extraídos do ERP de manutenção em modelo estrela: cadastro, OS, mão de obra, peças, odômetro, contratos e GPS.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Variável de interesse: custo de manutenção interno por quilômetro (CAD/km), no grão carreta × mês. Custo interno = absorvido pela empresa (charge_flag = 'I'), incluindo preventivas e corretivas.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geral: analisar os dados históricos para identificar os principais fatores do custo interno por km e desenvolver um modelo preditivo. Específicos: coletar e organizar os dados; EDA para padrões e variáveis relevantes; investigar relação contratos × custos; identificar fatores principais; desenvolver e avaliar modelos preditivos.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hipóteses são avaliadas na EDA (correlações e segmentações) e na modelagem (importância de variáveis). O slide final de síntese retoma cada uma com veredicto.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Artigo 1 — Katreddi et al. (2023): prevê custo por milha em caminhões de entrega; compara Random Forest, XGBoost, ANN e ensemble Super Learner com variáveis de quilometragem, combustível, região e uso. Super Learner: R² = 97,28%, MAE = US$ 0,0068/milha — ensembles capturam relações não lineares. Métricas devem ser lidas no contexto da amostra deles. Artigo 2 — Katreddi et al. (2023b): Mixed Effects Random Forest combina RF com efeitos mistos por grupo de veículos; melhor generalização em frotas heterogêneas. Justifica incluir montadora, modelo, classe e tipo de contrato como features; MERF fica como extensão futura.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Artigo 3 — Sun et al. (2024): prevê custos futuros com registros históricos de manutenção e falhas, foco em garantia estendida; engenharia de confiabilidade com Mixed Weibull + estimativa iterativa, sem ML tradicional. Sustenta o uso do histórico de OS como insumo preditivo mesmo sem dados de falha por componente. Artigo 4 — Adekitan et al. (2018): ANN com quilometragem, consumo, frequência de falhas e histórico de uso; correlação R = 0,766 — sinal presente mas desempenho modesto; favorece priorizar métodos de árvore.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Perguntas 6 e 7 da agenda: base de dados, variável-alvo e feature engineering.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palavras simples: são 7 planilhas ligadas pelo número da carreta (id_carreta) — uma com o cadastro e seis com os eventos da vida dela. Detalhe técnico: mão de obra e peças também se ligam pela OS (id_os); contratos, pelo período de vigência. Extração: data/extract_custo_interno_km.sql, 2020–2025, frota própria.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Tecnicamente: linhas de OS com charge_flag = 'I'. Somente OS aprovadas, concluídas e não canceladas. Mão de obra: se terceirizada (sublet_flag='Y') usa total_sublet; senão cost_hours × hourly_cost. Peças: se terceirizada usa total_sublet; senão nvl(item_average_cost, item_cost) × actual_qty. Reconciliação: CAD 79,0 mi nominais (CAD 84,3 mi em valores de dez/2025) em 238.818 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Nome oficial: Vehicle Maintenance Reporting System (ATA). Usamos o nível de sistema — suficiente para saber qual sistema gera o custo, comparável entre todas as carretas. Importante: 'PM' (manutenção preventiva) é apenas UMA das categorias VMRS. A variável-alvo soma o custo interno de TODAS as categorias — o VMRS entra como dimensão de análise, não como filtro do 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PM · Inspeção geral: estado mecânico e de segurança — chassi, landing gear, pneus e torque, freios, luzes/ABS, portas e vedações. Inspeção de Segurança (MTO): regulatória anual — freios completos, sistema de ar, suspensão, rodas e cubos, chassi e coupling, elétrica; emite o certificado e selo. Reefer Dry Service: limpeza de condensador/evaporador, correias, teste de ciclo, sensores e datalogger. Reefer Wet Service: Dry + trocas de fluidos (óleo, filtros, coolant, correia) e reset do horímetro.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Numerador: mão de obra + peças internas das OS do mês, de todas as categorias VMRS. Denominador: km rodado no mês a partir das leituras de odômetro (resets e saltos tratados); só calculamos quando a carreta rodou ≥ 500 km no mês. Em 67,1% dos meses a carreta nem passou pela oficina (custo zero) — informação legítima para orçamento, meses mantidos. Média CAD 0,091/km; mediana dos meses com custo CAD 0,101/km.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dólar de 2020 comprava mais que 1 de 2025 — convertemos tudo para o dólar de dez/2025. Custos em CAD, então usamos o CPI do Canadá (Statistics Canada), corrigindo a versão anterior que usava IPCA (Brasil). Inflação canadense acumulada 2020→2025 ≈ 20%. Mecânica: cada custo × (índice dez/2025 ÷ índice do mês).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Normalizado (origem): 7 tabelas relacionadas, sem repetição. Desnormalizado (análise): uma tabela larga, 1 linha = uma carreta em um mês. Pipeline: join por id_carreta (e período para contratos) + feature engineering + agregação mensal. Redundância aceita (montadora repete a cada mês) em troca de base pronta para correlação e treino.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Criamos colunas que resumem a vida da carreta até aquele mês — quanto já rodou, quanto já custou, quando foi a última OS. Regra de ouro anti-vazamento: cada linha só usa informação que já existia ANTES do mês previsto. prop_pecas_garantia descartada: apenas 0,03% dos meses têm peça em garantia. Todos os custos deflacionados a valores de dez/2025.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km_rodado_mes: subtração + rateio — leitura atual − anterior; se o intervalo cruza meses, o delta é dividido proporcionalmente aos dias (resets/saltos removidos antes). km_acumulado: última leitura defasada — maior leitura até o fim do MÊS ANTERIOR. km_rodado_acum: soma acumulada dos km_rodado_mes anteriores. km_por_mes: km_acumulado ÷ meses desde a entrada em serviço. idade_carreta: (mês − data_entrada_servico) ÷ 365,25. custo_acum_manutencao: soma acumulada defasada do custo mensal. custo_preventivo_acum: idem, só linhas VMRS PM. n_os_acum: contagem acumulada de OS anteriores.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n_os_preventivas_acum: contagem acumulada de OS preventivas anteriores. custo_medio_movel_3m: média dos custos dos meses −1, −2, −3, janela deslocada (shift) sem incluir o mês previsto. custo_preventivo_medio_movel_3m: mesma fórmula sobre custo preventivo. intervalo_medio_os: média dos dias entre OS consecutivas, só OS anteriores. meses_desde_ultima_os: mês de referência − mês da última OS anterior (anti-vazamento). franquia_km_mensal: campo direto do contrato vigente. duracao_contrato_meses: (fim − início) ÷ 30,44; contratos abertos censurados em 2025-12. idade_contrato_meses_no_mes: (mês − início do contrato) ÷ 30,44.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regiao_operacao: mapeamento + propagação — província/local da OS → região; carrega-se a última região conhecida; na modelagem usa-se a região do mês ANTERIOR (defasada). Excluídas da modelagem: prop_pecas_garantia (0,03% dos meses com peça em garantia), tipo_manutencao (fixada em MAINT como população) e km_acumulado_fim_mes (auditoria).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8: análise exploratória de dados. 352.038 observações carreta × mês com Y válido, protocolo variável a variável.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Quantitativas: histograma + boxplot + estatísticas (N, média, DP, min, quartis, max). Qualitativas: boxplot de Y por categoria + frequência. Complementares: Pearson/Spearman com Y, eta para categóricas, matriz de correlação entre X, VIF, evolução temporal. Leitura em duas partes por causa da zero-inflação: ocorrência (67% zeros) e magnitude condicional. Como ler: boxplot — caixa = Q1–Q3, linha = mediana, pontos = outliers. Spearman robusta a outliers; regra: |ρ| menor que 0,1 fraca, 0,1–0,3 modesta, maior que 0,3 relevante. Eta: 0 = categorias iguais, 1 = categoria determina o custo. Gráficos cortados no p99 só para legibilidade — outliers tratados na modelagem, não ignorados.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 = 352.038 · média 0,091 · DP 0,374 · mediana 0,000 · Q3 0,032 · máx 29,3 · assimetria 14,4. Distribuição fortemente assimétrica à direita e zero-inflada: 67% dos meses sem custo interno. Nos meses com custo, mediana CAD 0,101/km e média CAD 0,277/km — cauda longa puxa a média. Implicação: log1p e modelos robustos; o problema combina ocorrência + magnitude.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2020: CAD 0,074/km → 2025: CAD 0,126/km. Crescimento real de 71% na média, mesmo após remover a inflação. Share de meses com custo zero caiu de 69% para 63% — a frota gera OS com mais frequência. Tendência consistente com envelhecimento/maior utilização, que o modelo deve capturar pelas variáveis operacionais, não por um efeito 'ano'.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 = 352.006 · média 2016,3 · DP 4,7 · mín 1981 · mediana 2017 · máx 2026. Pearson −0,055 · Spearman +0,045. Frota concentrada em modelos 2014–2022, picos nos anos de renovação. Correlação quase nula: saber só o ano do modelo não diz quanto a carreta custa. O efeito envelhecimento existe, mas aparece nas variáveis de histórico acumulado — o ano entra apenas como apoio.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eixos: quase toda a frota tem 2 eixos (média 2,08, DP 0,29); ρ ≈ 0. comprimento: o padrão de 53 pés domina (mediana 53); ρ = −0,07. franquia_km_mensal: a grande maioria dos contratos não tem franquia (mediana 0); ρ ≈ 0. Quando uma variável quase não varia, não consegue separar carretas caras de baratas — mantidas apenas por completude.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 = 223.515 · média 6,2 anos · DP 4,2 · mediana 5,3 · máx 28. Pearson +0,082 · Spearman +0,037. Correlação direta modesta — surpreendente à primeira vista. Explicação: a idade age INDIRETAMENTE, via km acumulado e histórico de OS; essas variáveis absorvem o efeito. H2 tem suporte apenas parcial.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 = 352.038 · média 2.874 · mediana 1.937 · máx 108.359. Pearson −0,081 · Spearman +0,094. Metade roda até ≈ 1.900 km/mês; cauda de alta utilização acima de 10 mil. Cuidado: é o DENOMINADOR do Y — rodar mais dilui o custo por km mecanicamente. A correlação não deve ser lida como efeito causal; H3 foi testada também contra o custo absoluto.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km_acumulado: N = 348.087, mediana 85.563, máx 7,2 mi; ρ = +0,155 — quanto mais rodada, mais cara por km; sinal de desgaste estrutural, sustenta parcialmente H3. km_por_mes: N = 223.132, mediana 923, máx 23.385; ρ = +0,123 — visão estrutural (perfil da carreta) complementando a conjuntural.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duracao_contrato_meses: mediana 60 (padrão de leasing de 5 anos); ρ = +0,019 — H1 NÃO encontra suporte: a duração do contrato, por si só, não explica o custo. idade_contrato_meses_no_mes: distribuição espalhada; ρ = +0,049 — estar no início ou fim do contrato pouco muda o custo por km.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custo_acum_manutencao: mediana CAD 1.962, máx 1,93 mi; ρ = +0,197 — 2º preditor mais forte: carreta que já custou tende a continuar custando; evidência central da H4. custo_preventivo_acum: mediana 636, máx 26.240; ρ = +0,165 — quem consumiu mais preventiva também custa mais no total, em parte porque carretas mais usadas fazem mais PMs.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n_os_acum: mediana 9, máx 15.006 (anomalia de cadastro); ρ = +0,220 — o preditor individual MAIS FORTE. A frequência histórica de manutenção é o melhor termômetro isolado — melhor que idade, modelo ou contrato. Núcleo da H4. n_os_preventivas_acum: mediana 5, máx 38 (PMs programados têm teto); ρ = +0,190 — quase tão forte, mas anda junto com n_os_acum; redundância tratada na análise de colinearidade.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custo_medio_movel_3m: mediana 41, máx 39.095; ρ = +0,085 — persistência de curto prazo: trimestre caro tende a ser seguido de custo acima da média. custo_preventivo_medio_movel_3m: dominada por zeros; ρ = −0,021 — no grão mensal, o retorno da preventiva não é imediato.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intervalo_medio_os: OS a cada ≈ 100 dias em média (mediana 81); ρ = −0,193, o 3º sinal mais forte — intervalos curtos = manutenção frequente = custo alto; espelho de n_os_acum. meses_desde_ultima_os: metade a até 2 meses da última OS; ρ = −0,062 — problemas vêm em sequência. Importante: usa apenas OS ANTERIORES ao mês; a versão antiga vazava informação do próprio mês e inflava as métricas.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6: UTLTY 44,8% · STGHTN 18,2% · HYUNDAI 10,4% · MANAC 10,3% · WABASH 8,6% · TMOBILE 2,6%. η = 0,068 · 22 categorias. Cada caixa é a distribuição do custo por km por montadora, ordenadas pela mediana. Diferença visível mas caixas se sobrepõem — efeito isolado fraco. No modelo entra via one-hot (raras agrupadas) e contribui em interação.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 60,2% · Y 39,8% · η = 0,063. A caixa das refrigeradas está deslocada para cima em toda a distribuição. Faz sentido operacional: a unidade de refrigeração adiciona um sistema inteiro (compressor, gás, filtros) que gera OS próprias. A flag aparece entre os fatores importantes do modelo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tipo_contrato: LEASE 89,6% · RENTAL 9,9%; η = 0,040 — medianas próximas, o tipo desloca pouco o custo (leitura para H5: contrato influencia menos que o histórico operacional). tipo_manutencao: MAINT 94,5% · NET 3,3% · MIX 1,7%; η = 0,046 — populações pequenas com regras de cobrança diferentes; por isso a modelagem é feita SÓ com MAINT, para não confundir regra contratual com comportamento de custo.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SEM_INFORMACAO 98,9%; η = 0,016, o mais fraco entre as categóricas. O programa define QUANDO a preventiva acontece, mas não diferencia QUANTO a carreta custa no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Top: MIS 39,6% · Ontario 33,7% · Alberta 7,6% · Cornwall 5,3% · Calgary 4,7% · Quebec 2,0%. η = 0,084 · 46 categorias — a categórica MAIS FORTE. Clima (inverno rigoroso), qualidade das estradas e custo de oficina local mudam o custo por km. Suporte parcial à H5 pelo lado operacional.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HIGHWAY 41,7% · GOODSTORAGE 29,1% · CITY 28,2%. η = 0,056. Classes mais complexas custam mais por km; efeito real porém moderado; correlacionada com montadora e flag reefer (classes agrupam tipos de carreta).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Nenhuma variável isolada é forte (máx ρ = 0,22). O sinal está no HISTÓRICO: n_os_acum, custo_acum e intervalo_medio_os dominam — suporte direto à H4. Idade, contrato e atributos físicos têm efeito fraco isoladamente (H1/H2 sem suporte direto no grão mensal). Implicação: o ganho preditivo depende de interações — favorece árvores/ensembles.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problema: variáveis que dizem a mesma coisa (idade × ano do modelo) disputam o mesmo efeito em modelos lineares e desestabilizam coeficientes. Medição: matriz de Spearman entre X (pares |ρ| acima de 0,7) + VIF (acima de 5 atenção, acima de 10 problemático). VIF top: custo_acum 33,9 · n_os_acum 25,4 · custo_prev_acum 5,8 · idade_contrato 5,7 · duracao_contrato 5,3. Pares redundantes: n_os_acum ↔ n_os_prev_acum, custo_acum ↔ custo_prev_acum, idade ↔ ano_modelo. Decisão: modelo recomendado é de árvore (robusto a colinearidade) — pares mantidos; a restrição vale para os lineares de comparação.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Método: razão máx/p99 (razão alta = pontos isolados suspeitos) + fração acima do limite IQR (fração alta = cauda estrutural, não erro). Y: máx 29,3 vs p99 1,50 (20×) → cap no p99,5; custos negativos (estornos) excluídos. n_os_acum: máx 15.006 vs p99 77 (195×) → anomalia de cadastro, winsorizar/monitorar. custo_acum: máx 1,93 mi vs p99 32 mil (60×) → mesma origem. custo_medio_movel_3m: 26× → trimestres excepcionais reais + anomalias. km: outliers moderados após tratamento de resets — mantidos. Tabela completa: reports/tables/03d_diagnostico_outliers.csv.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Zero-inflação define o problema (67% zeros): ocorrência + magnitude. Cauda pesada: log1p / perda robusta, cap no p99,5. Sinal fraco e distribuído (máx ρ 0,22): ganho vem de interações e ensembles. Histórico é o bloco mais forte — H4 suportada. Colinearidade: pares acumulados totais × preventivos, idade × ano_modelo. Deflação obrigatória (≈ +20%); mesmo real, custo por km cresce ≈ 71%. km_rodado_mes é denominador e feature — interpretação cuidadosa.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9: técnicas estatísticas e de machine learning, aplicadas sobre a população MAINT com split temporal treino/teste.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Split temporal em palavras simples: o modelo estuda com o passado (2020–2024) e faz a prova com 2025, período que nunca viu — como será usado na vida real. Validação temporal expansiva (3 rodadas), imputação mediana/moda, padronização, one-hot com agrupamento de raras. Métricas: R² (quanto da variação explica), RMSE e MAE (tamanho médio do erro em CAD/km).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Ranking completo (R² / RMSE / MAE): random_forest 0,0863/0,2424/0,1317 · gradient_boosting 0,0770/0,2437/0,1331 · hurdle_sgd_gb 0,0706/0,2445/0,1446 · arvore_decisao 0,0418 · ridge_multipla 0,0409 · linear_multipla 0,0409 · polinomial_g2 0,0409 · ridge_log1p 0,0361 · knn 0,0052 · linear_simples −0,0035. R² = 0,086 significa ~9% da variação mês a mês — modesto, mas suficiente para ORDENAR carretas e apoiar orçamento; não crava valor exato de um mês (muito acaso: um pneu fura ou não). Números honestos: versões anteriores pareciam melhores porque colavam com vazamento do futuro, removido.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Permutation importance no teste temporal: km_rodado_mes 0,0211 · custo_acum_manutencao 0,0057 · custo_preventivo_medio_movel_3m 0,0056 · flag_refrigerado 0,0051 · intervalo_medio_os 0,0041 · km_rodado_acum 0,0035 · custo_medio_movel_3m 0,0025 · km_acumulado 0,0015 · custo_preventivo_acum 0,0014 · idade_carreta 0,0011. Método: embaralhamos cada variável e medimos o quanto a previsão piora. Confirma a EDA: histórico operacional e intensidade de uso dominam; atributos fixos pesam menos.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H1 duração de contrato: NÃO SUPORTADA — ρ ≈ 0 (+0,02) no grão mensal. H2 idade: PARCIAL — efeito direto fraco (+0,04); idade opera via histórico acumulado (colinearidade). H3 quilometragem: PARCIAL — km_acumulado +0,16 estrutural; km mensal tem relação mecânica com o denominador. H4 histórico: SUPORTADA — n_os_acum +0,22, custo_acum +0,20, intervalo −0,19, o bloco mais forte. H5 operação e contrato: PARCIAL — região é a categórica mais forte (η 0,084); reefer e montadora deslocam medianas; efeito contratual fraco.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Perguntas 10 e 11: referencial teórico e metodologia.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Katreddi 2023a: ensembles (Super Learner) sobre variáveis operacionais → prioridade a árvore/ensemble. Katreddi 2023b: MERF captura heterogeneidade entre grupos → montadora, classe e contrato como features; MERF extensão futura. Sun 2024: histórico de manutenção sustenta previsão (confiabilidade/Weibull) → valida features de histórico acumulado, nosso bloco mais forte. Adekitan 2018: ANN R = 0,766 mostra sinal com desempenho modesto → redes neurais não priorizadas.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00 Contexto e inventário: documentação do problema, inventário das 7 bases, validação do modelo estrela, riscos. 01 Qualidade: chaves, duplicidades, ausentes, custos negativos, odômetro (resets/saltos), regras. 02 Base analítica mensal: agregação carreta × mês, prorrateio de km, piso 500 km/mês, features defasadas. 03 EDA e hipóteses: protocolo, correlações, eta, VIF, teste das 5 hipóteses. 04 Deflação: CPI all-items StatCan, valores de dez/2025. 05 Modelagem: split temporal, 9 modelos + hurdle, métricas, permutation importance, erro por segmento. 06 Resultados: síntese executiva, hipóteses finais, recomendações e limitações.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Zero-inflação: desempenho pontual modesto; o modelo apoia planejamento, não substitui validação operacional. km_rodado_mes é denominador e feature. Prorrateio de km é aproximação (resets/saltos tratados). Custos negativos excluídos. GPS com cobertura parcial (set–dez/2025) — região derivada da OS. Contratos vigentes censurados em 2025-12. Vazamento temporal removido — métricas menores porém defensáveis. Extensões futuras: MERF/hierárquicos e modelos zero-inflados.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Abrir para perguntas da banca.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2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2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7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2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9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30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gradFill rotWithShape="1">
            <a:gsLst>
              <a:gs pos="0">
                <a:srgbClr val="3FE0CE">
                  <a:alpha val="100000"/>
                </a:srgbClr>
              </a:gs>
              <a:gs pos="34000">
                <a:srgbClr val="3FE0CE">
                  <a:alpha val="100000"/>
                </a:srgbClr>
              </a:gs>
              <a:gs pos="34000">
                <a:srgbClr val="FFB65C">
                  <a:alpha val="100000"/>
                </a:srgbClr>
              </a:gs>
              <a:gs pos="40000">
                <a:srgbClr val="FFB65C">
                  <a:alpha val="100000"/>
                </a:srgbClr>
              </a:gs>
              <a:gs pos="40000">
                <a:srgbClr val="223243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13891260" y="-1714500"/>
            <a:ext cx="6111240" cy="6111240"/>
          </a:xfrm>
          <a:prstGeom prst="ellipse">
            <a:avLst/>
          </a:prstGeom>
          <a:ln w="7620">
            <a:solidFill>
              <a:srgbClr val="1B2B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14843760" y="-762000"/>
            <a:ext cx="4206240" cy="4206240"/>
          </a:xfrm>
          <a:prstGeom prst="ellipse">
            <a:avLst/>
          </a:prstGeom>
          <a:ln w="7620">
            <a:solidFill>
              <a:srgbClr val="16242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238250" y="2645569"/>
            <a:ext cx="1739265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kern="0" spc="414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MBA · PROJETO APLICADO · CIÊNCIA DE DADOS</a:t>
            </a:r>
            <a:endParaRPr lang="en-US" sz="1725" dirty="0"/>
          </a:p>
        </p:txBody>
      </p:sp>
      <p:sp>
        <p:nvSpPr>
          <p:cNvPr id="6" name="Text 4"/>
          <p:cNvSpPr/>
          <p:nvPr/>
        </p:nvSpPr>
        <p:spPr>
          <a:xfrm>
            <a:off x="1238250" y="3270409"/>
            <a:ext cx="13735050" cy="21364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81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Previsão de custos de manutenção de carretas</a:t>
            </a:r>
            <a:endParaRPr lang="en-US" sz="8100" dirty="0"/>
          </a:p>
        </p:txBody>
      </p:sp>
      <p:sp>
        <p:nvSpPr>
          <p:cNvPr id="7" name="Text 5"/>
          <p:cNvSpPr/>
          <p:nvPr/>
        </p:nvSpPr>
        <p:spPr>
          <a:xfrm>
            <a:off x="1238250" y="5749766"/>
            <a:ext cx="10791825" cy="923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325" dirty="0">
                <a:solidFill>
                  <a:srgbClr val="9FB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Modelagem do custo anual de manutenção por carreta da frota própria · janela 2020–2025</a:t>
            </a:r>
            <a:endParaRPr lang="en-US" sz="2325" dirty="0"/>
          </a:p>
        </p:txBody>
      </p:sp>
      <p:sp>
        <p:nvSpPr>
          <p:cNvPr id="8" name="Text 6"/>
          <p:cNvSpPr/>
          <p:nvPr/>
        </p:nvSpPr>
        <p:spPr>
          <a:xfrm>
            <a:off x="1238250" y="7359491"/>
            <a:ext cx="3325558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Quatro Norte Consulting</a:t>
            </a:r>
            <a:endParaRPr lang="en-US" sz="1725" dirty="0"/>
          </a:p>
        </p:txBody>
      </p:sp>
      <p:sp>
        <p:nvSpPr>
          <p:cNvPr id="9" name="Shape 7"/>
          <p:cNvSpPr/>
          <p:nvPr/>
        </p:nvSpPr>
        <p:spPr>
          <a:xfrm>
            <a:off x="4471035" y="7495699"/>
            <a:ext cx="419100" cy="9525"/>
          </a:xfrm>
          <a:prstGeom prst="rect">
            <a:avLst/>
          </a:prstGeom>
          <a:solidFill>
            <a:srgbClr val="2A3B4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5099685" y="7359491"/>
            <a:ext cx="470535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FGV</a:t>
            </a:r>
            <a:endParaRPr lang="en-US" sz="17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38200"/>
            <a:ext cx="1781175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347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EMPRESA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230630"/>
            <a:ext cx="17811750" cy="6757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65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Norte Consulting</a:t>
            </a:r>
            <a:endParaRPr lang="en-US" sz="4650" dirty="0"/>
          </a:p>
        </p:txBody>
      </p:sp>
      <p:sp>
        <p:nvSpPr>
          <p:cNvPr id="4" name="Text 2"/>
          <p:cNvSpPr/>
          <p:nvPr/>
        </p:nvSpPr>
        <p:spPr>
          <a:xfrm>
            <a:off x="1047750" y="2363629"/>
            <a:ext cx="8448405" cy="12106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02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Consultoria de dados que atende uma operação de </a:t>
            </a:r>
            <a:r>
              <a:rPr lang="en-US" sz="2025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leasing/rental de carretas no Canadá </a:t>
            </a:r>
            <a:r>
              <a:rPr lang="en-US" sz="202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carretas secas e refrigeradas de até 53 pés, rodando em ON, QC e outras províncias.</a:t>
            </a:r>
            <a:endParaRPr lang="en-US" sz="2025" dirty="0"/>
          </a:p>
        </p:txBody>
      </p:sp>
      <p:sp>
        <p:nvSpPr>
          <p:cNvPr id="5" name="Text 3"/>
          <p:cNvSpPr/>
          <p:nvPr/>
        </p:nvSpPr>
        <p:spPr>
          <a:xfrm>
            <a:off x="1047750" y="3783806"/>
            <a:ext cx="8448405" cy="1195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02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manutenção é própria: uma rede de oficinas registra ordens de serviço com mão de obra e peças, sob contratos com diferentes coberturas </a:t>
            </a:r>
            <a:r>
              <a:rPr lang="en-US" sz="180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MAINT / NET / MIX</a:t>
            </a:r>
            <a:r>
              <a:rPr lang="en-US" sz="202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025" dirty="0"/>
          </a:p>
        </p:txBody>
      </p:sp>
      <p:sp>
        <p:nvSpPr>
          <p:cNvPr id="6" name="Shape 4"/>
          <p:cNvSpPr/>
          <p:nvPr/>
        </p:nvSpPr>
        <p:spPr>
          <a:xfrm>
            <a:off x="1047750" y="5264944"/>
            <a:ext cx="8202335" cy="2056448"/>
          </a:xfrm>
          <a:prstGeom prst="roundRect">
            <a:avLst>
              <a:gd name="adj" fmla="val 6484"/>
            </a:avLst>
          </a:prstGeom>
          <a:solidFill>
            <a:srgbClr val="12202B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1360170" y="5539264"/>
            <a:ext cx="8335245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kern="0" spc="257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DOR DE NEGÓCIO</a:t>
            </a:r>
            <a:endParaRPr lang="en-US" sz="1425" dirty="0"/>
          </a:p>
        </p:txBody>
      </p:sp>
      <p:sp>
        <p:nvSpPr>
          <p:cNvPr id="8" name="Text 6"/>
          <p:cNvSpPr/>
          <p:nvPr/>
        </p:nvSpPr>
        <p:spPr>
          <a:xfrm>
            <a:off x="1360170" y="5925026"/>
            <a:ext cx="7804820" cy="1160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relevante do custo de manutenção é </a:t>
            </a:r>
            <a:r>
              <a:rPr lang="en-US" sz="1950" b="1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absorvida pela empresa </a:t>
            </a:r>
            <a:r>
              <a:rPr lang="en-US" sz="1950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 custo interno — e precisa ser prevista para orçamento e precificação de contratos.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9783485" y="2363629"/>
            <a:ext cx="3623548" cy="1645920"/>
          </a:xfrm>
          <a:prstGeom prst="roundRect">
            <a:avLst>
              <a:gd name="adj" fmla="val 8102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10076855" y="2695099"/>
            <a:ext cx="3340489" cy="670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350" b="1" dirty="0">
                <a:solidFill>
                  <a:srgbClr val="3FE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10.412</a:t>
            </a:r>
            <a:endParaRPr lang="en-US" sz="4350" dirty="0"/>
          </a:p>
        </p:txBody>
      </p:sp>
      <p:sp>
        <p:nvSpPr>
          <p:cNvPr id="11" name="Text 9"/>
          <p:cNvSpPr/>
          <p:nvPr/>
        </p:nvSpPr>
        <p:spPr>
          <a:xfrm>
            <a:off x="10076855" y="3403759"/>
            <a:ext cx="3340489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carretas na frota própria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13616583" y="2363629"/>
            <a:ext cx="3623667" cy="1645920"/>
          </a:xfrm>
          <a:prstGeom prst="roundRect">
            <a:avLst>
              <a:gd name="adj" fmla="val 8102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13909953" y="2695099"/>
            <a:ext cx="3340620" cy="670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350" b="1" dirty="0">
                <a:solidFill>
                  <a:srgbClr val="3FE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223.590</a:t>
            </a:r>
            <a:endParaRPr lang="en-US" sz="4350" dirty="0"/>
          </a:p>
        </p:txBody>
      </p:sp>
      <p:sp>
        <p:nvSpPr>
          <p:cNvPr id="14" name="Text 12"/>
          <p:cNvSpPr/>
          <p:nvPr/>
        </p:nvSpPr>
        <p:spPr>
          <a:xfrm>
            <a:off x="13909953" y="3403759"/>
            <a:ext cx="334062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ordens de serviço (2020–2025)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9783485" y="4219099"/>
            <a:ext cx="3623548" cy="1920240"/>
          </a:xfrm>
          <a:prstGeom prst="roundRect">
            <a:avLst>
              <a:gd name="adj" fmla="val 6944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10076855" y="4550569"/>
            <a:ext cx="3340489" cy="670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350" b="1" dirty="0">
                <a:solidFill>
                  <a:srgbClr val="FFB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 79 mi</a:t>
            </a:r>
            <a:endParaRPr lang="en-US" sz="4350" dirty="0"/>
          </a:p>
        </p:txBody>
      </p:sp>
      <p:sp>
        <p:nvSpPr>
          <p:cNvPr id="17" name="Text 15"/>
          <p:cNvSpPr/>
          <p:nvPr/>
        </p:nvSpPr>
        <p:spPr>
          <a:xfrm>
            <a:off x="10076855" y="5259229"/>
            <a:ext cx="3127912" cy="586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interno de manutenção no período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3616583" y="4219099"/>
            <a:ext cx="3623667" cy="1920240"/>
          </a:xfrm>
          <a:prstGeom prst="roundRect">
            <a:avLst>
              <a:gd name="adj" fmla="val 6944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13909953" y="4550569"/>
            <a:ext cx="3340620" cy="670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35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anos</a:t>
            </a:r>
            <a:endParaRPr lang="en-US" sz="4350" dirty="0"/>
          </a:p>
        </p:txBody>
      </p:sp>
      <p:sp>
        <p:nvSpPr>
          <p:cNvPr id="20" name="Text 18"/>
          <p:cNvSpPr/>
          <p:nvPr/>
        </p:nvSpPr>
        <p:spPr>
          <a:xfrm>
            <a:off x="13909953" y="5259229"/>
            <a:ext cx="3128035" cy="586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histórico: OS, odômetro, contratos, GPS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38200"/>
            <a:ext cx="1781175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347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ROTEIRO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230630"/>
            <a:ext cx="17811750" cy="716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65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 em três blocos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1047750" y="3499485"/>
            <a:ext cx="16192500" cy="1478280"/>
          </a:xfrm>
          <a:prstGeom prst="roundRect">
            <a:avLst>
              <a:gd name="adj" fmla="val 10309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493520" y="3888105"/>
            <a:ext cx="933450" cy="739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3FE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731770" y="3869055"/>
            <a:ext cx="10262842" cy="4038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Contexto, problema, objetivos e hipóteses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2731770" y="4311015"/>
            <a:ext cx="10262842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 da pesquisa · pergunta do problema · objetivos · 5 hipóteses · 4 artigos científicos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47750" y="5206365"/>
            <a:ext cx="16192500" cy="1478280"/>
          </a:xfrm>
          <a:prstGeom prst="roundRect">
            <a:avLst>
              <a:gd name="adj" fmla="val 10309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1493520" y="5594985"/>
            <a:ext cx="933450" cy="739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3FE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2731770" y="5575935"/>
            <a:ext cx="10602837" cy="4038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de dados, features, EDA e técnicas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2731770" y="6017895"/>
            <a:ext cx="10602837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estrela · variável-alvo · deflação CPI · análise exploratória variável a variável · modelos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047750" y="6913245"/>
            <a:ext cx="16192500" cy="1478280"/>
          </a:xfrm>
          <a:prstGeom prst="roundRect">
            <a:avLst>
              <a:gd name="adj" fmla="val 10309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1493520" y="7301865"/>
            <a:ext cx="933450" cy="739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3FE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2731770" y="7282815"/>
            <a:ext cx="8349520" cy="4038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Referencial teórico e metodologia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2731770" y="7724775"/>
            <a:ext cx="834952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 do referencial · pipeline em 7 notebooks reprodutíveis · limitações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21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69423" y="5524500"/>
            <a:ext cx="8857285" cy="7277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2500"/>
              </a:lnSpc>
              <a:buNone/>
            </a:pPr>
            <a:r>
              <a:rPr lang="en-US" sz="40000" b="1" dirty="0">
                <a:solidFill>
                  <a:srgbClr val="1230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0000" dirty="0"/>
          </a:p>
        </p:txBody>
      </p:sp>
      <p:sp>
        <p:nvSpPr>
          <p:cNvPr id="3" name="Text 1"/>
          <p:cNvSpPr/>
          <p:nvPr/>
        </p:nvSpPr>
        <p:spPr>
          <a:xfrm>
            <a:off x="1238250" y="3696653"/>
            <a:ext cx="1739265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kern="0" spc="414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BLOCO 1 · PERGUNTAS 1–5</a:t>
            </a:r>
            <a:endParaRPr lang="en-US" sz="1725" dirty="0"/>
          </a:p>
        </p:txBody>
      </p:sp>
      <p:sp>
        <p:nvSpPr>
          <p:cNvPr id="4" name="Text 2"/>
          <p:cNvSpPr/>
          <p:nvPr/>
        </p:nvSpPr>
        <p:spPr>
          <a:xfrm>
            <a:off x="1238250" y="4245293"/>
            <a:ext cx="12263438" cy="1878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69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Contexto, problema, objetivos e hipóteses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1238250" y="6542723"/>
            <a:ext cx="1143000" cy="47625"/>
          </a:xfrm>
          <a:prstGeom prst="rect">
            <a:avLst/>
          </a:prstGeom>
          <a:solidFill>
            <a:srgbClr val="3FE0CE"/>
          </a:solidFill>
          <a:ln/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38200"/>
            <a:ext cx="1781175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347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PERGUNTA 1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230630"/>
            <a:ext cx="17811750" cy="716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65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o projeto será realizado</a:t>
            </a:r>
            <a:endParaRPr lang="en-US" sz="4650" dirty="0"/>
          </a:p>
        </p:txBody>
      </p:sp>
      <p:sp>
        <p:nvSpPr>
          <p:cNvPr id="4" name="Text 2"/>
          <p:cNvSpPr/>
          <p:nvPr/>
        </p:nvSpPr>
        <p:spPr>
          <a:xfrm>
            <a:off x="1047750" y="2442210"/>
            <a:ext cx="9173420" cy="1285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210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Operação de leasing/rental de carretas no Canadá, atendida pela Quatro Norte. O recorte é a </a:t>
            </a:r>
            <a:r>
              <a:rPr lang="en-US" sz="21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frota própria </a:t>
            </a:r>
            <a:r>
              <a:rPr lang="en-US" sz="210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com carretas ativas e leituras de quilometragem válidas entre </a:t>
            </a:r>
            <a:r>
              <a:rPr lang="en-US" sz="187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2020-01 → 2025-12</a:t>
            </a:r>
            <a:r>
              <a:rPr lang="en-US" sz="210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3975735"/>
            <a:ext cx="9173420" cy="1285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210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empresa faz manutenção preventiva e corretiva; parte do custo é repassada ao cliente e parte é </a:t>
            </a:r>
            <a:r>
              <a:rPr lang="en-US" sz="21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absorvida pela operação </a:t>
            </a:r>
            <a:r>
              <a:rPr lang="en-US" sz="210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 custo interno, todo registrado em CAD.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47750" y="5509260"/>
            <a:ext cx="9173420" cy="1278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210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dados vêm do ERP de manutenção em modelo estrela: cadastro das carretas, ordens de serviço, mão de obra, peças, odômetro, contratos e telemetria GPS.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10487382" y="2442210"/>
            <a:ext cx="6752868" cy="2724150"/>
          </a:xfrm>
          <a:prstGeom prst="roundRect">
            <a:avLst>
              <a:gd name="adj" fmla="val 5594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10895052" y="2830830"/>
            <a:ext cx="653128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kern="0" spc="257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DECISÕES QUE O PROJETO APOIA</a:t>
            </a:r>
            <a:endParaRPr lang="en-US" sz="1425" dirty="0"/>
          </a:p>
        </p:txBody>
      </p:sp>
      <p:sp>
        <p:nvSpPr>
          <p:cNvPr id="9" name="Shape 7"/>
          <p:cNvSpPr/>
          <p:nvPr/>
        </p:nvSpPr>
        <p:spPr>
          <a:xfrm>
            <a:off x="10895052" y="3425190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3FE0C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11199852" y="3314700"/>
            <a:ext cx="4221123" cy="3733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Orçamento anual de manutenção</a:t>
            </a:r>
            <a:endParaRPr lang="en-US" sz="2025" dirty="0"/>
          </a:p>
        </p:txBody>
      </p:sp>
      <p:sp>
        <p:nvSpPr>
          <p:cNvPr id="11" name="Shape 9"/>
          <p:cNvSpPr/>
          <p:nvPr/>
        </p:nvSpPr>
        <p:spPr>
          <a:xfrm>
            <a:off x="10895052" y="3989070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3FE0C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11199852" y="3878580"/>
            <a:ext cx="3204936" cy="3733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Precificação de contratos</a:t>
            </a:r>
            <a:endParaRPr lang="en-US" sz="2025" dirty="0"/>
          </a:p>
        </p:txBody>
      </p:sp>
      <p:sp>
        <p:nvSpPr>
          <p:cNvPr id="13" name="Shape 11"/>
          <p:cNvSpPr/>
          <p:nvPr/>
        </p:nvSpPr>
        <p:spPr>
          <a:xfrm>
            <a:off x="10895052" y="4552950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3FE0C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11199852" y="4442460"/>
            <a:ext cx="2466011" cy="3733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Priorização de frota</a:t>
            </a:r>
            <a:endParaRPr lang="en-US" sz="20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38250" y="2975848"/>
            <a:ext cx="1739265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347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PERGUNTA 2 · O PROBLEMA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238250" y="3539728"/>
            <a:ext cx="14716125" cy="23387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495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Quais fatores mais influenciam o custo de manutenção interno das carretas — e como estimar esse custo anual por carreta?</a:t>
            </a:r>
            <a:r>
              <a:rPr lang="en-US" sz="4950" b="1" dirty="0">
                <a:solidFill>
                  <a:srgbClr val="3FE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495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4950" dirty="0"/>
          </a:p>
        </p:txBody>
      </p:sp>
      <p:sp>
        <p:nvSpPr>
          <p:cNvPr id="4" name="Shape 2"/>
          <p:cNvSpPr/>
          <p:nvPr/>
        </p:nvSpPr>
        <p:spPr>
          <a:xfrm>
            <a:off x="1238250" y="6449973"/>
            <a:ext cx="6591300" cy="861060"/>
          </a:xfrm>
          <a:prstGeom prst="roundRect">
            <a:avLst>
              <a:gd name="adj" fmla="val 15487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588770" y="6724293"/>
            <a:ext cx="6087999" cy="350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C3CFD8"/>
                </a:solidFill>
                <a:highlight>
                  <a:srgbClr val="101B26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Variável de interesse: CAD/ano · grão carreta × ano</a:t>
            </a:r>
            <a:r>
              <a:rPr lang="en-US" sz="1725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875" dirty="0"/>
          </a:p>
        </p:txBody>
      </p:sp>
      <p:sp>
        <p:nvSpPr>
          <p:cNvPr id="6" name="Shape 4"/>
          <p:cNvSpPr/>
          <p:nvPr/>
        </p:nvSpPr>
        <p:spPr>
          <a:xfrm>
            <a:off x="8058150" y="6449973"/>
            <a:ext cx="7613690" cy="861060"/>
          </a:xfrm>
          <a:prstGeom prst="roundRect">
            <a:avLst>
              <a:gd name="adj" fmla="val 15487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8408670" y="6724293"/>
            <a:ext cx="7141061" cy="350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C3CFD8"/>
                </a:solidFill>
                <a:highlight>
                  <a:srgbClr val="101B26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Custo interno = absorvido pela empresa, preventivas </a:t>
            </a:r>
            <a:r>
              <a:rPr lang="en-US" sz="1875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</a:t>
            </a:r>
            <a:r>
              <a:rPr lang="en-US" sz="1875" dirty="0">
                <a:solidFill>
                  <a:srgbClr val="C3CFD8"/>
                </a:solidFill>
                <a:highlight>
                  <a:srgbClr val="101B26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corretivas</a:t>
            </a:r>
            <a:endParaRPr lang="en-US" sz="187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38200"/>
            <a:ext cx="1781175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347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PERGUNTA 3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230630"/>
            <a:ext cx="17811750" cy="716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65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geral e específicos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1047750" y="2404110"/>
            <a:ext cx="16192500" cy="2029778"/>
          </a:xfrm>
          <a:prstGeom prst="roundRect">
            <a:avLst>
              <a:gd name="adj" fmla="val 7508"/>
            </a:avLst>
          </a:prstGeom>
          <a:solidFill>
            <a:srgbClr val="0E211E"/>
          </a:solidFill>
          <a:ln w="7620">
            <a:solidFill>
              <a:srgbClr val="1C3B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512570" y="2792730"/>
            <a:ext cx="16789146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kern="0" spc="257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OBJETIVO GERAL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1512570" y="3181350"/>
            <a:ext cx="15720746" cy="9020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325" dirty="0">
                <a:solidFill>
                  <a:srgbClr val="EA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os principais fatores que influenciam o custo anual de manutenção por carreta e desenvolver um modelo preditivo capaz de estimar custos futuros.</a:t>
            </a:r>
            <a:r>
              <a:rPr lang="en-US" sz="2325" b="1" dirty="0">
                <a:solidFill>
                  <a:srgbClr val="3FE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2325" dirty="0">
                <a:solidFill>
                  <a:srgbClr val="EA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2325" dirty="0"/>
          </a:p>
        </p:txBody>
      </p:sp>
      <p:sp>
        <p:nvSpPr>
          <p:cNvPr id="7" name="Shape 5"/>
          <p:cNvSpPr/>
          <p:nvPr/>
        </p:nvSpPr>
        <p:spPr>
          <a:xfrm>
            <a:off x="1047750" y="4776788"/>
            <a:ext cx="3086100" cy="1993106"/>
          </a:xfrm>
          <a:prstGeom prst="roundRect">
            <a:avLst>
              <a:gd name="adj" fmla="val 6691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1303020" y="5070157"/>
            <a:ext cx="2833116" cy="35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303020" y="5523548"/>
            <a:ext cx="2652827" cy="9910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72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Coletar, consolidar e organizar o histórico de manutenção</a:t>
            </a:r>
            <a:endParaRPr lang="en-US" sz="1725" dirty="0"/>
          </a:p>
        </p:txBody>
      </p:sp>
      <p:sp>
        <p:nvSpPr>
          <p:cNvPr id="10" name="Shape 8"/>
          <p:cNvSpPr/>
          <p:nvPr/>
        </p:nvSpPr>
        <p:spPr>
          <a:xfrm>
            <a:off x="4324350" y="4776788"/>
            <a:ext cx="3086100" cy="1993106"/>
          </a:xfrm>
          <a:prstGeom prst="roundRect">
            <a:avLst>
              <a:gd name="adj" fmla="val 6691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4579620" y="5070157"/>
            <a:ext cx="2833116" cy="35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4579620" y="5523548"/>
            <a:ext cx="2652827" cy="9910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72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Explorar padrões, tendências e variáveis relevantes (EDA)</a:t>
            </a:r>
            <a:endParaRPr lang="en-US" sz="1725" dirty="0"/>
          </a:p>
        </p:txBody>
      </p:sp>
      <p:sp>
        <p:nvSpPr>
          <p:cNvPr id="13" name="Shape 11"/>
          <p:cNvSpPr/>
          <p:nvPr/>
        </p:nvSpPr>
        <p:spPr>
          <a:xfrm>
            <a:off x="7600950" y="4776788"/>
            <a:ext cx="3086100" cy="1993106"/>
          </a:xfrm>
          <a:prstGeom prst="roundRect">
            <a:avLst>
              <a:gd name="adj" fmla="val 6691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7856220" y="5070157"/>
            <a:ext cx="2833116" cy="35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7856220" y="5523548"/>
            <a:ext cx="2652827" cy="9910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72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Investigar a relação entre contratos de leasing e custos</a:t>
            </a:r>
            <a:endParaRPr lang="en-US" sz="1725" dirty="0"/>
          </a:p>
        </p:txBody>
      </p:sp>
      <p:sp>
        <p:nvSpPr>
          <p:cNvPr id="16" name="Shape 14"/>
          <p:cNvSpPr/>
          <p:nvPr/>
        </p:nvSpPr>
        <p:spPr>
          <a:xfrm>
            <a:off x="10877550" y="4776788"/>
            <a:ext cx="3086100" cy="1993106"/>
          </a:xfrm>
          <a:prstGeom prst="roundRect">
            <a:avLst>
              <a:gd name="adj" fmla="val 6691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11132820" y="5070157"/>
            <a:ext cx="2833116" cy="35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11132820" y="5523548"/>
            <a:ext cx="2652827" cy="9910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72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os principais fatores associados aos custos</a:t>
            </a:r>
            <a:endParaRPr lang="en-US" sz="1725" dirty="0"/>
          </a:p>
        </p:txBody>
      </p:sp>
      <p:sp>
        <p:nvSpPr>
          <p:cNvPr id="19" name="Shape 17"/>
          <p:cNvSpPr/>
          <p:nvPr/>
        </p:nvSpPr>
        <p:spPr>
          <a:xfrm>
            <a:off x="14154150" y="4776788"/>
            <a:ext cx="3086100" cy="1993106"/>
          </a:xfrm>
          <a:prstGeom prst="roundRect">
            <a:avLst>
              <a:gd name="adj" fmla="val 6691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14409420" y="5070157"/>
            <a:ext cx="2833116" cy="35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4409420" y="5523548"/>
            <a:ext cx="2652827" cy="9910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72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Desenvolver e avaliar modelos preditivos de custo futuro</a:t>
            </a:r>
            <a:endParaRPr lang="en-US" sz="17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38200"/>
            <a:ext cx="1781175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347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PERGUNTA 4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230630"/>
            <a:ext cx="17811750" cy="716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65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hipóteses de trabalho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1047750" y="3185160"/>
            <a:ext cx="16192500" cy="845820"/>
          </a:xfrm>
          <a:prstGeom prst="roundRect">
            <a:avLst>
              <a:gd name="adj" fmla="val 15766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436370" y="3455670"/>
            <a:ext cx="7429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H1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2446020" y="3440430"/>
            <a:ext cx="9096173" cy="3733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Contratos de leasing mais longos tendem a custar mais em manutenção</a:t>
            </a:r>
            <a:endParaRPr lang="en-US" sz="2025" dirty="0"/>
          </a:p>
        </p:txBody>
      </p:sp>
      <p:sp>
        <p:nvSpPr>
          <p:cNvPr id="7" name="Shape 5"/>
          <p:cNvSpPr/>
          <p:nvPr/>
        </p:nvSpPr>
        <p:spPr>
          <a:xfrm>
            <a:off x="1047750" y="4202430"/>
            <a:ext cx="16192500" cy="845820"/>
          </a:xfrm>
          <a:prstGeom prst="roundRect">
            <a:avLst>
              <a:gd name="adj" fmla="val 15766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1436370" y="4472940"/>
            <a:ext cx="7429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H2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2446020" y="4457700"/>
            <a:ext cx="8392871" cy="3733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Carretas mais velhas demandam maiores gastos com manutenção</a:t>
            </a:r>
            <a:endParaRPr lang="en-US" sz="2025" dirty="0"/>
          </a:p>
        </p:txBody>
      </p:sp>
      <p:sp>
        <p:nvSpPr>
          <p:cNvPr id="10" name="Shape 8"/>
          <p:cNvSpPr/>
          <p:nvPr/>
        </p:nvSpPr>
        <p:spPr>
          <a:xfrm>
            <a:off x="1047750" y="5219700"/>
            <a:ext cx="16192500" cy="845820"/>
          </a:xfrm>
          <a:prstGeom prst="roundRect">
            <a:avLst>
              <a:gd name="adj" fmla="val 15766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1436370" y="5490210"/>
            <a:ext cx="7429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H3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2446020" y="5474970"/>
            <a:ext cx="7564100" cy="3733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quilometragem percorrida está associada a mais custo</a:t>
            </a:r>
            <a:endParaRPr lang="en-US" sz="2025" dirty="0"/>
          </a:p>
        </p:txBody>
      </p:sp>
      <p:sp>
        <p:nvSpPr>
          <p:cNvPr id="13" name="Shape 11"/>
          <p:cNvSpPr/>
          <p:nvPr/>
        </p:nvSpPr>
        <p:spPr>
          <a:xfrm>
            <a:off x="1047750" y="6236970"/>
            <a:ext cx="16192500" cy="845820"/>
          </a:xfrm>
          <a:prstGeom prst="roundRect">
            <a:avLst>
              <a:gd name="adj" fmla="val 15766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1436370" y="6507480"/>
            <a:ext cx="7429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H4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2446020" y="6492240"/>
            <a:ext cx="7559516" cy="3733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histórico de manutenções anteriores prevê custos futuros</a:t>
            </a:r>
            <a:endParaRPr lang="en-US" sz="2025" dirty="0"/>
          </a:p>
        </p:txBody>
      </p:sp>
      <p:sp>
        <p:nvSpPr>
          <p:cNvPr id="16" name="Shape 14"/>
          <p:cNvSpPr/>
          <p:nvPr/>
        </p:nvSpPr>
        <p:spPr>
          <a:xfrm>
            <a:off x="1047750" y="7254240"/>
            <a:ext cx="16192500" cy="845820"/>
          </a:xfrm>
          <a:prstGeom prst="roundRect">
            <a:avLst>
              <a:gd name="adj" fmla="val 15766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1436370" y="7524750"/>
            <a:ext cx="7429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H5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2446020" y="7509510"/>
            <a:ext cx="9288566" cy="3733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Variáveis operacionais e características contratuais influenciam os custos</a:t>
            </a:r>
            <a:endParaRPr lang="en-US" sz="2025" dirty="0"/>
          </a:p>
        </p:txBody>
      </p:sp>
      <p:sp>
        <p:nvSpPr>
          <p:cNvPr id="19" name="Text 17"/>
          <p:cNvSpPr/>
          <p:nvPr/>
        </p:nvSpPr>
        <p:spPr>
          <a:xfrm>
            <a:off x="1047750" y="9166860"/>
            <a:ext cx="1781175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7B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Avaliadas na EDA (correlações e segmentações) e na modelagem (importância de variáveis) — síntese ao final.</a:t>
            </a:r>
            <a:endParaRPr lang="en-US" sz="17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38200"/>
            <a:ext cx="1781175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347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PERGUNTA 5 · ARTIGOS 1–2 DE 4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230630"/>
            <a:ext cx="17811750" cy="716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65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literatura recente mostra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1047750" y="2404110"/>
            <a:ext cx="7943850" cy="7044690"/>
          </a:xfrm>
          <a:prstGeom prst="roundRect">
            <a:avLst>
              <a:gd name="adj" fmla="val 2163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474470" y="2792730"/>
            <a:ext cx="7799451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kern="0" spc="20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KATREDDI ET AL. · 2023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1474470" y="3162300"/>
            <a:ext cx="7303123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25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de manutenção por milha em caminhões de entrega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474470" y="4133850"/>
            <a:ext cx="7303123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Random Forest, XGBoost, ANN e ensemble Super Learner sobre variáveis operacionais (km, combustível, região, uso).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1474470" y="7117080"/>
            <a:ext cx="1882854" cy="1043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450" b="1" dirty="0">
                <a:solidFill>
                  <a:srgbClr val="3FE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R² 97,3%</a:t>
            </a:r>
            <a:endParaRPr lang="en-US" sz="3450" dirty="0"/>
          </a:p>
        </p:txBody>
      </p:sp>
      <p:sp>
        <p:nvSpPr>
          <p:cNvPr id="9" name="Text 7"/>
          <p:cNvSpPr/>
          <p:nvPr/>
        </p:nvSpPr>
        <p:spPr>
          <a:xfrm>
            <a:off x="3452574" y="7307580"/>
            <a:ext cx="5265675" cy="586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 Learner — ensembles capturam não linearidades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1474470" y="8313420"/>
            <a:ext cx="7090410" cy="9525"/>
          </a:xfrm>
          <a:prstGeom prst="rect">
            <a:avLst/>
          </a:prstGeom>
          <a:solidFill>
            <a:srgbClr val="22324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1474470" y="8511540"/>
            <a:ext cx="7303123" cy="586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7B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Reforça a escolha de modelos de árvore/ensemble e o uso de variáveis operacionais semelhantes.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9296400" y="2404110"/>
            <a:ext cx="7943850" cy="7044690"/>
          </a:xfrm>
          <a:prstGeom prst="roundRect">
            <a:avLst>
              <a:gd name="adj" fmla="val 2163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9723120" y="2792730"/>
            <a:ext cx="7799451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kern="0" spc="20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KATREDDI ET AL. · 2023b</a:t>
            </a:r>
            <a:endParaRPr lang="en-US" sz="1425" dirty="0"/>
          </a:p>
        </p:txBody>
      </p:sp>
      <p:sp>
        <p:nvSpPr>
          <p:cNvPr id="14" name="Text 12"/>
          <p:cNvSpPr/>
          <p:nvPr/>
        </p:nvSpPr>
        <p:spPr>
          <a:xfrm>
            <a:off x="9723120" y="3162300"/>
            <a:ext cx="7799451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25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Mixed Effects Random Forest para veículos pesados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723120" y="3762375"/>
            <a:ext cx="7303123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Forest + efeitos mistos por grupo de veículos: melhor generalização que RF convencional em frotas heterogêneas.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9723120" y="7620000"/>
            <a:ext cx="1365480" cy="541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450" b="1" dirty="0">
                <a:solidFill>
                  <a:srgbClr val="3FE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MERF</a:t>
            </a:r>
            <a:endParaRPr lang="en-US" sz="3450" dirty="0"/>
          </a:p>
        </p:txBody>
      </p:sp>
      <p:sp>
        <p:nvSpPr>
          <p:cNvPr id="17" name="Text 15"/>
          <p:cNvSpPr/>
          <p:nvPr/>
        </p:nvSpPr>
        <p:spPr>
          <a:xfrm>
            <a:off x="11135916" y="7810500"/>
            <a:ext cx="446538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registrado como extensão futura do projeto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9723120" y="8313420"/>
            <a:ext cx="7090410" cy="9525"/>
          </a:xfrm>
          <a:prstGeom prst="rect">
            <a:avLst/>
          </a:prstGeom>
          <a:solidFill>
            <a:srgbClr val="22324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9723120" y="8511540"/>
            <a:ext cx="7303123" cy="586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7B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Justifica montadora, modelo, classe e tipo de contrato como features de agrupamento.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38200"/>
            <a:ext cx="1781175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347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PERGUNTA 5 · ARTIGOS 3–4 DE 4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230630"/>
            <a:ext cx="17811750" cy="716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65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como insumo preditivo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1047750" y="2404110"/>
            <a:ext cx="7943850" cy="7044690"/>
          </a:xfrm>
          <a:prstGeom prst="roundRect">
            <a:avLst>
              <a:gd name="adj" fmla="val 2163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474470" y="2792730"/>
            <a:ext cx="7799451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kern="0" spc="20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SUN ET AL. · 2024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1474470" y="3162300"/>
            <a:ext cx="7799451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25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Previsão de custo com dados de manutenção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474470" y="3762375"/>
            <a:ext cx="7303123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Engenharia de confiabilidade (Mixed Weibull + estimativa iterativa) sobre registros históricos de manutenção e falhas, com foco em garantia estendida.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1474470" y="8313420"/>
            <a:ext cx="7090410" cy="9525"/>
          </a:xfrm>
          <a:prstGeom prst="rect">
            <a:avLst/>
          </a:prstGeom>
          <a:solidFill>
            <a:srgbClr val="22324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1474470" y="8511540"/>
            <a:ext cx="7303123" cy="586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7B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Sustenta o uso do histórico de OS como insumo preditivo, mesmo sem dados estruturados de falha por componente.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9296400" y="2404110"/>
            <a:ext cx="7943850" cy="7044690"/>
          </a:xfrm>
          <a:prstGeom prst="roundRect">
            <a:avLst>
              <a:gd name="adj" fmla="val 2163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9723120" y="2792730"/>
            <a:ext cx="7799451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kern="0" spc="20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ADEKITAN ET AL. · 2018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9723120" y="3162300"/>
            <a:ext cx="7799451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25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Componentes de custo com redes neurais (ANN)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723120" y="3762375"/>
            <a:ext cx="7303123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 com quilometragem, consumo, frequência de falhas e histórico de uso em veículos corporativos.</a:t>
            </a:r>
            <a:endParaRPr lang="en-US" sz="1875" dirty="0"/>
          </a:p>
        </p:txBody>
      </p:sp>
      <p:sp>
        <p:nvSpPr>
          <p:cNvPr id="14" name="Text 12"/>
          <p:cNvSpPr/>
          <p:nvPr/>
        </p:nvSpPr>
        <p:spPr>
          <a:xfrm>
            <a:off x="9723120" y="7620000"/>
            <a:ext cx="2103489" cy="541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450" b="1" dirty="0">
                <a:solidFill>
                  <a:srgbClr val="3FE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= 0,766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1806833" y="7810500"/>
            <a:ext cx="4858155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sinal preditivo presente, desempenho modesto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9723120" y="8313420"/>
            <a:ext cx="7090410" cy="9525"/>
          </a:xfrm>
          <a:prstGeom prst="rect">
            <a:avLst/>
          </a:prstGeom>
          <a:solidFill>
            <a:srgbClr val="22324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9723120" y="8511540"/>
            <a:ext cx="7303123" cy="586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7B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Variáveis operacionais carregam sinal, mas favorece métodos de árvore, melhores nos artigos recentes.</a:t>
            </a:r>
            <a:endParaRPr lang="en-US" sz="1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21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69423" y="5524500"/>
            <a:ext cx="8857285" cy="7277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2500"/>
              </a:lnSpc>
              <a:buNone/>
            </a:pPr>
            <a:r>
              <a:rPr lang="en-US" sz="40000" b="1" dirty="0">
                <a:solidFill>
                  <a:srgbClr val="1230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0000" dirty="0"/>
          </a:p>
        </p:txBody>
      </p:sp>
      <p:sp>
        <p:nvSpPr>
          <p:cNvPr id="3" name="Text 1"/>
          <p:cNvSpPr/>
          <p:nvPr/>
        </p:nvSpPr>
        <p:spPr>
          <a:xfrm>
            <a:off x="1238250" y="3696653"/>
            <a:ext cx="1739265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kern="0" spc="414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BLOCO 2 · PERGUNTAS 6–7</a:t>
            </a:r>
            <a:endParaRPr lang="en-US" sz="1725" dirty="0"/>
          </a:p>
        </p:txBody>
      </p:sp>
      <p:sp>
        <p:nvSpPr>
          <p:cNvPr id="4" name="Text 2"/>
          <p:cNvSpPr/>
          <p:nvPr/>
        </p:nvSpPr>
        <p:spPr>
          <a:xfrm>
            <a:off x="1238250" y="4245293"/>
            <a:ext cx="12263438" cy="1878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69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de dados, variável-alvo e feature engineering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1238250" y="6542723"/>
            <a:ext cx="1143000" cy="47625"/>
          </a:xfrm>
          <a:prstGeom prst="rect">
            <a:avLst/>
          </a:prstGeom>
          <a:solidFill>
            <a:srgbClr val="3FE0CE"/>
          </a:solidFill>
          <a:ln/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62000"/>
            <a:ext cx="1781175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347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PERGUNTA 6 · BASE DE DADOS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4430"/>
            <a:ext cx="17811750" cy="670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35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estrela — 1 dimensão + 6 fatos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1047750" y="3335655"/>
            <a:ext cx="7991475" cy="960120"/>
          </a:xfrm>
          <a:prstGeom prst="roundRect">
            <a:avLst>
              <a:gd name="adj" fmla="val 11905"/>
            </a:avLst>
          </a:prstGeom>
          <a:solidFill>
            <a:srgbClr val="0E211E"/>
          </a:solidFill>
          <a:ln w="7620">
            <a:solidFill>
              <a:srgbClr val="1C3B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341120" y="3667125"/>
            <a:ext cx="314325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dim_carretas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446270" y="3533775"/>
            <a:ext cx="4428572" cy="601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linha = uma carreta · montadora, modelo, ano, eixos, reefer, classe</a:t>
            </a:r>
            <a:endParaRPr lang="en-US" sz="1725" dirty="0"/>
          </a:p>
        </p:txBody>
      </p:sp>
      <p:sp>
        <p:nvSpPr>
          <p:cNvPr id="7" name="Shape 5"/>
          <p:cNvSpPr/>
          <p:nvPr/>
        </p:nvSpPr>
        <p:spPr>
          <a:xfrm>
            <a:off x="9248775" y="3335655"/>
            <a:ext cx="7991475" cy="960120"/>
          </a:xfrm>
          <a:prstGeom prst="roundRect">
            <a:avLst>
              <a:gd name="adj" fmla="val 11905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9542145" y="3667125"/>
            <a:ext cx="314325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fato_readings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647295" y="3533775"/>
            <a:ext cx="4428572" cy="601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leitura de odômetro · km acumulada por data</a:t>
            </a:r>
            <a:endParaRPr lang="en-US" sz="1725" dirty="0"/>
          </a:p>
        </p:txBody>
      </p:sp>
      <p:sp>
        <p:nvSpPr>
          <p:cNvPr id="10" name="Shape 8"/>
          <p:cNvSpPr/>
          <p:nvPr/>
        </p:nvSpPr>
        <p:spPr>
          <a:xfrm>
            <a:off x="1047750" y="4429125"/>
            <a:ext cx="7991475" cy="960120"/>
          </a:xfrm>
          <a:prstGeom prst="roundRect">
            <a:avLst>
              <a:gd name="adj" fmla="val 11905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1341120" y="4760595"/>
            <a:ext cx="314325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fato_wo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446270" y="4627245"/>
            <a:ext cx="4428572" cy="601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ordem de serviço · cabeçalho + totais internos</a:t>
            </a:r>
            <a:endParaRPr lang="en-US" sz="1725" dirty="0"/>
          </a:p>
        </p:txBody>
      </p:sp>
      <p:sp>
        <p:nvSpPr>
          <p:cNvPr id="13" name="Shape 11"/>
          <p:cNvSpPr/>
          <p:nvPr/>
        </p:nvSpPr>
        <p:spPr>
          <a:xfrm>
            <a:off x="9248775" y="4429125"/>
            <a:ext cx="7991475" cy="960120"/>
          </a:xfrm>
          <a:prstGeom prst="roundRect">
            <a:avLst>
              <a:gd name="adj" fmla="val 11905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9542145" y="4760595"/>
            <a:ext cx="314325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fato_wo_labour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647295" y="4627245"/>
            <a:ext cx="4428572" cy="601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linha de mão de obra · custo interno + sistema VMRS</a:t>
            </a:r>
            <a:endParaRPr lang="en-US" sz="1725" dirty="0"/>
          </a:p>
        </p:txBody>
      </p:sp>
      <p:sp>
        <p:nvSpPr>
          <p:cNvPr id="16" name="Shape 14"/>
          <p:cNvSpPr/>
          <p:nvPr/>
        </p:nvSpPr>
        <p:spPr>
          <a:xfrm>
            <a:off x="1047750" y="5522595"/>
            <a:ext cx="7991475" cy="960120"/>
          </a:xfrm>
          <a:prstGeom prst="roundRect">
            <a:avLst>
              <a:gd name="adj" fmla="val 11905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1341120" y="5854065"/>
            <a:ext cx="314325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fato_wo_parts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446270" y="5720715"/>
            <a:ext cx="4428572" cy="601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linha de peça · custo interno + flag de garantia</a:t>
            </a:r>
            <a:endParaRPr lang="en-US" sz="1725" dirty="0"/>
          </a:p>
        </p:txBody>
      </p:sp>
      <p:sp>
        <p:nvSpPr>
          <p:cNvPr id="19" name="Shape 17"/>
          <p:cNvSpPr/>
          <p:nvPr/>
        </p:nvSpPr>
        <p:spPr>
          <a:xfrm>
            <a:off x="9248775" y="5522595"/>
            <a:ext cx="7991475" cy="960120"/>
          </a:xfrm>
          <a:prstGeom prst="roundRect">
            <a:avLst>
              <a:gd name="adj" fmla="val 11905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9542145" y="5854065"/>
            <a:ext cx="314325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fato_contratos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647295" y="5720715"/>
            <a:ext cx="4428572" cy="601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carreta-contrato · tipo, franquia de km, vigência</a:t>
            </a:r>
            <a:endParaRPr lang="en-US" sz="1725" dirty="0"/>
          </a:p>
        </p:txBody>
      </p:sp>
      <p:sp>
        <p:nvSpPr>
          <p:cNvPr id="22" name="Shape 20"/>
          <p:cNvSpPr/>
          <p:nvPr/>
        </p:nvSpPr>
        <p:spPr>
          <a:xfrm>
            <a:off x="1047750" y="6616065"/>
            <a:ext cx="7991475" cy="693420"/>
          </a:xfrm>
          <a:prstGeom prst="roundRect">
            <a:avLst>
              <a:gd name="adj" fmla="val 16484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1341120" y="6814185"/>
            <a:ext cx="314325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fato_gps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446270" y="6821805"/>
            <a:ext cx="437894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posição por dia · telemetria lat/long</a:t>
            </a:r>
            <a:endParaRPr lang="en-US" sz="1725" dirty="0"/>
          </a:p>
        </p:txBody>
      </p:sp>
      <p:sp>
        <p:nvSpPr>
          <p:cNvPr id="25" name="Shape 23"/>
          <p:cNvSpPr/>
          <p:nvPr/>
        </p:nvSpPr>
        <p:spPr>
          <a:xfrm>
            <a:off x="1047750" y="8724900"/>
            <a:ext cx="16192500" cy="800100"/>
          </a:xfrm>
          <a:prstGeom prst="roundRect">
            <a:avLst>
              <a:gd name="adj" fmla="val 14286"/>
            </a:avLst>
          </a:prstGeom>
          <a:solidFill>
            <a:srgbClr val="1222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1371600" y="8953500"/>
            <a:ext cx="1709928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Sete tabelas ligadas pelo identificador da carreta: uma de cadastro e seis de eventos de manutenção, uso e contrato.</a:t>
            </a:r>
            <a:r>
              <a:rPr lang="en-US" sz="1800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38200"/>
            <a:ext cx="1781175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347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PERGUNTA 6 · DEFINIÇÃO DO Y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230630"/>
            <a:ext cx="17811750" cy="670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35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entra no custo interno</a:t>
            </a:r>
            <a:endParaRPr lang="en-US" sz="4350" dirty="0"/>
          </a:p>
        </p:txBody>
      </p:sp>
      <p:sp>
        <p:nvSpPr>
          <p:cNvPr id="4" name="Text 2"/>
          <p:cNvSpPr/>
          <p:nvPr/>
        </p:nvSpPr>
        <p:spPr>
          <a:xfrm>
            <a:off x="1047750" y="2358390"/>
            <a:ext cx="9343268" cy="9020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2175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interno é a parte da manutenção paga pela empresa e não repassada ao cliente.</a:t>
            </a:r>
            <a:r>
              <a:rPr lang="en-US" sz="2175" b="1" dirty="0">
                <a:solidFill>
                  <a:srgbClr val="FFB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2175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2175" dirty="0"/>
          </a:p>
        </p:txBody>
      </p:sp>
      <p:sp>
        <p:nvSpPr>
          <p:cNvPr id="5" name="Text 3"/>
          <p:cNvSpPr/>
          <p:nvPr/>
        </p:nvSpPr>
        <p:spPr>
          <a:xfrm>
            <a:off x="1047750" y="3489008"/>
            <a:ext cx="275153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3FE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875" dirty="0"/>
          </a:p>
        </p:txBody>
      </p:sp>
      <p:sp>
        <p:nvSpPr>
          <p:cNvPr id="6" name="Text 4"/>
          <p:cNvSpPr/>
          <p:nvPr/>
        </p:nvSpPr>
        <p:spPr>
          <a:xfrm>
            <a:off x="1418153" y="3489008"/>
            <a:ext cx="688502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Linhas de OS marcadas como internas </a:t>
            </a:r>
            <a:r>
              <a:rPr lang="en-US" sz="165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charge_flag = 'I'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1047750" y="3998595"/>
            <a:ext cx="275153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3FE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1418153" y="3998595"/>
            <a:ext cx="6216563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Somente OS aprovadas, concluídas e não canceladas</a:t>
            </a:r>
            <a:endParaRPr lang="en-US" sz="1875" dirty="0"/>
          </a:p>
        </p:txBody>
      </p:sp>
      <p:sp>
        <p:nvSpPr>
          <p:cNvPr id="9" name="Text 7"/>
          <p:cNvSpPr/>
          <p:nvPr/>
        </p:nvSpPr>
        <p:spPr>
          <a:xfrm>
            <a:off x="1047750" y="4508183"/>
            <a:ext cx="275153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3FE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875" dirty="0"/>
          </a:p>
        </p:txBody>
      </p:sp>
      <p:sp>
        <p:nvSpPr>
          <p:cNvPr id="10" name="Text 8"/>
          <p:cNvSpPr/>
          <p:nvPr/>
        </p:nvSpPr>
        <p:spPr>
          <a:xfrm>
            <a:off x="1418153" y="4508183"/>
            <a:ext cx="8961752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Mão de obra e peças: valor terceirizado quando sublet; senão custo × quantidade/horas</a:t>
            </a:r>
            <a:endParaRPr lang="en-US" sz="1875" dirty="0"/>
          </a:p>
        </p:txBody>
      </p:sp>
      <p:sp>
        <p:nvSpPr>
          <p:cNvPr id="11" name="Text 9"/>
          <p:cNvSpPr/>
          <p:nvPr/>
        </p:nvSpPr>
        <p:spPr>
          <a:xfrm>
            <a:off x="1047750" y="5374957"/>
            <a:ext cx="275153" cy="4029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3FE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875" dirty="0"/>
          </a:p>
        </p:txBody>
      </p:sp>
      <p:sp>
        <p:nvSpPr>
          <p:cNvPr id="12" name="Text 10"/>
          <p:cNvSpPr/>
          <p:nvPr/>
        </p:nvSpPr>
        <p:spPr>
          <a:xfrm>
            <a:off x="1418153" y="5374957"/>
            <a:ext cx="8366939" cy="4029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Inclui preventiva </a:t>
            </a:r>
            <a:r>
              <a:rPr lang="en-US" sz="1875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</a:t>
            </a:r>
            <a:r>
              <a:rPr lang="en-US" sz="187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corretiva — "interno" não é sinônimo de "preventivo"</a:t>
            </a:r>
            <a:endParaRPr lang="en-US" sz="1875" dirty="0"/>
          </a:p>
        </p:txBody>
      </p:sp>
      <p:sp>
        <p:nvSpPr>
          <p:cNvPr id="13" name="Shape 11"/>
          <p:cNvSpPr/>
          <p:nvPr/>
        </p:nvSpPr>
        <p:spPr>
          <a:xfrm>
            <a:off x="10576084" y="3793808"/>
            <a:ext cx="6664166" cy="4219575"/>
          </a:xfrm>
          <a:prstGeom prst="roundRect">
            <a:avLst>
              <a:gd name="adj" fmla="val 3612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11021854" y="4220528"/>
            <a:ext cx="6349889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kern="0" spc="257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RECONCILIAÇÃO</a:t>
            </a:r>
            <a:endParaRPr lang="en-US" sz="1425" dirty="0"/>
          </a:p>
        </p:txBody>
      </p:sp>
      <p:sp>
        <p:nvSpPr>
          <p:cNvPr id="15" name="Text 13"/>
          <p:cNvSpPr/>
          <p:nvPr/>
        </p:nvSpPr>
        <p:spPr>
          <a:xfrm>
            <a:off x="11021854" y="4647247"/>
            <a:ext cx="6349889" cy="807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5250" b="1" dirty="0">
                <a:solidFill>
                  <a:srgbClr val="3FE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 77,0 mi</a:t>
            </a:r>
            <a:endParaRPr lang="en-US" sz="5250" dirty="0"/>
          </a:p>
        </p:txBody>
      </p:sp>
      <p:sp>
        <p:nvSpPr>
          <p:cNvPr id="16" name="Text 14"/>
          <p:cNvSpPr/>
          <p:nvPr/>
        </p:nvSpPr>
        <p:spPr>
          <a:xfrm>
            <a:off x="11021854" y="5512118"/>
            <a:ext cx="5945805" cy="601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interno nominal 2020–2025 (CAD 82,3 mi a valores de dez/2025)</a:t>
            </a:r>
            <a:endParaRPr lang="en-US" sz="1725" dirty="0"/>
          </a:p>
        </p:txBody>
      </p:sp>
      <p:sp>
        <p:nvSpPr>
          <p:cNvPr id="17" name="Shape 15"/>
          <p:cNvSpPr/>
          <p:nvPr/>
        </p:nvSpPr>
        <p:spPr>
          <a:xfrm>
            <a:off x="11021854" y="6361748"/>
            <a:ext cx="5772626" cy="9525"/>
          </a:xfrm>
          <a:prstGeom prst="rect">
            <a:avLst/>
          </a:prstGeom>
          <a:solidFill>
            <a:srgbClr val="22324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11021854" y="6657023"/>
            <a:ext cx="6349889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9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223.590</a:t>
            </a:r>
            <a:endParaRPr lang="en-US" sz="3900" dirty="0"/>
          </a:p>
        </p:txBody>
      </p:sp>
      <p:sp>
        <p:nvSpPr>
          <p:cNvPr id="19" name="Text 17"/>
          <p:cNvSpPr/>
          <p:nvPr/>
        </p:nvSpPr>
        <p:spPr>
          <a:xfrm>
            <a:off x="11021854" y="7304723"/>
            <a:ext cx="6349889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ordens de serviço no período</a:t>
            </a:r>
            <a:endParaRPr lang="en-US" sz="17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38200"/>
            <a:ext cx="1781175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347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CONTEXTO TÉCNICO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230630"/>
            <a:ext cx="17811750" cy="670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35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VMRS — código padrão de sistemas</a:t>
            </a:r>
            <a:endParaRPr lang="en-US" sz="4350" dirty="0"/>
          </a:p>
        </p:txBody>
      </p:sp>
      <p:sp>
        <p:nvSpPr>
          <p:cNvPr id="4" name="Text 2"/>
          <p:cNvSpPr/>
          <p:nvPr/>
        </p:nvSpPr>
        <p:spPr>
          <a:xfrm>
            <a:off x="1047750" y="2358390"/>
            <a:ext cx="7664158" cy="16402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202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reparo recebe um código padronizado que identifica o sistema da carreta, permitindo agregar custo por sistema de forma comparável.</a:t>
            </a:r>
            <a:r>
              <a:rPr lang="en-US" sz="2025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202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2025" dirty="0"/>
          </a:p>
        </p:txBody>
      </p:sp>
      <p:sp>
        <p:nvSpPr>
          <p:cNvPr id="5" name="Text 3"/>
          <p:cNvSpPr/>
          <p:nvPr/>
        </p:nvSpPr>
        <p:spPr>
          <a:xfrm>
            <a:off x="1047750" y="4208145"/>
            <a:ext cx="7664158" cy="842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80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 </a:t>
            </a:r>
            <a:r>
              <a:rPr lang="en-US" sz="202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(preventiva) é apenas </a:t>
            </a:r>
            <a:r>
              <a:rPr lang="en-US" sz="2025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</a:t>
            </a:r>
            <a:r>
              <a:rPr lang="en-US" sz="202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categorias — ao lado de freios, pneus, reefer, elétrica…</a:t>
            </a:r>
            <a:endParaRPr lang="en-US" sz="2025" dirty="0"/>
          </a:p>
        </p:txBody>
      </p:sp>
      <p:sp>
        <p:nvSpPr>
          <p:cNvPr id="6" name="Text 4"/>
          <p:cNvSpPr/>
          <p:nvPr/>
        </p:nvSpPr>
        <p:spPr>
          <a:xfrm>
            <a:off x="1047750" y="5260657"/>
            <a:ext cx="7664158" cy="842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202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Y soma o custo interno de </a:t>
            </a:r>
            <a:r>
              <a:rPr lang="en-US" sz="2025" b="1" dirty="0">
                <a:solidFill>
                  <a:srgbClr val="3FE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todas </a:t>
            </a:r>
            <a:r>
              <a:rPr lang="en-US" sz="202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categorias; o VMRS entra como dimensão de análise, não como filtro.</a:t>
            </a:r>
            <a:endParaRPr lang="en-US" sz="2025" dirty="0"/>
          </a:p>
        </p:txBody>
      </p:sp>
      <p:sp>
        <p:nvSpPr>
          <p:cNvPr id="7" name="Shape 5"/>
          <p:cNvSpPr/>
          <p:nvPr/>
        </p:nvSpPr>
        <p:spPr>
          <a:xfrm>
            <a:off x="8983980" y="2358390"/>
            <a:ext cx="8256270" cy="7090410"/>
          </a:xfrm>
          <a:prstGeom prst="roundRect">
            <a:avLst>
              <a:gd name="adj" fmla="val 2149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9391650" y="2708910"/>
            <a:ext cx="8185023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kern="0" spc="257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EXEMPLOS DE SISTEMAS</a:t>
            </a:r>
            <a:endParaRPr lang="en-US" sz="1425" dirty="0"/>
          </a:p>
        </p:txBody>
      </p:sp>
      <p:sp>
        <p:nvSpPr>
          <p:cNvPr id="9" name="Text 7"/>
          <p:cNvSpPr/>
          <p:nvPr/>
        </p:nvSpPr>
        <p:spPr>
          <a:xfrm>
            <a:off x="9391650" y="3173730"/>
            <a:ext cx="57150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077450" y="3173730"/>
            <a:ext cx="2532816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Preventive Maintenance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264515" y="3173730"/>
            <a:ext cx="57150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950315" y="3173730"/>
            <a:ext cx="784027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Brakes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391650" y="3623310"/>
            <a:ext cx="57150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077450" y="3623310"/>
            <a:ext cx="230255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Tires and Accessories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264515" y="3623310"/>
            <a:ext cx="57150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950315" y="3623310"/>
            <a:ext cx="752713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Reefer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391650" y="4072890"/>
            <a:ext cx="57150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077450" y="4072890"/>
            <a:ext cx="1834873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Lights and Wiring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264515" y="4072890"/>
            <a:ext cx="57150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950315" y="4072890"/>
            <a:ext cx="146113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Exterior Body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391650" y="4522470"/>
            <a:ext cx="57150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077450" y="4522470"/>
            <a:ext cx="142708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Gear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264515" y="4522470"/>
            <a:ext cx="57150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3950315" y="4522470"/>
            <a:ext cx="153614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 Equipment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38200"/>
            <a:ext cx="1781175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347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CONTEXTO TÉCNICO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230630"/>
            <a:ext cx="17811750" cy="670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35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Programas de manutenção preventiva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1047750" y="3463290"/>
            <a:ext cx="7981950" cy="1773555"/>
          </a:xfrm>
          <a:prstGeom prst="roundRect">
            <a:avLst>
              <a:gd name="adj" fmla="val 8593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417320" y="3794760"/>
            <a:ext cx="7967091" cy="35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3FE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· Inspeção geral</a:t>
            </a:r>
            <a:endParaRPr lang="en-US" sz="2175" dirty="0"/>
          </a:p>
        </p:txBody>
      </p:sp>
      <p:sp>
        <p:nvSpPr>
          <p:cNvPr id="6" name="Text 4"/>
          <p:cNvSpPr/>
          <p:nvPr/>
        </p:nvSpPr>
        <p:spPr>
          <a:xfrm>
            <a:off x="1417320" y="4248150"/>
            <a:ext cx="7460095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72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Estado mecânico e de segurança: chassi, landing gear, pneus, freios, luzes/ABS, portas e vedações.</a:t>
            </a:r>
            <a:endParaRPr lang="en-US" sz="1725" dirty="0"/>
          </a:p>
        </p:txBody>
      </p:sp>
      <p:sp>
        <p:nvSpPr>
          <p:cNvPr id="7" name="Shape 5"/>
          <p:cNvSpPr/>
          <p:nvPr/>
        </p:nvSpPr>
        <p:spPr>
          <a:xfrm>
            <a:off x="9258300" y="3463290"/>
            <a:ext cx="7981950" cy="1773555"/>
          </a:xfrm>
          <a:prstGeom prst="roundRect">
            <a:avLst>
              <a:gd name="adj" fmla="val 8593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9627870" y="3794760"/>
            <a:ext cx="7967091" cy="35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3FE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Inspeção de Segurança (MTO)</a:t>
            </a:r>
            <a:endParaRPr lang="en-US" sz="2175" dirty="0"/>
          </a:p>
        </p:txBody>
      </p:sp>
      <p:sp>
        <p:nvSpPr>
          <p:cNvPr id="9" name="Text 7"/>
          <p:cNvSpPr/>
          <p:nvPr/>
        </p:nvSpPr>
        <p:spPr>
          <a:xfrm>
            <a:off x="9627870" y="4248150"/>
            <a:ext cx="7460095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72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Inspeção regulatória anual completa — emite o certificado e o selo de segurança.</a:t>
            </a:r>
            <a:endParaRPr lang="en-US" sz="1725" dirty="0"/>
          </a:p>
        </p:txBody>
      </p:sp>
      <p:sp>
        <p:nvSpPr>
          <p:cNvPr id="10" name="Shape 8"/>
          <p:cNvSpPr/>
          <p:nvPr/>
        </p:nvSpPr>
        <p:spPr>
          <a:xfrm>
            <a:off x="1047750" y="5465445"/>
            <a:ext cx="7981950" cy="1773555"/>
          </a:xfrm>
          <a:prstGeom prst="roundRect">
            <a:avLst>
              <a:gd name="adj" fmla="val 8593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1417320" y="5796915"/>
            <a:ext cx="7967091" cy="35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3FE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Reefer PM · Dry Service</a:t>
            </a:r>
            <a:endParaRPr lang="en-US" sz="2175" dirty="0"/>
          </a:p>
        </p:txBody>
      </p:sp>
      <p:sp>
        <p:nvSpPr>
          <p:cNvPr id="12" name="Text 10"/>
          <p:cNvSpPr/>
          <p:nvPr/>
        </p:nvSpPr>
        <p:spPr>
          <a:xfrm>
            <a:off x="1417320" y="6250305"/>
            <a:ext cx="7460095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72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Serviço "seco" da unidade de refrigeração: limpeza, correias, teste de ciclo, sensores.</a:t>
            </a:r>
            <a:endParaRPr lang="en-US" sz="1725" dirty="0"/>
          </a:p>
        </p:txBody>
      </p:sp>
      <p:sp>
        <p:nvSpPr>
          <p:cNvPr id="13" name="Shape 11"/>
          <p:cNvSpPr/>
          <p:nvPr/>
        </p:nvSpPr>
        <p:spPr>
          <a:xfrm>
            <a:off x="9258300" y="5465445"/>
            <a:ext cx="7981950" cy="1773555"/>
          </a:xfrm>
          <a:prstGeom prst="roundRect">
            <a:avLst>
              <a:gd name="adj" fmla="val 8593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9627870" y="5796915"/>
            <a:ext cx="7967091" cy="35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3FE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Reefer PM · Wet Service</a:t>
            </a:r>
            <a:endParaRPr lang="en-US" sz="2175" dirty="0"/>
          </a:p>
        </p:txBody>
      </p:sp>
      <p:sp>
        <p:nvSpPr>
          <p:cNvPr id="15" name="Text 13"/>
          <p:cNvSpPr/>
          <p:nvPr/>
        </p:nvSpPr>
        <p:spPr>
          <a:xfrm>
            <a:off x="9627870" y="6250305"/>
            <a:ext cx="7967091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72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Dry Service + trocas de fluidos e filtros da unidade; reset do horímetro.</a:t>
            </a:r>
            <a:endParaRPr lang="en-US" sz="1725" dirty="0"/>
          </a:p>
        </p:txBody>
      </p:sp>
      <p:sp>
        <p:nvSpPr>
          <p:cNvPr id="16" name="Shape 14"/>
          <p:cNvSpPr/>
          <p:nvPr/>
        </p:nvSpPr>
        <p:spPr>
          <a:xfrm>
            <a:off x="1047750" y="8648700"/>
            <a:ext cx="16192500" cy="800100"/>
          </a:xfrm>
          <a:prstGeom prst="roundRect">
            <a:avLst>
              <a:gd name="adj" fmla="val 14286"/>
            </a:avLst>
          </a:prstGeom>
          <a:solidFill>
            <a:srgbClr val="1222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1371600" y="8877300"/>
            <a:ext cx="1709928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ATENÇÃO </a:t>
            </a:r>
            <a:r>
              <a:rPr lang="en-US" sz="1800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Além dos PMs programados, as corretivas não programadas também geram custo interno — e são as que mais variam entre carretas.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38200"/>
            <a:ext cx="1781175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347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VARIÁVEL-ALVO (Y)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230630"/>
            <a:ext cx="17811750" cy="579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750" b="1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custo_manutencao_interno_anual</a:t>
            </a:r>
            <a:endParaRPr lang="en-US" sz="3750" dirty="0"/>
          </a:p>
        </p:txBody>
      </p:sp>
      <p:sp>
        <p:nvSpPr>
          <p:cNvPr id="4" name="Shape 2"/>
          <p:cNvSpPr/>
          <p:nvPr/>
        </p:nvSpPr>
        <p:spPr>
          <a:xfrm>
            <a:off x="1047750" y="2190750"/>
            <a:ext cx="16192500" cy="1661160"/>
          </a:xfrm>
          <a:prstGeom prst="roundRect">
            <a:avLst>
              <a:gd name="adj" fmla="val 9174"/>
            </a:avLst>
          </a:prstGeom>
          <a:solidFill>
            <a:srgbClr val="0E211E"/>
          </a:solidFill>
          <a:ln w="7620">
            <a:solidFill>
              <a:srgbClr val="1C3B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459367" y="2800350"/>
            <a:ext cx="330398" cy="4800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3FE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56465" y="2807970"/>
            <a:ext cx="270510" cy="4648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5516187" y="2724912"/>
            <a:ext cx="5320861" cy="396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175" dirty="0">
                <a:solidFill>
                  <a:srgbClr val="EA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1725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2175" dirty="0"/>
          </a:p>
        </p:txBody>
      </p:sp>
      <p:sp>
        <p:nvSpPr>
          <p:cNvPr id="9" name="Text 7"/>
          <p:cNvSpPr/>
          <p:nvPr/>
        </p:nvSpPr>
        <p:spPr>
          <a:xfrm>
            <a:off x="5486400" y="2331720"/>
            <a:ext cx="548640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ctr">
              <a:buNone/>
            </a:pPr>
            <a:r>
              <a:rPr lang="en-US" sz="2175" dirty="0">
                <a:solidFill>
                  <a:srgbClr val="EA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interno anual de manutenção por carreta (CAD, deflacionado para dez/2025 · CPI)</a:t>
            </a:r>
            <a:endParaRPr lang="en-US" sz="2175" dirty="0"/>
          </a:p>
        </p:txBody>
      </p:sp>
      <p:sp>
        <p:nvSpPr>
          <p:cNvPr id="10" name="Text 8"/>
          <p:cNvSpPr/>
          <p:nvPr/>
        </p:nvSpPr>
        <p:spPr>
          <a:xfrm>
            <a:off x="11331060" y="2880360"/>
            <a:ext cx="2747201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grão: carreta × ano</a:t>
            </a:r>
            <a:endParaRPr lang="en-US" sz="1725" dirty="0"/>
          </a:p>
        </p:txBody>
      </p:sp>
      <p:sp>
        <p:nvSpPr>
          <p:cNvPr id="11" name="Shape 9"/>
          <p:cNvSpPr/>
          <p:nvPr/>
        </p:nvSpPr>
        <p:spPr>
          <a:xfrm>
            <a:off x="1047750" y="4194810"/>
            <a:ext cx="5245061" cy="1798320"/>
          </a:xfrm>
          <a:prstGeom prst="roundRect">
            <a:avLst>
              <a:gd name="adj" fmla="val 7415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1379220" y="4507230"/>
            <a:ext cx="5040332" cy="586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75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47.666</a:t>
            </a:r>
            <a:endParaRPr lang="en-US" sz="3750" dirty="0"/>
          </a:p>
        </p:txBody>
      </p:sp>
      <p:sp>
        <p:nvSpPr>
          <p:cNvPr id="13" name="Text 11"/>
          <p:cNvSpPr/>
          <p:nvPr/>
        </p:nvSpPr>
        <p:spPr>
          <a:xfrm>
            <a:off x="1379220" y="5132070"/>
            <a:ext cx="4719584" cy="586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observações carreta × ano (carretas com ≥ 1 OS no ano)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521411" y="4194810"/>
            <a:ext cx="5245179" cy="1798320"/>
          </a:xfrm>
          <a:prstGeom prst="roundRect">
            <a:avLst>
              <a:gd name="adj" fmla="val 7415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6852881" y="4507230"/>
            <a:ext cx="5040463" cy="586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750" b="1" dirty="0">
                <a:solidFill>
                  <a:srgbClr val="FFB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0,02%</a:t>
            </a:r>
            <a:endParaRPr lang="en-US" sz="3750" dirty="0"/>
          </a:p>
        </p:txBody>
      </p:sp>
      <p:sp>
        <p:nvSpPr>
          <p:cNvPr id="16" name="Text 14"/>
          <p:cNvSpPr/>
          <p:nvPr/>
        </p:nvSpPr>
        <p:spPr>
          <a:xfrm>
            <a:off x="6852881" y="5132070"/>
            <a:ext cx="4719707" cy="586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anos com custo zero — quase toda carreta com OS tem custo (o desafio é a magnitude)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1995190" y="4194810"/>
            <a:ext cx="5245061" cy="1798320"/>
          </a:xfrm>
          <a:prstGeom prst="roundRect">
            <a:avLst>
              <a:gd name="adj" fmla="val 7415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12326660" y="4507230"/>
            <a:ext cx="5040332" cy="586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750" b="1" dirty="0">
                <a:solidFill>
                  <a:srgbClr val="3FE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 1.726</a:t>
            </a:r>
            <a:endParaRPr lang="en-US" sz="3750" dirty="0"/>
          </a:p>
        </p:txBody>
      </p:sp>
      <p:sp>
        <p:nvSpPr>
          <p:cNvPr id="19" name="Text 17"/>
          <p:cNvSpPr/>
          <p:nvPr/>
        </p:nvSpPr>
        <p:spPr>
          <a:xfrm>
            <a:off x="12326660" y="5132070"/>
            <a:ext cx="4719584" cy="586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média por carreta/ano · mediana CAD 859/ano</a:t>
            </a:r>
            <a:endParaRPr lang="en-US" sz="1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62000"/>
            <a:ext cx="1781175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347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CORREÇÃO METODOLÓGICA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4430"/>
            <a:ext cx="17811750" cy="693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Custos em CAD ⇒ deflação pelo CPI do Canadá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47750" y="2190750"/>
            <a:ext cx="9476542" cy="733425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1238250" y="3331369"/>
            <a:ext cx="9095542" cy="505301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43391" y="3779044"/>
            <a:ext cx="6485764" cy="8210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deflação separa o aumento real de custo do efeito da inflação.</a:t>
            </a:r>
            <a:r>
              <a:rPr lang="en-US" sz="195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195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195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195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950" dirty="0"/>
          </a:p>
        </p:txBody>
      </p:sp>
      <p:sp>
        <p:nvSpPr>
          <p:cNvPr id="7" name="Shape 4"/>
          <p:cNvSpPr/>
          <p:nvPr/>
        </p:nvSpPr>
        <p:spPr>
          <a:xfrm>
            <a:off x="10943391" y="4790599"/>
            <a:ext cx="6296859" cy="1451610"/>
          </a:xfrm>
          <a:prstGeom prst="roundRect">
            <a:avLst>
              <a:gd name="adj" fmla="val 9186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11255812" y="5064919"/>
            <a:ext cx="6239220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900" b="1" dirty="0">
                <a:solidFill>
                  <a:srgbClr val="FFB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+20%</a:t>
            </a:r>
            <a:endParaRPr lang="en-US" sz="3900" dirty="0"/>
          </a:p>
        </p:txBody>
      </p:sp>
      <p:sp>
        <p:nvSpPr>
          <p:cNvPr id="9" name="Text 6"/>
          <p:cNvSpPr/>
          <p:nvPr/>
        </p:nvSpPr>
        <p:spPr>
          <a:xfrm>
            <a:off x="11255812" y="5693569"/>
            <a:ext cx="623922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inflação canadense acumulada 2020 → 2025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10943391" y="6470809"/>
            <a:ext cx="6296859" cy="1465898"/>
          </a:xfrm>
          <a:prstGeom prst="roundRect">
            <a:avLst>
              <a:gd name="adj" fmla="val 9097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11255811" y="6707029"/>
            <a:ext cx="5860924" cy="10315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725" dirty="0">
                <a:solidFill>
                  <a:srgbClr val="C3CFD8"/>
                </a:solidFill>
                <a:highlight>
                  <a:srgbClr val="101B26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Todos os custos convertidos ao </a:t>
            </a:r>
            <a:r>
              <a:rPr lang="en-US" sz="1725" b="1" dirty="0">
                <a:solidFill>
                  <a:srgbClr val="3FE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dólar de dez/2025 </a:t>
            </a:r>
            <a:r>
              <a:rPr lang="en-US" sz="1725" dirty="0">
                <a:solidFill>
                  <a:srgbClr val="C3CFD8"/>
                </a:solidFill>
                <a:highlight>
                  <a:srgbClr val="101B26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via CPI all-items (StatCan) — corrige a versão anterior, que usava IPCA (Brasil).</a:t>
            </a:r>
            <a:endParaRPr lang="en-US" sz="1725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38200"/>
            <a:ext cx="1781175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347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MODELAGEM DE DADOS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230630"/>
            <a:ext cx="17811750" cy="670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35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modelo estrela à base anual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1047750" y="4267200"/>
            <a:ext cx="5588318" cy="2263140"/>
          </a:xfrm>
          <a:prstGeom prst="roundRect">
            <a:avLst>
              <a:gd name="adj" fmla="val 6734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195816" y="4693920"/>
            <a:ext cx="5292185" cy="739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tabelas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364204" y="5509260"/>
            <a:ext cx="4955410" cy="632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normalizadas extração · modelo estrela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914017" y="4480560"/>
            <a:ext cx="4459967" cy="11696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80000"/>
              </a:lnSpc>
              <a:buNone/>
            </a:pPr>
            <a:r>
              <a:rPr lang="en-US" sz="165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agregação anual por carreta a partir do fato_wo_ml consolidado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6762464" y="5707380"/>
            <a:ext cx="4763072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3600" dirty="0">
                <a:solidFill>
                  <a:srgbClr val="3FE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⟶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11651933" y="4267200"/>
            <a:ext cx="5588318" cy="2263140"/>
          </a:xfrm>
          <a:prstGeom prst="roundRect">
            <a:avLst>
              <a:gd name="adj" fmla="val 6734"/>
            </a:avLst>
          </a:prstGeom>
          <a:solidFill>
            <a:srgbClr val="0E211E"/>
          </a:solidFill>
          <a:ln w="7620">
            <a:solidFill>
              <a:srgbClr val="1C3B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11799998" y="4693920"/>
            <a:ext cx="5292185" cy="739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3FE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tabela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11968386" y="5509260"/>
            <a:ext cx="4955410" cy="632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desnormalizada 1 linha = carreta × ano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047750" y="8648700"/>
            <a:ext cx="16192500" cy="800100"/>
          </a:xfrm>
          <a:prstGeom prst="roundRect">
            <a:avLst>
              <a:gd name="adj" fmla="val 14286"/>
            </a:avLst>
          </a:prstGeom>
          <a:solidFill>
            <a:srgbClr val="1222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1371600" y="8877300"/>
            <a:ext cx="1709928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 base anual carreta × ano (2020–2025), 47.666 observações a partir do fato_wo_ml — pronta para EDA e ML.</a:t>
            </a:r>
            <a:r>
              <a:rPr lang="en-US" sz="180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r>
              <a:rPr lang="en-US" sz="1800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62000"/>
            <a:ext cx="1781175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347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PERGUNTA 7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4430"/>
            <a:ext cx="17811750" cy="670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35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engineering — variáveis derivadas por carreta/ano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1047750" y="3545205"/>
            <a:ext cx="5295900" cy="1082040"/>
          </a:xfrm>
          <a:prstGeom prst="roundRect">
            <a:avLst>
              <a:gd name="adj" fmla="val 10563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322070" y="3781425"/>
            <a:ext cx="5221986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idade_carreta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322070" y="4131945"/>
            <a:ext cx="5221986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anos desde a entrada em serviço</a:t>
            </a:r>
            <a:endParaRPr lang="en-US" sz="1575" dirty="0"/>
          </a:p>
        </p:txBody>
      </p:sp>
      <p:sp>
        <p:nvSpPr>
          <p:cNvPr id="7" name="Shape 5"/>
          <p:cNvSpPr/>
          <p:nvPr/>
        </p:nvSpPr>
        <p:spPr>
          <a:xfrm>
            <a:off x="6496050" y="3545205"/>
            <a:ext cx="5295900" cy="1082040"/>
          </a:xfrm>
          <a:prstGeom prst="roundRect">
            <a:avLst>
              <a:gd name="adj" fmla="val 10563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6770370" y="3781425"/>
            <a:ext cx="5221986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km_rodado_ano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6770370" y="4131945"/>
            <a:ext cx="5221986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intensidade de uso anual</a:t>
            </a:r>
            <a:endParaRPr lang="en-US" sz="1575" dirty="0"/>
          </a:p>
        </p:txBody>
      </p:sp>
      <p:sp>
        <p:nvSpPr>
          <p:cNvPr id="10" name="Shape 8"/>
          <p:cNvSpPr/>
          <p:nvPr/>
        </p:nvSpPr>
        <p:spPr>
          <a:xfrm>
            <a:off x="11944350" y="3545205"/>
            <a:ext cx="5295900" cy="1082040"/>
          </a:xfrm>
          <a:prstGeom prst="roundRect">
            <a:avLst>
              <a:gd name="adj" fmla="val 10563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12218670" y="3781425"/>
            <a:ext cx="5221986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km_acumulado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2218670" y="4131945"/>
            <a:ext cx="5221986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quilometragem acumulada até o ano anterior (defasada)</a:t>
            </a:r>
            <a:endParaRPr lang="en-US" sz="1575" dirty="0"/>
          </a:p>
        </p:txBody>
      </p:sp>
      <p:sp>
        <p:nvSpPr>
          <p:cNvPr id="13" name="Shape 11"/>
          <p:cNvSpPr/>
          <p:nvPr/>
        </p:nvSpPr>
        <p:spPr>
          <a:xfrm>
            <a:off x="1047750" y="4779645"/>
            <a:ext cx="5295900" cy="1082040"/>
          </a:xfrm>
          <a:prstGeom prst="roundRect">
            <a:avLst>
              <a:gd name="adj" fmla="val 10563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1322070" y="5015865"/>
            <a:ext cx="5221986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custo_acum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322070" y="5366385"/>
            <a:ext cx="5221986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interno acumulado até o ano anterior</a:t>
            </a:r>
            <a:endParaRPr lang="en-US" sz="1575" dirty="0"/>
          </a:p>
        </p:txBody>
      </p:sp>
      <p:sp>
        <p:nvSpPr>
          <p:cNvPr id="16" name="Shape 14"/>
          <p:cNvSpPr/>
          <p:nvPr/>
        </p:nvSpPr>
        <p:spPr>
          <a:xfrm>
            <a:off x="6496050" y="4779645"/>
            <a:ext cx="5295900" cy="1082040"/>
          </a:xfrm>
          <a:prstGeom prst="roundRect">
            <a:avLst>
              <a:gd name="adj" fmla="val 10563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6770370" y="5015865"/>
            <a:ext cx="5221986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n_os_acum · n_os_prev_acum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6770370" y="5366385"/>
            <a:ext cx="5221986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nº de OS acumuladas (totais e preventivas)</a:t>
            </a:r>
            <a:endParaRPr lang="en-US" sz="1575" dirty="0"/>
          </a:p>
        </p:txBody>
      </p:sp>
      <p:sp>
        <p:nvSpPr>
          <p:cNvPr id="19" name="Shape 17"/>
          <p:cNvSpPr/>
          <p:nvPr/>
        </p:nvSpPr>
        <p:spPr>
          <a:xfrm>
            <a:off x="11944350" y="4779645"/>
            <a:ext cx="5295900" cy="1082040"/>
          </a:xfrm>
          <a:prstGeom prst="roundRect">
            <a:avLst>
              <a:gd name="adj" fmla="val 10563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12218670" y="5015865"/>
            <a:ext cx="5221986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custo_ano_anterior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2218670" y="5366385"/>
            <a:ext cx="5221986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interno do ano anterior (defasado)</a:t>
            </a:r>
            <a:endParaRPr lang="en-US" sz="1575" dirty="0"/>
          </a:p>
        </p:txBody>
      </p:sp>
      <p:sp>
        <p:nvSpPr>
          <p:cNvPr id="22" name="Shape 20"/>
          <p:cNvSpPr/>
          <p:nvPr/>
        </p:nvSpPr>
        <p:spPr>
          <a:xfrm>
            <a:off x="1047750" y="6014085"/>
            <a:ext cx="5295900" cy="1082040"/>
          </a:xfrm>
          <a:prstGeom prst="roundRect">
            <a:avLst>
              <a:gd name="adj" fmla="val 10563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1322070" y="6250305"/>
            <a:ext cx="5221986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intervalo_medio_os · recência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322070" y="6600825"/>
            <a:ext cx="5221986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médio entre OS · tempo desde a última OS</a:t>
            </a:r>
            <a:endParaRPr lang="en-US" sz="1575" dirty="0"/>
          </a:p>
        </p:txBody>
      </p:sp>
      <p:sp>
        <p:nvSpPr>
          <p:cNvPr id="25" name="Shape 23"/>
          <p:cNvSpPr/>
          <p:nvPr/>
        </p:nvSpPr>
        <p:spPr>
          <a:xfrm>
            <a:off x="6496050" y="6014085"/>
            <a:ext cx="5295900" cy="1082040"/>
          </a:xfrm>
          <a:prstGeom prst="roundRect">
            <a:avLst>
              <a:gd name="adj" fmla="val 10563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6770370" y="6250305"/>
            <a:ext cx="5221986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n_sistemas_vmrs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6770370" y="6600825"/>
            <a:ext cx="5221986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nº de sistemas VMRS distintos acionados no ano</a:t>
            </a:r>
            <a:endParaRPr lang="en-US" sz="1575" dirty="0"/>
          </a:p>
        </p:txBody>
      </p:sp>
      <p:sp>
        <p:nvSpPr>
          <p:cNvPr id="28" name="Shape 26"/>
          <p:cNvSpPr/>
          <p:nvPr/>
        </p:nvSpPr>
        <p:spPr>
          <a:xfrm>
            <a:off x="11944350" y="6014085"/>
            <a:ext cx="5295900" cy="1082040"/>
          </a:xfrm>
          <a:prstGeom prst="roundRect">
            <a:avLst>
              <a:gd name="adj" fmla="val 10563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12218670" y="6250305"/>
            <a:ext cx="5221986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provincia_operacao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12218670" y="6600825"/>
            <a:ext cx="5221986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província/local da OS (fato_wo_ml)</a:t>
            </a:r>
            <a:endParaRPr lang="en-US" sz="1575" dirty="0"/>
          </a:p>
        </p:txBody>
      </p:sp>
      <p:sp>
        <p:nvSpPr>
          <p:cNvPr id="31" name="Shape 29"/>
          <p:cNvSpPr/>
          <p:nvPr/>
        </p:nvSpPr>
        <p:spPr>
          <a:xfrm>
            <a:off x="1047750" y="8702040"/>
            <a:ext cx="16192500" cy="822960"/>
          </a:xfrm>
          <a:prstGeom prst="roundRect">
            <a:avLst>
              <a:gd name="adj" fmla="val 13889"/>
            </a:avLst>
          </a:prstGeom>
          <a:solidFill>
            <a:srgbClr val="2A1F10"/>
          </a:solidFill>
          <a:ln w="7620">
            <a:solidFill>
              <a:srgbClr val="4A392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1379220" y="8938260"/>
            <a:ext cx="17082516" cy="3886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ANTI-VAZAMENTO As variáveis defasadas usam apenas informação anterior ao ano previsto — custo do ano anterior, acumulados e intervalo entre OS.</a:t>
            </a:r>
            <a:r>
              <a:rPr lang="en-US" sz="1800" dirty="0">
                <a:solidFill>
                  <a:srgbClr val="F5E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1800" b="1" dirty="0">
                <a:solidFill>
                  <a:srgbClr val="F5E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1800" dirty="0">
                <a:solidFill>
                  <a:srgbClr val="F5E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62000"/>
            <a:ext cx="1781175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347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PERGUNTAS 6–7 · DICIONÁRIO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4430"/>
            <a:ext cx="1781175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Variáveis numéricas </a:t>
            </a:r>
            <a:r>
              <a:rPr lang="en-US" sz="4200" b="1" dirty="0">
                <a:solidFill>
                  <a:srgbClr val="7B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47750" y="2874645"/>
            <a:ext cx="16192500" cy="640080"/>
          </a:xfrm>
          <a:prstGeom prst="roundRect">
            <a:avLst>
              <a:gd name="adj" fmla="val 17857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341120" y="3053715"/>
            <a:ext cx="419100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n_os_ano</a:t>
            </a:r>
            <a:endParaRPr lang="en-US" sz="1725" dirty="0"/>
          </a:p>
        </p:txBody>
      </p:sp>
      <p:sp>
        <p:nvSpPr>
          <p:cNvPr id="6" name="Text 4"/>
          <p:cNvSpPr/>
          <p:nvPr/>
        </p:nvSpPr>
        <p:spPr>
          <a:xfrm>
            <a:off x="5417820" y="3088005"/>
            <a:ext cx="1990725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CONTAGEM</a:t>
            </a:r>
            <a:endParaRPr lang="en-US" sz="1275" dirty="0"/>
          </a:p>
        </p:txBody>
      </p:sp>
      <p:sp>
        <p:nvSpPr>
          <p:cNvPr id="7" name="Text 5"/>
          <p:cNvSpPr/>
          <p:nvPr/>
        </p:nvSpPr>
        <p:spPr>
          <a:xfrm>
            <a:off x="7494270" y="3057525"/>
            <a:ext cx="707192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nº de OS internas da carreta no ano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47750" y="3629025"/>
            <a:ext cx="16192500" cy="640080"/>
          </a:xfrm>
          <a:prstGeom prst="roundRect">
            <a:avLst>
              <a:gd name="adj" fmla="val 17857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1341120" y="3808095"/>
            <a:ext cx="419100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n_os_preventivas_ano</a:t>
            </a:r>
            <a:endParaRPr lang="en-US" sz="1725" dirty="0"/>
          </a:p>
        </p:txBody>
      </p:sp>
      <p:sp>
        <p:nvSpPr>
          <p:cNvPr id="10" name="Text 8"/>
          <p:cNvSpPr/>
          <p:nvPr/>
        </p:nvSpPr>
        <p:spPr>
          <a:xfrm>
            <a:off x="5417820" y="3842385"/>
            <a:ext cx="1990725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CONTAGEM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7494270" y="3811905"/>
            <a:ext cx="6570833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nº de OS preventivas (VMRS PM) no ano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1047750" y="4383405"/>
            <a:ext cx="16192500" cy="640080"/>
          </a:xfrm>
          <a:prstGeom prst="roundRect">
            <a:avLst>
              <a:gd name="adj" fmla="val 17857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1341120" y="4562475"/>
            <a:ext cx="419100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n_sistemas_vmrs</a:t>
            </a:r>
            <a:endParaRPr lang="en-US" sz="1725" dirty="0"/>
          </a:p>
        </p:txBody>
      </p:sp>
      <p:sp>
        <p:nvSpPr>
          <p:cNvPr id="14" name="Text 12"/>
          <p:cNvSpPr/>
          <p:nvPr/>
        </p:nvSpPr>
        <p:spPr>
          <a:xfrm>
            <a:off x="5417820" y="4596765"/>
            <a:ext cx="1990725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CONTAGEM DISTINTA</a:t>
            </a:r>
            <a:endParaRPr lang="en-US" sz="1275" dirty="0"/>
          </a:p>
        </p:txBody>
      </p:sp>
      <p:sp>
        <p:nvSpPr>
          <p:cNvPr id="15" name="Text 13"/>
          <p:cNvSpPr/>
          <p:nvPr/>
        </p:nvSpPr>
        <p:spPr>
          <a:xfrm>
            <a:off x="7494270" y="4566285"/>
            <a:ext cx="6128028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nº de sistemas VMRS diferentes acionados no ano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047750" y="5137785"/>
            <a:ext cx="16192500" cy="640080"/>
          </a:xfrm>
          <a:prstGeom prst="roundRect">
            <a:avLst>
              <a:gd name="adj" fmla="val 17857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1341120" y="5316855"/>
            <a:ext cx="419100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km_rodado_ano</a:t>
            </a:r>
            <a:endParaRPr lang="en-US" sz="1725" dirty="0"/>
          </a:p>
        </p:txBody>
      </p:sp>
      <p:sp>
        <p:nvSpPr>
          <p:cNvPr id="18" name="Text 16"/>
          <p:cNvSpPr/>
          <p:nvPr/>
        </p:nvSpPr>
        <p:spPr>
          <a:xfrm>
            <a:off x="5417820" y="5351145"/>
            <a:ext cx="1990725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</a:t>
            </a:r>
            <a:endParaRPr lang="en-US" sz="1275" dirty="0"/>
          </a:p>
        </p:txBody>
      </p:sp>
      <p:sp>
        <p:nvSpPr>
          <p:cNvPr id="19" name="Text 17"/>
          <p:cNvSpPr/>
          <p:nvPr/>
        </p:nvSpPr>
        <p:spPr>
          <a:xfrm>
            <a:off x="7494270" y="5320665"/>
            <a:ext cx="6012383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 percorridos no ano (Δ odômetro, prorrateado)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047750" y="5892165"/>
            <a:ext cx="16192500" cy="640080"/>
          </a:xfrm>
          <a:prstGeom prst="roundRect">
            <a:avLst>
              <a:gd name="adj" fmla="val 17857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1341120" y="6071235"/>
            <a:ext cx="419100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km_acumulado_fim_ano</a:t>
            </a:r>
            <a:endParaRPr lang="en-US" sz="1725" dirty="0"/>
          </a:p>
        </p:txBody>
      </p:sp>
      <p:sp>
        <p:nvSpPr>
          <p:cNvPr id="22" name="Text 20"/>
          <p:cNvSpPr/>
          <p:nvPr/>
        </p:nvSpPr>
        <p:spPr>
          <a:xfrm>
            <a:off x="5417820" y="6105525"/>
            <a:ext cx="1990725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ACUM.</a:t>
            </a:r>
            <a:endParaRPr lang="en-US" sz="1275" dirty="0"/>
          </a:p>
        </p:txBody>
      </p:sp>
      <p:sp>
        <p:nvSpPr>
          <p:cNvPr id="23" name="Text 21"/>
          <p:cNvSpPr/>
          <p:nvPr/>
        </p:nvSpPr>
        <p:spPr>
          <a:xfrm>
            <a:off x="7494270" y="6075045"/>
            <a:ext cx="6903232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 de odômetro no fim do ano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047750" y="6646545"/>
            <a:ext cx="16192500" cy="640080"/>
          </a:xfrm>
          <a:prstGeom prst="roundRect">
            <a:avLst>
              <a:gd name="adj" fmla="val 17857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1341120" y="6825615"/>
            <a:ext cx="419100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km_acumulado_defasado</a:t>
            </a:r>
            <a:endParaRPr lang="en-US" sz="1725" dirty="0"/>
          </a:p>
        </p:txBody>
      </p:sp>
      <p:sp>
        <p:nvSpPr>
          <p:cNvPr id="26" name="Text 24"/>
          <p:cNvSpPr/>
          <p:nvPr/>
        </p:nvSpPr>
        <p:spPr>
          <a:xfrm>
            <a:off x="5417820" y="6859905"/>
            <a:ext cx="1990725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ACUM. DEFASADA</a:t>
            </a:r>
            <a:endParaRPr lang="en-US" sz="1275" dirty="0"/>
          </a:p>
        </p:txBody>
      </p:sp>
      <p:sp>
        <p:nvSpPr>
          <p:cNvPr id="27" name="Text 25"/>
          <p:cNvSpPr/>
          <p:nvPr/>
        </p:nvSpPr>
        <p:spPr>
          <a:xfrm>
            <a:off x="7494270" y="6829425"/>
            <a:ext cx="6553153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 acumulado até o fim do ano anterior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047750" y="7400925"/>
            <a:ext cx="16192500" cy="640080"/>
          </a:xfrm>
          <a:prstGeom prst="roundRect">
            <a:avLst>
              <a:gd name="adj" fmla="val 17857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1341120" y="7579995"/>
            <a:ext cx="419100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delta_km_medio_os</a:t>
            </a:r>
            <a:endParaRPr lang="en-US" sz="1725" dirty="0"/>
          </a:p>
        </p:txBody>
      </p:sp>
      <p:sp>
        <p:nvSpPr>
          <p:cNvPr id="30" name="Text 28"/>
          <p:cNvSpPr/>
          <p:nvPr/>
        </p:nvSpPr>
        <p:spPr>
          <a:xfrm>
            <a:off x="5417820" y="7614285"/>
            <a:ext cx="1990725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MÉDIA</a:t>
            </a:r>
            <a:endParaRPr lang="en-US" sz="1275" dirty="0"/>
          </a:p>
        </p:txBody>
      </p:sp>
      <p:sp>
        <p:nvSpPr>
          <p:cNvPr id="31" name="Text 29"/>
          <p:cNvSpPr/>
          <p:nvPr/>
        </p:nvSpPr>
        <p:spPr>
          <a:xfrm>
            <a:off x="7494270" y="7583805"/>
            <a:ext cx="5521119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 médio percorrido entre OS no ano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047750" y="8155305"/>
            <a:ext cx="16192500" cy="640080"/>
          </a:xfrm>
          <a:prstGeom prst="roundRect">
            <a:avLst>
              <a:gd name="adj" fmla="val 17857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Text 31"/>
          <p:cNvSpPr/>
          <p:nvPr/>
        </p:nvSpPr>
        <p:spPr>
          <a:xfrm>
            <a:off x="1341120" y="8334375"/>
            <a:ext cx="419100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idade_carreta</a:t>
            </a:r>
            <a:endParaRPr lang="en-US" sz="1725" dirty="0"/>
          </a:p>
        </p:txBody>
      </p:sp>
      <p:sp>
        <p:nvSpPr>
          <p:cNvPr id="34" name="Text 32"/>
          <p:cNvSpPr/>
          <p:nvPr/>
        </p:nvSpPr>
        <p:spPr>
          <a:xfrm>
            <a:off x="5417820" y="8368665"/>
            <a:ext cx="1990725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SUBTRAÇÃO</a:t>
            </a:r>
            <a:endParaRPr lang="en-US" sz="1275" dirty="0"/>
          </a:p>
        </p:txBody>
      </p:sp>
      <p:sp>
        <p:nvSpPr>
          <p:cNvPr id="35" name="Text 33"/>
          <p:cNvSpPr/>
          <p:nvPr/>
        </p:nvSpPr>
        <p:spPr>
          <a:xfrm>
            <a:off x="7494270" y="8338185"/>
            <a:ext cx="4448747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 de referência − ano de entrada em serviço</a:t>
            </a:r>
            <a:endParaRPr lang="en-US" sz="16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62000"/>
            <a:ext cx="1781175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347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PERGUNTAS 6–7 · DICIONÁRIO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4430"/>
            <a:ext cx="1781175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Variáveis numéricas </a:t>
            </a:r>
            <a:r>
              <a:rPr lang="en-US" sz="4200" b="1" dirty="0">
                <a:solidFill>
                  <a:srgbClr val="7B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47750" y="2874645"/>
            <a:ext cx="16192500" cy="640080"/>
          </a:xfrm>
          <a:prstGeom prst="roundRect">
            <a:avLst>
              <a:gd name="adj" fmla="val 17857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341120" y="3053715"/>
            <a:ext cx="461010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custo_acum</a:t>
            </a:r>
            <a:endParaRPr lang="en-US" sz="1725" dirty="0"/>
          </a:p>
        </p:txBody>
      </p:sp>
      <p:sp>
        <p:nvSpPr>
          <p:cNvPr id="6" name="Text 4"/>
          <p:cNvSpPr/>
          <p:nvPr/>
        </p:nvSpPr>
        <p:spPr>
          <a:xfrm>
            <a:off x="5798820" y="3088005"/>
            <a:ext cx="1990725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ACUM. DEFASADA</a:t>
            </a:r>
            <a:endParaRPr lang="en-US" sz="1275" dirty="0"/>
          </a:p>
        </p:txBody>
      </p:sp>
      <p:sp>
        <p:nvSpPr>
          <p:cNvPr id="7" name="Text 5"/>
          <p:cNvSpPr/>
          <p:nvPr/>
        </p:nvSpPr>
        <p:spPr>
          <a:xfrm>
            <a:off x="7875270" y="3057525"/>
            <a:ext cx="4596086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interno acumulado até o ano anterior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47750" y="3629025"/>
            <a:ext cx="16192500" cy="640080"/>
          </a:xfrm>
          <a:prstGeom prst="roundRect">
            <a:avLst>
              <a:gd name="adj" fmla="val 17857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1341120" y="3808095"/>
            <a:ext cx="461010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custo_ano_anterior</a:t>
            </a:r>
            <a:endParaRPr lang="en-US" sz="1725" dirty="0"/>
          </a:p>
        </p:txBody>
      </p:sp>
      <p:sp>
        <p:nvSpPr>
          <p:cNvPr id="10" name="Text 8"/>
          <p:cNvSpPr/>
          <p:nvPr/>
        </p:nvSpPr>
        <p:spPr>
          <a:xfrm>
            <a:off x="5798820" y="3842385"/>
            <a:ext cx="1990725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DEFASADA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7875270" y="3811905"/>
            <a:ext cx="665701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interno do ano anterior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1047750" y="4383405"/>
            <a:ext cx="16192500" cy="640080"/>
          </a:xfrm>
          <a:prstGeom prst="roundRect">
            <a:avLst>
              <a:gd name="adj" fmla="val 17857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1341120" y="4562475"/>
            <a:ext cx="461010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n_os_acum</a:t>
            </a:r>
            <a:endParaRPr lang="en-US" sz="1725" dirty="0"/>
          </a:p>
        </p:txBody>
      </p:sp>
      <p:sp>
        <p:nvSpPr>
          <p:cNvPr id="14" name="Text 12"/>
          <p:cNvSpPr/>
          <p:nvPr/>
        </p:nvSpPr>
        <p:spPr>
          <a:xfrm>
            <a:off x="5798820" y="4596765"/>
            <a:ext cx="1990725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CONTAGEM ACUM.</a:t>
            </a:r>
            <a:endParaRPr lang="en-US" sz="1275" dirty="0"/>
          </a:p>
        </p:txBody>
      </p:sp>
      <p:sp>
        <p:nvSpPr>
          <p:cNvPr id="15" name="Text 13"/>
          <p:cNvSpPr/>
          <p:nvPr/>
        </p:nvSpPr>
        <p:spPr>
          <a:xfrm>
            <a:off x="7875270" y="4566285"/>
            <a:ext cx="6741355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nº de OS acumuladas até o ano anterior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047750" y="5137785"/>
            <a:ext cx="16192500" cy="640080"/>
          </a:xfrm>
          <a:prstGeom prst="roundRect">
            <a:avLst>
              <a:gd name="adj" fmla="val 17857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1341120" y="5316855"/>
            <a:ext cx="461010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n_os_ano_anterior</a:t>
            </a:r>
            <a:endParaRPr lang="en-US" sz="1725" dirty="0"/>
          </a:p>
        </p:txBody>
      </p:sp>
      <p:sp>
        <p:nvSpPr>
          <p:cNvPr id="18" name="Text 16"/>
          <p:cNvSpPr/>
          <p:nvPr/>
        </p:nvSpPr>
        <p:spPr>
          <a:xfrm>
            <a:off x="5798820" y="5351145"/>
            <a:ext cx="1990725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DEFASADA</a:t>
            </a:r>
            <a:endParaRPr lang="en-US" sz="1275" dirty="0"/>
          </a:p>
        </p:txBody>
      </p:sp>
      <p:sp>
        <p:nvSpPr>
          <p:cNvPr id="19" name="Text 17"/>
          <p:cNvSpPr/>
          <p:nvPr/>
        </p:nvSpPr>
        <p:spPr>
          <a:xfrm>
            <a:off x="7875270" y="5320665"/>
            <a:ext cx="6214075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nº de OS da carreta no ano anterior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047750" y="5892165"/>
            <a:ext cx="16192500" cy="640080"/>
          </a:xfrm>
          <a:prstGeom prst="roundRect">
            <a:avLst>
              <a:gd name="adj" fmla="val 17857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1341120" y="6071235"/>
            <a:ext cx="461010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intervalo_medio_os_hist</a:t>
            </a:r>
            <a:endParaRPr lang="en-US" sz="1725" dirty="0"/>
          </a:p>
        </p:txBody>
      </p:sp>
      <p:sp>
        <p:nvSpPr>
          <p:cNvPr id="22" name="Text 20"/>
          <p:cNvSpPr/>
          <p:nvPr/>
        </p:nvSpPr>
        <p:spPr>
          <a:xfrm>
            <a:off x="5798820" y="6105525"/>
            <a:ext cx="1990725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MÉDIA DE DIFS</a:t>
            </a:r>
            <a:endParaRPr lang="en-US" sz="1275" dirty="0"/>
          </a:p>
        </p:txBody>
      </p:sp>
      <p:sp>
        <p:nvSpPr>
          <p:cNvPr id="23" name="Text 21"/>
          <p:cNvSpPr/>
          <p:nvPr/>
        </p:nvSpPr>
        <p:spPr>
          <a:xfrm>
            <a:off x="7875270" y="6075045"/>
            <a:ext cx="6644176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médio entre OS consecutivas (histórico)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047750" y="6646545"/>
            <a:ext cx="16192500" cy="640080"/>
          </a:xfrm>
          <a:prstGeom prst="roundRect">
            <a:avLst>
              <a:gd name="adj" fmla="val 17857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1341120" y="6825615"/>
            <a:ext cx="461010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anos_desde_ultima_os</a:t>
            </a:r>
            <a:endParaRPr lang="en-US" sz="1725" dirty="0"/>
          </a:p>
        </p:txBody>
      </p:sp>
      <p:sp>
        <p:nvSpPr>
          <p:cNvPr id="26" name="Text 24"/>
          <p:cNvSpPr/>
          <p:nvPr/>
        </p:nvSpPr>
        <p:spPr>
          <a:xfrm>
            <a:off x="5798820" y="6859905"/>
            <a:ext cx="1990725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SUBTRAÇÃO</a:t>
            </a:r>
            <a:endParaRPr lang="en-US" sz="1275" dirty="0"/>
          </a:p>
        </p:txBody>
      </p:sp>
      <p:sp>
        <p:nvSpPr>
          <p:cNvPr id="27" name="Text 25"/>
          <p:cNvSpPr/>
          <p:nvPr/>
        </p:nvSpPr>
        <p:spPr>
          <a:xfrm>
            <a:off x="7875270" y="6829425"/>
            <a:ext cx="5713119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desde a última OS anterior ao ano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047750" y="7400925"/>
            <a:ext cx="16192500" cy="640080"/>
          </a:xfrm>
          <a:prstGeom prst="roundRect">
            <a:avLst>
              <a:gd name="adj" fmla="val 17857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1341120" y="7579995"/>
            <a:ext cx="461010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ano_modelo</a:t>
            </a:r>
            <a:endParaRPr lang="en-US" sz="1725" dirty="0"/>
          </a:p>
        </p:txBody>
      </p:sp>
      <p:sp>
        <p:nvSpPr>
          <p:cNvPr id="30" name="Text 28"/>
          <p:cNvSpPr/>
          <p:nvPr/>
        </p:nvSpPr>
        <p:spPr>
          <a:xfrm>
            <a:off x="5798820" y="7614285"/>
            <a:ext cx="1990725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NATURAL</a:t>
            </a:r>
            <a:endParaRPr lang="en-US" sz="1275" dirty="0"/>
          </a:p>
        </p:txBody>
      </p:sp>
      <p:sp>
        <p:nvSpPr>
          <p:cNvPr id="31" name="Text 29"/>
          <p:cNvSpPr/>
          <p:nvPr/>
        </p:nvSpPr>
        <p:spPr>
          <a:xfrm>
            <a:off x="7875270" y="7583805"/>
            <a:ext cx="6767286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 de fabricação do modelo (cadastro)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047750" y="8155305"/>
            <a:ext cx="16192500" cy="640080"/>
          </a:xfrm>
          <a:prstGeom prst="roundRect">
            <a:avLst>
              <a:gd name="adj" fmla="val 17857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Text 31"/>
          <p:cNvSpPr/>
          <p:nvPr/>
        </p:nvSpPr>
        <p:spPr>
          <a:xfrm>
            <a:off x="1341120" y="8334375"/>
            <a:ext cx="461010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custo_preventivo_ano</a:t>
            </a:r>
            <a:endParaRPr lang="en-US" sz="1725" dirty="0"/>
          </a:p>
        </p:txBody>
      </p:sp>
      <p:sp>
        <p:nvSpPr>
          <p:cNvPr id="34" name="Text 32"/>
          <p:cNvSpPr/>
          <p:nvPr/>
        </p:nvSpPr>
        <p:spPr>
          <a:xfrm>
            <a:off x="5798820" y="8368665"/>
            <a:ext cx="1990725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DEFINICIONAL</a:t>
            </a:r>
            <a:endParaRPr lang="en-US" sz="1275" dirty="0"/>
          </a:p>
        </p:txBody>
      </p:sp>
      <p:sp>
        <p:nvSpPr>
          <p:cNvPr id="35" name="Text 33"/>
          <p:cNvSpPr/>
          <p:nvPr/>
        </p:nvSpPr>
        <p:spPr>
          <a:xfrm>
            <a:off x="7875270" y="8338185"/>
            <a:ext cx="7091565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preventivo do ano — derivado do Y, fora do modelo</a:t>
            </a:r>
            <a:endParaRPr lang="en-US" sz="16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62000"/>
            <a:ext cx="1781175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347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PERGUNTAS 6–7 · DICIONÁRIO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4430"/>
            <a:ext cx="1781175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Variáveis categóricas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47750" y="2824163"/>
            <a:ext cx="16192500" cy="678180"/>
          </a:xfrm>
          <a:prstGeom prst="roundRect">
            <a:avLst>
              <a:gd name="adj" fmla="val 16854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341120" y="3022283"/>
            <a:ext cx="419100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cod_montadora</a:t>
            </a:r>
            <a:endParaRPr lang="en-US" sz="1725" dirty="0"/>
          </a:p>
        </p:txBody>
      </p:sp>
      <p:sp>
        <p:nvSpPr>
          <p:cNvPr id="6" name="Text 4"/>
          <p:cNvSpPr/>
          <p:nvPr/>
        </p:nvSpPr>
        <p:spPr>
          <a:xfrm>
            <a:off x="5417820" y="3056572"/>
            <a:ext cx="1571625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NATURAL</a:t>
            </a:r>
            <a:endParaRPr lang="en-US" sz="1275" dirty="0"/>
          </a:p>
        </p:txBody>
      </p:sp>
      <p:sp>
        <p:nvSpPr>
          <p:cNvPr id="7" name="Text 5"/>
          <p:cNvSpPr/>
          <p:nvPr/>
        </p:nvSpPr>
        <p:spPr>
          <a:xfrm>
            <a:off x="7113270" y="3026093"/>
            <a:ext cx="6120956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fabricante — one-hot com agrupamento de raras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47750" y="3616643"/>
            <a:ext cx="16192500" cy="678180"/>
          </a:xfrm>
          <a:prstGeom prst="roundRect">
            <a:avLst>
              <a:gd name="adj" fmla="val 16854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1341120" y="3814763"/>
            <a:ext cx="419100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unit_subtype</a:t>
            </a:r>
            <a:endParaRPr lang="en-US" sz="1725" dirty="0"/>
          </a:p>
        </p:txBody>
      </p:sp>
      <p:sp>
        <p:nvSpPr>
          <p:cNvPr id="10" name="Text 8"/>
          <p:cNvSpPr/>
          <p:nvPr/>
        </p:nvSpPr>
        <p:spPr>
          <a:xfrm>
            <a:off x="5417820" y="3849053"/>
            <a:ext cx="1571625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NATURAL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7113270" y="3818572"/>
            <a:ext cx="3453253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subtipo da unidade (fato_wo_ml)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1047750" y="4409122"/>
            <a:ext cx="16192500" cy="678180"/>
          </a:xfrm>
          <a:prstGeom prst="roundRect">
            <a:avLst>
              <a:gd name="adj" fmla="val 16854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1341120" y="4607243"/>
            <a:ext cx="419100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flag_refrigerado</a:t>
            </a:r>
            <a:endParaRPr lang="en-US" sz="1725" dirty="0"/>
          </a:p>
        </p:txBody>
      </p:sp>
      <p:sp>
        <p:nvSpPr>
          <p:cNvPr id="14" name="Text 12"/>
          <p:cNvSpPr/>
          <p:nvPr/>
        </p:nvSpPr>
        <p:spPr>
          <a:xfrm>
            <a:off x="5417820" y="4641533"/>
            <a:ext cx="1571625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NATURAL</a:t>
            </a:r>
            <a:endParaRPr lang="en-US" sz="1275" dirty="0"/>
          </a:p>
        </p:txBody>
      </p:sp>
      <p:sp>
        <p:nvSpPr>
          <p:cNvPr id="15" name="Text 13"/>
          <p:cNvSpPr/>
          <p:nvPr/>
        </p:nvSpPr>
        <p:spPr>
          <a:xfrm>
            <a:off x="7113270" y="4611053"/>
            <a:ext cx="2779943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refrigerada (reefer) vs seca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047750" y="5201603"/>
            <a:ext cx="16192500" cy="678180"/>
          </a:xfrm>
          <a:prstGeom prst="roundRect">
            <a:avLst>
              <a:gd name="adj" fmla="val 16854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1341120" y="5399723"/>
            <a:ext cx="419100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vmrs_predominante</a:t>
            </a:r>
            <a:endParaRPr lang="en-US" sz="1725" dirty="0"/>
          </a:p>
        </p:txBody>
      </p:sp>
      <p:sp>
        <p:nvSpPr>
          <p:cNvPr id="18" name="Text 16"/>
          <p:cNvSpPr/>
          <p:nvPr/>
        </p:nvSpPr>
        <p:spPr>
          <a:xfrm>
            <a:off x="5417820" y="5434013"/>
            <a:ext cx="1571625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NATURAL</a:t>
            </a:r>
            <a:endParaRPr lang="en-US" sz="1275" dirty="0"/>
          </a:p>
        </p:txBody>
      </p:sp>
      <p:sp>
        <p:nvSpPr>
          <p:cNvPr id="19" name="Text 17"/>
          <p:cNvSpPr/>
          <p:nvPr/>
        </p:nvSpPr>
        <p:spPr>
          <a:xfrm>
            <a:off x="7113270" y="5403532"/>
            <a:ext cx="3878116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VMRS de maior custo no ano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047750" y="5994082"/>
            <a:ext cx="16192500" cy="678180"/>
          </a:xfrm>
          <a:prstGeom prst="roundRect">
            <a:avLst>
              <a:gd name="adj" fmla="val 16854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1341120" y="6192203"/>
            <a:ext cx="419100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provincia_operacao</a:t>
            </a:r>
            <a:endParaRPr lang="en-US" sz="1725" dirty="0"/>
          </a:p>
        </p:txBody>
      </p:sp>
      <p:sp>
        <p:nvSpPr>
          <p:cNvPr id="22" name="Text 20"/>
          <p:cNvSpPr/>
          <p:nvPr/>
        </p:nvSpPr>
        <p:spPr>
          <a:xfrm>
            <a:off x="5417820" y="6226493"/>
            <a:ext cx="1571625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NATURAL</a:t>
            </a:r>
            <a:endParaRPr lang="en-US" sz="1275" dirty="0"/>
          </a:p>
        </p:txBody>
      </p:sp>
      <p:sp>
        <p:nvSpPr>
          <p:cNvPr id="23" name="Text 21"/>
          <p:cNvSpPr/>
          <p:nvPr/>
        </p:nvSpPr>
        <p:spPr>
          <a:xfrm>
            <a:off x="7113270" y="6196013"/>
            <a:ext cx="4219682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província/local da OS (fato_wo_ml)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047750" y="6786563"/>
            <a:ext cx="16192500" cy="678180"/>
          </a:xfrm>
          <a:prstGeom prst="roundRect">
            <a:avLst>
              <a:gd name="adj" fmla="val 16854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1341120" y="6984682"/>
            <a:ext cx="419100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suspension_type</a:t>
            </a:r>
            <a:endParaRPr lang="en-US" sz="1725" dirty="0"/>
          </a:p>
        </p:txBody>
      </p:sp>
      <p:sp>
        <p:nvSpPr>
          <p:cNvPr id="26" name="Text 24"/>
          <p:cNvSpPr/>
          <p:nvPr/>
        </p:nvSpPr>
        <p:spPr>
          <a:xfrm>
            <a:off x="5417820" y="7018973"/>
            <a:ext cx="1571625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NATURAL</a:t>
            </a:r>
            <a:endParaRPr lang="en-US" sz="1275" dirty="0"/>
          </a:p>
        </p:txBody>
      </p:sp>
      <p:sp>
        <p:nvSpPr>
          <p:cNvPr id="27" name="Text 25"/>
          <p:cNvSpPr/>
          <p:nvPr/>
        </p:nvSpPr>
        <p:spPr>
          <a:xfrm>
            <a:off x="7113270" y="6988493"/>
            <a:ext cx="7103745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 de suspensão (cadastro em fato_wo_ml)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047750" y="8410575"/>
            <a:ext cx="16192500" cy="1114425"/>
          </a:xfrm>
          <a:prstGeom prst="roundRect">
            <a:avLst>
              <a:gd name="adj" fmla="val 10256"/>
            </a:avLst>
          </a:prstGeom>
          <a:solidFill>
            <a:srgbClr val="1222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1371600" y="8639175"/>
            <a:ext cx="16011144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EXCLUÍDAS variáveis de cadastro/contrato fora do fato_wo_ml (cod_classe, cod_grupo_manutencao, tipo_contrato) · derivadas do próprio Y (custo_medio_os, share_prev) fora do modelo por vazamento</a:t>
            </a:r>
            <a:r>
              <a:rPr lang="en-US" sz="1725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25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E21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69423" y="5524500"/>
            <a:ext cx="8857285" cy="7277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2500"/>
              </a:lnSpc>
              <a:buNone/>
            </a:pPr>
            <a:r>
              <a:rPr lang="en-US" sz="40000" b="1" dirty="0">
                <a:solidFill>
                  <a:srgbClr val="1230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40000" dirty="0"/>
          </a:p>
        </p:txBody>
      </p:sp>
      <p:sp>
        <p:nvSpPr>
          <p:cNvPr id="3" name="Text 1"/>
          <p:cNvSpPr/>
          <p:nvPr/>
        </p:nvSpPr>
        <p:spPr>
          <a:xfrm>
            <a:off x="1238250" y="3806190"/>
            <a:ext cx="1739265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kern="0" spc="414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BLOCO 2 · PERGUNTA 8</a:t>
            </a:r>
            <a:endParaRPr lang="en-US" sz="1725" dirty="0"/>
          </a:p>
        </p:txBody>
      </p:sp>
      <p:sp>
        <p:nvSpPr>
          <p:cNvPr id="4" name="Text 2"/>
          <p:cNvSpPr/>
          <p:nvPr/>
        </p:nvSpPr>
        <p:spPr>
          <a:xfrm>
            <a:off x="1238250" y="4354830"/>
            <a:ext cx="13096875" cy="9582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69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 exploratória de dados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1238250" y="5617845"/>
            <a:ext cx="17392650" cy="396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75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47.666 observações carreta × ano · protocolo variável a variável</a:t>
            </a:r>
            <a:endParaRPr lang="en-US" sz="2175" dirty="0"/>
          </a:p>
        </p:txBody>
      </p:sp>
      <p:sp>
        <p:nvSpPr>
          <p:cNvPr id="6" name="Shape 4"/>
          <p:cNvSpPr/>
          <p:nvPr/>
        </p:nvSpPr>
        <p:spPr>
          <a:xfrm>
            <a:off x="1238250" y="6433185"/>
            <a:ext cx="1143000" cy="47625"/>
          </a:xfrm>
          <a:prstGeom prst="rect">
            <a:avLst/>
          </a:prstGeom>
          <a:solidFill>
            <a:srgbClr val="3FE0CE"/>
          </a:solidFill>
          <a:ln/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62000"/>
            <a:ext cx="1781175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347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PERGUNTA 8 · PROTOCOLO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4430"/>
            <a:ext cx="1781175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cada variável foi analisada — e como ler os gráficos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47750" y="2183130"/>
            <a:ext cx="7962900" cy="7341870"/>
          </a:xfrm>
          <a:prstGeom prst="roundRect">
            <a:avLst>
              <a:gd name="adj" fmla="val 2076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417320" y="2514600"/>
            <a:ext cx="7946136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kern="0" spc="228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PROTOCOLO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1417320" y="2941320"/>
            <a:ext cx="7946136" cy="3886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Quantitativas: </a:t>
            </a:r>
            <a:r>
              <a:rPr lang="en-US" sz="180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histograma + boxplot + estatísticas descritivas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17320" y="3482340"/>
            <a:ext cx="7946136" cy="3886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Qualitativas: </a:t>
            </a:r>
            <a:r>
              <a:rPr lang="en-US" sz="180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boxplot de Y por categoria + frequências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17320" y="4023360"/>
            <a:ext cx="7440473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Complementares: </a:t>
            </a:r>
            <a:r>
              <a:rPr lang="en-US" sz="180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Pearson/Spearman com Y · eta (η) · matriz de correlação · VIF · evolução temporal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17320" y="4907280"/>
            <a:ext cx="7440473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na magnitude: praticamente sem zeros no grão anual (0,02% dos casos)</a:t>
            </a:r>
            <a:r>
              <a:rPr lang="en-US" sz="180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277350" y="2183130"/>
            <a:ext cx="7962900" cy="7341870"/>
          </a:xfrm>
          <a:prstGeom prst="roundRect">
            <a:avLst>
              <a:gd name="adj" fmla="val 2076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9646920" y="2514600"/>
            <a:ext cx="7946136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kern="0" spc="228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LER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9646920" y="2941320"/>
            <a:ext cx="7946136" cy="3886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Boxplot: </a:t>
            </a:r>
            <a:r>
              <a:rPr lang="en-US" sz="180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caixa = 50% central · linha = mediana · pontos = outliers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646920" y="3482340"/>
            <a:ext cx="7946136" cy="3886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Spearman (ρ): </a:t>
            </a:r>
            <a:r>
              <a:rPr lang="en-US" sz="180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|ρ| &lt; 0,1 fraca · 0,1–0,3 modesta · &gt; 0,3 relevante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646920" y="4023360"/>
            <a:ext cx="7946136" cy="3886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 (η): </a:t>
            </a:r>
            <a:r>
              <a:rPr lang="en-US" sz="180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as categorias separam o Y (0 → 1)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646920" y="4564380"/>
            <a:ext cx="7440473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 no p99: </a:t>
            </a:r>
            <a:r>
              <a:rPr lang="en-US" sz="180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1% mais caro sai do gráfico por legibilidade — mas é tratado na modelagem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39140"/>
            <a:ext cx="8356723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33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EDA · VARIÁVEL-ALVO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52500" y="1104900"/>
            <a:ext cx="9530903" cy="586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75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do custo anual por carreta</a:t>
            </a:r>
            <a:endParaRPr lang="en-US" sz="3750" dirty="0"/>
          </a:p>
        </p:txBody>
      </p:sp>
      <p:sp>
        <p:nvSpPr>
          <p:cNvPr id="4" name="Text 2"/>
          <p:cNvSpPr/>
          <p:nvPr/>
        </p:nvSpPr>
        <p:spPr>
          <a:xfrm>
            <a:off x="15198090" y="723900"/>
            <a:ext cx="2351151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assimetria = 3,8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952500" y="1977390"/>
            <a:ext cx="11343561" cy="6261735"/>
          </a:xfrm>
          <a:prstGeom prst="roundRect">
            <a:avLst>
              <a:gd name="adj" fmla="val 2434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1123950" y="3108127"/>
            <a:ext cx="11000661" cy="400014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2638961" y="1977390"/>
            <a:ext cx="4696539" cy="6261735"/>
          </a:xfrm>
          <a:prstGeom prst="roundRect">
            <a:avLst>
              <a:gd name="adj" fmla="val 3245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12970430" y="3676650"/>
            <a:ext cx="4436959" cy="22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b="1" kern="0" spc="204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ESTATÍSTICAS · CAD/ANO</a:t>
            </a:r>
            <a:endParaRPr lang="en-US" sz="1275" dirty="0"/>
          </a:p>
        </p:txBody>
      </p:sp>
      <p:sp>
        <p:nvSpPr>
          <p:cNvPr id="9" name="Text 6"/>
          <p:cNvSpPr/>
          <p:nvPr/>
        </p:nvSpPr>
        <p:spPr>
          <a:xfrm>
            <a:off x="12970430" y="3983355"/>
            <a:ext cx="19621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575" dirty="0"/>
          </a:p>
        </p:txBody>
      </p:sp>
      <p:sp>
        <p:nvSpPr>
          <p:cNvPr id="10" name="Text 7"/>
          <p:cNvSpPr/>
          <p:nvPr/>
        </p:nvSpPr>
        <p:spPr>
          <a:xfrm>
            <a:off x="16163925" y="3983355"/>
            <a:ext cx="91630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47.666</a:t>
            </a:r>
            <a:endParaRPr lang="en-US" sz="1575" dirty="0"/>
          </a:p>
        </p:txBody>
      </p:sp>
      <p:sp>
        <p:nvSpPr>
          <p:cNvPr id="11" name="Text 8"/>
          <p:cNvSpPr/>
          <p:nvPr/>
        </p:nvSpPr>
        <p:spPr>
          <a:xfrm>
            <a:off x="12970430" y="4366260"/>
            <a:ext cx="67627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média</a:t>
            </a:r>
            <a:endParaRPr lang="en-US" sz="1575" dirty="0"/>
          </a:p>
        </p:txBody>
      </p:sp>
      <p:sp>
        <p:nvSpPr>
          <p:cNvPr id="12" name="Text 9"/>
          <p:cNvSpPr/>
          <p:nvPr/>
        </p:nvSpPr>
        <p:spPr>
          <a:xfrm>
            <a:off x="16403956" y="4366260"/>
            <a:ext cx="67627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1.726</a:t>
            </a:r>
            <a:endParaRPr lang="en-US" sz="1575" dirty="0"/>
          </a:p>
        </p:txBody>
      </p:sp>
      <p:sp>
        <p:nvSpPr>
          <p:cNvPr id="13" name="Text 10"/>
          <p:cNvSpPr/>
          <p:nvPr/>
        </p:nvSpPr>
        <p:spPr>
          <a:xfrm>
            <a:off x="12970430" y="4749165"/>
            <a:ext cx="316230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DP</a:t>
            </a:r>
            <a:endParaRPr lang="en-US" sz="1575" dirty="0"/>
          </a:p>
        </p:txBody>
      </p:sp>
      <p:sp>
        <p:nvSpPr>
          <p:cNvPr id="14" name="Text 11"/>
          <p:cNvSpPr/>
          <p:nvPr/>
        </p:nvSpPr>
        <p:spPr>
          <a:xfrm>
            <a:off x="16403956" y="4749165"/>
            <a:ext cx="67627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2.414</a:t>
            </a:r>
            <a:endParaRPr lang="en-US" sz="1575" dirty="0"/>
          </a:p>
        </p:txBody>
      </p:sp>
      <p:sp>
        <p:nvSpPr>
          <p:cNvPr id="15" name="Text 12"/>
          <p:cNvSpPr/>
          <p:nvPr/>
        </p:nvSpPr>
        <p:spPr>
          <a:xfrm>
            <a:off x="12970430" y="5132070"/>
            <a:ext cx="91630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mediana</a:t>
            </a:r>
            <a:endParaRPr lang="en-US" sz="1575" dirty="0"/>
          </a:p>
        </p:txBody>
      </p:sp>
      <p:sp>
        <p:nvSpPr>
          <p:cNvPr id="16" name="Text 13"/>
          <p:cNvSpPr/>
          <p:nvPr/>
        </p:nvSpPr>
        <p:spPr>
          <a:xfrm>
            <a:off x="16403956" y="5132070"/>
            <a:ext cx="67627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859</a:t>
            </a:r>
            <a:endParaRPr lang="en-US" sz="1575" dirty="0"/>
          </a:p>
        </p:txBody>
      </p:sp>
      <p:sp>
        <p:nvSpPr>
          <p:cNvPr id="17" name="Text 14"/>
          <p:cNvSpPr/>
          <p:nvPr/>
        </p:nvSpPr>
        <p:spPr>
          <a:xfrm>
            <a:off x="12970430" y="5514975"/>
            <a:ext cx="316230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</a:t>
            </a:r>
            <a:endParaRPr lang="en-US" sz="1575" dirty="0"/>
          </a:p>
        </p:txBody>
      </p:sp>
      <p:sp>
        <p:nvSpPr>
          <p:cNvPr id="18" name="Text 15"/>
          <p:cNvSpPr/>
          <p:nvPr/>
        </p:nvSpPr>
        <p:spPr>
          <a:xfrm>
            <a:off x="16403956" y="5514975"/>
            <a:ext cx="67627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2.076</a:t>
            </a:r>
            <a:endParaRPr lang="en-US" sz="1575" dirty="0"/>
          </a:p>
        </p:txBody>
      </p:sp>
      <p:sp>
        <p:nvSpPr>
          <p:cNvPr id="19" name="Text 16"/>
          <p:cNvSpPr/>
          <p:nvPr/>
        </p:nvSpPr>
        <p:spPr>
          <a:xfrm>
            <a:off x="12970430" y="5897880"/>
            <a:ext cx="43624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máx</a:t>
            </a:r>
            <a:endParaRPr lang="en-US" sz="1575" dirty="0"/>
          </a:p>
        </p:txBody>
      </p:sp>
      <p:sp>
        <p:nvSpPr>
          <p:cNvPr id="20" name="Text 17"/>
          <p:cNvSpPr/>
          <p:nvPr/>
        </p:nvSpPr>
        <p:spPr>
          <a:xfrm>
            <a:off x="16523970" y="5897880"/>
            <a:ext cx="556260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62.366</a:t>
            </a:r>
            <a:endParaRPr lang="en-US" sz="1575" dirty="0"/>
          </a:p>
        </p:txBody>
      </p:sp>
      <p:sp>
        <p:nvSpPr>
          <p:cNvPr id="21" name="Text 18"/>
          <p:cNvSpPr/>
          <p:nvPr/>
        </p:nvSpPr>
        <p:spPr>
          <a:xfrm>
            <a:off x="12970430" y="6280785"/>
            <a:ext cx="67627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zeros</a:t>
            </a:r>
            <a:endParaRPr lang="en-US" sz="1575" dirty="0"/>
          </a:p>
        </p:txBody>
      </p:sp>
      <p:sp>
        <p:nvSpPr>
          <p:cNvPr id="22" name="Text 19"/>
          <p:cNvSpPr/>
          <p:nvPr/>
        </p:nvSpPr>
        <p:spPr>
          <a:xfrm>
            <a:off x="16643985" y="6280785"/>
            <a:ext cx="43624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0,02%</a:t>
            </a:r>
            <a:endParaRPr lang="en-US" sz="1575" dirty="0"/>
          </a:p>
        </p:txBody>
      </p:sp>
      <p:sp>
        <p:nvSpPr>
          <p:cNvPr id="23" name="Shape 20"/>
          <p:cNvSpPr/>
          <p:nvPr/>
        </p:nvSpPr>
        <p:spPr>
          <a:xfrm>
            <a:off x="952500" y="8486775"/>
            <a:ext cx="16383000" cy="1076325"/>
          </a:xfrm>
          <a:prstGeom prst="roundRect">
            <a:avLst>
              <a:gd name="adj" fmla="val 10619"/>
            </a:avLst>
          </a:prstGeom>
          <a:solidFill>
            <a:srgbClr val="1222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1"/>
          <p:cNvSpPr/>
          <p:nvPr/>
        </p:nvSpPr>
        <p:spPr>
          <a:xfrm>
            <a:off x="1257300" y="8696325"/>
            <a:ext cx="16246602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LEITURA Distribuição assimétrica à direita (assimetria 3,8): maioria com custo anual baixo (mediana CAD 859) e poucas carretas com custo alto. Quase sem zeros.</a:t>
            </a:r>
            <a:r>
              <a:rPr lang="en-US" sz="1725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25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33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EDA · VARIÁVEL-ALVO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52500" y="1089660"/>
            <a:ext cx="18021300" cy="586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75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Evolução anual — valores reais</a:t>
            </a:r>
            <a:endParaRPr lang="en-US" sz="3750" dirty="0"/>
          </a:p>
        </p:txBody>
      </p:sp>
      <p:sp>
        <p:nvSpPr>
          <p:cNvPr id="4" name="Shape 2"/>
          <p:cNvSpPr/>
          <p:nvPr/>
        </p:nvSpPr>
        <p:spPr>
          <a:xfrm>
            <a:off x="952500" y="1962150"/>
            <a:ext cx="11828621" cy="6276975"/>
          </a:xfrm>
          <a:prstGeom prst="roundRect">
            <a:avLst>
              <a:gd name="adj" fmla="val 2428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23950" y="2229207"/>
            <a:ext cx="11485721" cy="5742861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3124021" y="2869883"/>
            <a:ext cx="4211479" cy="1710690"/>
          </a:xfrm>
          <a:prstGeom prst="roundRect">
            <a:avLst>
              <a:gd name="adj" fmla="val 7795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13436441" y="3144203"/>
            <a:ext cx="3945303" cy="62484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4050" b="1" dirty="0">
                <a:solidFill>
                  <a:srgbClr val="FFB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+52%</a:t>
            </a:r>
            <a:endParaRPr lang="en-US" sz="4050" dirty="0"/>
          </a:p>
        </p:txBody>
      </p:sp>
      <p:sp>
        <p:nvSpPr>
          <p:cNvPr id="8" name="Text 5"/>
          <p:cNvSpPr/>
          <p:nvPr/>
        </p:nvSpPr>
        <p:spPr>
          <a:xfrm>
            <a:off x="13436441" y="3788093"/>
            <a:ext cx="3694238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crescimento real da média — já sem inflação</a:t>
            </a:r>
            <a:endParaRPr lang="en-US" sz="1575" dirty="0"/>
          </a:p>
        </p:txBody>
      </p:sp>
      <p:sp>
        <p:nvSpPr>
          <p:cNvPr id="9" name="Shape 6"/>
          <p:cNvSpPr/>
          <p:nvPr/>
        </p:nvSpPr>
        <p:spPr>
          <a:xfrm>
            <a:off x="13124021" y="4771072"/>
            <a:ext cx="4211479" cy="1184910"/>
          </a:xfrm>
          <a:prstGeom prst="roundRect">
            <a:avLst>
              <a:gd name="adj" fmla="val 11254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13436441" y="5045393"/>
            <a:ext cx="3945303" cy="35814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652 → 1.056</a:t>
            </a:r>
            <a:endParaRPr lang="en-US" sz="2250" dirty="0"/>
          </a:p>
        </p:txBody>
      </p:sp>
      <p:sp>
        <p:nvSpPr>
          <p:cNvPr id="11" name="Text 8"/>
          <p:cNvSpPr/>
          <p:nvPr/>
        </p:nvSpPr>
        <p:spPr>
          <a:xfrm>
            <a:off x="13436441" y="5422582"/>
            <a:ext cx="3945303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CAD/ano · mediana 2020 → 2025</a:t>
            </a:r>
            <a:endParaRPr lang="en-US" sz="1575" dirty="0"/>
          </a:p>
        </p:txBody>
      </p:sp>
      <p:sp>
        <p:nvSpPr>
          <p:cNvPr id="12" name="Shape 9"/>
          <p:cNvSpPr/>
          <p:nvPr/>
        </p:nvSpPr>
        <p:spPr>
          <a:xfrm>
            <a:off x="13124021" y="6146482"/>
            <a:ext cx="4211479" cy="1184910"/>
          </a:xfrm>
          <a:prstGeom prst="roundRect">
            <a:avLst>
              <a:gd name="adj" fmla="val 11254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13436441" y="6420803"/>
            <a:ext cx="3945303" cy="35814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1.329 → 2.022</a:t>
            </a:r>
            <a:endParaRPr lang="en-US" sz="2250" dirty="0"/>
          </a:p>
        </p:txBody>
      </p:sp>
      <p:sp>
        <p:nvSpPr>
          <p:cNvPr id="14" name="Text 11"/>
          <p:cNvSpPr/>
          <p:nvPr/>
        </p:nvSpPr>
        <p:spPr>
          <a:xfrm>
            <a:off x="13436441" y="6797993"/>
            <a:ext cx="3945303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CAD/ano · média 2020 → 2025</a:t>
            </a:r>
            <a:endParaRPr lang="en-US" sz="1575" dirty="0"/>
          </a:p>
        </p:txBody>
      </p:sp>
      <p:sp>
        <p:nvSpPr>
          <p:cNvPr id="15" name="Shape 12"/>
          <p:cNvSpPr/>
          <p:nvPr/>
        </p:nvSpPr>
        <p:spPr>
          <a:xfrm>
            <a:off x="952500" y="8486775"/>
            <a:ext cx="16383000" cy="1076325"/>
          </a:xfrm>
          <a:prstGeom prst="roundRect">
            <a:avLst>
              <a:gd name="adj" fmla="val 10619"/>
            </a:avLst>
          </a:prstGeom>
          <a:solidFill>
            <a:srgbClr val="1222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1257300" y="8696325"/>
            <a:ext cx="16246602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LEITURA Aumento real do custo anual por carreta no período, associado ao envelhecimento e ao maior uso da frota.</a:t>
            </a:r>
            <a:r>
              <a:rPr lang="en-US" sz="1725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25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39140"/>
            <a:ext cx="3092958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33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EDA · QUANTITATIVA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52500" y="1104900"/>
            <a:ext cx="3092958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ano_modelo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4957108" y="723900"/>
            <a:ext cx="2616232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ρ Spearman = +0,029</a:t>
            </a:r>
            <a:r>
              <a:rPr lang="en-US" sz="1650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952500" y="1927860"/>
            <a:ext cx="11618595" cy="6311265"/>
          </a:xfrm>
          <a:prstGeom prst="roundRect">
            <a:avLst>
              <a:gd name="adj" fmla="val 241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1123950" y="3033355"/>
            <a:ext cx="11275695" cy="410015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2913995" y="1927860"/>
            <a:ext cx="4421505" cy="6311265"/>
          </a:xfrm>
          <a:prstGeom prst="roundRect">
            <a:avLst>
              <a:gd name="adj" fmla="val 3447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13245465" y="3843338"/>
            <a:ext cx="4134422" cy="22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b="1" kern="0" spc="204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ESTATÍSTICAS</a:t>
            </a:r>
            <a:endParaRPr lang="en-US" sz="1275" dirty="0"/>
          </a:p>
        </p:txBody>
      </p:sp>
      <p:sp>
        <p:nvSpPr>
          <p:cNvPr id="9" name="Text 6"/>
          <p:cNvSpPr/>
          <p:nvPr/>
        </p:nvSpPr>
        <p:spPr>
          <a:xfrm>
            <a:off x="13245465" y="4150043"/>
            <a:ext cx="19621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575" dirty="0"/>
          </a:p>
        </p:txBody>
      </p:sp>
      <p:sp>
        <p:nvSpPr>
          <p:cNvPr id="10" name="Text 7"/>
          <p:cNvSpPr/>
          <p:nvPr/>
        </p:nvSpPr>
        <p:spPr>
          <a:xfrm>
            <a:off x="16163925" y="4150043"/>
            <a:ext cx="91630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47.660</a:t>
            </a:r>
            <a:endParaRPr lang="en-US" sz="1575" dirty="0"/>
          </a:p>
        </p:txBody>
      </p:sp>
      <p:sp>
        <p:nvSpPr>
          <p:cNvPr id="11" name="Text 8"/>
          <p:cNvSpPr/>
          <p:nvPr/>
        </p:nvSpPr>
        <p:spPr>
          <a:xfrm>
            <a:off x="13245465" y="4532947"/>
            <a:ext cx="67627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média</a:t>
            </a:r>
            <a:endParaRPr lang="en-US" sz="1575" dirty="0"/>
          </a:p>
        </p:txBody>
      </p:sp>
      <p:sp>
        <p:nvSpPr>
          <p:cNvPr id="12" name="Text 9"/>
          <p:cNvSpPr/>
          <p:nvPr/>
        </p:nvSpPr>
        <p:spPr>
          <a:xfrm>
            <a:off x="16283940" y="4532947"/>
            <a:ext cx="796290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2015</a:t>
            </a:r>
            <a:endParaRPr lang="en-US" sz="1575" dirty="0"/>
          </a:p>
        </p:txBody>
      </p:sp>
      <p:sp>
        <p:nvSpPr>
          <p:cNvPr id="13" name="Text 10"/>
          <p:cNvSpPr/>
          <p:nvPr/>
        </p:nvSpPr>
        <p:spPr>
          <a:xfrm>
            <a:off x="13245465" y="4915853"/>
            <a:ext cx="91630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mediana</a:t>
            </a:r>
            <a:endParaRPr lang="en-US" sz="1575" dirty="0"/>
          </a:p>
        </p:txBody>
      </p:sp>
      <p:sp>
        <p:nvSpPr>
          <p:cNvPr id="14" name="Text 11"/>
          <p:cNvSpPr/>
          <p:nvPr/>
        </p:nvSpPr>
        <p:spPr>
          <a:xfrm>
            <a:off x="16523970" y="4915853"/>
            <a:ext cx="556260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2015</a:t>
            </a:r>
            <a:endParaRPr lang="en-US" sz="1575" dirty="0"/>
          </a:p>
        </p:txBody>
      </p:sp>
      <p:sp>
        <p:nvSpPr>
          <p:cNvPr id="15" name="Text 12"/>
          <p:cNvSpPr/>
          <p:nvPr/>
        </p:nvSpPr>
        <p:spPr>
          <a:xfrm>
            <a:off x="13245465" y="5298757"/>
            <a:ext cx="67627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Q1–Q3</a:t>
            </a:r>
            <a:endParaRPr lang="en-US" sz="1575" dirty="0"/>
          </a:p>
        </p:txBody>
      </p:sp>
      <p:sp>
        <p:nvSpPr>
          <p:cNvPr id="16" name="Text 13"/>
          <p:cNvSpPr/>
          <p:nvPr/>
        </p:nvSpPr>
        <p:spPr>
          <a:xfrm>
            <a:off x="15923895" y="5298757"/>
            <a:ext cx="115633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2011–2019</a:t>
            </a:r>
            <a:endParaRPr lang="en-US" sz="1575" dirty="0"/>
          </a:p>
        </p:txBody>
      </p:sp>
      <p:sp>
        <p:nvSpPr>
          <p:cNvPr id="17" name="Text 14"/>
          <p:cNvSpPr/>
          <p:nvPr/>
        </p:nvSpPr>
        <p:spPr>
          <a:xfrm>
            <a:off x="13245465" y="5681663"/>
            <a:ext cx="91630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mín–máx</a:t>
            </a:r>
            <a:endParaRPr lang="en-US" sz="1575" dirty="0"/>
          </a:p>
        </p:txBody>
      </p:sp>
      <p:sp>
        <p:nvSpPr>
          <p:cNvPr id="18" name="Text 15"/>
          <p:cNvSpPr/>
          <p:nvPr/>
        </p:nvSpPr>
        <p:spPr>
          <a:xfrm>
            <a:off x="15923895" y="5681663"/>
            <a:ext cx="115633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1982–2026</a:t>
            </a:r>
            <a:endParaRPr lang="en-US" sz="1575" dirty="0"/>
          </a:p>
        </p:txBody>
      </p:sp>
      <p:sp>
        <p:nvSpPr>
          <p:cNvPr id="19" name="Text 16"/>
          <p:cNvSpPr/>
          <p:nvPr/>
        </p:nvSpPr>
        <p:spPr>
          <a:xfrm>
            <a:off x="13245465" y="6064568"/>
            <a:ext cx="91630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Pearson</a:t>
            </a:r>
            <a:endParaRPr lang="en-US" sz="1575" dirty="0"/>
          </a:p>
        </p:txBody>
      </p:sp>
      <p:sp>
        <p:nvSpPr>
          <p:cNvPr id="20" name="Text 17"/>
          <p:cNvSpPr/>
          <p:nvPr/>
        </p:nvSpPr>
        <p:spPr>
          <a:xfrm>
            <a:off x="16283940" y="6064568"/>
            <a:ext cx="796290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+0,101</a:t>
            </a:r>
            <a:endParaRPr lang="en-US" sz="1575" dirty="0"/>
          </a:p>
        </p:txBody>
      </p:sp>
      <p:sp>
        <p:nvSpPr>
          <p:cNvPr id="21" name="Shape 18"/>
          <p:cNvSpPr/>
          <p:nvPr/>
        </p:nvSpPr>
        <p:spPr>
          <a:xfrm>
            <a:off x="952500" y="8486775"/>
            <a:ext cx="16383000" cy="1076325"/>
          </a:xfrm>
          <a:prstGeom prst="roundRect">
            <a:avLst>
              <a:gd name="adj" fmla="val 10619"/>
            </a:avLst>
          </a:prstGeom>
          <a:solidFill>
            <a:srgbClr val="1222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19"/>
          <p:cNvSpPr/>
          <p:nvPr/>
        </p:nvSpPr>
        <p:spPr>
          <a:xfrm>
            <a:off x="1257300" y="8696325"/>
            <a:ext cx="16246602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LEITURA Correlação quase nula (ρ 0,03): o ano do modelo isolado não explica o custo; o envelhecimento aparece nas variáveis de histórico acumulado.</a:t>
            </a:r>
            <a:r>
              <a:rPr lang="en-US" sz="1725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25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33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EDA · QUANTITATIVAS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52500" y="1089660"/>
            <a:ext cx="18021300" cy="563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Atributos físicos e estruturais — pouca separação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952500" y="1939290"/>
            <a:ext cx="5308521" cy="6243638"/>
          </a:xfrm>
          <a:prstGeom prst="roundRect">
            <a:avLst>
              <a:gd name="adj" fmla="val 2512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l="-2" r="-2"/>
          <a:stretch/>
        </p:blipFill>
        <p:spPr>
          <a:xfrm>
            <a:off x="1085850" y="4144447"/>
            <a:ext cx="5041821" cy="18333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52500" y="8316278"/>
            <a:ext cx="647700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eixos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127546" y="8316278"/>
            <a:ext cx="1209675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ρ = +0,060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89621" y="1939290"/>
            <a:ext cx="5308640" cy="6243638"/>
          </a:xfrm>
          <a:prstGeom prst="roundRect">
            <a:avLst>
              <a:gd name="adj" fmla="val 2512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 l="-3" r="-3"/>
          <a:stretch/>
        </p:blipFill>
        <p:spPr>
          <a:xfrm>
            <a:off x="6622971" y="4144447"/>
            <a:ext cx="5041940" cy="183332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89621" y="8316278"/>
            <a:ext cx="1383030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comprimento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10664785" y="8316278"/>
            <a:ext cx="1209675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ρ = −0,097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12026860" y="1939290"/>
            <a:ext cx="5308640" cy="6243638"/>
          </a:xfrm>
          <a:prstGeom prst="roundRect">
            <a:avLst>
              <a:gd name="adj" fmla="val 2512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rcRect l="-3" r="-3"/>
          <a:stretch/>
        </p:blipFill>
        <p:spPr>
          <a:xfrm>
            <a:off x="12160210" y="4144447"/>
            <a:ext cx="5041940" cy="183332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026860" y="8316278"/>
            <a:ext cx="2263140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ano_entrada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16202025" y="8316278"/>
            <a:ext cx="1209675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ρ = +0,013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952500" y="8815388"/>
            <a:ext cx="16383000" cy="747713"/>
          </a:xfrm>
          <a:prstGeom prst="roundRect">
            <a:avLst>
              <a:gd name="adj" fmla="val 15287"/>
            </a:avLst>
          </a:prstGeom>
          <a:solidFill>
            <a:srgbClr val="1222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2"/>
          <p:cNvSpPr/>
          <p:nvPr/>
        </p:nvSpPr>
        <p:spPr>
          <a:xfrm>
            <a:off x="1257300" y="9024938"/>
            <a:ext cx="1735074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LEITURA Frota homogênea: quase toda com 2 eixos e 53 pés. Atributos físicos separam pouco o custo anual; o sinal vem do uso e do histórico.</a:t>
            </a:r>
            <a:r>
              <a:rPr lang="en-US" sz="1725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25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39140"/>
            <a:ext cx="3923431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33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EDA · QUANTITATIVA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52500" y="1104900"/>
            <a:ext cx="3923431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idade_carreta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4328458" y="723900"/>
            <a:ext cx="3307747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ρ Spearman = +0,045 · H2</a:t>
            </a:r>
            <a:r>
              <a:rPr lang="en-US" sz="1650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r>
              <a:rPr lang="en-US" sz="1650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r>
              <a:rPr lang="en-US" sz="165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952500" y="1927860"/>
            <a:ext cx="11618595" cy="6639878"/>
          </a:xfrm>
          <a:prstGeom prst="roundRect">
            <a:avLst>
              <a:gd name="adj" fmla="val 229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1123950" y="3197662"/>
            <a:ext cx="11275695" cy="410015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2913995" y="1927860"/>
            <a:ext cx="4421505" cy="6639878"/>
          </a:xfrm>
          <a:prstGeom prst="roundRect">
            <a:avLst>
              <a:gd name="adj" fmla="val 3447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13245465" y="4007644"/>
            <a:ext cx="4134422" cy="22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b="1" kern="0" spc="204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ESTATÍSTICAS · ANOS</a:t>
            </a:r>
            <a:endParaRPr lang="en-US" sz="1275" dirty="0"/>
          </a:p>
        </p:txBody>
      </p:sp>
      <p:sp>
        <p:nvSpPr>
          <p:cNvPr id="9" name="Text 6"/>
          <p:cNvSpPr/>
          <p:nvPr/>
        </p:nvSpPr>
        <p:spPr>
          <a:xfrm>
            <a:off x="13245465" y="4314349"/>
            <a:ext cx="19621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575" dirty="0"/>
          </a:p>
        </p:txBody>
      </p:sp>
      <p:sp>
        <p:nvSpPr>
          <p:cNvPr id="10" name="Text 7"/>
          <p:cNvSpPr/>
          <p:nvPr/>
        </p:nvSpPr>
        <p:spPr>
          <a:xfrm>
            <a:off x="16163925" y="4314349"/>
            <a:ext cx="91630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47.660</a:t>
            </a:r>
            <a:endParaRPr lang="en-US" sz="1575" dirty="0"/>
          </a:p>
        </p:txBody>
      </p:sp>
      <p:sp>
        <p:nvSpPr>
          <p:cNvPr id="11" name="Text 8"/>
          <p:cNvSpPr/>
          <p:nvPr/>
        </p:nvSpPr>
        <p:spPr>
          <a:xfrm>
            <a:off x="13245465" y="4697254"/>
            <a:ext cx="67627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média</a:t>
            </a:r>
            <a:endParaRPr lang="en-US" sz="1575" dirty="0"/>
          </a:p>
        </p:txBody>
      </p:sp>
      <p:sp>
        <p:nvSpPr>
          <p:cNvPr id="12" name="Text 9"/>
          <p:cNvSpPr/>
          <p:nvPr/>
        </p:nvSpPr>
        <p:spPr>
          <a:xfrm>
            <a:off x="16523970" y="4697254"/>
            <a:ext cx="556260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575" dirty="0"/>
          </a:p>
        </p:txBody>
      </p:sp>
      <p:sp>
        <p:nvSpPr>
          <p:cNvPr id="13" name="Text 10"/>
          <p:cNvSpPr/>
          <p:nvPr/>
        </p:nvSpPr>
        <p:spPr>
          <a:xfrm>
            <a:off x="13245465" y="5080159"/>
            <a:ext cx="91630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mediana</a:t>
            </a:r>
            <a:endParaRPr lang="en-US" sz="1575" dirty="0"/>
          </a:p>
        </p:txBody>
      </p:sp>
      <p:sp>
        <p:nvSpPr>
          <p:cNvPr id="14" name="Text 11"/>
          <p:cNvSpPr/>
          <p:nvPr/>
        </p:nvSpPr>
        <p:spPr>
          <a:xfrm>
            <a:off x="16523970" y="5080159"/>
            <a:ext cx="556260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575" dirty="0"/>
          </a:p>
        </p:txBody>
      </p:sp>
      <p:sp>
        <p:nvSpPr>
          <p:cNvPr id="15" name="Text 12"/>
          <p:cNvSpPr/>
          <p:nvPr/>
        </p:nvSpPr>
        <p:spPr>
          <a:xfrm>
            <a:off x="13245465" y="5463064"/>
            <a:ext cx="67627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Q1–Q3</a:t>
            </a:r>
            <a:endParaRPr lang="en-US" sz="1575" dirty="0"/>
          </a:p>
        </p:txBody>
      </p:sp>
      <p:sp>
        <p:nvSpPr>
          <p:cNvPr id="16" name="Text 13"/>
          <p:cNvSpPr/>
          <p:nvPr/>
        </p:nvSpPr>
        <p:spPr>
          <a:xfrm>
            <a:off x="16163925" y="5463064"/>
            <a:ext cx="91630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4–12</a:t>
            </a:r>
            <a:endParaRPr lang="en-US" sz="1575" dirty="0"/>
          </a:p>
        </p:txBody>
      </p:sp>
      <p:sp>
        <p:nvSpPr>
          <p:cNvPr id="17" name="Text 14"/>
          <p:cNvSpPr/>
          <p:nvPr/>
        </p:nvSpPr>
        <p:spPr>
          <a:xfrm>
            <a:off x="13245465" y="5845969"/>
            <a:ext cx="43624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máx</a:t>
            </a:r>
            <a:endParaRPr lang="en-US" sz="1575" dirty="0"/>
          </a:p>
        </p:txBody>
      </p:sp>
      <p:sp>
        <p:nvSpPr>
          <p:cNvPr id="18" name="Text 15"/>
          <p:cNvSpPr/>
          <p:nvPr/>
        </p:nvSpPr>
        <p:spPr>
          <a:xfrm>
            <a:off x="16764000" y="5845969"/>
            <a:ext cx="316230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39</a:t>
            </a:r>
            <a:endParaRPr lang="en-US" sz="1575" dirty="0"/>
          </a:p>
        </p:txBody>
      </p:sp>
      <p:sp>
        <p:nvSpPr>
          <p:cNvPr id="19" name="Text 16"/>
          <p:cNvSpPr/>
          <p:nvPr/>
        </p:nvSpPr>
        <p:spPr>
          <a:xfrm>
            <a:off x="13245465" y="6228874"/>
            <a:ext cx="91630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Pearson</a:t>
            </a:r>
            <a:endParaRPr lang="en-US" sz="1575" dirty="0"/>
          </a:p>
        </p:txBody>
      </p:sp>
      <p:sp>
        <p:nvSpPr>
          <p:cNvPr id="20" name="Text 17"/>
          <p:cNvSpPr/>
          <p:nvPr/>
        </p:nvSpPr>
        <p:spPr>
          <a:xfrm>
            <a:off x="16283940" y="6228874"/>
            <a:ext cx="796290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−0,052</a:t>
            </a:r>
            <a:endParaRPr lang="en-US" sz="1575" dirty="0"/>
          </a:p>
        </p:txBody>
      </p:sp>
      <p:sp>
        <p:nvSpPr>
          <p:cNvPr id="21" name="Shape 18"/>
          <p:cNvSpPr/>
          <p:nvPr/>
        </p:nvSpPr>
        <p:spPr>
          <a:xfrm>
            <a:off x="952500" y="8815388"/>
            <a:ext cx="16383000" cy="747713"/>
          </a:xfrm>
          <a:prstGeom prst="roundRect">
            <a:avLst>
              <a:gd name="adj" fmla="val 15287"/>
            </a:avLst>
          </a:prstGeom>
          <a:solidFill>
            <a:srgbClr val="1222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19"/>
          <p:cNvSpPr/>
          <p:nvPr/>
        </p:nvSpPr>
        <p:spPr>
          <a:xfrm>
            <a:off x="1257300" y="9024938"/>
            <a:ext cx="1735074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LEITURA Efeito direto fraco (ρ 0,05): a idade atua de forma indireta, via km acumulado e histórico de OS. H2 com suporte parcial.</a:t>
            </a:r>
            <a:r>
              <a:rPr lang="en-US" sz="1725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25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39140"/>
            <a:ext cx="3923431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33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EDA · QUANTITATIVA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52500" y="1104900"/>
            <a:ext cx="3923431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km_rodado_ano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4328458" y="723900"/>
            <a:ext cx="3307747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ρ Spearman = +0,498 · H3</a:t>
            </a:r>
            <a:r>
              <a:rPr lang="en-US" sz="1650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r>
              <a:rPr lang="en-US" sz="1650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r>
              <a:rPr lang="en-US" sz="165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952500" y="1927860"/>
            <a:ext cx="11618595" cy="6639878"/>
          </a:xfrm>
          <a:prstGeom prst="roundRect">
            <a:avLst>
              <a:gd name="adj" fmla="val 229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1123950" y="3197662"/>
            <a:ext cx="11275695" cy="410015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2913995" y="1927860"/>
            <a:ext cx="4421505" cy="6639878"/>
          </a:xfrm>
          <a:prstGeom prst="roundRect">
            <a:avLst>
              <a:gd name="adj" fmla="val 3447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13245465" y="4007644"/>
            <a:ext cx="4134422" cy="22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b="1" kern="0" spc="204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ESTATÍSTICAS · KM</a:t>
            </a:r>
            <a:endParaRPr lang="en-US" sz="1275" dirty="0"/>
          </a:p>
        </p:txBody>
      </p:sp>
      <p:sp>
        <p:nvSpPr>
          <p:cNvPr id="9" name="Text 6"/>
          <p:cNvSpPr/>
          <p:nvPr/>
        </p:nvSpPr>
        <p:spPr>
          <a:xfrm>
            <a:off x="13245465" y="4314349"/>
            <a:ext cx="19621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575" dirty="0"/>
          </a:p>
        </p:txBody>
      </p:sp>
      <p:sp>
        <p:nvSpPr>
          <p:cNvPr id="10" name="Text 7"/>
          <p:cNvSpPr/>
          <p:nvPr/>
        </p:nvSpPr>
        <p:spPr>
          <a:xfrm>
            <a:off x="16163925" y="4314349"/>
            <a:ext cx="91630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47.666</a:t>
            </a:r>
            <a:endParaRPr lang="en-US" sz="1575" dirty="0"/>
          </a:p>
        </p:txBody>
      </p:sp>
      <p:sp>
        <p:nvSpPr>
          <p:cNvPr id="11" name="Text 8"/>
          <p:cNvSpPr/>
          <p:nvPr/>
        </p:nvSpPr>
        <p:spPr>
          <a:xfrm>
            <a:off x="13245465" y="4697254"/>
            <a:ext cx="67627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média</a:t>
            </a:r>
            <a:endParaRPr lang="en-US" sz="1575" dirty="0"/>
          </a:p>
        </p:txBody>
      </p:sp>
      <p:sp>
        <p:nvSpPr>
          <p:cNvPr id="12" name="Text 9"/>
          <p:cNvSpPr/>
          <p:nvPr/>
        </p:nvSpPr>
        <p:spPr>
          <a:xfrm>
            <a:off x="16403956" y="4697254"/>
            <a:ext cx="67627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13.797</a:t>
            </a:r>
            <a:endParaRPr lang="en-US" sz="1575" dirty="0"/>
          </a:p>
        </p:txBody>
      </p:sp>
      <p:sp>
        <p:nvSpPr>
          <p:cNvPr id="13" name="Text 10"/>
          <p:cNvSpPr/>
          <p:nvPr/>
        </p:nvSpPr>
        <p:spPr>
          <a:xfrm>
            <a:off x="13245465" y="5080159"/>
            <a:ext cx="91630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mediana</a:t>
            </a:r>
            <a:endParaRPr lang="en-US" sz="1575" dirty="0"/>
          </a:p>
        </p:txBody>
      </p:sp>
      <p:sp>
        <p:nvSpPr>
          <p:cNvPr id="14" name="Text 11"/>
          <p:cNvSpPr/>
          <p:nvPr/>
        </p:nvSpPr>
        <p:spPr>
          <a:xfrm>
            <a:off x="16403956" y="5080159"/>
            <a:ext cx="67627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8.502</a:t>
            </a:r>
            <a:endParaRPr lang="en-US" sz="1575" dirty="0"/>
          </a:p>
        </p:txBody>
      </p:sp>
      <p:sp>
        <p:nvSpPr>
          <p:cNvPr id="15" name="Text 12"/>
          <p:cNvSpPr/>
          <p:nvPr/>
        </p:nvSpPr>
        <p:spPr>
          <a:xfrm>
            <a:off x="13245465" y="5463064"/>
            <a:ext cx="67627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Q1–Q3</a:t>
            </a:r>
            <a:endParaRPr lang="en-US" sz="1575" dirty="0"/>
          </a:p>
        </p:txBody>
      </p:sp>
      <p:sp>
        <p:nvSpPr>
          <p:cNvPr id="16" name="Text 13"/>
          <p:cNvSpPr/>
          <p:nvPr/>
        </p:nvSpPr>
        <p:spPr>
          <a:xfrm>
            <a:off x="15923895" y="5463064"/>
            <a:ext cx="115633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1.421–19.094</a:t>
            </a:r>
            <a:endParaRPr lang="en-US" sz="1575" dirty="0"/>
          </a:p>
        </p:txBody>
      </p:sp>
      <p:sp>
        <p:nvSpPr>
          <p:cNvPr id="17" name="Text 14"/>
          <p:cNvSpPr/>
          <p:nvPr/>
        </p:nvSpPr>
        <p:spPr>
          <a:xfrm>
            <a:off x="13245465" y="5845969"/>
            <a:ext cx="43624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máx</a:t>
            </a:r>
            <a:endParaRPr lang="en-US" sz="1575" dirty="0"/>
          </a:p>
        </p:txBody>
      </p:sp>
      <p:sp>
        <p:nvSpPr>
          <p:cNvPr id="18" name="Text 15"/>
          <p:cNvSpPr/>
          <p:nvPr/>
        </p:nvSpPr>
        <p:spPr>
          <a:xfrm>
            <a:off x="16163925" y="5845969"/>
            <a:ext cx="91630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149.282</a:t>
            </a:r>
            <a:endParaRPr lang="en-US" sz="1575" dirty="0"/>
          </a:p>
        </p:txBody>
      </p:sp>
      <p:sp>
        <p:nvSpPr>
          <p:cNvPr id="19" name="Text 16"/>
          <p:cNvSpPr/>
          <p:nvPr/>
        </p:nvSpPr>
        <p:spPr>
          <a:xfrm>
            <a:off x="13245465" y="6228874"/>
            <a:ext cx="91630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Pearson</a:t>
            </a:r>
            <a:endParaRPr lang="en-US" sz="1575" dirty="0"/>
          </a:p>
        </p:txBody>
      </p:sp>
      <p:sp>
        <p:nvSpPr>
          <p:cNvPr id="20" name="Text 17"/>
          <p:cNvSpPr/>
          <p:nvPr/>
        </p:nvSpPr>
        <p:spPr>
          <a:xfrm>
            <a:off x="16283940" y="6228874"/>
            <a:ext cx="796290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+0,490</a:t>
            </a:r>
            <a:endParaRPr lang="en-US" sz="1575" dirty="0"/>
          </a:p>
        </p:txBody>
      </p:sp>
      <p:sp>
        <p:nvSpPr>
          <p:cNvPr id="21" name="Shape 18"/>
          <p:cNvSpPr/>
          <p:nvPr/>
        </p:nvSpPr>
        <p:spPr>
          <a:xfrm>
            <a:off x="952500" y="8815388"/>
            <a:ext cx="16383000" cy="747713"/>
          </a:xfrm>
          <a:prstGeom prst="roundRect">
            <a:avLst>
              <a:gd name="adj" fmla="val 15287"/>
            </a:avLst>
          </a:prstGeom>
          <a:solidFill>
            <a:srgbClr val="1222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19"/>
          <p:cNvSpPr/>
          <p:nvPr/>
        </p:nvSpPr>
        <p:spPr>
          <a:xfrm>
            <a:off x="1257300" y="9024938"/>
            <a:ext cx="1735074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LEITURA Correlação positiva forte (ρ 0,50): maior uso no ano associa-se a maior custo anual. Suporte à H3.</a:t>
            </a:r>
            <a:r>
              <a:rPr lang="en-US" sz="1725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25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39140"/>
            <a:ext cx="5674090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33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EDA · QUANTITATIVAS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52500" y="1104900"/>
            <a:ext cx="5674090" cy="5638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Quilometragem — exposição ao uso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7084040" y="723900"/>
            <a:ext cx="327660" cy="31242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H3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952500" y="1935480"/>
            <a:ext cx="8077200" cy="6247448"/>
          </a:xfrm>
          <a:prstGeom prst="roundRect">
            <a:avLst>
              <a:gd name="adj" fmla="val 2134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1085850" y="3639145"/>
            <a:ext cx="7810500" cy="284011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52500" y="8316278"/>
            <a:ext cx="1508760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km_acumulado_fim_ano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381625" y="8316278"/>
            <a:ext cx="4012883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ρ = +0,444</a:t>
            </a:r>
            <a:r>
              <a:rPr lang="en-US" sz="1500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9258300" y="1935480"/>
            <a:ext cx="8077200" cy="6247448"/>
          </a:xfrm>
          <a:prstGeom prst="roundRect">
            <a:avLst>
              <a:gd name="adj" fmla="val 2134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l="-1" r="-1"/>
          <a:stretch/>
        </p:blipFill>
        <p:spPr>
          <a:xfrm>
            <a:off x="9391650" y="3639145"/>
            <a:ext cx="7810500" cy="284011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258300" y="8316278"/>
            <a:ext cx="1219200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km_acumulado_defasado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14258925" y="8316278"/>
            <a:ext cx="3384233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ρ = +0,396</a:t>
            </a:r>
            <a:r>
              <a:rPr lang="en-US" sz="1500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952500" y="8815388"/>
            <a:ext cx="16383000" cy="747713"/>
          </a:xfrm>
          <a:prstGeom prst="roundRect">
            <a:avLst>
              <a:gd name="adj" fmla="val 15287"/>
            </a:avLst>
          </a:prstGeom>
          <a:solidFill>
            <a:srgbClr val="1222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0"/>
          <p:cNvSpPr/>
          <p:nvPr/>
        </p:nvSpPr>
        <p:spPr>
          <a:xfrm>
            <a:off x="1257300" y="9024938"/>
            <a:ext cx="1735074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LEITURA Maior quilometragem acumulada associa-se a maior custo anual (ρ 0,44). Suporte à H3.</a:t>
            </a:r>
            <a:r>
              <a:rPr lang="en-US" sz="1725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25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39140"/>
            <a:ext cx="4687241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33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EDA · QUANTITATIVAS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52500" y="1104900"/>
            <a:ext cx="4687241" cy="563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Variáveis de contrato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7084040" y="723900"/>
            <a:ext cx="32766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H1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952500" y="1935480"/>
            <a:ext cx="8077200" cy="6232207"/>
          </a:xfrm>
          <a:prstGeom prst="roundRect">
            <a:avLst>
              <a:gd name="adj" fmla="val 214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1085850" y="3631525"/>
            <a:ext cx="7810500" cy="284011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52500" y="8301038"/>
            <a:ext cx="2766060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duracao_contrato_meses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410325" y="8301038"/>
            <a:ext cx="2881313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não avaliada</a:t>
            </a:r>
            <a:r>
              <a:rPr lang="en-US" sz="1500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9258300" y="1935480"/>
            <a:ext cx="8077200" cy="6232207"/>
          </a:xfrm>
          <a:prstGeom prst="roundRect">
            <a:avLst>
              <a:gd name="adj" fmla="val 214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l="-1" r="-1"/>
          <a:stretch/>
        </p:blipFill>
        <p:spPr>
          <a:xfrm>
            <a:off x="9391650" y="3631525"/>
            <a:ext cx="7810500" cy="284011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258300" y="8301038"/>
            <a:ext cx="2640330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idade_contrato_no_mes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14716125" y="8301038"/>
            <a:ext cx="2881313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não avaliada</a:t>
            </a:r>
            <a:r>
              <a:rPr lang="en-US" sz="1500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952500" y="8800148"/>
            <a:ext cx="16383000" cy="762952"/>
          </a:xfrm>
          <a:prstGeom prst="roundRect">
            <a:avLst>
              <a:gd name="adj" fmla="val 14981"/>
            </a:avLst>
          </a:prstGeom>
          <a:solidFill>
            <a:srgbClr val="2A1F10"/>
          </a:solidFill>
          <a:ln w="7620">
            <a:solidFill>
              <a:srgbClr val="4A392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0"/>
          <p:cNvSpPr/>
          <p:nvPr/>
        </p:nvSpPr>
        <p:spPr>
          <a:xfrm>
            <a:off x="1264920" y="9017318"/>
            <a:ext cx="17333976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ACHADO A H1 (duração/idade de contrato) não é avaliada nesta entrega: a base única fato_wo_ml não contém variáveis contratuais. Fica como extensão futura ao integrar fato_contratos.</a:t>
            </a:r>
            <a:r>
              <a:rPr lang="en-US" sz="1725" dirty="0">
                <a:solidFill>
                  <a:srgbClr val="F5E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25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39140"/>
            <a:ext cx="10260092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33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EDA · QUANTITATIVAS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52500" y="1104900"/>
            <a:ext cx="10260092" cy="563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acumulado e do ano anterior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7084040" y="723900"/>
            <a:ext cx="327660" cy="31242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H4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952500" y="1935480"/>
            <a:ext cx="8077200" cy="5918835"/>
          </a:xfrm>
          <a:prstGeom prst="roundRect">
            <a:avLst>
              <a:gd name="adj" fmla="val 2253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1085850" y="3474839"/>
            <a:ext cx="7810500" cy="284011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52500" y="7987665"/>
            <a:ext cx="2640330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custo_acum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067425" y="7987665"/>
            <a:ext cx="3258503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ρ = +0,470</a:t>
            </a:r>
            <a:r>
              <a:rPr lang="en-US" sz="1500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9258300" y="1935480"/>
            <a:ext cx="8077200" cy="5918835"/>
          </a:xfrm>
          <a:prstGeom prst="roundRect">
            <a:avLst>
              <a:gd name="adj" fmla="val 2253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l="-1" r="-1"/>
          <a:stretch/>
        </p:blipFill>
        <p:spPr>
          <a:xfrm>
            <a:off x="9391650" y="3474839"/>
            <a:ext cx="7810500" cy="284011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258300" y="7987665"/>
            <a:ext cx="2640330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custo_ano_anterior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16202025" y="7987665"/>
            <a:ext cx="1209675" cy="28956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ρ = +0,531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952500" y="8486775"/>
            <a:ext cx="16383000" cy="1076325"/>
          </a:xfrm>
          <a:prstGeom prst="roundRect">
            <a:avLst>
              <a:gd name="adj" fmla="val 10619"/>
            </a:avLst>
          </a:prstGeom>
          <a:solidFill>
            <a:srgbClr val="1222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0"/>
          <p:cNvSpPr/>
          <p:nvPr/>
        </p:nvSpPr>
        <p:spPr>
          <a:xfrm>
            <a:off x="1257300" y="8696325"/>
            <a:ext cx="16246602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LEITURA Custo acumulado e custo do ano anterior antecipam o custo do ano (ρ 0,47 e 0,53). Suporte à H4.</a:t>
            </a:r>
            <a:r>
              <a:rPr lang="en-US" sz="1725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25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39140"/>
            <a:ext cx="8832795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33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EDA · QUANTITATIVAS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52500" y="1104900"/>
            <a:ext cx="8832795" cy="5638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no ano e acumuladas — o preditor mais forte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7084040" y="723900"/>
            <a:ext cx="327660" cy="31242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H4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952500" y="1935480"/>
            <a:ext cx="8077200" cy="6247448"/>
          </a:xfrm>
          <a:prstGeom prst="roundRect">
            <a:avLst>
              <a:gd name="adj" fmla="val 2134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1085850" y="3639145"/>
            <a:ext cx="7810500" cy="284011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52500" y="8316278"/>
            <a:ext cx="1104900" cy="28956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n_os_ano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38825" y="8316278"/>
            <a:ext cx="3509963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ρ = +0,745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9258300" y="1935480"/>
            <a:ext cx="8077200" cy="6247448"/>
          </a:xfrm>
          <a:prstGeom prst="roundRect">
            <a:avLst>
              <a:gd name="adj" fmla="val 2134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l="-1" r="-1"/>
          <a:stretch/>
        </p:blipFill>
        <p:spPr>
          <a:xfrm>
            <a:off x="9391650" y="3639145"/>
            <a:ext cx="7810500" cy="284011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258300" y="8316278"/>
            <a:ext cx="2640330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n_os_acum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16202025" y="8316278"/>
            <a:ext cx="1209675" cy="28956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ρ = +0,466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952500" y="8815388"/>
            <a:ext cx="16383000" cy="747713"/>
          </a:xfrm>
          <a:prstGeom prst="roundRect">
            <a:avLst>
              <a:gd name="adj" fmla="val 15287"/>
            </a:avLst>
          </a:prstGeom>
          <a:solidFill>
            <a:srgbClr val="1222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0"/>
          <p:cNvSpPr/>
          <p:nvPr/>
        </p:nvSpPr>
        <p:spPr>
          <a:xfrm>
            <a:off x="1257300" y="9024938"/>
            <a:ext cx="1735074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LEITURA O número de OS no ano é a variável mais associada ao custo (ρ 0,75). Suporte à H4.</a:t>
            </a:r>
            <a:r>
              <a:rPr lang="en-US" sz="1725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25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33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EDA · QUANTITATIVAS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52500" y="1089660"/>
            <a:ext cx="18021300" cy="563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do ano anterior e diversidade de sistemas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952500" y="1920240"/>
            <a:ext cx="8077200" cy="5934075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1085850" y="3467219"/>
            <a:ext cx="7810500" cy="284011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52500" y="7987665"/>
            <a:ext cx="2514600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n_os_ano_anterior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896225" y="7987665"/>
            <a:ext cx="1209675" cy="28956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ρ = +0,521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9258300" y="1920240"/>
            <a:ext cx="8077200" cy="5934075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 l="-1" r="-1"/>
          <a:stretch/>
        </p:blipFill>
        <p:spPr>
          <a:xfrm>
            <a:off x="9391650" y="3467219"/>
            <a:ext cx="7810500" cy="284011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258300" y="7987665"/>
            <a:ext cx="3143250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n_sistemas_vmrs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16202025" y="7987665"/>
            <a:ext cx="1209675" cy="28956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ρ = +0,673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952500" y="8486775"/>
            <a:ext cx="16383000" cy="1076325"/>
          </a:xfrm>
          <a:prstGeom prst="roundRect">
            <a:avLst>
              <a:gd name="adj" fmla="val 10619"/>
            </a:avLst>
          </a:prstGeom>
          <a:solidFill>
            <a:srgbClr val="1222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9"/>
          <p:cNvSpPr/>
          <p:nvPr/>
        </p:nvSpPr>
        <p:spPr>
          <a:xfrm>
            <a:off x="1257300" y="8696325"/>
            <a:ext cx="16246602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LEITURA Número de OS do ano anterior (ρ 0,52) e diversidade de sistemas VMRS no ano (ρ 0,67) acompanham o custo.</a:t>
            </a:r>
            <a:r>
              <a:rPr lang="en-US" sz="1725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25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39140"/>
            <a:ext cx="8246447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33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EDA · QUANTITATIVAS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52500" y="1104900"/>
            <a:ext cx="8246447" cy="563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Intervalo entre OS e recência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7084040" y="723900"/>
            <a:ext cx="327660" cy="31242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H4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952500" y="1935480"/>
            <a:ext cx="8077200" cy="5918835"/>
          </a:xfrm>
          <a:prstGeom prst="roundRect">
            <a:avLst>
              <a:gd name="adj" fmla="val 2253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1085850" y="3474839"/>
            <a:ext cx="7810500" cy="284011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52500" y="7987665"/>
            <a:ext cx="2263140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intervalo_medio_os_hist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067425" y="7987665"/>
            <a:ext cx="3258503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ρ = −0,429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9258300" y="1935480"/>
            <a:ext cx="8077200" cy="5918835"/>
          </a:xfrm>
          <a:prstGeom prst="roundRect">
            <a:avLst>
              <a:gd name="adj" fmla="val 2253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l="-1" r="-1"/>
          <a:stretch/>
        </p:blipFill>
        <p:spPr>
          <a:xfrm>
            <a:off x="9391650" y="3474839"/>
            <a:ext cx="7810500" cy="284011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258300" y="7987665"/>
            <a:ext cx="2640330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anos_desde_ultima_os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16202025" y="7987665"/>
            <a:ext cx="1209675" cy="28956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ρ = −0,298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952500" y="8486775"/>
            <a:ext cx="16383000" cy="1076325"/>
          </a:xfrm>
          <a:prstGeom prst="roundRect">
            <a:avLst>
              <a:gd name="adj" fmla="val 10619"/>
            </a:avLst>
          </a:prstGeom>
          <a:solidFill>
            <a:srgbClr val="1222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0"/>
          <p:cNvSpPr/>
          <p:nvPr/>
        </p:nvSpPr>
        <p:spPr>
          <a:xfrm>
            <a:off x="1257300" y="8696325"/>
            <a:ext cx="16246602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LEITURA Intervalo médio entre OS tem correlação negativa (ρ −0,43): OS mais espaçadas, menor custo no ano.</a:t>
            </a:r>
            <a:r>
              <a:rPr lang="en-US" sz="1725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25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39140"/>
            <a:ext cx="3923431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33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EDA · QUALITATIVA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52500" y="1104900"/>
            <a:ext cx="3923431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cod_montadora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4202727" y="723900"/>
            <a:ext cx="344605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η = 0,23 · 26 categorias</a:t>
            </a:r>
            <a:r>
              <a:rPr lang="en-US" sz="1650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r>
              <a:rPr lang="en-US" sz="1650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952500" y="1927860"/>
            <a:ext cx="11618595" cy="6311265"/>
          </a:xfrm>
          <a:prstGeom prst="roundRect">
            <a:avLst>
              <a:gd name="adj" fmla="val 241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1123950" y="2777133"/>
            <a:ext cx="11275695" cy="461271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2913995" y="1927860"/>
            <a:ext cx="4421505" cy="6311265"/>
          </a:xfrm>
          <a:prstGeom prst="roundRect">
            <a:avLst>
              <a:gd name="adj" fmla="val 3447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13245465" y="3843338"/>
            <a:ext cx="4134422" cy="22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b="1" kern="0" spc="204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FREQUÊNCIA · TOP 6</a:t>
            </a:r>
            <a:endParaRPr lang="en-US" sz="1275" dirty="0"/>
          </a:p>
        </p:txBody>
      </p:sp>
      <p:sp>
        <p:nvSpPr>
          <p:cNvPr id="9" name="Text 6"/>
          <p:cNvSpPr/>
          <p:nvPr/>
        </p:nvSpPr>
        <p:spPr>
          <a:xfrm>
            <a:off x="13245465" y="4150043"/>
            <a:ext cx="67627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UTLTY</a:t>
            </a:r>
            <a:endParaRPr lang="en-US" sz="1575" dirty="0"/>
          </a:p>
        </p:txBody>
      </p:sp>
      <p:sp>
        <p:nvSpPr>
          <p:cNvPr id="10" name="Text 7"/>
          <p:cNvSpPr/>
          <p:nvPr/>
        </p:nvSpPr>
        <p:spPr>
          <a:xfrm>
            <a:off x="16403956" y="4150043"/>
            <a:ext cx="67627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39,1%</a:t>
            </a:r>
            <a:endParaRPr lang="en-US" sz="1575" dirty="0"/>
          </a:p>
        </p:txBody>
      </p:sp>
      <p:sp>
        <p:nvSpPr>
          <p:cNvPr id="11" name="Text 8"/>
          <p:cNvSpPr/>
          <p:nvPr/>
        </p:nvSpPr>
        <p:spPr>
          <a:xfrm>
            <a:off x="13245465" y="4532947"/>
            <a:ext cx="796290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STGHTN</a:t>
            </a:r>
            <a:endParaRPr lang="en-US" sz="1575" dirty="0"/>
          </a:p>
        </p:txBody>
      </p:sp>
      <p:sp>
        <p:nvSpPr>
          <p:cNvPr id="12" name="Text 9"/>
          <p:cNvSpPr/>
          <p:nvPr/>
        </p:nvSpPr>
        <p:spPr>
          <a:xfrm>
            <a:off x="16403956" y="4532947"/>
            <a:ext cx="67627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20,2%</a:t>
            </a:r>
            <a:endParaRPr lang="en-US" sz="1575" dirty="0"/>
          </a:p>
        </p:txBody>
      </p:sp>
      <p:sp>
        <p:nvSpPr>
          <p:cNvPr id="13" name="Text 10"/>
          <p:cNvSpPr/>
          <p:nvPr/>
        </p:nvSpPr>
        <p:spPr>
          <a:xfrm>
            <a:off x="13245465" y="4915853"/>
            <a:ext cx="91630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WABASH</a:t>
            </a:r>
            <a:endParaRPr lang="en-US" sz="1575" dirty="0"/>
          </a:p>
        </p:txBody>
      </p:sp>
      <p:sp>
        <p:nvSpPr>
          <p:cNvPr id="14" name="Text 11"/>
          <p:cNvSpPr/>
          <p:nvPr/>
        </p:nvSpPr>
        <p:spPr>
          <a:xfrm>
            <a:off x="16403956" y="4915853"/>
            <a:ext cx="67627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9,8%</a:t>
            </a:r>
            <a:endParaRPr lang="en-US" sz="1575" dirty="0"/>
          </a:p>
        </p:txBody>
      </p:sp>
      <p:sp>
        <p:nvSpPr>
          <p:cNvPr id="15" name="Text 12"/>
          <p:cNvSpPr/>
          <p:nvPr/>
        </p:nvSpPr>
        <p:spPr>
          <a:xfrm>
            <a:off x="13245465" y="5298757"/>
            <a:ext cx="67627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MANAC</a:t>
            </a:r>
            <a:endParaRPr lang="en-US" sz="1575" dirty="0"/>
          </a:p>
        </p:txBody>
      </p:sp>
      <p:sp>
        <p:nvSpPr>
          <p:cNvPr id="16" name="Text 13"/>
          <p:cNvSpPr/>
          <p:nvPr/>
        </p:nvSpPr>
        <p:spPr>
          <a:xfrm>
            <a:off x="16403956" y="5298757"/>
            <a:ext cx="67627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9,7%</a:t>
            </a:r>
            <a:endParaRPr lang="en-US" sz="1575" dirty="0"/>
          </a:p>
        </p:txBody>
      </p:sp>
      <p:sp>
        <p:nvSpPr>
          <p:cNvPr id="17" name="Text 14"/>
          <p:cNvSpPr/>
          <p:nvPr/>
        </p:nvSpPr>
        <p:spPr>
          <a:xfrm>
            <a:off x="13245465" y="5681663"/>
            <a:ext cx="796290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HYUNDAI</a:t>
            </a:r>
            <a:endParaRPr lang="en-US" sz="1575" dirty="0"/>
          </a:p>
        </p:txBody>
      </p:sp>
      <p:sp>
        <p:nvSpPr>
          <p:cNvPr id="18" name="Text 15"/>
          <p:cNvSpPr/>
          <p:nvPr/>
        </p:nvSpPr>
        <p:spPr>
          <a:xfrm>
            <a:off x="16523970" y="5681663"/>
            <a:ext cx="556260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8,0%</a:t>
            </a:r>
            <a:endParaRPr lang="en-US" sz="1575" dirty="0"/>
          </a:p>
        </p:txBody>
      </p:sp>
      <p:sp>
        <p:nvSpPr>
          <p:cNvPr id="19" name="Text 16"/>
          <p:cNvSpPr/>
          <p:nvPr/>
        </p:nvSpPr>
        <p:spPr>
          <a:xfrm>
            <a:off x="13245465" y="6064568"/>
            <a:ext cx="91630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TMOBILE</a:t>
            </a:r>
            <a:endParaRPr lang="en-US" sz="1575" dirty="0"/>
          </a:p>
        </p:txBody>
      </p:sp>
      <p:sp>
        <p:nvSpPr>
          <p:cNvPr id="20" name="Text 17"/>
          <p:cNvSpPr/>
          <p:nvPr/>
        </p:nvSpPr>
        <p:spPr>
          <a:xfrm>
            <a:off x="16523970" y="6064568"/>
            <a:ext cx="556260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6,1%</a:t>
            </a:r>
            <a:endParaRPr lang="en-US" sz="1575" dirty="0"/>
          </a:p>
        </p:txBody>
      </p:sp>
      <p:sp>
        <p:nvSpPr>
          <p:cNvPr id="21" name="Shape 18"/>
          <p:cNvSpPr/>
          <p:nvPr/>
        </p:nvSpPr>
        <p:spPr>
          <a:xfrm>
            <a:off x="952500" y="8486775"/>
            <a:ext cx="16383000" cy="1076325"/>
          </a:xfrm>
          <a:prstGeom prst="roundRect">
            <a:avLst>
              <a:gd name="adj" fmla="val 10619"/>
            </a:avLst>
          </a:prstGeom>
          <a:solidFill>
            <a:srgbClr val="1222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19"/>
          <p:cNvSpPr/>
          <p:nvPr/>
        </p:nvSpPr>
        <p:spPr>
          <a:xfrm>
            <a:off x="1257300" y="8696325"/>
            <a:ext cx="16246602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LEITURA Diferença de custo entre fabricantes (η 0,23), com sobreposição alta entre as categorias.</a:t>
            </a:r>
            <a:r>
              <a:rPr lang="en-US" sz="1725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25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39140"/>
            <a:ext cx="4828818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33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EDA · QUALITATIVA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52500" y="1104900"/>
            <a:ext cx="4828818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flag_refrigerado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6214408" y="723900"/>
            <a:ext cx="1197293" cy="31242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η = 0,43</a:t>
            </a:r>
            <a:r>
              <a:rPr lang="en-US" sz="1650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952500" y="1927860"/>
            <a:ext cx="12115800" cy="6311265"/>
          </a:xfrm>
          <a:prstGeom prst="roundRect">
            <a:avLst>
              <a:gd name="adj" fmla="val 241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1123950" y="2675454"/>
            <a:ext cx="11772900" cy="481607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3411200" y="3468053"/>
            <a:ext cx="3924300" cy="1390650"/>
          </a:xfrm>
          <a:prstGeom prst="roundRect">
            <a:avLst>
              <a:gd name="adj" fmla="val 9589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13723620" y="3742372"/>
            <a:ext cx="3629406" cy="563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69,7%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13723620" y="4325303"/>
            <a:ext cx="3629406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carretas secas (N)</a:t>
            </a:r>
            <a:endParaRPr lang="en-US" sz="1575" dirty="0"/>
          </a:p>
        </p:txBody>
      </p:sp>
      <p:sp>
        <p:nvSpPr>
          <p:cNvPr id="10" name="Shape 7"/>
          <p:cNvSpPr/>
          <p:nvPr/>
        </p:nvSpPr>
        <p:spPr>
          <a:xfrm>
            <a:off x="13411200" y="5049203"/>
            <a:ext cx="3924300" cy="1649730"/>
          </a:xfrm>
          <a:prstGeom prst="roundRect">
            <a:avLst>
              <a:gd name="adj" fmla="val 8083"/>
            </a:avLst>
          </a:prstGeom>
          <a:solidFill>
            <a:srgbClr val="0E211E"/>
          </a:solidFill>
          <a:ln w="7620">
            <a:solidFill>
              <a:srgbClr val="1C3B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13723620" y="5323523"/>
            <a:ext cx="3629406" cy="563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3FE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30,3%</a:t>
            </a:r>
            <a:endParaRPr lang="en-US" sz="3600" dirty="0"/>
          </a:p>
        </p:txBody>
      </p:sp>
      <p:sp>
        <p:nvSpPr>
          <p:cNvPr id="12" name="Text 9"/>
          <p:cNvSpPr/>
          <p:nvPr/>
        </p:nvSpPr>
        <p:spPr>
          <a:xfrm>
            <a:off x="13723620" y="5906453"/>
            <a:ext cx="3398444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refrigeradas (reefer) — custo anual mais alto</a:t>
            </a:r>
            <a:endParaRPr lang="en-US" sz="1575" dirty="0"/>
          </a:p>
        </p:txBody>
      </p:sp>
      <p:sp>
        <p:nvSpPr>
          <p:cNvPr id="13" name="Shape 10"/>
          <p:cNvSpPr/>
          <p:nvPr/>
        </p:nvSpPr>
        <p:spPr>
          <a:xfrm>
            <a:off x="952500" y="8486775"/>
            <a:ext cx="16383000" cy="1076325"/>
          </a:xfrm>
          <a:prstGeom prst="roundRect">
            <a:avLst>
              <a:gd name="adj" fmla="val 10619"/>
            </a:avLst>
          </a:prstGeom>
          <a:solidFill>
            <a:srgbClr val="1222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1"/>
          <p:cNvSpPr/>
          <p:nvPr/>
        </p:nvSpPr>
        <p:spPr>
          <a:xfrm>
            <a:off x="1257300" y="8696325"/>
            <a:ext cx="16246602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LEITURA Reefers têm custo anual maior (η 0,43): a unidade de refrigeração adiciona manutenção.</a:t>
            </a:r>
            <a:r>
              <a:rPr lang="en-US" sz="1725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25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39140"/>
            <a:ext cx="7642027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33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EDA · QUALITATIVAS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52500" y="1104900"/>
            <a:ext cx="7642027" cy="563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 de contrato e de manutenção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7084040" y="723900"/>
            <a:ext cx="32766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H5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952500" y="1935480"/>
            <a:ext cx="8077200" cy="5918835"/>
          </a:xfrm>
          <a:prstGeom prst="roundRect">
            <a:avLst>
              <a:gd name="adj" fmla="val 2253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1085850" y="3297317"/>
            <a:ext cx="7810500" cy="319516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52500" y="7987665"/>
            <a:ext cx="1634490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tipo_contrato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410325" y="7987665"/>
            <a:ext cx="2881313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não avaliada</a:t>
            </a:r>
            <a:r>
              <a:rPr lang="en-US" sz="1500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9258300" y="1935480"/>
            <a:ext cx="8077200" cy="5918835"/>
          </a:xfrm>
          <a:prstGeom prst="roundRect">
            <a:avLst>
              <a:gd name="adj" fmla="val 2253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l="-1" r="-1"/>
          <a:stretch/>
        </p:blipFill>
        <p:spPr>
          <a:xfrm>
            <a:off x="9391650" y="3297317"/>
            <a:ext cx="7810500" cy="319516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258300" y="7987665"/>
            <a:ext cx="1885950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tipo_manutencao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14716125" y="7987665"/>
            <a:ext cx="2881313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não avaliada</a:t>
            </a:r>
            <a:r>
              <a:rPr lang="en-US" sz="1500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952500" y="8486775"/>
            <a:ext cx="16383000" cy="1076325"/>
          </a:xfrm>
          <a:prstGeom prst="roundRect">
            <a:avLst>
              <a:gd name="adj" fmla="val 10619"/>
            </a:avLst>
          </a:prstGeom>
          <a:solidFill>
            <a:srgbClr val="1222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0"/>
          <p:cNvSpPr/>
          <p:nvPr/>
        </p:nvSpPr>
        <p:spPr>
          <a:xfrm>
            <a:off x="1257300" y="8696325"/>
            <a:ext cx="16246602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LEITURA Tipo de contrato/manutenção vêm de fato_contratos, fora da base única desta entrega — não avaliados. A parte de operação/equipamento da H5 é coberta por unit_subtype, reefer e província.</a:t>
            </a:r>
            <a:r>
              <a:rPr lang="en-US" sz="1725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25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39140"/>
            <a:ext cx="6036088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33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EDA · QUALITATIVA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52500" y="1104900"/>
            <a:ext cx="6036088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cod_grupo_manutencao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4202727" y="723900"/>
            <a:ext cx="344605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não avaliada</a:t>
            </a:r>
            <a:r>
              <a:rPr lang="en-US" sz="1650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r>
              <a:rPr lang="en-US" sz="1650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952500" y="1927860"/>
            <a:ext cx="11618595" cy="6632257"/>
          </a:xfrm>
          <a:prstGeom prst="roundRect">
            <a:avLst>
              <a:gd name="adj" fmla="val 2298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1123950" y="2937629"/>
            <a:ext cx="11275695" cy="461271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2913995" y="1927860"/>
            <a:ext cx="4421505" cy="6632257"/>
          </a:xfrm>
          <a:prstGeom prst="roundRect">
            <a:avLst>
              <a:gd name="adj" fmla="val 3447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13245465" y="4478179"/>
            <a:ext cx="4134422" cy="22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b="1" kern="0" spc="204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275" dirty="0"/>
          </a:p>
        </p:txBody>
      </p:sp>
      <p:sp>
        <p:nvSpPr>
          <p:cNvPr id="9" name="Text 6"/>
          <p:cNvSpPr/>
          <p:nvPr/>
        </p:nvSpPr>
        <p:spPr>
          <a:xfrm>
            <a:off x="13245465" y="4813459"/>
            <a:ext cx="4134422" cy="563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B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13245465" y="5491639"/>
            <a:ext cx="3871322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575" dirty="0"/>
          </a:p>
        </p:txBody>
      </p:sp>
      <p:sp>
        <p:nvSpPr>
          <p:cNvPr id="11" name="Shape 8"/>
          <p:cNvSpPr/>
          <p:nvPr/>
        </p:nvSpPr>
        <p:spPr>
          <a:xfrm>
            <a:off x="952500" y="8807768"/>
            <a:ext cx="16383000" cy="755333"/>
          </a:xfrm>
          <a:prstGeom prst="roundRect">
            <a:avLst>
              <a:gd name="adj" fmla="val 15132"/>
            </a:avLst>
          </a:prstGeom>
          <a:solidFill>
            <a:srgbClr val="1222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1257300" y="9017318"/>
            <a:ext cx="17350740" cy="3743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LEITURA O programa/grupo de manutenção não está na base fato_wo_ml desta entrega — não avaliado.</a:t>
            </a:r>
            <a:r>
              <a:rPr lang="en-US" sz="1725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1725" b="1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1725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1725" b="1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1725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25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39140"/>
            <a:ext cx="4527066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33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EDA · QUALITATIVA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52500" y="1104900"/>
            <a:ext cx="4527066" cy="55626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provincia_operacao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2316777" y="723900"/>
            <a:ext cx="5520595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η = 0,17 · região de operação · H5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952500" y="1927860"/>
            <a:ext cx="11618595" cy="6639878"/>
          </a:xfrm>
          <a:prstGeom prst="roundRect">
            <a:avLst>
              <a:gd name="adj" fmla="val 229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1123950" y="2941439"/>
            <a:ext cx="11275695" cy="461271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2913995" y="1927860"/>
            <a:ext cx="4421505" cy="6639878"/>
          </a:xfrm>
          <a:prstGeom prst="roundRect">
            <a:avLst>
              <a:gd name="adj" fmla="val 3447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13245465" y="4007644"/>
            <a:ext cx="4134422" cy="22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b="1" kern="0" spc="204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FREQUÊNCIA · TOP 6</a:t>
            </a:r>
            <a:endParaRPr lang="en-US" sz="1275" dirty="0"/>
          </a:p>
        </p:txBody>
      </p:sp>
      <p:sp>
        <p:nvSpPr>
          <p:cNvPr id="9" name="Text 6"/>
          <p:cNvSpPr/>
          <p:nvPr/>
        </p:nvSpPr>
        <p:spPr>
          <a:xfrm>
            <a:off x="13245465" y="4314349"/>
            <a:ext cx="43624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Ontario</a:t>
            </a:r>
            <a:endParaRPr lang="en-US" sz="1575" dirty="0"/>
          </a:p>
        </p:txBody>
      </p:sp>
      <p:sp>
        <p:nvSpPr>
          <p:cNvPr id="10" name="Text 7"/>
          <p:cNvSpPr/>
          <p:nvPr/>
        </p:nvSpPr>
        <p:spPr>
          <a:xfrm>
            <a:off x="16403956" y="4314349"/>
            <a:ext cx="67627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77,7%</a:t>
            </a:r>
            <a:endParaRPr lang="en-US" sz="1575" dirty="0"/>
          </a:p>
        </p:txBody>
      </p:sp>
      <p:sp>
        <p:nvSpPr>
          <p:cNvPr id="11" name="Text 8"/>
          <p:cNvSpPr/>
          <p:nvPr/>
        </p:nvSpPr>
        <p:spPr>
          <a:xfrm>
            <a:off x="13245465" y="4697254"/>
            <a:ext cx="91630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Alberta</a:t>
            </a:r>
            <a:endParaRPr lang="en-US" sz="1575" dirty="0"/>
          </a:p>
        </p:txBody>
      </p:sp>
      <p:sp>
        <p:nvSpPr>
          <p:cNvPr id="12" name="Text 9"/>
          <p:cNvSpPr/>
          <p:nvPr/>
        </p:nvSpPr>
        <p:spPr>
          <a:xfrm>
            <a:off x="16403956" y="4697254"/>
            <a:ext cx="67627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15,1%</a:t>
            </a:r>
            <a:endParaRPr lang="en-US" sz="1575" dirty="0"/>
          </a:p>
        </p:txBody>
      </p:sp>
      <p:sp>
        <p:nvSpPr>
          <p:cNvPr id="13" name="Text 10"/>
          <p:cNvSpPr/>
          <p:nvPr/>
        </p:nvSpPr>
        <p:spPr>
          <a:xfrm>
            <a:off x="13245465" y="5080159"/>
            <a:ext cx="91630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Quebec</a:t>
            </a:r>
            <a:endParaRPr lang="en-US" sz="1575" dirty="0"/>
          </a:p>
        </p:txBody>
      </p:sp>
      <p:sp>
        <p:nvSpPr>
          <p:cNvPr id="14" name="Text 11"/>
          <p:cNvSpPr/>
          <p:nvPr/>
        </p:nvSpPr>
        <p:spPr>
          <a:xfrm>
            <a:off x="16523970" y="5080159"/>
            <a:ext cx="556260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3,4%</a:t>
            </a:r>
            <a:endParaRPr lang="en-US" sz="1575" dirty="0"/>
          </a:p>
        </p:txBody>
      </p:sp>
      <p:sp>
        <p:nvSpPr>
          <p:cNvPr id="15" name="Text 12"/>
          <p:cNvSpPr/>
          <p:nvPr/>
        </p:nvSpPr>
        <p:spPr>
          <a:xfrm>
            <a:off x="13245465" y="5463064"/>
            <a:ext cx="1036320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British Colu</a:t>
            </a:r>
            <a:endParaRPr lang="en-US" sz="1575" dirty="0"/>
          </a:p>
        </p:txBody>
      </p:sp>
      <p:sp>
        <p:nvSpPr>
          <p:cNvPr id="16" name="Text 13"/>
          <p:cNvSpPr/>
          <p:nvPr/>
        </p:nvSpPr>
        <p:spPr>
          <a:xfrm>
            <a:off x="16523970" y="5463064"/>
            <a:ext cx="556260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2,8%</a:t>
            </a:r>
            <a:endParaRPr lang="en-US" sz="1575" dirty="0"/>
          </a:p>
        </p:txBody>
      </p:sp>
      <p:sp>
        <p:nvSpPr>
          <p:cNvPr id="17" name="Text 14"/>
          <p:cNvSpPr/>
          <p:nvPr/>
        </p:nvSpPr>
        <p:spPr>
          <a:xfrm>
            <a:off x="13245465" y="5845969"/>
            <a:ext cx="916305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Brunswic</a:t>
            </a:r>
            <a:endParaRPr lang="en-US" sz="1575" dirty="0"/>
          </a:p>
        </p:txBody>
      </p:sp>
      <p:sp>
        <p:nvSpPr>
          <p:cNvPr id="18" name="Text 15"/>
          <p:cNvSpPr/>
          <p:nvPr/>
        </p:nvSpPr>
        <p:spPr>
          <a:xfrm>
            <a:off x="16523970" y="5845969"/>
            <a:ext cx="556260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0,6%</a:t>
            </a:r>
            <a:endParaRPr lang="en-US" sz="1575" dirty="0"/>
          </a:p>
        </p:txBody>
      </p:sp>
      <p:sp>
        <p:nvSpPr>
          <p:cNvPr id="19" name="Text 16"/>
          <p:cNvSpPr/>
          <p:nvPr/>
        </p:nvSpPr>
        <p:spPr>
          <a:xfrm>
            <a:off x="13245465" y="6228874"/>
            <a:ext cx="796290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Manitoba</a:t>
            </a:r>
            <a:endParaRPr lang="en-US" sz="1575" dirty="0"/>
          </a:p>
        </p:txBody>
      </p:sp>
      <p:sp>
        <p:nvSpPr>
          <p:cNvPr id="20" name="Text 17"/>
          <p:cNvSpPr/>
          <p:nvPr/>
        </p:nvSpPr>
        <p:spPr>
          <a:xfrm>
            <a:off x="16523970" y="6228874"/>
            <a:ext cx="556260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0,2%</a:t>
            </a:r>
            <a:endParaRPr lang="en-US" sz="1575" dirty="0"/>
          </a:p>
        </p:txBody>
      </p:sp>
      <p:sp>
        <p:nvSpPr>
          <p:cNvPr id="21" name="Shape 18"/>
          <p:cNvSpPr/>
          <p:nvPr/>
        </p:nvSpPr>
        <p:spPr>
          <a:xfrm>
            <a:off x="952500" y="8815388"/>
            <a:ext cx="16383000" cy="747713"/>
          </a:xfrm>
          <a:prstGeom prst="roundRect">
            <a:avLst>
              <a:gd name="adj" fmla="val 15287"/>
            </a:avLst>
          </a:prstGeom>
          <a:solidFill>
            <a:srgbClr val="1222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19"/>
          <p:cNvSpPr/>
          <p:nvPr/>
        </p:nvSpPr>
        <p:spPr>
          <a:xfrm>
            <a:off x="1257300" y="9024938"/>
            <a:ext cx="1735074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LEITURA O custo anual varia entre províncias (η 0,17), refletindo clima, malha viária e custo de oficina local.</a:t>
            </a:r>
            <a:r>
              <a:rPr lang="en-US" sz="1725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25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39140"/>
            <a:ext cx="3018044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33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EDA · QUALITATIVA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52500" y="1104900"/>
            <a:ext cx="3018044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cod_classe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4328458" y="723900"/>
            <a:ext cx="3307747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não avaliada</a:t>
            </a:r>
            <a:r>
              <a:rPr lang="en-US" sz="1650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r>
              <a:rPr lang="en-US" sz="1650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952500" y="1927860"/>
            <a:ext cx="11618595" cy="6311265"/>
          </a:xfrm>
          <a:prstGeom prst="roundRect">
            <a:avLst>
              <a:gd name="adj" fmla="val 241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1123950" y="2777133"/>
            <a:ext cx="11275695" cy="461271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2913995" y="1927860"/>
            <a:ext cx="4421505" cy="6311265"/>
          </a:xfrm>
          <a:prstGeom prst="roundRect">
            <a:avLst>
              <a:gd name="adj" fmla="val 3447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13245465" y="4226243"/>
            <a:ext cx="4134422" cy="22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b="1" kern="0" spc="204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275" dirty="0"/>
          </a:p>
        </p:txBody>
      </p:sp>
      <p:sp>
        <p:nvSpPr>
          <p:cNvPr id="9" name="Text 6"/>
          <p:cNvSpPr/>
          <p:nvPr/>
        </p:nvSpPr>
        <p:spPr>
          <a:xfrm>
            <a:off x="13245465" y="4532947"/>
            <a:ext cx="916305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575" dirty="0"/>
          </a:p>
        </p:txBody>
      </p:sp>
      <p:sp>
        <p:nvSpPr>
          <p:cNvPr id="10" name="Text 7"/>
          <p:cNvSpPr/>
          <p:nvPr/>
        </p:nvSpPr>
        <p:spPr>
          <a:xfrm>
            <a:off x="16403956" y="4532947"/>
            <a:ext cx="676275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575" dirty="0"/>
          </a:p>
        </p:txBody>
      </p:sp>
      <p:sp>
        <p:nvSpPr>
          <p:cNvPr id="11" name="Text 8"/>
          <p:cNvSpPr/>
          <p:nvPr/>
        </p:nvSpPr>
        <p:spPr>
          <a:xfrm>
            <a:off x="13245465" y="4915853"/>
            <a:ext cx="1452182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575" dirty="0"/>
          </a:p>
        </p:txBody>
      </p:sp>
      <p:sp>
        <p:nvSpPr>
          <p:cNvPr id="12" name="Text 9"/>
          <p:cNvSpPr/>
          <p:nvPr/>
        </p:nvSpPr>
        <p:spPr>
          <a:xfrm>
            <a:off x="16403956" y="4915853"/>
            <a:ext cx="676275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575" dirty="0"/>
          </a:p>
        </p:txBody>
      </p:sp>
      <p:sp>
        <p:nvSpPr>
          <p:cNvPr id="13" name="Text 10"/>
          <p:cNvSpPr/>
          <p:nvPr/>
        </p:nvSpPr>
        <p:spPr>
          <a:xfrm>
            <a:off x="13245465" y="5298757"/>
            <a:ext cx="55626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575" dirty="0"/>
          </a:p>
        </p:txBody>
      </p:sp>
      <p:sp>
        <p:nvSpPr>
          <p:cNvPr id="14" name="Text 11"/>
          <p:cNvSpPr/>
          <p:nvPr/>
        </p:nvSpPr>
        <p:spPr>
          <a:xfrm>
            <a:off x="16403956" y="5298757"/>
            <a:ext cx="676275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575" dirty="0"/>
          </a:p>
        </p:txBody>
      </p:sp>
      <p:sp>
        <p:nvSpPr>
          <p:cNvPr id="15" name="Text 12"/>
          <p:cNvSpPr/>
          <p:nvPr/>
        </p:nvSpPr>
        <p:spPr>
          <a:xfrm>
            <a:off x="13245465" y="5681663"/>
            <a:ext cx="79629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575" dirty="0"/>
          </a:p>
        </p:txBody>
      </p:sp>
      <p:sp>
        <p:nvSpPr>
          <p:cNvPr id="16" name="Text 13"/>
          <p:cNvSpPr/>
          <p:nvPr/>
        </p:nvSpPr>
        <p:spPr>
          <a:xfrm>
            <a:off x="16523970" y="5681663"/>
            <a:ext cx="55626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575" dirty="0"/>
          </a:p>
        </p:txBody>
      </p:sp>
      <p:sp>
        <p:nvSpPr>
          <p:cNvPr id="17" name="Shape 14"/>
          <p:cNvSpPr/>
          <p:nvPr/>
        </p:nvSpPr>
        <p:spPr>
          <a:xfrm>
            <a:off x="952500" y="8486775"/>
            <a:ext cx="16383000" cy="1076325"/>
          </a:xfrm>
          <a:prstGeom prst="roundRect">
            <a:avLst>
              <a:gd name="adj" fmla="val 10619"/>
            </a:avLst>
          </a:prstGeom>
          <a:solidFill>
            <a:srgbClr val="1222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1257300" y="8696325"/>
            <a:ext cx="16246602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LEITURA A classe da carreta vem do cadastro externo à base fato_wo_ml desta entrega — não avaliada; unit_subtype cumpre papel parecido e foi analisado.</a:t>
            </a:r>
            <a:r>
              <a:rPr lang="en-US" sz="1725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25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33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EDA · SELEÇÃO DE VARIÁVEIS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52500" y="1089660"/>
            <a:ext cx="18021300" cy="563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Força de associação de cada X com o Y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952500" y="1920240"/>
            <a:ext cx="11828621" cy="7642860"/>
          </a:xfrm>
          <a:prstGeom prst="roundRect">
            <a:avLst>
              <a:gd name="adj" fmla="val 1994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760583" y="2091690"/>
            <a:ext cx="8212455" cy="7299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3124021" y="3564255"/>
            <a:ext cx="4211479" cy="1108710"/>
          </a:xfrm>
          <a:prstGeom prst="roundRect">
            <a:avLst>
              <a:gd name="adj" fmla="val 12027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13417391" y="3819525"/>
            <a:ext cx="3987213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máx ρ = 0,75</a:t>
            </a:r>
            <a:endParaRPr lang="en-US" sz="1950" dirty="0"/>
          </a:p>
        </p:txBody>
      </p:sp>
      <p:sp>
        <p:nvSpPr>
          <p:cNvPr id="8" name="Text 5"/>
          <p:cNvSpPr/>
          <p:nvPr/>
        </p:nvSpPr>
        <p:spPr>
          <a:xfrm>
            <a:off x="13417391" y="4158615"/>
            <a:ext cx="3987213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n_os_ano lidera o ranking</a:t>
            </a:r>
            <a:endParaRPr lang="en-US" sz="1575" dirty="0"/>
          </a:p>
        </p:txBody>
      </p:sp>
      <p:sp>
        <p:nvSpPr>
          <p:cNvPr id="9" name="Shape 6"/>
          <p:cNvSpPr/>
          <p:nvPr/>
        </p:nvSpPr>
        <p:spPr>
          <a:xfrm>
            <a:off x="13124021" y="4844415"/>
            <a:ext cx="4211479" cy="1581150"/>
          </a:xfrm>
          <a:prstGeom prst="roundRect">
            <a:avLst>
              <a:gd name="adj" fmla="val 8434"/>
            </a:avLst>
          </a:prstGeom>
          <a:solidFill>
            <a:srgbClr val="0E211E"/>
          </a:solidFill>
          <a:ln w="7620">
            <a:solidFill>
              <a:srgbClr val="1C3B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13417391" y="5099685"/>
            <a:ext cx="3987213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histórico domina</a:t>
            </a: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13417391" y="5393055"/>
            <a:ext cx="3733481" cy="8153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n_os_ano · custo_ano_anterior · custo_acum · intervalo_medio_os — suporte à H4</a:t>
            </a:r>
            <a:endParaRPr lang="en-US" sz="1575" dirty="0"/>
          </a:p>
        </p:txBody>
      </p:sp>
      <p:sp>
        <p:nvSpPr>
          <p:cNvPr id="12" name="Shape 9"/>
          <p:cNvSpPr/>
          <p:nvPr/>
        </p:nvSpPr>
        <p:spPr>
          <a:xfrm>
            <a:off x="13124021" y="6597015"/>
            <a:ext cx="4211479" cy="1322070"/>
          </a:xfrm>
          <a:prstGeom prst="roundRect">
            <a:avLst>
              <a:gd name="adj" fmla="val 10086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13417391" y="6852285"/>
            <a:ext cx="3987213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interações</a:t>
            </a:r>
            <a:endParaRPr lang="en-US" sz="1650" dirty="0"/>
          </a:p>
        </p:txBody>
      </p:sp>
      <p:sp>
        <p:nvSpPr>
          <p:cNvPr id="14" name="Text 11"/>
          <p:cNvSpPr/>
          <p:nvPr/>
        </p:nvSpPr>
        <p:spPr>
          <a:xfrm>
            <a:off x="13417391" y="7145655"/>
            <a:ext cx="3733481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ganho preditivo vem de combinações — favorece árvores/ensembles</a:t>
            </a:r>
            <a:endParaRPr lang="en-US" sz="1575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33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EDA · MULTICOLINEARIDADE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52500" y="1089660"/>
            <a:ext cx="18021300" cy="563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Quais variáveis dizem a mesma coisa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952500" y="1920240"/>
            <a:ext cx="10893505" cy="6318885"/>
          </a:xfrm>
          <a:prstGeom prst="roundRect">
            <a:avLst>
              <a:gd name="adj" fmla="val 2412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664262" y="2091690"/>
            <a:ext cx="7469981" cy="597598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2188905" y="1920240"/>
            <a:ext cx="5146596" cy="6318885"/>
          </a:xfrm>
          <a:prstGeom prst="roundRect">
            <a:avLst>
              <a:gd name="adj" fmla="val 2961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12501324" y="3711893"/>
            <a:ext cx="4973931" cy="22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b="1" kern="0" spc="204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VIF · TOP 5</a:t>
            </a:r>
            <a:endParaRPr lang="en-US" sz="1275" dirty="0"/>
          </a:p>
        </p:txBody>
      </p:sp>
      <p:sp>
        <p:nvSpPr>
          <p:cNvPr id="8" name="Text 5"/>
          <p:cNvSpPr/>
          <p:nvPr/>
        </p:nvSpPr>
        <p:spPr>
          <a:xfrm>
            <a:off x="12501324" y="4009072"/>
            <a:ext cx="1219200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km_acumulado_fim_ano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565881" y="4009072"/>
            <a:ext cx="533400" cy="28956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58,5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2501324" y="4374833"/>
            <a:ext cx="1104900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km_acumulado_defasado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6565881" y="4374833"/>
            <a:ext cx="533400" cy="28956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57,8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2501324" y="4740593"/>
            <a:ext cx="1885950" cy="28956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idade_carreta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6680181" y="4740593"/>
            <a:ext cx="419100" cy="28956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10,3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2501324" y="5106353"/>
            <a:ext cx="1760220" cy="28956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ano_modelo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6680181" y="5106353"/>
            <a:ext cx="419100" cy="28956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501324" y="5472113"/>
            <a:ext cx="2011680" cy="28956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custo_acum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680181" y="5472113"/>
            <a:ext cx="419100" cy="28956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2501324" y="5933123"/>
            <a:ext cx="4657408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dirty="0">
                <a:solidFill>
                  <a:srgbClr val="7B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Regra: VIF &gt; 5 pede atenção · &gt; 10 indica redundância problemática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952500" y="8486775"/>
            <a:ext cx="16383000" cy="1076325"/>
          </a:xfrm>
          <a:prstGeom prst="roundRect">
            <a:avLst>
              <a:gd name="adj" fmla="val 10619"/>
            </a:avLst>
          </a:prstGeom>
          <a:solidFill>
            <a:srgbClr val="1222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7"/>
          <p:cNvSpPr/>
          <p:nvPr/>
        </p:nvSpPr>
        <p:spPr>
          <a:xfrm>
            <a:off x="1257300" y="8696325"/>
            <a:ext cx="16246602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DECISÃO Como o modelo recomendado é de árvore (robusto a colinearidade), mantemos as variáveis; para a regressão, escolhemos 1 de cada par redundante (odômetro, idade↔ano_modelo, custo acumulado↔ano anterior).</a:t>
            </a:r>
            <a:r>
              <a:rPr lang="en-US" sz="1725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25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33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EDA · OUTLIERS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52500" y="1089660"/>
            <a:ext cx="18021300" cy="563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e decisões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952500" y="3083719"/>
            <a:ext cx="16383000" cy="670560"/>
          </a:xfrm>
          <a:prstGeom prst="roundRect">
            <a:avLst>
              <a:gd name="adj" fmla="val 17045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245870" y="3281839"/>
            <a:ext cx="377190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· custo anual por carreta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4922520" y="3293269"/>
            <a:ext cx="2619375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máx 5× o p99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51420" y="3281839"/>
            <a:ext cx="6996874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winsorização no p99,5 na modelagem · custos negativos (estornos) já excluídos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952500" y="3868579"/>
            <a:ext cx="16383000" cy="670560"/>
          </a:xfrm>
          <a:prstGeom prst="roundRect">
            <a:avLst>
              <a:gd name="adj" fmla="val 17045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1245870" y="4066699"/>
            <a:ext cx="377190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n_os_acum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4922520" y="4078129"/>
            <a:ext cx="2619375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máx 3× o p99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551420" y="4066699"/>
            <a:ext cx="7600903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poucas carretas com muitas OS no ano — comportamento real, mantidas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952500" y="4653439"/>
            <a:ext cx="16383000" cy="670560"/>
          </a:xfrm>
          <a:prstGeom prst="roundRect">
            <a:avLst>
              <a:gd name="adj" fmla="val 17045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1245870" y="4851559"/>
            <a:ext cx="377190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custo_acum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4922520" y="4862989"/>
            <a:ext cx="2619375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máx 4× o p99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551420" y="4851559"/>
            <a:ext cx="6137065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acompanha as carretas de custo alto — winsorização leve no alvo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952500" y="5438299"/>
            <a:ext cx="16383000" cy="944880"/>
          </a:xfrm>
          <a:prstGeom prst="roundRect">
            <a:avLst>
              <a:gd name="adj" fmla="val 12097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1245870" y="5636419"/>
            <a:ext cx="3531870" cy="586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km_rodado_ano · km_acumulado_fim_ano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4922520" y="5785009"/>
            <a:ext cx="2619375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2× o p99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551420" y="5773579"/>
            <a:ext cx="7345776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moderados após tratamento de resets — mantidos (robustez de árvore)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952500" y="6497479"/>
            <a:ext cx="16383000" cy="944880"/>
          </a:xfrm>
          <a:prstGeom prst="roundRect">
            <a:avLst>
              <a:gd name="adj" fmla="val 12097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1245870" y="6695599"/>
            <a:ext cx="3531870" cy="586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ano_modelo · eixos · comprimento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4922520" y="6844189"/>
            <a:ext cx="2619375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 relevantes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551420" y="6832759"/>
            <a:ext cx="1520285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 ação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952500" y="8815388"/>
            <a:ext cx="16383000" cy="747713"/>
          </a:xfrm>
          <a:prstGeom prst="roundRect">
            <a:avLst>
              <a:gd name="adj" fmla="val 15287"/>
            </a:avLst>
          </a:prstGeom>
          <a:solidFill>
            <a:srgbClr val="1222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1257300" y="9024938"/>
            <a:ext cx="1735074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REGRA GERAL Caudas longas de custo são características do fenômeno; mantidas, com winsorização apenas no alvo.</a:t>
            </a:r>
            <a:r>
              <a:rPr lang="en-US" sz="1725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25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62000"/>
            <a:ext cx="1781175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347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EDA · SÍNTESE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4430"/>
            <a:ext cx="1781175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EDA diz para a modelagem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47750" y="3240405"/>
            <a:ext cx="8001000" cy="1638300"/>
          </a:xfrm>
          <a:prstGeom prst="roundRect">
            <a:avLst>
              <a:gd name="adj" fmla="val 8140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379220" y="3533775"/>
            <a:ext cx="8071866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kern="0" spc="171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OCORRÊNCIA QUASE CERTA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1379220" y="3884295"/>
            <a:ext cx="7558202" cy="739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Quase todas as carretas com OS têm custo no ano (0,02% de zeros); o problema é estimar a magnitude.</a:t>
            </a:r>
            <a:r>
              <a:rPr lang="en-US" sz="18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239250" y="3240405"/>
            <a:ext cx="8001000" cy="1638300"/>
          </a:xfrm>
          <a:prstGeom prst="roundRect">
            <a:avLst>
              <a:gd name="adj" fmla="val 8140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9570720" y="3533775"/>
            <a:ext cx="8071866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kern="0" spc="171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CAUDA PESADA</a:t>
            </a:r>
            <a:endParaRPr lang="en-US" sz="1425" dirty="0"/>
          </a:p>
        </p:txBody>
      </p:sp>
      <p:sp>
        <p:nvSpPr>
          <p:cNvPr id="9" name="Text 7"/>
          <p:cNvSpPr/>
          <p:nvPr/>
        </p:nvSpPr>
        <p:spPr>
          <a:xfrm>
            <a:off x="9570720" y="3884295"/>
            <a:ext cx="807186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log1p / perda robusta · outliers extremos capados no p99,5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47750" y="5069205"/>
            <a:ext cx="8001000" cy="1623060"/>
          </a:xfrm>
          <a:prstGeom prst="roundRect">
            <a:avLst>
              <a:gd name="adj" fmla="val 8216"/>
            </a:avLst>
          </a:prstGeom>
          <a:solidFill>
            <a:srgbClr val="0E211E"/>
          </a:solidFill>
          <a:ln w="7620">
            <a:solidFill>
              <a:srgbClr val="1C3B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1379220" y="5362575"/>
            <a:ext cx="8071866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kern="0" spc="171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HISTÓRICO DOMINA · H4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1379220" y="5713095"/>
            <a:ext cx="7558202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acumuladas, custo acumulado e intervalo entre OS formam o bloco preditivo mais forte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239250" y="5069205"/>
            <a:ext cx="8001000" cy="1623060"/>
          </a:xfrm>
          <a:prstGeom prst="roundRect">
            <a:avLst>
              <a:gd name="adj" fmla="val 8216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9570720" y="5362575"/>
            <a:ext cx="8071866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kern="0" spc="171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SINAL DISTRIBUÍDO</a:t>
            </a:r>
            <a:endParaRPr lang="en-US" sz="1425" dirty="0"/>
          </a:p>
        </p:txBody>
      </p:sp>
      <p:sp>
        <p:nvSpPr>
          <p:cNvPr id="15" name="Text 13"/>
          <p:cNvSpPr/>
          <p:nvPr/>
        </p:nvSpPr>
        <p:spPr>
          <a:xfrm>
            <a:off x="9570720" y="5713095"/>
            <a:ext cx="7558202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n_os_ano ρ 0,75; várias variáveis acima de 0,4 — histórico e uso concentram o sinal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47750" y="6882765"/>
            <a:ext cx="8001000" cy="1623060"/>
          </a:xfrm>
          <a:prstGeom prst="roundRect">
            <a:avLst>
              <a:gd name="adj" fmla="val 8216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1379220" y="7176135"/>
            <a:ext cx="8071866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kern="0" spc="171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DEFLAÇÃO OBRIGATÓRIA</a:t>
            </a:r>
            <a:endParaRPr lang="en-US" sz="1425" dirty="0"/>
          </a:p>
        </p:txBody>
      </p:sp>
      <p:sp>
        <p:nvSpPr>
          <p:cNvPr id="18" name="Text 16"/>
          <p:cNvSpPr/>
          <p:nvPr/>
        </p:nvSpPr>
        <p:spPr>
          <a:xfrm>
            <a:off x="1379220" y="7526655"/>
            <a:ext cx="7558202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CPI Canadá; em valores reais o custo anual por carreta cresce (mediana 652→1.056)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239250" y="6882765"/>
            <a:ext cx="8001000" cy="1623060"/>
          </a:xfrm>
          <a:prstGeom prst="roundRect">
            <a:avLst>
              <a:gd name="adj" fmla="val 8216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9570720" y="7176135"/>
            <a:ext cx="8071866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kern="0" spc="171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CUIDADOS</a:t>
            </a:r>
            <a:endParaRPr lang="en-US" sz="1425" dirty="0"/>
          </a:p>
        </p:txBody>
      </p:sp>
      <p:sp>
        <p:nvSpPr>
          <p:cNvPr id="21" name="Text 19"/>
          <p:cNvSpPr/>
          <p:nvPr/>
        </p:nvSpPr>
        <p:spPr>
          <a:xfrm>
            <a:off x="9570720" y="7526655"/>
            <a:ext cx="7558202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colinearidade nos pares de odômetro e idade↔ano_modelo — manter 1 de cada</a:t>
            </a:r>
            <a:endParaRPr lang="en-US" sz="1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E21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69423" y="5524500"/>
            <a:ext cx="8857285" cy="7277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2500"/>
              </a:lnSpc>
              <a:buNone/>
            </a:pPr>
            <a:r>
              <a:rPr lang="en-US" sz="40000" b="1" dirty="0">
                <a:solidFill>
                  <a:srgbClr val="1230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40000" dirty="0"/>
          </a:p>
        </p:txBody>
      </p:sp>
      <p:sp>
        <p:nvSpPr>
          <p:cNvPr id="3" name="Text 1"/>
          <p:cNvSpPr/>
          <p:nvPr/>
        </p:nvSpPr>
        <p:spPr>
          <a:xfrm>
            <a:off x="1238250" y="3346133"/>
            <a:ext cx="1739265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kern="0" spc="414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BLOCO 2 · PERGUNTA 9</a:t>
            </a:r>
            <a:endParaRPr lang="en-US" sz="1725" dirty="0"/>
          </a:p>
        </p:txBody>
      </p:sp>
      <p:sp>
        <p:nvSpPr>
          <p:cNvPr id="4" name="Text 2"/>
          <p:cNvSpPr/>
          <p:nvPr/>
        </p:nvSpPr>
        <p:spPr>
          <a:xfrm>
            <a:off x="1238250" y="3894772"/>
            <a:ext cx="12263438" cy="1878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69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estatísticas e de machine learning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1238250" y="6077903"/>
            <a:ext cx="17392650" cy="396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75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grão carreta × ano · split temporal treino/teste</a:t>
            </a:r>
            <a:endParaRPr lang="en-US" sz="2175" dirty="0"/>
          </a:p>
        </p:txBody>
      </p:sp>
      <p:sp>
        <p:nvSpPr>
          <p:cNvPr id="6" name="Shape 4"/>
          <p:cNvSpPr/>
          <p:nvPr/>
        </p:nvSpPr>
        <p:spPr>
          <a:xfrm>
            <a:off x="1238250" y="6893243"/>
            <a:ext cx="1143000" cy="47625"/>
          </a:xfrm>
          <a:prstGeom prst="rect">
            <a:avLst/>
          </a:prstGeom>
          <a:solidFill>
            <a:srgbClr val="3FE0CE"/>
          </a:solidFill>
          <a:ln/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62000"/>
            <a:ext cx="1781175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347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PERGUNTA 9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4430"/>
            <a:ext cx="1781175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utilizadas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47750" y="2183130"/>
            <a:ext cx="5245061" cy="7341870"/>
          </a:xfrm>
          <a:prstGeom prst="roundRect">
            <a:avLst>
              <a:gd name="adj" fmla="val 2906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417320" y="2514600"/>
            <a:ext cx="4956512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kern="0" spc="228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ESTATÍSTICA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1417320" y="2960370"/>
            <a:ext cx="4956512" cy="3448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72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Correlação de Pearson e Spearman</a:t>
            </a:r>
            <a:endParaRPr lang="en-US" sz="1725" dirty="0"/>
          </a:p>
        </p:txBody>
      </p:sp>
      <p:sp>
        <p:nvSpPr>
          <p:cNvPr id="7" name="Text 5"/>
          <p:cNvSpPr/>
          <p:nvPr/>
        </p:nvSpPr>
        <p:spPr>
          <a:xfrm>
            <a:off x="1417320" y="3409950"/>
            <a:ext cx="4956512" cy="3448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72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Associação para categóricas (η)</a:t>
            </a:r>
            <a:endParaRPr lang="en-US" sz="1725" dirty="0"/>
          </a:p>
        </p:txBody>
      </p:sp>
      <p:sp>
        <p:nvSpPr>
          <p:cNvPr id="8" name="Text 6"/>
          <p:cNvSpPr/>
          <p:nvPr/>
        </p:nvSpPr>
        <p:spPr>
          <a:xfrm>
            <a:off x="1417320" y="3859530"/>
            <a:ext cx="4956512" cy="3448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72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Regressão linear simples e múltipla</a:t>
            </a:r>
            <a:endParaRPr lang="en-US" sz="1725" dirty="0"/>
          </a:p>
        </p:txBody>
      </p:sp>
      <p:sp>
        <p:nvSpPr>
          <p:cNvPr id="9" name="Text 7"/>
          <p:cNvSpPr/>
          <p:nvPr/>
        </p:nvSpPr>
        <p:spPr>
          <a:xfrm>
            <a:off x="1417320" y="4309110"/>
            <a:ext cx="4956512" cy="3448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72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Ridge · Ridge com log1p no alvo</a:t>
            </a:r>
            <a:endParaRPr lang="en-US" sz="1725" dirty="0"/>
          </a:p>
        </p:txBody>
      </p:sp>
      <p:sp>
        <p:nvSpPr>
          <p:cNvPr id="10" name="Text 8"/>
          <p:cNvSpPr/>
          <p:nvPr/>
        </p:nvSpPr>
        <p:spPr>
          <a:xfrm>
            <a:off x="1417320" y="4758690"/>
            <a:ext cx="4956512" cy="3448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72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Regressão polinomial (grau 2)</a:t>
            </a:r>
            <a:endParaRPr lang="en-US" sz="1725" dirty="0"/>
          </a:p>
        </p:txBody>
      </p:sp>
      <p:sp>
        <p:nvSpPr>
          <p:cNvPr id="11" name="Text 9"/>
          <p:cNvSpPr/>
          <p:nvPr/>
        </p:nvSpPr>
        <p:spPr>
          <a:xfrm>
            <a:off x="1417320" y="5208270"/>
            <a:ext cx="4956512" cy="3448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72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de multicolinearidade (VIF)</a:t>
            </a:r>
            <a:endParaRPr lang="en-US" sz="1725" dirty="0"/>
          </a:p>
        </p:txBody>
      </p:sp>
      <p:sp>
        <p:nvSpPr>
          <p:cNvPr id="12" name="Shape 10"/>
          <p:cNvSpPr/>
          <p:nvPr/>
        </p:nvSpPr>
        <p:spPr>
          <a:xfrm>
            <a:off x="6521411" y="2183130"/>
            <a:ext cx="5245179" cy="7341870"/>
          </a:xfrm>
          <a:prstGeom prst="roundRect">
            <a:avLst>
              <a:gd name="adj" fmla="val 2906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6890981" y="2514600"/>
            <a:ext cx="4956643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kern="0" spc="228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MACHINE LEARNING</a:t>
            </a:r>
            <a:endParaRPr lang="en-US" sz="1425" dirty="0"/>
          </a:p>
        </p:txBody>
      </p:sp>
      <p:sp>
        <p:nvSpPr>
          <p:cNvPr id="14" name="Text 12"/>
          <p:cNvSpPr/>
          <p:nvPr/>
        </p:nvSpPr>
        <p:spPr>
          <a:xfrm>
            <a:off x="6890981" y="2960370"/>
            <a:ext cx="4956643" cy="3448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72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Árvore de decisão para regressão</a:t>
            </a:r>
            <a:endParaRPr lang="en-US" sz="1725" dirty="0"/>
          </a:p>
        </p:txBody>
      </p:sp>
      <p:sp>
        <p:nvSpPr>
          <p:cNvPr id="15" name="Text 13"/>
          <p:cNvSpPr/>
          <p:nvPr/>
        </p:nvSpPr>
        <p:spPr>
          <a:xfrm>
            <a:off x="6890981" y="3409950"/>
            <a:ext cx="4956643" cy="3448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725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Forest</a:t>
            </a:r>
            <a:endParaRPr lang="en-US" sz="1725" dirty="0"/>
          </a:p>
        </p:txBody>
      </p:sp>
      <p:sp>
        <p:nvSpPr>
          <p:cNvPr id="16" name="Text 14"/>
          <p:cNvSpPr/>
          <p:nvPr/>
        </p:nvSpPr>
        <p:spPr>
          <a:xfrm>
            <a:off x="6890981" y="3859530"/>
            <a:ext cx="4956643" cy="3448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72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Boosting ◀ recomendado</a:t>
            </a:r>
            <a:endParaRPr lang="en-US" sz="1725" dirty="0"/>
          </a:p>
        </p:txBody>
      </p:sp>
      <p:sp>
        <p:nvSpPr>
          <p:cNvPr id="17" name="Text 15"/>
          <p:cNvSpPr/>
          <p:nvPr/>
        </p:nvSpPr>
        <p:spPr>
          <a:xfrm>
            <a:off x="6890981" y="4309110"/>
            <a:ext cx="4956643" cy="3448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72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KNN (benchmark amostral)</a:t>
            </a:r>
            <a:endParaRPr lang="en-US" sz="1725" dirty="0"/>
          </a:p>
        </p:txBody>
      </p:sp>
      <p:sp>
        <p:nvSpPr>
          <p:cNvPr id="18" name="Text 16"/>
          <p:cNvSpPr/>
          <p:nvPr/>
        </p:nvSpPr>
        <p:spPr>
          <a:xfrm>
            <a:off x="6890981" y="4758690"/>
            <a:ext cx="4641221" cy="9582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72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 de sensibilidade: modelo sem n_os_ano, para medir a dependência do preditor dominante</a:t>
            </a:r>
            <a:r>
              <a:rPr lang="en-US" sz="1575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25" dirty="0"/>
          </a:p>
        </p:txBody>
      </p:sp>
      <p:sp>
        <p:nvSpPr>
          <p:cNvPr id="19" name="Shape 17"/>
          <p:cNvSpPr/>
          <p:nvPr/>
        </p:nvSpPr>
        <p:spPr>
          <a:xfrm>
            <a:off x="11995190" y="2183130"/>
            <a:ext cx="5245061" cy="7341870"/>
          </a:xfrm>
          <a:prstGeom prst="roundRect">
            <a:avLst>
              <a:gd name="adj" fmla="val 2906"/>
            </a:avLst>
          </a:prstGeom>
          <a:solidFill>
            <a:srgbClr val="0E211E"/>
          </a:solidFill>
          <a:ln w="7620">
            <a:solidFill>
              <a:srgbClr val="1C3B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12364760" y="2514600"/>
            <a:ext cx="4956512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kern="0" spc="228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AVALIAÇÃO E PREPARO</a:t>
            </a:r>
            <a:endParaRPr lang="en-US" sz="1425" dirty="0"/>
          </a:p>
        </p:txBody>
      </p:sp>
      <p:sp>
        <p:nvSpPr>
          <p:cNvPr id="21" name="Text 19"/>
          <p:cNvSpPr/>
          <p:nvPr/>
        </p:nvSpPr>
        <p:spPr>
          <a:xfrm>
            <a:off x="12364760" y="2960370"/>
            <a:ext cx="4641098" cy="9986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725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temporal: treino em 2020–2024, teste em 2025 (ano fora do treino)</a:t>
            </a:r>
            <a:r>
              <a:rPr lang="en-US" sz="172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25" dirty="0"/>
          </a:p>
        </p:txBody>
      </p:sp>
      <p:sp>
        <p:nvSpPr>
          <p:cNvPr id="22" name="Text 20"/>
          <p:cNvSpPr/>
          <p:nvPr/>
        </p:nvSpPr>
        <p:spPr>
          <a:xfrm>
            <a:off x="12364760" y="4063841"/>
            <a:ext cx="4956512" cy="3557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72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 temporal expansiva (3 rodadas)</a:t>
            </a:r>
            <a:endParaRPr lang="en-US" sz="1725" dirty="0"/>
          </a:p>
        </p:txBody>
      </p:sp>
      <p:sp>
        <p:nvSpPr>
          <p:cNvPr id="23" name="Text 21"/>
          <p:cNvSpPr/>
          <p:nvPr/>
        </p:nvSpPr>
        <p:spPr>
          <a:xfrm>
            <a:off x="12364760" y="4524375"/>
            <a:ext cx="4641098" cy="6734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72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Imputação mediana/moda · padronização · one-hot com agrupamento de raras</a:t>
            </a:r>
            <a:endParaRPr lang="en-US" sz="1725" dirty="0"/>
          </a:p>
        </p:txBody>
      </p:sp>
      <p:sp>
        <p:nvSpPr>
          <p:cNvPr id="24" name="Text 22"/>
          <p:cNvSpPr/>
          <p:nvPr/>
        </p:nvSpPr>
        <p:spPr>
          <a:xfrm>
            <a:off x="12364760" y="5302568"/>
            <a:ext cx="4956512" cy="3557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72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Métricas: R² · RMSE · MAE (CAD/ano) · WAPE</a:t>
            </a:r>
            <a:endParaRPr lang="en-US" sz="1725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347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MODELAGEM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16330"/>
            <a:ext cx="1781175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Comparação no teste temporal (2025)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1333500" y="3718560"/>
            <a:ext cx="6897208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kern="0" spc="127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MODELO</a:t>
            </a:r>
            <a:endParaRPr lang="en-US" sz="1275" dirty="0"/>
          </a:p>
        </p:txBody>
      </p:sp>
      <p:sp>
        <p:nvSpPr>
          <p:cNvPr id="5" name="Text 3"/>
          <p:cNvSpPr/>
          <p:nvPr/>
        </p:nvSpPr>
        <p:spPr>
          <a:xfrm>
            <a:off x="7717989" y="3718560"/>
            <a:ext cx="1219200" cy="25146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275" kern="0" spc="127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R²</a:t>
            </a:r>
            <a:endParaRPr lang="en-US" sz="1275" dirty="0"/>
          </a:p>
        </p:txBody>
      </p:sp>
      <p:sp>
        <p:nvSpPr>
          <p:cNvPr id="6" name="Text 4"/>
          <p:cNvSpPr/>
          <p:nvPr/>
        </p:nvSpPr>
        <p:spPr>
          <a:xfrm>
            <a:off x="9051489" y="3718560"/>
            <a:ext cx="1219200" cy="25146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275" kern="0" spc="127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RMSE</a:t>
            </a:r>
            <a:endParaRPr lang="en-US" sz="1275" dirty="0"/>
          </a:p>
        </p:txBody>
      </p:sp>
      <p:sp>
        <p:nvSpPr>
          <p:cNvPr id="7" name="Text 5"/>
          <p:cNvSpPr/>
          <p:nvPr/>
        </p:nvSpPr>
        <p:spPr>
          <a:xfrm>
            <a:off x="10384988" y="3718560"/>
            <a:ext cx="1219200" cy="25146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275" kern="0" spc="127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MAE</a:t>
            </a:r>
            <a:endParaRPr lang="en-US" sz="1275" dirty="0"/>
          </a:p>
        </p:txBody>
      </p:sp>
      <p:sp>
        <p:nvSpPr>
          <p:cNvPr id="8" name="Shape 6"/>
          <p:cNvSpPr/>
          <p:nvPr/>
        </p:nvSpPr>
        <p:spPr>
          <a:xfrm>
            <a:off x="1047750" y="4027170"/>
            <a:ext cx="10842188" cy="647700"/>
          </a:xfrm>
          <a:prstGeom prst="roundRect">
            <a:avLst>
              <a:gd name="adj" fmla="val 17647"/>
            </a:avLst>
          </a:prstGeom>
          <a:solidFill>
            <a:srgbClr val="0E211E"/>
          </a:solidFill>
          <a:ln w="7620">
            <a:solidFill>
              <a:srgbClr val="3FE0C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1341120" y="4206240"/>
            <a:ext cx="6880443" cy="3276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gradient_boosting ◀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7710368" y="4232910"/>
            <a:ext cx="1219200" cy="27432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0,685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9043868" y="4213860"/>
            <a:ext cx="1219200" cy="31242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1.501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0377369" y="4213860"/>
            <a:ext cx="1219200" cy="31242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839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1047750" y="4770120"/>
            <a:ext cx="10842188" cy="560070"/>
          </a:xfrm>
          <a:prstGeom prst="roundRect">
            <a:avLst>
              <a:gd name="adj" fmla="val 20408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1341120" y="4920615"/>
            <a:ext cx="6880443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random_forest</a:t>
            </a:r>
            <a:endParaRPr lang="en-US" sz="1575" dirty="0"/>
          </a:p>
        </p:txBody>
      </p:sp>
      <p:sp>
        <p:nvSpPr>
          <p:cNvPr id="15" name="Text 13"/>
          <p:cNvSpPr/>
          <p:nvPr/>
        </p:nvSpPr>
        <p:spPr>
          <a:xfrm>
            <a:off x="7710368" y="4920615"/>
            <a:ext cx="1219200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0,674</a:t>
            </a:r>
            <a:endParaRPr lang="en-US" sz="1575" dirty="0"/>
          </a:p>
        </p:txBody>
      </p:sp>
      <p:sp>
        <p:nvSpPr>
          <p:cNvPr id="16" name="Text 14"/>
          <p:cNvSpPr/>
          <p:nvPr/>
        </p:nvSpPr>
        <p:spPr>
          <a:xfrm>
            <a:off x="9043868" y="4920615"/>
            <a:ext cx="1219200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1.527</a:t>
            </a:r>
            <a:endParaRPr lang="en-US" sz="1575" dirty="0"/>
          </a:p>
        </p:txBody>
      </p:sp>
      <p:sp>
        <p:nvSpPr>
          <p:cNvPr id="17" name="Text 15"/>
          <p:cNvSpPr/>
          <p:nvPr/>
        </p:nvSpPr>
        <p:spPr>
          <a:xfrm>
            <a:off x="10377369" y="4920615"/>
            <a:ext cx="1219200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865</a:t>
            </a:r>
            <a:endParaRPr lang="en-US" sz="1575" dirty="0"/>
          </a:p>
        </p:txBody>
      </p:sp>
      <p:sp>
        <p:nvSpPr>
          <p:cNvPr id="18" name="Shape 16"/>
          <p:cNvSpPr/>
          <p:nvPr/>
        </p:nvSpPr>
        <p:spPr>
          <a:xfrm>
            <a:off x="1047750" y="5425440"/>
            <a:ext cx="10842188" cy="560070"/>
          </a:xfrm>
          <a:prstGeom prst="roundRect">
            <a:avLst>
              <a:gd name="adj" fmla="val 20408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1341120" y="5575935"/>
            <a:ext cx="6880443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gb · sem n_os_ano</a:t>
            </a:r>
            <a:endParaRPr lang="en-US" sz="1575" dirty="0"/>
          </a:p>
        </p:txBody>
      </p:sp>
      <p:sp>
        <p:nvSpPr>
          <p:cNvPr id="20" name="Text 18"/>
          <p:cNvSpPr/>
          <p:nvPr/>
        </p:nvSpPr>
        <p:spPr>
          <a:xfrm>
            <a:off x="7710368" y="5575935"/>
            <a:ext cx="1219200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0,640</a:t>
            </a:r>
            <a:endParaRPr lang="en-US" sz="1575" dirty="0"/>
          </a:p>
        </p:txBody>
      </p:sp>
      <p:sp>
        <p:nvSpPr>
          <p:cNvPr id="21" name="Text 19"/>
          <p:cNvSpPr/>
          <p:nvPr/>
        </p:nvSpPr>
        <p:spPr>
          <a:xfrm>
            <a:off x="9043868" y="5575935"/>
            <a:ext cx="1219200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1.604</a:t>
            </a:r>
            <a:endParaRPr lang="en-US" sz="1575" dirty="0"/>
          </a:p>
        </p:txBody>
      </p:sp>
      <p:sp>
        <p:nvSpPr>
          <p:cNvPr id="22" name="Text 20"/>
          <p:cNvSpPr/>
          <p:nvPr/>
        </p:nvSpPr>
        <p:spPr>
          <a:xfrm>
            <a:off x="10377369" y="5575935"/>
            <a:ext cx="1219200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901</a:t>
            </a:r>
            <a:endParaRPr lang="en-US" sz="1575" dirty="0"/>
          </a:p>
        </p:txBody>
      </p:sp>
      <p:sp>
        <p:nvSpPr>
          <p:cNvPr id="23" name="Shape 21"/>
          <p:cNvSpPr/>
          <p:nvPr/>
        </p:nvSpPr>
        <p:spPr>
          <a:xfrm>
            <a:off x="1047750" y="6080760"/>
            <a:ext cx="10842188" cy="560070"/>
          </a:xfrm>
          <a:prstGeom prst="roundRect">
            <a:avLst>
              <a:gd name="adj" fmla="val 20408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1341120" y="6231255"/>
            <a:ext cx="6880443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regressão linear (log)</a:t>
            </a:r>
            <a:endParaRPr lang="en-US" sz="1575" dirty="0"/>
          </a:p>
        </p:txBody>
      </p:sp>
      <p:sp>
        <p:nvSpPr>
          <p:cNvPr id="25" name="Text 23"/>
          <p:cNvSpPr/>
          <p:nvPr/>
        </p:nvSpPr>
        <p:spPr>
          <a:xfrm>
            <a:off x="7710368" y="6231255"/>
            <a:ext cx="1219200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−1,66</a:t>
            </a:r>
            <a:endParaRPr lang="en-US" sz="1575" dirty="0"/>
          </a:p>
        </p:txBody>
      </p:sp>
      <p:sp>
        <p:nvSpPr>
          <p:cNvPr id="26" name="Text 24"/>
          <p:cNvSpPr/>
          <p:nvPr/>
        </p:nvSpPr>
        <p:spPr>
          <a:xfrm>
            <a:off x="9043868" y="6231255"/>
            <a:ext cx="1219200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4.360</a:t>
            </a:r>
            <a:endParaRPr lang="en-US" sz="1575" dirty="0"/>
          </a:p>
        </p:txBody>
      </p:sp>
      <p:sp>
        <p:nvSpPr>
          <p:cNvPr id="27" name="Text 25"/>
          <p:cNvSpPr/>
          <p:nvPr/>
        </p:nvSpPr>
        <p:spPr>
          <a:xfrm>
            <a:off x="10377369" y="6231255"/>
            <a:ext cx="1219200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1.357</a:t>
            </a:r>
            <a:endParaRPr lang="en-US" sz="1575" dirty="0"/>
          </a:p>
        </p:txBody>
      </p:sp>
      <p:sp>
        <p:nvSpPr>
          <p:cNvPr id="29" name="Text 27"/>
          <p:cNvSpPr/>
          <p:nvPr/>
        </p:nvSpPr>
        <p:spPr>
          <a:xfrm>
            <a:off x="1341120" y="6886575"/>
            <a:ext cx="6880443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575" dirty="0"/>
          </a:p>
        </p:txBody>
      </p:sp>
      <p:sp>
        <p:nvSpPr>
          <p:cNvPr id="30" name="Text 28"/>
          <p:cNvSpPr/>
          <p:nvPr/>
        </p:nvSpPr>
        <p:spPr>
          <a:xfrm>
            <a:off x="7710368" y="6886575"/>
            <a:ext cx="1219200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575" dirty="0"/>
          </a:p>
        </p:txBody>
      </p:sp>
      <p:sp>
        <p:nvSpPr>
          <p:cNvPr id="31" name="Text 29"/>
          <p:cNvSpPr/>
          <p:nvPr/>
        </p:nvSpPr>
        <p:spPr>
          <a:xfrm>
            <a:off x="9043868" y="6886575"/>
            <a:ext cx="1219200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575" dirty="0"/>
          </a:p>
        </p:txBody>
      </p:sp>
      <p:sp>
        <p:nvSpPr>
          <p:cNvPr id="32" name="Text 30"/>
          <p:cNvSpPr/>
          <p:nvPr/>
        </p:nvSpPr>
        <p:spPr>
          <a:xfrm>
            <a:off x="10377369" y="6886575"/>
            <a:ext cx="1219200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575" dirty="0"/>
          </a:p>
        </p:txBody>
      </p:sp>
      <p:sp>
        <p:nvSpPr>
          <p:cNvPr id="34" name="Text 32"/>
          <p:cNvSpPr/>
          <p:nvPr/>
        </p:nvSpPr>
        <p:spPr>
          <a:xfrm>
            <a:off x="1341120" y="7541895"/>
            <a:ext cx="6880443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575" dirty="0"/>
          </a:p>
        </p:txBody>
      </p:sp>
      <p:sp>
        <p:nvSpPr>
          <p:cNvPr id="35" name="Text 33"/>
          <p:cNvSpPr/>
          <p:nvPr/>
        </p:nvSpPr>
        <p:spPr>
          <a:xfrm>
            <a:off x="7710368" y="7541895"/>
            <a:ext cx="1219200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575" dirty="0"/>
          </a:p>
        </p:txBody>
      </p:sp>
      <p:sp>
        <p:nvSpPr>
          <p:cNvPr id="36" name="Text 34"/>
          <p:cNvSpPr/>
          <p:nvPr/>
        </p:nvSpPr>
        <p:spPr>
          <a:xfrm>
            <a:off x="9043868" y="7541895"/>
            <a:ext cx="1219200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575" dirty="0"/>
          </a:p>
        </p:txBody>
      </p:sp>
      <p:sp>
        <p:nvSpPr>
          <p:cNvPr id="37" name="Text 35"/>
          <p:cNvSpPr/>
          <p:nvPr/>
        </p:nvSpPr>
        <p:spPr>
          <a:xfrm>
            <a:off x="10377369" y="7541895"/>
            <a:ext cx="1219200" cy="2971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575" dirty="0"/>
          </a:p>
        </p:txBody>
      </p:sp>
      <p:sp>
        <p:nvSpPr>
          <p:cNvPr id="38" name="Shape 36"/>
          <p:cNvSpPr/>
          <p:nvPr/>
        </p:nvSpPr>
        <p:spPr>
          <a:xfrm>
            <a:off x="12270938" y="3827621"/>
            <a:ext cx="4969312" cy="2074069"/>
          </a:xfrm>
          <a:prstGeom prst="roundRect">
            <a:avLst>
              <a:gd name="adj" fmla="val 6429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9" name="Text 37"/>
          <p:cNvSpPr/>
          <p:nvPr/>
        </p:nvSpPr>
        <p:spPr>
          <a:xfrm>
            <a:off x="12583359" y="4101941"/>
            <a:ext cx="4778919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900" b="1" dirty="0">
                <a:solidFill>
                  <a:srgbClr val="3FE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R² ≈ 69%</a:t>
            </a:r>
            <a:endParaRPr lang="en-US" sz="3900" dirty="0"/>
          </a:p>
        </p:txBody>
      </p:sp>
      <p:sp>
        <p:nvSpPr>
          <p:cNvPr id="40" name="Text 38"/>
          <p:cNvSpPr/>
          <p:nvPr/>
        </p:nvSpPr>
        <p:spPr>
          <a:xfrm>
            <a:off x="12583359" y="4749641"/>
            <a:ext cx="4474806" cy="9158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575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variação anual do custo por carreta explicada pelo Gradient Boosting (WAPE 0,415)</a:t>
            </a:r>
            <a:r>
              <a:rPr lang="en-US" sz="1575" b="1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1575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575" dirty="0"/>
          </a:p>
        </p:txBody>
      </p:sp>
      <p:sp>
        <p:nvSpPr>
          <p:cNvPr id="41" name="Shape 39"/>
          <p:cNvSpPr/>
          <p:nvPr/>
        </p:nvSpPr>
        <p:spPr>
          <a:xfrm>
            <a:off x="12270938" y="6092190"/>
            <a:ext cx="4969312" cy="1750219"/>
          </a:xfrm>
          <a:prstGeom prst="roundRect">
            <a:avLst>
              <a:gd name="adj" fmla="val 7619"/>
            </a:avLst>
          </a:prstGeom>
          <a:solidFill>
            <a:srgbClr val="2A1F10"/>
          </a:solidFill>
          <a:ln w="7620">
            <a:solidFill>
              <a:srgbClr val="4A392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2" name="Text 40"/>
          <p:cNvSpPr/>
          <p:nvPr/>
        </p:nvSpPr>
        <p:spPr>
          <a:xfrm>
            <a:off x="12583359" y="6366510"/>
            <a:ext cx="4778919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kern="0" spc="200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PESA</a:t>
            </a:r>
            <a:endParaRPr lang="en-US" sz="1425" dirty="0"/>
          </a:p>
        </p:txBody>
      </p:sp>
      <p:sp>
        <p:nvSpPr>
          <p:cNvPr id="43" name="Text 41"/>
          <p:cNvSpPr/>
          <p:nvPr/>
        </p:nvSpPr>
        <p:spPr>
          <a:xfrm>
            <a:off x="12583359" y="6697980"/>
            <a:ext cx="4474806" cy="908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575" dirty="0">
                <a:solidFill>
                  <a:srgbClr val="F5E5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n_os_ano domina; sem ela o R² ainda é 0,64 (idade, km, histórico, tipo e região)</a:t>
            </a:r>
            <a:endParaRPr lang="en-US" sz="1575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347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MODELAGEM · PERMUTATION IMPORTANCE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16330"/>
            <a:ext cx="1781175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Fatores mais importantes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1047750" y="3097530"/>
            <a:ext cx="4505325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n_os_ano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5372100" y="3072765"/>
            <a:ext cx="10782300" cy="323850"/>
          </a:xfrm>
          <a:prstGeom prst="roundRect">
            <a:avLst>
              <a:gd name="adj" fmla="val 17647"/>
            </a:avLst>
          </a:prstGeom>
          <a:solidFill>
            <a:srgbClr val="101B2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5372100" y="3072765"/>
            <a:ext cx="10782300" cy="323850"/>
          </a:xfrm>
          <a:prstGeom prst="rect">
            <a:avLst/>
          </a:prstGeom>
          <a:solidFill>
            <a:srgbClr val="3FE0C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16306800" y="3108960"/>
            <a:ext cx="933450" cy="28956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0,878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47750" y="3526155"/>
            <a:ext cx="4505325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vmrs_predominante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5372100" y="3501390"/>
            <a:ext cx="10782300" cy="323850"/>
          </a:xfrm>
          <a:prstGeom prst="roundRect">
            <a:avLst>
              <a:gd name="adj" fmla="val 17647"/>
            </a:avLst>
          </a:prstGeom>
          <a:solidFill>
            <a:srgbClr val="101B2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5372100" y="3501390"/>
            <a:ext cx="2911197" cy="323850"/>
          </a:xfrm>
          <a:prstGeom prst="rect">
            <a:avLst/>
          </a:prstGeom>
          <a:solidFill>
            <a:srgbClr val="2FA89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16306800" y="3537585"/>
            <a:ext cx="933450" cy="28956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0,028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47750" y="3954780"/>
            <a:ext cx="4505325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custo_acum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5372100" y="3930015"/>
            <a:ext cx="10782300" cy="323850"/>
          </a:xfrm>
          <a:prstGeom prst="roundRect">
            <a:avLst>
              <a:gd name="adj" fmla="val 17647"/>
            </a:avLst>
          </a:prstGeom>
          <a:solidFill>
            <a:srgbClr val="101B2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5372100" y="3930015"/>
            <a:ext cx="2857262" cy="323850"/>
          </a:xfrm>
          <a:prstGeom prst="rect">
            <a:avLst/>
          </a:prstGeom>
          <a:solidFill>
            <a:srgbClr val="2FA89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16306800" y="3966210"/>
            <a:ext cx="933450" cy="28956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0,026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47750" y="4383405"/>
            <a:ext cx="4505325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km_rodado_ano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5372100" y="4358640"/>
            <a:ext cx="10782300" cy="323850"/>
          </a:xfrm>
          <a:prstGeom prst="roundRect">
            <a:avLst>
              <a:gd name="adj" fmla="val 17647"/>
            </a:avLst>
          </a:prstGeom>
          <a:solidFill>
            <a:srgbClr val="101B2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Shape 16"/>
          <p:cNvSpPr/>
          <p:nvPr/>
        </p:nvSpPr>
        <p:spPr>
          <a:xfrm>
            <a:off x="5372100" y="4358640"/>
            <a:ext cx="2587705" cy="323850"/>
          </a:xfrm>
          <a:prstGeom prst="rect">
            <a:avLst/>
          </a:prstGeom>
          <a:solidFill>
            <a:srgbClr val="FFB65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16306800" y="4394835"/>
            <a:ext cx="933450" cy="28956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0,025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047750" y="4812030"/>
            <a:ext cx="4505325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unit_subtype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5372100" y="4787265"/>
            <a:ext cx="10782300" cy="323850"/>
          </a:xfrm>
          <a:prstGeom prst="roundRect">
            <a:avLst>
              <a:gd name="adj" fmla="val 17647"/>
            </a:avLst>
          </a:prstGeom>
          <a:solidFill>
            <a:srgbClr val="101B2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Shape 20"/>
          <p:cNvSpPr/>
          <p:nvPr/>
        </p:nvSpPr>
        <p:spPr>
          <a:xfrm>
            <a:off x="5372100" y="4787265"/>
            <a:ext cx="2102525" cy="323850"/>
          </a:xfrm>
          <a:prstGeom prst="rect">
            <a:avLst/>
          </a:prstGeom>
          <a:solidFill>
            <a:srgbClr val="2FA898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16306800" y="4823460"/>
            <a:ext cx="933450" cy="28956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0,025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047750" y="5240655"/>
            <a:ext cx="4505325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km_acumulado_fim_ano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5372100" y="5215890"/>
            <a:ext cx="10782300" cy="323850"/>
          </a:xfrm>
          <a:prstGeom prst="roundRect">
            <a:avLst>
              <a:gd name="adj" fmla="val 17647"/>
            </a:avLst>
          </a:prstGeom>
          <a:solidFill>
            <a:srgbClr val="101B2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5372100" y="5215890"/>
            <a:ext cx="1789748" cy="323850"/>
          </a:xfrm>
          <a:prstGeom prst="rect">
            <a:avLst/>
          </a:prstGeom>
          <a:solidFill>
            <a:srgbClr val="2FA898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16306800" y="5252085"/>
            <a:ext cx="933450" cy="28956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0,021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047750" y="5669280"/>
            <a:ext cx="4505325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provincia_operacao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5372100" y="5644515"/>
            <a:ext cx="10782300" cy="323850"/>
          </a:xfrm>
          <a:prstGeom prst="roundRect">
            <a:avLst>
              <a:gd name="adj" fmla="val 17647"/>
            </a:avLst>
          </a:prstGeom>
          <a:solidFill>
            <a:srgbClr val="101B2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0" name="Shape 28"/>
          <p:cNvSpPr/>
          <p:nvPr/>
        </p:nvSpPr>
        <p:spPr>
          <a:xfrm>
            <a:off x="5372100" y="5644515"/>
            <a:ext cx="1272302" cy="323850"/>
          </a:xfrm>
          <a:prstGeom prst="rect">
            <a:avLst/>
          </a:prstGeom>
          <a:solidFill>
            <a:srgbClr val="2FA898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16306800" y="5680710"/>
            <a:ext cx="933450" cy="28956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0,020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047750" y="6097905"/>
            <a:ext cx="4505325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idade_carreta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5372100" y="6073140"/>
            <a:ext cx="10782300" cy="323850"/>
          </a:xfrm>
          <a:prstGeom prst="roundRect">
            <a:avLst>
              <a:gd name="adj" fmla="val 17647"/>
            </a:avLst>
          </a:prstGeom>
          <a:solidFill>
            <a:srgbClr val="101B2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4" name="Shape 32"/>
          <p:cNvSpPr/>
          <p:nvPr/>
        </p:nvSpPr>
        <p:spPr>
          <a:xfrm>
            <a:off x="5372100" y="6073140"/>
            <a:ext cx="765453" cy="323850"/>
          </a:xfrm>
          <a:prstGeom prst="rect">
            <a:avLst/>
          </a:prstGeom>
          <a:solidFill>
            <a:srgbClr val="22525A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35" name="Text 33"/>
          <p:cNvSpPr/>
          <p:nvPr/>
        </p:nvSpPr>
        <p:spPr>
          <a:xfrm>
            <a:off x="16306800" y="6109335"/>
            <a:ext cx="933450" cy="28956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0,009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047750" y="6526530"/>
            <a:ext cx="4505325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eixos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5372100" y="6501765"/>
            <a:ext cx="10782300" cy="323850"/>
          </a:xfrm>
          <a:prstGeom prst="roundRect">
            <a:avLst>
              <a:gd name="adj" fmla="val 17647"/>
            </a:avLst>
          </a:prstGeom>
          <a:solidFill>
            <a:srgbClr val="101B2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8" name="Shape 36"/>
          <p:cNvSpPr/>
          <p:nvPr/>
        </p:nvSpPr>
        <p:spPr>
          <a:xfrm>
            <a:off x="5372100" y="6501765"/>
            <a:ext cx="711518" cy="323850"/>
          </a:xfrm>
          <a:prstGeom prst="rect">
            <a:avLst/>
          </a:prstGeom>
          <a:solidFill>
            <a:srgbClr val="22525A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39" name="Text 37"/>
          <p:cNvSpPr/>
          <p:nvPr/>
        </p:nvSpPr>
        <p:spPr>
          <a:xfrm>
            <a:off x="16306800" y="6537960"/>
            <a:ext cx="933450" cy="28956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0,008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047750" y="6955155"/>
            <a:ext cx="4505325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CF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suspension_type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5372100" y="6930390"/>
            <a:ext cx="10782300" cy="323850"/>
          </a:xfrm>
          <a:prstGeom prst="roundRect">
            <a:avLst>
              <a:gd name="adj" fmla="val 17647"/>
            </a:avLst>
          </a:prstGeom>
          <a:solidFill>
            <a:srgbClr val="101B2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2" name="Shape 40"/>
          <p:cNvSpPr/>
          <p:nvPr/>
        </p:nvSpPr>
        <p:spPr>
          <a:xfrm>
            <a:off x="5372100" y="6930390"/>
            <a:ext cx="560665" cy="323850"/>
          </a:xfrm>
          <a:prstGeom prst="rect">
            <a:avLst/>
          </a:prstGeom>
          <a:solidFill>
            <a:srgbClr val="22525A"/>
          </a:solidFill>
          <a:ln/>
        </p:spPr>
        <p:txBody>
          <a:bodyPr wrap="none"/>
          <a:lstStyle/>
          <a:p>
            <a:endParaRPr lang="pt-BR"/>
          </a:p>
        </p:txBody>
      </p:sp>
      <p:sp>
        <p:nvSpPr>
          <p:cNvPr id="43" name="Text 41"/>
          <p:cNvSpPr/>
          <p:nvPr/>
        </p:nvSpPr>
        <p:spPr>
          <a:xfrm>
            <a:off x="16306800" y="6966585"/>
            <a:ext cx="933450" cy="28956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8FA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0,007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1047750" y="8486775"/>
            <a:ext cx="16192500" cy="1076325"/>
          </a:xfrm>
          <a:prstGeom prst="roundRect">
            <a:avLst>
              <a:gd name="adj" fmla="val 10619"/>
            </a:avLst>
          </a:prstGeom>
          <a:solidFill>
            <a:srgbClr val="1222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Text 43"/>
          <p:cNvSpPr/>
          <p:nvPr/>
        </p:nvSpPr>
        <p:spPr>
          <a:xfrm>
            <a:off x="1352550" y="8696325"/>
            <a:ext cx="16050387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LER Embaralhamos cada variável e medimos o quanto a previsão piora. A frequência de OS no ano domina; mesmo sem ela o modelo mantém R² 0,64 — histórico, uso e tipo de equipamento explicam o restante.</a:t>
            </a:r>
            <a:r>
              <a:rPr lang="en-US" sz="1725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25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62000"/>
            <a:ext cx="1781175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347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SÍNTESE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4430"/>
            <a:ext cx="1781175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Hipóteses × evidências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47750" y="3129915"/>
            <a:ext cx="16192500" cy="876300"/>
          </a:xfrm>
          <a:prstGeom prst="roundRect">
            <a:avLst>
              <a:gd name="adj" fmla="val 15217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379220" y="3427095"/>
            <a:ext cx="68580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2274570" y="3408045"/>
            <a:ext cx="8369427" cy="35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Duração de contrato ⇒ custo</a:t>
            </a:r>
            <a:endParaRPr lang="en-US" sz="1875" dirty="0"/>
          </a:p>
        </p:txBody>
      </p:sp>
      <p:sp>
        <p:nvSpPr>
          <p:cNvPr id="7" name="Shape 5"/>
          <p:cNvSpPr/>
          <p:nvPr/>
        </p:nvSpPr>
        <p:spPr>
          <a:xfrm>
            <a:off x="10168890" y="3366135"/>
            <a:ext cx="2453640" cy="403860"/>
          </a:xfrm>
          <a:prstGeom prst="roundRect">
            <a:avLst>
              <a:gd name="adj" fmla="val 18868"/>
            </a:avLst>
          </a:prstGeom>
          <a:solidFill>
            <a:srgbClr val="2A1512"/>
          </a:solidFill>
          <a:ln w="7620">
            <a:solidFill>
              <a:srgbClr val="4A262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10309860" y="3449955"/>
            <a:ext cx="21717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425" kern="0" spc="142" dirty="0">
                <a:solidFill>
                  <a:srgbClr val="FF8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NÃO AVALIADA</a:t>
            </a:r>
            <a:endParaRPr lang="en-US" sz="1425" dirty="0"/>
          </a:p>
        </p:txBody>
      </p:sp>
      <p:sp>
        <p:nvSpPr>
          <p:cNvPr id="9" name="Text 7"/>
          <p:cNvSpPr/>
          <p:nvPr/>
        </p:nvSpPr>
        <p:spPr>
          <a:xfrm>
            <a:off x="12908281" y="3438525"/>
            <a:ext cx="440055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fato_wo_ml não contém variáveis contratuais</a:t>
            </a:r>
            <a:endParaRPr lang="en-US" sz="1575" dirty="0"/>
          </a:p>
        </p:txBody>
      </p:sp>
      <p:sp>
        <p:nvSpPr>
          <p:cNvPr id="10" name="Shape 8"/>
          <p:cNvSpPr/>
          <p:nvPr/>
        </p:nvSpPr>
        <p:spPr>
          <a:xfrm>
            <a:off x="1047750" y="4158615"/>
            <a:ext cx="16192500" cy="990600"/>
          </a:xfrm>
          <a:prstGeom prst="roundRect">
            <a:avLst>
              <a:gd name="adj" fmla="val 13462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1379220" y="4512945"/>
            <a:ext cx="68580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H2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2274570" y="4493895"/>
            <a:ext cx="8369427" cy="35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Idade ⇒ custo</a:t>
            </a:r>
            <a:endParaRPr lang="en-US" sz="1875" dirty="0"/>
          </a:p>
        </p:txBody>
      </p:sp>
      <p:sp>
        <p:nvSpPr>
          <p:cNvPr id="13" name="Shape 11"/>
          <p:cNvSpPr/>
          <p:nvPr/>
        </p:nvSpPr>
        <p:spPr>
          <a:xfrm>
            <a:off x="10168890" y="4451985"/>
            <a:ext cx="2453640" cy="403860"/>
          </a:xfrm>
          <a:prstGeom prst="roundRect">
            <a:avLst>
              <a:gd name="adj" fmla="val 18868"/>
            </a:avLst>
          </a:prstGeom>
          <a:solidFill>
            <a:srgbClr val="2A1F10"/>
          </a:solidFill>
          <a:ln w="7620">
            <a:solidFill>
              <a:srgbClr val="4A392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10309860" y="4535805"/>
            <a:ext cx="21717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425" kern="0" spc="142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PARCIAL</a:t>
            </a:r>
            <a:endParaRPr lang="en-US" sz="1425" dirty="0"/>
          </a:p>
        </p:txBody>
      </p:sp>
      <p:sp>
        <p:nvSpPr>
          <p:cNvPr id="15" name="Text 13"/>
          <p:cNvSpPr/>
          <p:nvPr/>
        </p:nvSpPr>
        <p:spPr>
          <a:xfrm>
            <a:off x="12908281" y="4394835"/>
            <a:ext cx="4120515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efeito não-linear da idade, captado pelos modelos de árvore</a:t>
            </a:r>
            <a:endParaRPr lang="en-US" sz="1575" dirty="0"/>
          </a:p>
        </p:txBody>
      </p:sp>
      <p:sp>
        <p:nvSpPr>
          <p:cNvPr id="16" name="Shape 14"/>
          <p:cNvSpPr/>
          <p:nvPr/>
        </p:nvSpPr>
        <p:spPr>
          <a:xfrm>
            <a:off x="1047750" y="5301615"/>
            <a:ext cx="16192500" cy="990600"/>
          </a:xfrm>
          <a:prstGeom prst="roundRect">
            <a:avLst>
              <a:gd name="adj" fmla="val 13462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1379220" y="5655945"/>
            <a:ext cx="68580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H3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2274570" y="5636895"/>
            <a:ext cx="8369427" cy="35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Quilometragem ⇒ custo</a:t>
            </a:r>
            <a:endParaRPr lang="en-US" sz="1875" dirty="0"/>
          </a:p>
        </p:txBody>
      </p:sp>
      <p:sp>
        <p:nvSpPr>
          <p:cNvPr id="19" name="Shape 17"/>
          <p:cNvSpPr/>
          <p:nvPr/>
        </p:nvSpPr>
        <p:spPr>
          <a:xfrm>
            <a:off x="10168890" y="5594985"/>
            <a:ext cx="2453640" cy="403860"/>
          </a:xfrm>
          <a:prstGeom prst="roundRect">
            <a:avLst>
              <a:gd name="adj" fmla="val 18868"/>
            </a:avLst>
          </a:prstGeom>
          <a:solidFill>
            <a:srgbClr val="2A1F10"/>
          </a:solidFill>
          <a:ln w="7620">
            <a:solidFill>
              <a:srgbClr val="4A392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10309860" y="5678805"/>
            <a:ext cx="21717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425" kern="0" spc="142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SUPORTADA</a:t>
            </a:r>
            <a:endParaRPr lang="en-US" sz="1425" dirty="0"/>
          </a:p>
        </p:txBody>
      </p:sp>
      <p:sp>
        <p:nvSpPr>
          <p:cNvPr id="21" name="Text 19"/>
          <p:cNvSpPr/>
          <p:nvPr/>
        </p:nvSpPr>
        <p:spPr>
          <a:xfrm>
            <a:off x="12908281" y="5537835"/>
            <a:ext cx="4120515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km_rodado_ano ρ = +0,50 · exposição ao uso</a:t>
            </a:r>
            <a:endParaRPr lang="en-US" sz="1575" dirty="0"/>
          </a:p>
        </p:txBody>
      </p:sp>
      <p:sp>
        <p:nvSpPr>
          <p:cNvPr id="22" name="Shape 20"/>
          <p:cNvSpPr/>
          <p:nvPr/>
        </p:nvSpPr>
        <p:spPr>
          <a:xfrm>
            <a:off x="1047750" y="6444615"/>
            <a:ext cx="16192500" cy="990600"/>
          </a:xfrm>
          <a:prstGeom prst="roundRect">
            <a:avLst>
              <a:gd name="adj" fmla="val 13462"/>
            </a:avLst>
          </a:prstGeom>
          <a:solidFill>
            <a:srgbClr val="0E211E"/>
          </a:solidFill>
          <a:ln w="7620">
            <a:solidFill>
              <a:srgbClr val="1C3B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1379220" y="6798945"/>
            <a:ext cx="68580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H4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2274570" y="6802755"/>
            <a:ext cx="8369427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EA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prevê custo futuro</a:t>
            </a:r>
            <a:endParaRPr lang="en-US" sz="1875" dirty="0"/>
          </a:p>
        </p:txBody>
      </p:sp>
      <p:sp>
        <p:nvSpPr>
          <p:cNvPr id="25" name="Shape 23"/>
          <p:cNvSpPr/>
          <p:nvPr/>
        </p:nvSpPr>
        <p:spPr>
          <a:xfrm>
            <a:off x="10168890" y="6737985"/>
            <a:ext cx="2453640" cy="403860"/>
          </a:xfrm>
          <a:prstGeom prst="roundRect">
            <a:avLst>
              <a:gd name="adj" fmla="val 18868"/>
            </a:avLst>
          </a:prstGeom>
          <a:solidFill>
            <a:srgbClr val="0C2B26"/>
          </a:solidFill>
          <a:ln w="7620">
            <a:solidFill>
              <a:srgbClr val="1C4B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10309860" y="6821805"/>
            <a:ext cx="21717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425" kern="0" spc="142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SUPORTADA</a:t>
            </a:r>
            <a:endParaRPr lang="en-US" sz="1425" dirty="0"/>
          </a:p>
        </p:txBody>
      </p:sp>
      <p:sp>
        <p:nvSpPr>
          <p:cNvPr id="27" name="Text 25"/>
          <p:cNvSpPr/>
          <p:nvPr/>
        </p:nvSpPr>
        <p:spPr>
          <a:xfrm>
            <a:off x="12908281" y="6680835"/>
            <a:ext cx="4120515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n_os_ano +0,75 · custo_ano_anterior +0,53 · custo_acum +0,47</a:t>
            </a:r>
            <a:endParaRPr lang="en-US" sz="1575" dirty="0"/>
          </a:p>
        </p:txBody>
      </p:sp>
      <p:sp>
        <p:nvSpPr>
          <p:cNvPr id="28" name="Shape 26"/>
          <p:cNvSpPr/>
          <p:nvPr/>
        </p:nvSpPr>
        <p:spPr>
          <a:xfrm>
            <a:off x="1047750" y="7587615"/>
            <a:ext cx="16192500" cy="990600"/>
          </a:xfrm>
          <a:prstGeom prst="roundRect">
            <a:avLst>
              <a:gd name="adj" fmla="val 13462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1379220" y="7941945"/>
            <a:ext cx="68580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H5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2274570" y="7926705"/>
            <a:ext cx="8369427" cy="350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Operação e contrato influenciam</a:t>
            </a:r>
            <a:endParaRPr lang="en-US" sz="1875" dirty="0"/>
          </a:p>
        </p:txBody>
      </p:sp>
      <p:sp>
        <p:nvSpPr>
          <p:cNvPr id="31" name="Shape 29"/>
          <p:cNvSpPr/>
          <p:nvPr/>
        </p:nvSpPr>
        <p:spPr>
          <a:xfrm>
            <a:off x="10168890" y="7880985"/>
            <a:ext cx="2453640" cy="403860"/>
          </a:xfrm>
          <a:prstGeom prst="roundRect">
            <a:avLst>
              <a:gd name="adj" fmla="val 18868"/>
            </a:avLst>
          </a:prstGeom>
          <a:solidFill>
            <a:srgbClr val="2A1F10"/>
          </a:solidFill>
          <a:ln w="7620">
            <a:solidFill>
              <a:srgbClr val="4A392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10309860" y="7964805"/>
            <a:ext cx="21717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425" kern="0" spc="142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PARCIAL</a:t>
            </a:r>
            <a:endParaRPr lang="en-US" sz="1425" dirty="0"/>
          </a:p>
        </p:txBody>
      </p:sp>
      <p:sp>
        <p:nvSpPr>
          <p:cNvPr id="33" name="Text 31"/>
          <p:cNvSpPr/>
          <p:nvPr/>
        </p:nvSpPr>
        <p:spPr>
          <a:xfrm>
            <a:off x="12908281" y="7823835"/>
            <a:ext cx="4120515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7B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unit_subtype η=0,55 · refrigerado 0,43 · região 0,17 (contrato não avaliado)</a:t>
            </a:r>
            <a:endParaRPr lang="en-US" sz="1575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E21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69423" y="5524500"/>
            <a:ext cx="8857285" cy="7277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2500"/>
              </a:lnSpc>
              <a:buNone/>
            </a:pPr>
            <a:r>
              <a:rPr lang="en-US" sz="40000" b="1" dirty="0">
                <a:solidFill>
                  <a:srgbClr val="1230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0000" dirty="0"/>
          </a:p>
        </p:txBody>
      </p:sp>
      <p:sp>
        <p:nvSpPr>
          <p:cNvPr id="3" name="Text 1"/>
          <p:cNvSpPr/>
          <p:nvPr/>
        </p:nvSpPr>
        <p:spPr>
          <a:xfrm>
            <a:off x="1238250" y="3696653"/>
            <a:ext cx="1739265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kern="0" spc="414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BLOCO 3 · PERGUNTAS 10–11</a:t>
            </a:r>
            <a:endParaRPr lang="en-US" sz="1725" dirty="0"/>
          </a:p>
        </p:txBody>
      </p:sp>
      <p:sp>
        <p:nvSpPr>
          <p:cNvPr id="4" name="Text 2"/>
          <p:cNvSpPr/>
          <p:nvPr/>
        </p:nvSpPr>
        <p:spPr>
          <a:xfrm>
            <a:off x="1238250" y="4245293"/>
            <a:ext cx="12263438" cy="1878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69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Referencial teórico e metodologia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1238250" y="6542723"/>
            <a:ext cx="1143000" cy="47625"/>
          </a:xfrm>
          <a:prstGeom prst="rect">
            <a:avLst/>
          </a:prstGeom>
          <a:solidFill>
            <a:srgbClr val="3FE0CE"/>
          </a:solidFill>
          <a:ln/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62000"/>
            <a:ext cx="1781175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347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PERGUNTA 10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4430"/>
            <a:ext cx="1781175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Referencial teórico — o que levamos de cada artigo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47750" y="3587115"/>
            <a:ext cx="8001000" cy="1638300"/>
          </a:xfrm>
          <a:prstGeom prst="roundRect">
            <a:avLst>
              <a:gd name="adj" fmla="val 8140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379220" y="3880485"/>
            <a:ext cx="8071866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kern="0" spc="142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KATREDDI 2023a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1379220" y="4231005"/>
            <a:ext cx="7558202" cy="739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ensembles sobre variáveis operacionais → </a:t>
            </a:r>
            <a:r>
              <a:rPr lang="en-US" sz="1800" b="1" dirty="0">
                <a:solidFill>
                  <a:srgbClr val="3FE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prioridade a árvore/ensemble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239250" y="3587115"/>
            <a:ext cx="8001000" cy="1638300"/>
          </a:xfrm>
          <a:prstGeom prst="roundRect">
            <a:avLst>
              <a:gd name="adj" fmla="val 8140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9570720" y="3880485"/>
            <a:ext cx="8071866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kern="0" spc="142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KATREDDI 2023b</a:t>
            </a:r>
            <a:endParaRPr lang="en-US" sz="1425" dirty="0"/>
          </a:p>
        </p:txBody>
      </p:sp>
      <p:sp>
        <p:nvSpPr>
          <p:cNvPr id="9" name="Text 7"/>
          <p:cNvSpPr/>
          <p:nvPr/>
        </p:nvSpPr>
        <p:spPr>
          <a:xfrm>
            <a:off x="9570720" y="4231005"/>
            <a:ext cx="7558202" cy="739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heterogeneidade entre grupos → montadora, unit_subtype e região como features; MERF futuro</a:t>
            </a:r>
            <a:r>
              <a:rPr lang="en-US" sz="1800" b="1" dirty="0">
                <a:solidFill>
                  <a:srgbClr val="3FE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180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47750" y="5415915"/>
            <a:ext cx="8001000" cy="1638300"/>
          </a:xfrm>
          <a:prstGeom prst="roundRect">
            <a:avLst>
              <a:gd name="adj" fmla="val 8140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1379220" y="5709285"/>
            <a:ext cx="8071866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kern="0" spc="142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SUN 2024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1379220" y="6059805"/>
            <a:ext cx="7558202" cy="739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de manutenção sustenta previsão → </a:t>
            </a:r>
            <a:r>
              <a:rPr lang="en-US" sz="1800" b="1" dirty="0">
                <a:solidFill>
                  <a:srgbClr val="3FE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 nosso bloco preditivo mais forte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239250" y="5415915"/>
            <a:ext cx="8001000" cy="1638300"/>
          </a:xfrm>
          <a:prstGeom prst="roundRect">
            <a:avLst>
              <a:gd name="adj" fmla="val 8140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9570720" y="5709285"/>
            <a:ext cx="8071866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kern="0" spc="142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ADEKITAN 2018</a:t>
            </a:r>
            <a:endParaRPr lang="en-US" sz="1425" dirty="0"/>
          </a:p>
        </p:txBody>
      </p:sp>
      <p:sp>
        <p:nvSpPr>
          <p:cNvPr id="15" name="Text 13"/>
          <p:cNvSpPr/>
          <p:nvPr/>
        </p:nvSpPr>
        <p:spPr>
          <a:xfrm>
            <a:off x="9570720" y="6059805"/>
            <a:ext cx="8071866" cy="3886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C3C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 com sinal, desempenho modesto → </a:t>
            </a:r>
            <a:r>
              <a:rPr lang="en-US" sz="1800" b="1" dirty="0">
                <a:solidFill>
                  <a:srgbClr val="3FE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 neurais não priorizadas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47750" y="8724900"/>
            <a:ext cx="16192500" cy="800100"/>
          </a:xfrm>
          <a:prstGeom prst="roundRect">
            <a:avLst>
              <a:gd name="adj" fmla="val 14286"/>
            </a:avLst>
          </a:prstGeom>
          <a:solidFill>
            <a:srgbClr val="1222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1371600" y="8953500"/>
            <a:ext cx="1709928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CONVERGÊNCIA </a:t>
            </a:r>
            <a:r>
              <a:rPr lang="en-US" sz="1800" dirty="0">
                <a:solidFill>
                  <a:srgbClr val="DDE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Variáveis operacionais e de histórico &gt; atributos estáticos · métodos de árvore &gt; lineares · heterogeneidade entre grupos importa.</a:t>
            </a:r>
            <a:endParaRPr lang="en-US" sz="18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62000"/>
            <a:ext cx="1781175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347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PERGUNTA 11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4430"/>
            <a:ext cx="1781175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em 7 notebooks reprodutíveis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47750" y="3175635"/>
            <a:ext cx="16192500" cy="659130"/>
          </a:xfrm>
          <a:prstGeom prst="roundRect">
            <a:avLst>
              <a:gd name="adj" fmla="val 17341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360170" y="3364230"/>
            <a:ext cx="60960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2179320" y="3368040"/>
            <a:ext cx="398145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 e inventário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6084570" y="3368040"/>
            <a:ext cx="5660993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problema, 7 bases, validação do modelo estrela, riscos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47750" y="3958590"/>
            <a:ext cx="16192500" cy="659130"/>
          </a:xfrm>
          <a:prstGeom prst="roundRect">
            <a:avLst>
              <a:gd name="adj" fmla="val 17341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1360170" y="4147185"/>
            <a:ext cx="60960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2179320" y="4150995"/>
            <a:ext cx="398145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Qualidade e integridade</a:t>
            </a:r>
            <a:endParaRPr lang="en-US" sz="1875" dirty="0"/>
          </a:p>
        </p:txBody>
      </p:sp>
      <p:sp>
        <p:nvSpPr>
          <p:cNvPr id="11" name="Text 9"/>
          <p:cNvSpPr/>
          <p:nvPr/>
        </p:nvSpPr>
        <p:spPr>
          <a:xfrm>
            <a:off x="6084570" y="4150995"/>
            <a:ext cx="6185654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chaves, duplicidades, ausentes, custos negativos, odômetro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1047750" y="4741545"/>
            <a:ext cx="16192500" cy="659130"/>
          </a:xfrm>
          <a:prstGeom prst="roundRect">
            <a:avLst>
              <a:gd name="adj" fmla="val 17341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1360170" y="4930140"/>
            <a:ext cx="60960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2179320" y="4933950"/>
            <a:ext cx="398145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analítica anual</a:t>
            </a:r>
            <a:endParaRPr lang="en-US" sz="1875" dirty="0"/>
          </a:p>
        </p:txBody>
      </p:sp>
      <p:sp>
        <p:nvSpPr>
          <p:cNvPr id="15" name="Text 13"/>
          <p:cNvSpPr/>
          <p:nvPr/>
        </p:nvSpPr>
        <p:spPr>
          <a:xfrm>
            <a:off x="6084570" y="4933950"/>
            <a:ext cx="6750915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carreta × ano a partir do fato_wo_ml · features defasadas por ano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047750" y="5524500"/>
            <a:ext cx="16192500" cy="659130"/>
          </a:xfrm>
          <a:prstGeom prst="roundRect">
            <a:avLst>
              <a:gd name="adj" fmla="val 17341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1360170" y="5713095"/>
            <a:ext cx="60960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2179320" y="5716905"/>
            <a:ext cx="398145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EDA e hipóteses</a:t>
            </a:r>
            <a:endParaRPr lang="en-US" sz="1875" dirty="0"/>
          </a:p>
        </p:txBody>
      </p:sp>
      <p:sp>
        <p:nvSpPr>
          <p:cNvPr id="19" name="Text 17"/>
          <p:cNvSpPr/>
          <p:nvPr/>
        </p:nvSpPr>
        <p:spPr>
          <a:xfrm>
            <a:off x="6084570" y="5716905"/>
            <a:ext cx="6227171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protocolo variável a variável, correlações, η, VIF, 5 hipóteses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047750" y="6307455"/>
            <a:ext cx="16192500" cy="659130"/>
          </a:xfrm>
          <a:prstGeom prst="roundRect">
            <a:avLst>
              <a:gd name="adj" fmla="val 17341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1360170" y="6496050"/>
            <a:ext cx="60960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2179320" y="6499860"/>
            <a:ext cx="398145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Deflação (CPI Canadá)</a:t>
            </a:r>
            <a:endParaRPr lang="en-US" sz="1875" dirty="0"/>
          </a:p>
        </p:txBody>
      </p:sp>
      <p:sp>
        <p:nvSpPr>
          <p:cNvPr id="23" name="Text 21"/>
          <p:cNvSpPr/>
          <p:nvPr/>
        </p:nvSpPr>
        <p:spPr>
          <a:xfrm>
            <a:off x="6084570" y="6499860"/>
            <a:ext cx="5184136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custos CAD a valores de dez/2025 via CPI StatCan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047750" y="7090410"/>
            <a:ext cx="16192500" cy="659130"/>
          </a:xfrm>
          <a:prstGeom prst="roundRect">
            <a:avLst>
              <a:gd name="adj" fmla="val 17341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1360170" y="7279005"/>
            <a:ext cx="60960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2179320" y="7282815"/>
            <a:ext cx="398145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Modelagem preditiva</a:t>
            </a:r>
            <a:endParaRPr lang="en-US" sz="1875" dirty="0"/>
          </a:p>
        </p:txBody>
      </p:sp>
      <p:sp>
        <p:nvSpPr>
          <p:cNvPr id="27" name="Text 25"/>
          <p:cNvSpPr/>
          <p:nvPr/>
        </p:nvSpPr>
        <p:spPr>
          <a:xfrm>
            <a:off x="6084570" y="7282815"/>
            <a:ext cx="6044994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temporal, modelos lineares e de árvore, métricas e importâncias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047750" y="7873365"/>
            <a:ext cx="16192500" cy="659130"/>
          </a:xfrm>
          <a:prstGeom prst="roundRect">
            <a:avLst>
              <a:gd name="adj" fmla="val 17341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1360170" y="8061960"/>
            <a:ext cx="60960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2179320" y="8065770"/>
            <a:ext cx="398145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</a:t>
            </a:r>
            <a:endParaRPr lang="en-US" sz="1875" dirty="0"/>
          </a:p>
        </p:txBody>
      </p:sp>
      <p:sp>
        <p:nvSpPr>
          <p:cNvPr id="31" name="Text 29"/>
          <p:cNvSpPr/>
          <p:nvPr/>
        </p:nvSpPr>
        <p:spPr>
          <a:xfrm>
            <a:off x="6084570" y="8065770"/>
            <a:ext cx="6471297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8FA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 executiva, hipóteses finais, recomendações, limitações</a:t>
            </a:r>
            <a:endParaRPr lang="en-US" sz="16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62000"/>
            <a:ext cx="1781175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347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TRANSPARÊNCIA METODOLÓGICA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4430"/>
            <a:ext cx="1781175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Limitações e cuidados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47750" y="3876675"/>
            <a:ext cx="8010525" cy="1203960"/>
          </a:xfrm>
          <a:prstGeom prst="roundRect">
            <a:avLst>
              <a:gd name="adj" fmla="val 11076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360170" y="4131945"/>
            <a:ext cx="7626001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variáveis contratuais nesta base única (fato_wo_ml): H1/H5 não testadas diretamente</a:t>
            </a:r>
            <a:r>
              <a:rPr lang="en-US" sz="1800" dirty="0">
                <a:solidFill>
                  <a:srgbClr val="C3CFD8"/>
                </a:solidFill>
                <a:highlight>
                  <a:srgbClr val="101B26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229725" y="3876675"/>
            <a:ext cx="8010525" cy="1203960"/>
          </a:xfrm>
          <a:prstGeom prst="roundRect">
            <a:avLst>
              <a:gd name="adj" fmla="val 11076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9542145" y="4131945"/>
            <a:ext cx="7626001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restrita a carretas com OS: não há anos de custo zero da frota inativa</a:t>
            </a:r>
            <a:r>
              <a:rPr lang="en-US" sz="1800" dirty="0">
                <a:solidFill>
                  <a:srgbClr val="C3CFD8"/>
                </a:solidFill>
                <a:highlight>
                  <a:srgbClr val="101B26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47750" y="5252085"/>
            <a:ext cx="8010525" cy="1203960"/>
          </a:xfrm>
          <a:prstGeom prst="roundRect">
            <a:avLst>
              <a:gd name="adj" fmla="val 11076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1360170" y="5507355"/>
            <a:ext cx="7626001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Odômetro: </a:t>
            </a:r>
            <a:r>
              <a:rPr lang="en-US" sz="1800" dirty="0">
                <a:solidFill>
                  <a:srgbClr val="C3CFD8"/>
                </a:solidFill>
                <a:highlight>
                  <a:srgbClr val="101B26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resets e saltos tratados, mas o prorrateio de km é aproximação · custos negativos excluídos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229725" y="5252085"/>
            <a:ext cx="8010525" cy="1203960"/>
          </a:xfrm>
          <a:prstGeom prst="roundRect">
            <a:avLst>
              <a:gd name="adj" fmla="val 11076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9542145" y="5507355"/>
            <a:ext cx="7626001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GPS parcial </a:t>
            </a:r>
            <a:r>
              <a:rPr lang="en-US" sz="1800" dirty="0">
                <a:solidFill>
                  <a:srgbClr val="C3CFD8"/>
                </a:solidFill>
                <a:highlight>
                  <a:srgbClr val="101B26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(set–dez/2025) — região derivada da província/local da OS · contratos censurados em 2025-12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047750" y="6627495"/>
            <a:ext cx="8010525" cy="1203960"/>
          </a:xfrm>
          <a:prstGeom prst="roundRect">
            <a:avLst>
              <a:gd name="adj" fmla="val 11076"/>
            </a:avLst>
          </a:prstGeom>
          <a:solidFill>
            <a:srgbClr val="0E211E"/>
          </a:solidFill>
          <a:ln w="7620">
            <a:solidFill>
              <a:srgbClr val="1C3B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1360170" y="6882765"/>
            <a:ext cx="7626001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3FE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Vazamento removido: </a:t>
            </a:r>
            <a:r>
              <a:rPr lang="en-US" sz="1800" dirty="0">
                <a:solidFill>
                  <a:srgbClr val="C3CFD8"/>
                </a:solidFill>
                <a:highlight>
                  <a:srgbClr val="0E211E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métricas menores, porém defensáveis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229725" y="6627495"/>
            <a:ext cx="8010525" cy="1203960"/>
          </a:xfrm>
          <a:prstGeom prst="roundRect">
            <a:avLst>
              <a:gd name="adj" fmla="val 11076"/>
            </a:avLst>
          </a:prstGeom>
          <a:solidFill>
            <a:srgbClr val="101B26"/>
          </a:solidFill>
          <a:ln w="7620">
            <a:solidFill>
              <a:srgbClr val="22324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9542145" y="6882765"/>
            <a:ext cx="7626001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Extensões futuras: </a:t>
            </a:r>
            <a:r>
              <a:rPr lang="en-US" sz="1800" dirty="0">
                <a:solidFill>
                  <a:srgbClr val="C3CFD8"/>
                </a:solidFill>
                <a:highlight>
                  <a:srgbClr val="101B26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Mixed-Effects RF / hierárquicos · modelos zero-inflados</a:t>
            </a:r>
            <a:endParaRPr lang="en-US" sz="1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C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0229850"/>
            <a:ext cx="18288000" cy="57150"/>
          </a:xfrm>
          <a:prstGeom prst="rect">
            <a:avLst/>
          </a:prstGeom>
          <a:gradFill rotWithShape="1">
            <a:gsLst>
              <a:gs pos="0">
                <a:srgbClr val="3FE0CE">
                  <a:alpha val="100000"/>
                </a:srgbClr>
              </a:gs>
              <a:gs pos="34000">
                <a:srgbClr val="3FE0CE">
                  <a:alpha val="100000"/>
                </a:srgbClr>
              </a:gs>
              <a:gs pos="34000">
                <a:srgbClr val="FFB65C">
                  <a:alpha val="100000"/>
                </a:srgbClr>
              </a:gs>
              <a:gs pos="40000">
                <a:srgbClr val="FFB65C">
                  <a:alpha val="100000"/>
                </a:srgbClr>
              </a:gs>
              <a:gs pos="40000">
                <a:srgbClr val="223243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8334226" y="3534966"/>
            <a:ext cx="1619429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725" kern="0" spc="414" dirty="0">
                <a:solidFill>
                  <a:srgbClr val="3FE0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OBRIGADO</a:t>
            </a:r>
            <a:endParaRPr lang="en-US" sz="1725" dirty="0"/>
          </a:p>
        </p:txBody>
      </p:sp>
      <p:sp>
        <p:nvSpPr>
          <p:cNvPr id="4" name="Text 2"/>
          <p:cNvSpPr/>
          <p:nvPr/>
        </p:nvSpPr>
        <p:spPr>
          <a:xfrm>
            <a:off x="2276475" y="4121706"/>
            <a:ext cx="13735050" cy="181498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6600" b="1" dirty="0">
                <a:solidFill>
                  <a:srgbClr val="F4F9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Previsão de custos de manutenção de carretas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6142006" y="6470095"/>
            <a:ext cx="3325558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725" dirty="0">
                <a:solidFill>
                  <a:srgbClr val="FFB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Quatro Norte Consulting</a:t>
            </a:r>
            <a:endParaRPr lang="en-US" sz="1725" dirty="0"/>
          </a:p>
        </p:txBody>
      </p:sp>
      <p:sp>
        <p:nvSpPr>
          <p:cNvPr id="6" name="Shape 4"/>
          <p:cNvSpPr/>
          <p:nvPr/>
        </p:nvSpPr>
        <p:spPr>
          <a:xfrm>
            <a:off x="9525953" y="6606302"/>
            <a:ext cx="419100" cy="9525"/>
          </a:xfrm>
          <a:prstGeom prst="rect">
            <a:avLst/>
          </a:prstGeom>
          <a:solidFill>
            <a:srgbClr val="2A3B4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10062591" y="6470095"/>
            <a:ext cx="2024253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725" dirty="0">
                <a:solidFill>
                  <a:srgbClr val="7B8C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MBA FGV · 2026</a:t>
            </a:r>
            <a:endParaRPr lang="en-US" sz="17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8951</Words>
  <Application>Microsoft Office PowerPoint</Application>
  <PresentationFormat>Custom</PresentationFormat>
  <Paragraphs>830</Paragraphs>
  <Slides>56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59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Rodrigo Reis</cp:lastModifiedBy>
  <cp:revision>1</cp:revision>
  <dcterms:created xsi:type="dcterms:W3CDTF">2026-07-06T22:35:48Z</dcterms:created>
  <dcterms:modified xsi:type="dcterms:W3CDTF">2026-07-06T23:02:44Z</dcterms:modified>
</cp:coreProperties>
</file>